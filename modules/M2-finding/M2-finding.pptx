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notesSlides/notesSlide35.xml" ContentType="application/vnd.openxmlformats-officedocument.presentationml.notesSlide+xml"/>
  <Override PartName="/ppt/slides/slide39.xml" ContentType="application/vnd.openxmlformats-officedocument.presentationml.slide+xml"/>
  <Override PartName="/ppt/notesSlides/notesSlide36.xml" ContentType="application/vnd.openxmlformats-officedocument.presentationml.notesSlide+xml"/>
  <Override PartName="/ppt/slides/slide40.xml" ContentType="application/vnd.openxmlformats-officedocument.presentationml.slide+xml"/>
  <Override PartName="/ppt/notesSlides/notesSlide37.xml" ContentType="application/vnd.openxmlformats-officedocument.presentationml.notesSlide+xml"/>
  <Override PartName="/ppt/slides/slide41.xml" ContentType="application/vnd.openxmlformats-officedocument.presentationml.slide+xml"/>
  <Override PartName="/ppt/notesSlides/notesSlide38.xml" ContentType="application/vnd.openxmlformats-officedocument.presentationml.notesSlide+xml"/>
  <Override PartName="/ppt/slides/slide42.xml" ContentType="application/vnd.openxmlformats-officedocument.presentationml.slide+xml"/>
  <Override PartName="/ppt/notesSlides/notesSlide39.xml" ContentType="application/vnd.openxmlformats-officedocument.presentationml.notesSlide+xml"/>
  <Override PartName="/ppt/slides/slide43.xml" ContentType="application/vnd.openxmlformats-officedocument.presentationml.slide+xml"/>
  <Override PartName="/ppt/notesSlides/notesSlide40.xml" ContentType="application/vnd.openxmlformats-officedocument.presentationml.notesSlide+xml"/>
  <Override PartName="/ppt/slides/slide44.xml" ContentType="application/vnd.openxmlformats-officedocument.presentationml.slide+xml"/>
  <Override PartName="/ppt/notesSlides/notesSlide41.xml" ContentType="application/vnd.openxmlformats-officedocument.presentationml.notesSlide+xml"/>
  <Override PartName="/ppt/slides/slide45.xml" ContentType="application/vnd.openxmlformats-officedocument.presentationml.slide+xml"/>
  <Override PartName="/ppt/notesSlides/notesSlide42.xml" ContentType="application/vnd.openxmlformats-officedocument.presentationml.notesSlide+xml"/>
  <Override PartName="/ppt/slides/slide46.xml" ContentType="application/vnd.openxmlformats-officedocument.presentationml.slide+xml"/>
  <Override PartName="/ppt/notesSlides/notesSlide43.xml" ContentType="application/vnd.openxmlformats-officedocument.presentationml.notesSlide+xml"/>
  <Override PartName="/ppt/slides/slide47.xml" ContentType="application/vnd.openxmlformats-officedocument.presentationml.slide+xml"/>
  <Override PartName="/ppt/notesSlides/notesSlide44.xml" ContentType="application/vnd.openxmlformats-officedocument.presentationml.notesSlide+xml"/>
  <Override PartName="/ppt/slides/slide48.xml" ContentType="application/vnd.openxmlformats-officedocument.presentationml.slide+xml"/>
  <Override PartName="/ppt/notesSlides/notesSlide4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619" r:id="rId53"/>
    <p:sldId id="620" r:id="rId54"/>
    <p:sldId id="621" r:id="rId55"/>
    <p:sldId id="622" r:id="rId56"/>
    <p:sldId id="593" r:id="rId13"/>
    <p:sldId id="595" r:id="rId15"/>
    <p:sldId id="596" r:id="rId16"/>
    <p:sldId id="597" r:id="rId17"/>
    <p:sldId id="598" r:id="rId18"/>
    <p:sldId id="599" r:id="rId19"/>
    <p:sldId id="600" r:id="rId20"/>
    <p:sldId id="601" r:id="rId21"/>
    <p:sldId id="602" r:id="rId22"/>
    <p:sldId id="603" r:id="rId23"/>
    <p:sldId id="604" r:id="rId24"/>
    <p:sldId id="623" r:id="rId57"/>
    <p:sldId id="624" r:id="rId58"/>
    <p:sldId id="605" r:id="rId25"/>
    <p:sldId id="607" r:id="rId27"/>
    <p:sldId id="608" r:id="rId28"/>
    <p:sldId id="609" r:id="rId29"/>
    <p:sldId id="610" r:id="rId30"/>
    <p:sldId id="611" r:id="rId31"/>
    <p:sldId id="625" r:id="rId59"/>
    <p:sldId id="626" r:id="rId60"/>
    <p:sldId id="627" r:id="rId61"/>
    <p:sldId id="628" r:id="rId62"/>
    <p:sldId id="629" r:id="rId63"/>
    <p:sldId id="612" r:id="rId32"/>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Two phases. Index, once: thirty trail descriptions from trails-slice.json.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reads the descriptions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model: nomic-embed-text on Ollama. It doesn't write anything; it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Thirty descriptions in, thirty vectors out. 768 numbers each, and similar meaning lands close.</a:t>
            </a:r>
          </a:p>
          <a:p>
            <a:r>
              <a:rPr lang="en-US" dirty="0"/>
              <a:t>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Keep one vector per trail. In the lab that's a list in memory; pgvector or Azure AI Search is the same math at scale.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Keyword baseline: junk · The raw float array · 30 trails embedded in &lt; 2 s · Cosine: one visible method · ✅ Same query, semantic: the right trails, with scores · "Quiet, for kids" → Taft Point. A 3,000-foot drop.</a:t>
            </a:r>
          </a:p>
          <a:p>
            <a:r>
              <a:rPr dirty="0"/>
              <a:t>~5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visitor asks: can I have a campfire at Sperry Chalet in September? The answer is paragraph four of a document nobody reads.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takes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park docs were split into 250 chunks and embedded once, before anyone asked: 04's index step, on documents.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question the same way, with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against every chunk, keep the top 3. Retrieval is 04, verbatim.</a:t>
            </a:r>
          </a:p>
          <a:p>
            <a:r>
              <a:rPr lang="en-US" dirty="0"/>
              <a:t>The right chunk wins by 0.05. Ranks 2 and 3 are relevant and wrong: fire rules that say fires are allowed.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No context: confident and wrong · Embeddings only: 5 of 8 chunks, wrong park · ✅ Hybrid: "Sperry" starts to count · ✅ Grounded prompt: right answer, cited · Citations are strings: validate the ids · "Drone?" → "The documents don't say." · "Open right now?" needs the date in the prompt · One-line swap to gpt-4.1</a:t>
            </a:r>
          </a:p>
          <a:p>
            <a:r>
              <a:rPr dirty="0"/>
              <a:t>~8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Same vectors, still in memory · "More like this" = search, query → item · Lakes cluster, but mostly hard, and one has no lake · Difficulty and park aren't in the description text · Cascade 65 → Cascade 40: substitutes, not complements</a:t>
            </a:r>
          </a:p>
          <a:p>
            <a:r>
              <a:rPr dirty="0"/>
              <a:t>~4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Lunch, then Module 3.</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Search, every query. A user types "dog-friendly waterfall hike, not too steep." No trail description contains those words.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query the same way, with the same model.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similarity against every stored vector: ten lines of plain code.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results with scores: all four dog-friendly waterfall trails lead, none of which say "dog-friendly" or "steep."</a:t>
            </a:r>
          </a:p>
          <a:p>
            <a:r>
              <a:rPr lang="en-US" dirty="0"/>
              <a:t>Nothing is generated.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Now the chat model: the top 3 chunks plus the question, and a prompt that says answer only from these, cite the chunk, or say the documents don't say.</a:t>
            </a:r>
          </a:p>
          <a:p>
            <a:r>
              <a:rPr lang="en-US" dirty="0"/>
              <a:t>Generation is 01 with reading material. The model reads instead of remembers.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checks every citation against the chunks it sent, then answers: wood fires are prohibited year-round, with the source.</a:t>
            </a:r>
          </a:p>
          <a:p>
            <a:r>
              <a:rPr lang="en-US" dirty="0"/>
              <a:t>Two failure spots: the wrong chunk, or a bad split. Splitting a fire rule from its exception produced "campfires are fine" 4 runs in 20; re-splitting at subsections, 0 in 60. Chunking is a correctness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hiker just finished Avalanche Lake and loved it. The app says nothing.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knows which trail: trail-0117.</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same kind of vectors 04 built, one per trail, already stored. No new index.</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Look up Avalanche Lake's own vector and score every other trail against it. Leave the target out.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matches: Gunsight Lake, Black Lake, Piegan Pass. Hard lake hikes, like the one they just did.</a:t>
            </a:r>
          </a:p>
          <a:p>
            <a:r>
              <a:rPr lang="en-US" dirty="0"/>
              <a:t>And no model call at request time: no chat model, no prompt. Recommendations are 04's math pointed at an item instead of a query.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cxnSp>
        <p:nvCxnSpPr>
          <p:cNvPr id="12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26" name="Stored"/>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name, vector} ×30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~50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Debrief</a:t>
            </a:r>
          </a:p>
        </p:txBody>
      </p:sp>
      <p:sp>
        <p:nvSpPr>
          <p:cNvPr id="3" name="Content Placeholder 2"/>
          <p:cNvSpPr>
            <a:spLocks noGrp="1"/>
          </p:cNvSpPr>
          <p:nvPr>
            <p:ph idx="1"/>
          </p:nvPr>
        </p:nvSpPr>
        <p:spPr>
          <a:xfrm>
            <a:off x="612648" y="1920240"/>
            <a:ext cx="10966704" cy="4617720"/>
          </a:xfrm>
        </p:spPr>
        <p:txBody>
          <a:bodyPr wrap="square"/>
          <a:lstStyle/>
          <a:p>
            <a:endParaRPr dirty="0"/>
          </a:p>
          <a:p>
            <a:r>
              <a:rPr sz="2800" dirty="0"/>
              <a:t>How'd it go?			  Observations?			        Questions?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
        <p:nvSpPr>
          <p:cNvPr id="125" name="Results"/>
          <p:cNvSpPr txBox="1"/>
          <p:nvPr/>
        </p:nvSpPr>
        <p:spPr>
          <a:xfrm>
            <a:off x="2651760" y="3793071"/>
            <a:ext cx="2148840" cy="6400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0.77 Carlon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Copeland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Grotto Falls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
        <p:nvSpPr>
          <p:cNvPr id="134"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2E7D32"/>
                </a:solidFill>
                <a:latin typeface="Consolas" panose="020B0609020204030204" pitchFamily="49" charset="0"/>
                <a:cs typeface="Consolas" panose="020B0609020204030204" pitchFamily="49" charset="0"/>
              </a:rPr>
              <a:t>check citations ✓</a:t>
            </a:r>
          </a:p>
        </p:txBody>
      </p:sp>
      <p:sp>
        <p:nvSpPr>
          <p:cNvPr id="135"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Wood fires prohibited</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year-round at Sperry.</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[camping-guide:04.2]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
        <p:nvSpPr>
          <p:cNvPr id="123"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0.78 Gunsight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0.78 Black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0.77 Piegan Pass</a:t>
            </a:r>
          </a:p>
        </p:txBody>
      </p:sp>
      <p:sp>
        <p:nvSpPr>
          <p:cNvPr id="124" name="No model"/>
          <p:cNvSpPr txBox="1"/>
          <p:nvPr/>
        </p:nvSpPr>
        <p:spPr>
          <a:xfrm>
            <a:off x="4878638" y="4301002"/>
            <a:ext cx="2367419" cy="320040"/>
          </a:xfrm>
          <a:prstGeom prst="rect">
            <a:avLst/>
          </a:prstGeom>
          <a:noFill/>
        </p:spPr>
        <p:txBody>
          <a:bodyPr wrap="square" lIns="0" tIns="0" rIns="0" bIns="0" anchor="t">
            <a:noAutofit/>
          </a:bodyPr>
          <a:lstStyle/>
          <a:p>
            <a:pPr algn="ctr">
              <a:lnSpc>
                <a:spcPct val="90000"/>
              </a:lnSpc>
            </a:pPr>
            <a:r>
              <a:rPr lang="en-US" sz="1600" dirty="0">
                <a:solidFill>
                  <a:srgbClr val="0072C6"/>
                </a:solidFill>
                <a:latin typeface="Ink Free" panose="03080402000500000000" pitchFamily="66" charset="0"/>
              </a:rPr>
              <a:t>no model call</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