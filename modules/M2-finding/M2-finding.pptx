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slides/slide38.xml" ContentType="application/vnd.openxmlformats-officedocument.presentationml.slide+xml"/>
  <Override PartName="/ppt/notesSlides/notesSlide35.xml" ContentType="application/vnd.openxmlformats-officedocument.presentationml.notesSlide+xml"/>
  <Override PartName="/ppt/slides/slide39.xml" ContentType="application/vnd.openxmlformats-officedocument.presentationml.slide+xml"/>
  <Override PartName="/ppt/notesSlides/notesSlide36.xml" ContentType="application/vnd.openxmlformats-officedocument.presentationml.notesSlide+xml"/>
  <Override PartName="/ppt/slides/slide40.xml" ContentType="application/vnd.openxmlformats-officedocument.presentationml.slide+xml"/>
  <Override PartName="/ppt/notesSlides/notesSlide37.xml" ContentType="application/vnd.openxmlformats-officedocument.presentationml.notesSlide+xml"/>
  <Override PartName="/ppt/slides/slide41.xml" ContentType="application/vnd.openxmlformats-officedocument.presentationml.slide+xml"/>
  <Override PartName="/ppt/notesSlides/notesSlide38.xml" ContentType="application/vnd.openxmlformats-officedocument.presentationml.notesSlide+xml"/>
  <Override PartName="/ppt/slides/slide42.xml" ContentType="application/vnd.openxmlformats-officedocument.presentationml.slide+xml"/>
  <Override PartName="/ppt/notesSlides/notesSlide39.xml" ContentType="application/vnd.openxmlformats-officedocument.presentationml.notesSlide+xml"/>
  <Override PartName="/ppt/slides/slide43.xml" ContentType="application/vnd.openxmlformats-officedocument.presentationml.slide+xml"/>
  <Override PartName="/ppt/notesSlides/notesSlide40.xml" ContentType="application/vnd.openxmlformats-officedocument.presentationml.notesSlide+xml"/>
  <Override PartName="/ppt/slides/slide44.xml" ContentType="application/vnd.openxmlformats-officedocument.presentationml.slide+xml"/>
  <Override PartName="/ppt/notesSlides/notesSlide41.xml" ContentType="application/vnd.openxmlformats-officedocument.presentationml.notesSlide+xml"/>
  <Override PartName="/ppt/slides/slide45.xml" ContentType="application/vnd.openxmlformats-officedocument.presentationml.slide+xml"/>
  <Override PartName="/ppt/notesSlides/notesSlide42.xml" ContentType="application/vnd.openxmlformats-officedocument.presentationml.notesSlide+xml"/>
  <Override PartName="/ppt/slides/slide46.xml" ContentType="application/vnd.openxmlformats-officedocument.presentationml.slide+xml"/>
  <Override PartName="/ppt/notesSlides/notesSlide43.xml" ContentType="application/vnd.openxmlformats-officedocument.presentationml.notesSlide+xml"/>
  <Override PartName="/ppt/slides/slide47.xml" ContentType="application/vnd.openxmlformats-officedocument.presentationml.slide+xml"/>
  <Override PartName="/ppt/notesSlides/notesSlide44.xml" ContentType="application/vnd.openxmlformats-officedocument.presentationml.notesSlide+xml"/>
  <Override PartName="/ppt/slides/slide48.xml" ContentType="application/vnd.openxmlformats-officedocument.presentationml.slide+xml"/>
  <Override PartName="/ppt/notesSlides/notesSlide45.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1"/>
  </p:sldMasterIdLst>
  <p:notesMasterIdLst>
    <p:notesMasterId r:id="rId39"/>
  </p:notesMasterIdLst>
  <p:sldIdLst>
    <p:sldId id="576" r:id="rId2"/>
    <p:sldId id="577" r:id="rId3"/>
    <p:sldId id="578" r:id="rId4"/>
    <p:sldId id="579" r:id="rId5"/>
    <p:sldId id="586" r:id="rId6"/>
    <p:sldId id="587" r:id="rId7"/>
    <p:sldId id="588" r:id="rId8"/>
    <p:sldId id="589" r:id="rId9"/>
    <p:sldId id="590" r:id="rId10"/>
    <p:sldId id="591" r:id="rId11"/>
    <p:sldId id="592" r:id="rId12"/>
    <p:sldId id="619" r:id="rId53"/>
    <p:sldId id="620" r:id="rId54"/>
    <p:sldId id="621" r:id="rId55"/>
    <p:sldId id="622" r:id="rId56"/>
    <p:sldId id="593" r:id="rId13"/>
    <p:sldId id="594" r:id="rId14"/>
    <p:sldId id="595" r:id="rId15"/>
    <p:sldId id="596" r:id="rId16"/>
    <p:sldId id="597" r:id="rId17"/>
    <p:sldId id="598" r:id="rId18"/>
    <p:sldId id="599" r:id="rId19"/>
    <p:sldId id="600" r:id="rId20"/>
    <p:sldId id="601" r:id="rId21"/>
    <p:sldId id="602" r:id="rId22"/>
    <p:sldId id="603" r:id="rId23"/>
    <p:sldId id="604" r:id="rId24"/>
    <p:sldId id="623" r:id="rId57"/>
    <p:sldId id="624" r:id="rId58"/>
    <p:sldId id="605" r:id="rId25"/>
    <p:sldId id="606" r:id="rId26"/>
    <p:sldId id="607" r:id="rId27"/>
    <p:sldId id="608" r:id="rId28"/>
    <p:sldId id="609" r:id="rId29"/>
    <p:sldId id="610" r:id="rId30"/>
    <p:sldId id="611" r:id="rId31"/>
    <p:sldId id="625" r:id="rId59"/>
    <p:sldId id="626" r:id="rId60"/>
    <p:sldId id="627" r:id="rId61"/>
    <p:sldId id="628" r:id="rId62"/>
    <p:sldId id="629" r:id="rId63"/>
    <p:sldId id="612" r:id="rId32"/>
    <p:sldId id="613" r:id="rId33"/>
    <p:sldId id="614" r:id="rId34"/>
    <p:sldId id="615" r:id="rId35"/>
    <p:sldId id="616" r:id="rId36"/>
    <p:sldId id="617" r:id="rId37"/>
    <p:sldId id="618" r:id="rId38"/>
  </p:sldIdLst>
  <p:sldSz cx="12192000" cy="6858000"/>
  <p:notesSz cx="6858000" cy="9144000"/>
  <p:embeddedFontLst>
    <p:embeddedFont>
      <p:font typeface="Consolas" panose="020B0609020204030204" pitchFamily="49" charset="0"/>
      <p:regular r:id="rId40"/>
      <p:bold r:id="rId41"/>
      <p:italic r:id="rId42"/>
      <p:boldItalic r:id="rId43"/>
    </p:embeddedFont>
    <p:embeddedFont>
      <p:font typeface="Segoe UI" panose="020B0502040204020203" pitchFamily="34" charset="0"/>
      <p:regular r:id="rId44"/>
      <p:bold r:id="rId45"/>
      <p:italic r:id="rId46"/>
      <p:boldItalic r:id="rId4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17AB4"/>
    <a:srgbClr val="0079B4"/>
    <a:srgbClr val="00A700"/>
    <a:srgbClr val="D31616"/>
    <a:srgbClr val="FFFFFF"/>
    <a:srgbClr val="E88500"/>
    <a:srgbClr val="FFD800"/>
    <a:srgbClr val="007AB5"/>
    <a:srgbClr val="000000"/>
    <a:srgbClr val="502AD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742" autoAdjust="0"/>
    <p:restoredTop sz="66867" autoAdjust="0"/>
  </p:normalViewPr>
  <p:slideViewPr>
    <p:cSldViewPr snapToGrid="0">
      <p:cViewPr varScale="1">
        <p:scale>
          <a:sx n="101" d="100"/>
          <a:sy n="101" d="100"/>
        </p:scale>
        <p:origin x="1576" y="184"/>
      </p:cViewPr>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3.fntdata"/><Relationship Id="rId47" Type="http://schemas.openxmlformats.org/officeDocument/2006/relationships/font" Target="fonts/font8.fntdata"/><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1.fntdata"/><Relationship Id="rId45"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5.fntdata"/><Relationship Id="rId52"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4.fntdata"/><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7.fntdata"/><Relationship Id="rId20" Type="http://schemas.openxmlformats.org/officeDocument/2006/relationships/slide" Target="slides/slide19.xml"/><Relationship Id="rId41"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53" Type="http://schemas.openxmlformats.org/officeDocument/2006/relationships/slide" Target="slides/slide38.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 Tower" userId="9d06de10716639e5" providerId="LiveId" clId="{F8931099-75CA-5660-A155-55881DF68D84}"/>
    <pc:docChg chg="undo redo custSel addSld delSld modSld sldOrd modSection">
      <pc:chgData name="J. Tower" userId="9d06de10716639e5" providerId="LiveId" clId="{F8931099-75CA-5660-A155-55881DF68D84}" dt="2026-09-16T14:37:33.956" v="1235" actId="20577"/>
      <pc:docMkLst>
        <pc:docMk/>
      </pc:docMkLst>
      <pc:sldChg chg="modSp mod">
        <pc:chgData name="J. Tower" userId="9d06de10716639e5" providerId="LiveId" clId="{F8931099-75CA-5660-A155-55881DF68D84}" dt="2026-09-16T13:10:21.056" v="1000" actId="27636"/>
        <pc:sldMkLst>
          <pc:docMk/>
          <pc:sldMk cId="0" sldId="576"/>
        </pc:sldMkLst>
        <pc:spChg chg="mod">
          <ac:chgData name="J. Tower" userId="9d06de10716639e5" providerId="LiveId" clId="{F8931099-75CA-5660-A155-55881DF68D84}" dt="2026-09-16T13:10:21.056" v="1000" actId="27636"/>
          <ac:spMkLst>
            <pc:docMk/>
            <pc:sldMk cId="0" sldId="576"/>
            <ac:spMk id="3" creationId="{00000000-0000-0000-0000-000000000000}"/>
          </ac:spMkLst>
        </pc:spChg>
      </pc:sldChg>
      <pc:sldChg chg="modSp mod">
        <pc:chgData name="J. Tower" userId="9d06de10716639e5" providerId="LiveId" clId="{F8931099-75CA-5660-A155-55881DF68D84}" dt="2026-09-16T13:10:16.761" v="993" actId="20577"/>
        <pc:sldMkLst>
          <pc:docMk/>
          <pc:sldMk cId="0" sldId="577"/>
        </pc:sldMkLst>
        <pc:spChg chg="mod">
          <ac:chgData name="J. Tower" userId="9d06de10716639e5" providerId="LiveId" clId="{F8931099-75CA-5660-A155-55881DF68D84}" dt="2026-09-16T13:10:16.761" v="993" actId="20577"/>
          <ac:spMkLst>
            <pc:docMk/>
            <pc:sldMk cId="0" sldId="577"/>
            <ac:spMk id="4" creationId="{00000000-0000-0000-0000-000000000000}"/>
          </ac:spMkLst>
        </pc:spChg>
      </pc:sldChg>
      <pc:sldChg chg="modSp mod">
        <pc:chgData name="J. Tower" userId="9d06de10716639e5" providerId="LiveId" clId="{F8931099-75CA-5660-A155-55881DF68D84}" dt="2026-09-16T13:10:35.148" v="1031" actId="20577"/>
        <pc:sldMkLst>
          <pc:docMk/>
          <pc:sldMk cId="0" sldId="578"/>
        </pc:sldMkLst>
        <pc:spChg chg="mod">
          <ac:chgData name="J. Tower" userId="9d06de10716639e5" providerId="LiveId" clId="{F8931099-75CA-5660-A155-55881DF68D84}" dt="2026-09-16T13:10:20.990" v="994"/>
          <ac:spMkLst>
            <pc:docMk/>
            <pc:sldMk cId="0" sldId="578"/>
            <ac:spMk id="4" creationId="{00000000-0000-0000-0000-000000000000}"/>
          </ac:spMkLst>
        </pc:spChg>
        <pc:spChg chg="mod">
          <ac:chgData name="J. Tower" userId="9d06de10716639e5" providerId="LiveId" clId="{F8931099-75CA-5660-A155-55881DF68D84}" dt="2026-09-16T13:10:35.148" v="1031" actId="20577"/>
          <ac:spMkLst>
            <pc:docMk/>
            <pc:sldMk cId="0" sldId="578"/>
            <ac:spMk id="6" creationId="{00000000-0000-0000-0000-000000000000}"/>
          </ac:spMkLst>
        </pc:spChg>
      </pc:sldChg>
      <pc:sldChg chg="modSp modNotesTx">
        <pc:chgData name="J. Tower" userId="9d06de10716639e5" providerId="LiveId" clId="{F8931099-75CA-5660-A155-55881DF68D84}" dt="2026-09-16T13:10:41.372" v="1032"/>
        <pc:sldMkLst>
          <pc:docMk/>
          <pc:sldMk cId="0" sldId="579"/>
        </pc:sldMkLst>
        <pc:spChg chg="mod">
          <ac:chgData name="J. Tower" userId="9d06de10716639e5" providerId="LiveId" clId="{F8931099-75CA-5660-A155-55881DF68D84}" dt="2026-09-16T13:10:23.919" v="1001"/>
          <ac:spMkLst>
            <pc:docMk/>
            <pc:sldMk cId="0" sldId="579"/>
            <ac:spMk id="4" creationId="{00000000-0000-0000-0000-000000000000}"/>
          </ac:spMkLst>
        </pc:spChg>
        <pc:spChg chg="mod">
          <ac:chgData name="J. Tower" userId="9d06de10716639e5" providerId="LiveId" clId="{F8931099-75CA-5660-A155-55881DF68D84}" dt="2026-09-16T13:10:41.372" v="1032"/>
          <ac:spMkLst>
            <pc:docMk/>
            <pc:sldMk cId="0" sldId="579"/>
            <ac:spMk id="6" creationId="{00000000-0000-0000-0000-000000000000}"/>
          </ac:spMkLst>
        </pc:spChg>
      </pc:sldChg>
      <pc:sldChg chg="del">
        <pc:chgData name="J. Tower" userId="9d06de10716639e5" providerId="LiveId" clId="{F8931099-75CA-5660-A155-55881DF68D84}" dt="2026-09-16T13:11:32.025" v="1036" actId="2696"/>
        <pc:sldMkLst>
          <pc:docMk/>
          <pc:sldMk cId="0" sldId="580"/>
        </pc:sldMkLst>
      </pc:sldChg>
      <pc:sldChg chg="del">
        <pc:chgData name="J. Tower" userId="9d06de10716639e5" providerId="LiveId" clId="{F8931099-75CA-5660-A155-55881DF68D84}" dt="2026-09-16T13:11:32.027" v="1038" actId="2696"/>
        <pc:sldMkLst>
          <pc:docMk/>
          <pc:sldMk cId="0" sldId="581"/>
        </pc:sldMkLst>
      </pc:sldChg>
      <pc:sldChg chg="del">
        <pc:chgData name="J. Tower" userId="9d06de10716639e5" providerId="LiveId" clId="{F8931099-75CA-5660-A155-55881DF68D84}" dt="2026-09-16T13:11:32.023" v="1034" actId="2696"/>
        <pc:sldMkLst>
          <pc:docMk/>
          <pc:sldMk cId="0" sldId="582"/>
        </pc:sldMkLst>
      </pc:sldChg>
      <pc:sldChg chg="del">
        <pc:chgData name="J. Tower" userId="9d06de10716639e5" providerId="LiveId" clId="{F8931099-75CA-5660-A155-55881DF68D84}" dt="2026-09-16T13:11:32.024" v="1035" actId="2696"/>
        <pc:sldMkLst>
          <pc:docMk/>
          <pc:sldMk cId="0" sldId="583"/>
        </pc:sldMkLst>
      </pc:sldChg>
      <pc:sldChg chg="del">
        <pc:chgData name="J. Tower" userId="9d06de10716639e5" providerId="LiveId" clId="{F8931099-75CA-5660-A155-55881DF68D84}" dt="2026-09-16T13:11:32.026" v="1037" actId="2696"/>
        <pc:sldMkLst>
          <pc:docMk/>
          <pc:sldMk cId="0" sldId="584"/>
        </pc:sldMkLst>
      </pc:sldChg>
      <pc:sldChg chg="modSp del mod">
        <pc:chgData name="J. Tower" userId="9d06de10716639e5" providerId="LiveId" clId="{F8931099-75CA-5660-A155-55881DF68D84}" dt="2026-09-16T13:11:32.021" v="1033" actId="2696"/>
        <pc:sldMkLst>
          <pc:docMk/>
          <pc:sldMk cId="0" sldId="585"/>
        </pc:sldMkLst>
        <pc:spChg chg="mod">
          <ac:chgData name="J. Tower" userId="9d06de10716639e5" providerId="LiveId" clId="{F8931099-75CA-5660-A155-55881DF68D84}" dt="2026-09-16T13:10:21.005" v="995" actId="27636"/>
          <ac:spMkLst>
            <pc:docMk/>
            <pc:sldMk cId="0" sldId="585"/>
            <ac:spMk id="3" creationId="{00000000-0000-0000-0000-000000000000}"/>
          </ac:spMkLst>
        </pc:spChg>
      </pc:sldChg>
      <pc:sldChg chg="modSp mod">
        <pc:chgData name="J. Tower" userId="9d06de10716639e5" providerId="LiveId" clId="{F8931099-75CA-5660-A155-55881DF68D84}" dt="2026-09-16T13:10:21.022" v="996" actId="27636"/>
        <pc:sldMkLst>
          <pc:docMk/>
          <pc:sldMk cId="0" sldId="586"/>
        </pc:sldMkLst>
        <pc:spChg chg="mod">
          <ac:chgData name="J. Tower" userId="9d06de10716639e5" providerId="LiveId" clId="{F8931099-75CA-5660-A155-55881DF68D84}" dt="2026-09-16T13:10:21.022" v="996" actId="27636"/>
          <ac:spMkLst>
            <pc:docMk/>
            <pc:sldMk cId="0" sldId="586"/>
            <ac:spMk id="3" creationId="{00000000-0000-0000-0000-000000000000}"/>
          </ac:spMkLst>
        </pc:spChg>
      </pc:sldChg>
      <pc:sldChg chg="modSp mod">
        <pc:chgData name="J. Tower" userId="9d06de10716639e5" providerId="LiveId" clId="{F8931099-75CA-5660-A155-55881DF68D84}" dt="2026-09-03T20:19:44.314" v="981" actId="20577"/>
        <pc:sldMkLst>
          <pc:docMk/>
          <pc:sldMk cId="0" sldId="587"/>
        </pc:sldMkLst>
        <pc:spChg chg="mod">
          <ac:chgData name="J. Tower" userId="9d06de10716639e5" providerId="LiveId" clId="{F8931099-75CA-5660-A155-55881DF68D84}" dt="2026-09-03T20:19:44.314" v="981" actId="20577"/>
          <ac:spMkLst>
            <pc:docMk/>
            <pc:sldMk cId="0" sldId="587"/>
            <ac:spMk id="3" creationId="{00000000-0000-0000-0000-000000000000}"/>
          </ac:spMkLst>
        </pc:spChg>
      </pc:sldChg>
      <pc:sldChg chg="modSp mod">
        <pc:chgData name="J. Tower" userId="9d06de10716639e5" providerId="LiveId" clId="{F8931099-75CA-5660-A155-55881DF68D84}" dt="2026-09-16T13:40:14.566" v="1178" actId="20577"/>
        <pc:sldMkLst>
          <pc:docMk/>
          <pc:sldMk cId="0" sldId="595"/>
        </pc:sldMkLst>
        <pc:spChg chg="mod">
          <ac:chgData name="J. Tower" userId="9d06de10716639e5" providerId="LiveId" clId="{F8931099-75CA-5660-A155-55881DF68D84}" dt="2026-09-16T13:40:14.566" v="1178" actId="20577"/>
          <ac:spMkLst>
            <pc:docMk/>
            <pc:sldMk cId="0" sldId="595"/>
            <ac:spMk id="3" creationId="{00000000-0000-0000-0000-000000000000}"/>
          </ac:spMkLst>
        </pc:spChg>
      </pc:sldChg>
      <pc:sldChg chg="modSp mod">
        <pc:chgData name="J. Tower" userId="9d06de10716639e5" providerId="LiveId" clId="{F8931099-75CA-5660-A155-55881DF68D84}" dt="2026-09-16T13:40:17.877" v="1179" actId="20577"/>
        <pc:sldMkLst>
          <pc:docMk/>
          <pc:sldMk cId="0" sldId="596"/>
        </pc:sldMkLst>
        <pc:spChg chg="mod">
          <ac:chgData name="J. Tower" userId="9d06de10716639e5" providerId="LiveId" clId="{F8931099-75CA-5660-A155-55881DF68D84}" dt="2026-09-16T13:40:17.877" v="1179" actId="20577"/>
          <ac:spMkLst>
            <pc:docMk/>
            <pc:sldMk cId="0" sldId="596"/>
            <ac:spMk id="3" creationId="{00000000-0000-0000-0000-000000000000}"/>
          </ac:spMkLst>
        </pc:spChg>
      </pc:sldChg>
      <pc:sldChg chg="modSp">
        <pc:chgData name="J. Tower" userId="9d06de10716639e5" providerId="LiveId" clId="{F8931099-75CA-5660-A155-55881DF68D84}" dt="2026-09-16T13:40:26.139" v="1180"/>
        <pc:sldMkLst>
          <pc:docMk/>
          <pc:sldMk cId="0" sldId="597"/>
        </pc:sldMkLst>
        <pc:spChg chg="mod">
          <ac:chgData name="J. Tower" userId="9d06de10716639e5" providerId="LiveId" clId="{F8931099-75CA-5660-A155-55881DF68D84}" dt="2026-09-16T13:40:26.139" v="1180"/>
          <ac:spMkLst>
            <pc:docMk/>
            <pc:sldMk cId="0" sldId="597"/>
            <ac:spMk id="3" creationId="{00000000-0000-0000-0000-000000000000}"/>
          </ac:spMkLst>
        </pc:spChg>
      </pc:sldChg>
      <pc:sldChg chg="modSp mod">
        <pc:chgData name="J. Tower" userId="9d06de10716639e5" providerId="LiveId" clId="{F8931099-75CA-5660-A155-55881DF68D84}" dt="2026-09-16T13:10:21.031" v="997" actId="27636"/>
        <pc:sldMkLst>
          <pc:docMk/>
          <pc:sldMk cId="0" sldId="598"/>
        </pc:sldMkLst>
        <pc:spChg chg="mod">
          <ac:chgData name="J. Tower" userId="9d06de10716639e5" providerId="LiveId" clId="{F8931099-75CA-5660-A155-55881DF68D84}" dt="2026-09-16T13:10:21.031" v="997" actId="27636"/>
          <ac:spMkLst>
            <pc:docMk/>
            <pc:sldMk cId="0" sldId="598"/>
            <ac:spMk id="3" creationId="{00000000-0000-0000-0000-000000000000}"/>
          </ac:spMkLst>
        </pc:spChg>
      </pc:sldChg>
      <pc:sldChg chg="modSp mod">
        <pc:chgData name="J. Tower" userId="9d06de10716639e5" providerId="LiveId" clId="{F8931099-75CA-5660-A155-55881DF68D84}" dt="2026-09-16T13:41:30.984" v="1229" actId="20577"/>
        <pc:sldMkLst>
          <pc:docMk/>
          <pc:sldMk cId="0" sldId="599"/>
        </pc:sldMkLst>
        <pc:spChg chg="mod">
          <ac:chgData name="J. Tower" userId="9d06de10716639e5" providerId="LiveId" clId="{F8931099-75CA-5660-A155-55881DF68D84}" dt="2026-09-16T13:41:30.984" v="1229" actId="20577"/>
          <ac:spMkLst>
            <pc:docMk/>
            <pc:sldMk cId="0" sldId="599"/>
            <ac:spMk id="3" creationId="{00000000-0000-0000-0000-000000000000}"/>
          </ac:spMkLst>
        </pc:spChg>
      </pc:sldChg>
      <pc:sldChg chg="modSp mod">
        <pc:chgData name="J. Tower" userId="9d06de10716639e5" providerId="LiveId" clId="{F8931099-75CA-5660-A155-55881DF68D84}" dt="2026-09-16T13:10:21.039" v="998" actId="27636"/>
        <pc:sldMkLst>
          <pc:docMk/>
          <pc:sldMk cId="0" sldId="604"/>
        </pc:sldMkLst>
        <pc:spChg chg="mod">
          <ac:chgData name="J. Tower" userId="9d06de10716639e5" providerId="LiveId" clId="{F8931099-75CA-5660-A155-55881DF68D84}" dt="2026-09-16T13:10:21.039" v="998" actId="27636"/>
          <ac:spMkLst>
            <pc:docMk/>
            <pc:sldMk cId="0" sldId="604"/>
            <ac:spMk id="3" creationId="{00000000-0000-0000-0000-000000000000}"/>
          </ac:spMkLst>
        </pc:spChg>
      </pc:sldChg>
      <pc:sldChg chg="modSp mod">
        <pc:chgData name="J. Tower" userId="9d06de10716639e5" providerId="LiveId" clId="{F8931099-75CA-5660-A155-55881DF68D84}" dt="2026-09-16T13:10:21.046" v="999" actId="27636"/>
        <pc:sldMkLst>
          <pc:docMk/>
          <pc:sldMk cId="0" sldId="610"/>
        </pc:sldMkLst>
        <pc:spChg chg="mod">
          <ac:chgData name="J. Tower" userId="9d06de10716639e5" providerId="LiveId" clId="{F8931099-75CA-5660-A155-55881DF68D84}" dt="2026-09-16T13:10:21.046" v="999" actId="27636"/>
          <ac:spMkLst>
            <pc:docMk/>
            <pc:sldMk cId="0" sldId="610"/>
            <ac:spMk id="3" creationId="{00000000-0000-0000-0000-000000000000}"/>
          </ac:spMkLst>
        </pc:spChg>
      </pc:sldChg>
      <pc:sldChg chg="modSp mod">
        <pc:chgData name="J. Tower" userId="9d06de10716639e5" providerId="LiveId" clId="{F8931099-75CA-5660-A155-55881DF68D84}" dt="2026-09-03T20:20:13.797" v="985" actId="20577"/>
        <pc:sldMkLst>
          <pc:docMk/>
          <pc:sldMk cId="0" sldId="611"/>
        </pc:sldMkLst>
        <pc:spChg chg="mod">
          <ac:chgData name="J. Tower" userId="9d06de10716639e5" providerId="LiveId" clId="{F8931099-75CA-5660-A155-55881DF68D84}" dt="2026-09-03T20:20:13.797" v="985" actId="20577"/>
          <ac:spMkLst>
            <pc:docMk/>
            <pc:sldMk cId="0" sldId="611"/>
            <ac:spMk id="3" creationId="{00000000-0000-0000-0000-000000000000}"/>
          </ac:spMkLst>
        </pc:spChg>
      </pc:sldChg>
      <pc:sldChg chg="modSp mod">
        <pc:chgData name="J. Tower" userId="9d06de10716639e5" providerId="LiveId" clId="{F8931099-75CA-5660-A155-55881DF68D84}" dt="2026-09-16T14:37:06.010" v="1234" actId="20577"/>
        <pc:sldMkLst>
          <pc:docMk/>
          <pc:sldMk cId="0" sldId="616"/>
        </pc:sldMkLst>
        <pc:spChg chg="mod">
          <ac:chgData name="J. Tower" userId="9d06de10716639e5" providerId="LiveId" clId="{F8931099-75CA-5660-A155-55881DF68D84}" dt="2026-09-16T14:37:06.010" v="1234" actId="20577"/>
          <ac:spMkLst>
            <pc:docMk/>
            <pc:sldMk cId="0" sldId="616"/>
            <ac:spMk id="3" creationId="{00000000-0000-0000-0000-000000000000}"/>
          </ac:spMkLst>
        </pc:spChg>
      </pc:sldChg>
      <pc:sldChg chg="modSp mod">
        <pc:chgData name="J. Tower" userId="9d06de10716639e5" providerId="LiveId" clId="{F8931099-75CA-5660-A155-55881DF68D84}" dt="2026-09-16T14:37:33.956" v="1235" actId="20577"/>
        <pc:sldMkLst>
          <pc:docMk/>
          <pc:sldMk cId="0" sldId="618"/>
        </pc:sldMkLst>
        <pc:spChg chg="mod">
          <ac:chgData name="J. Tower" userId="9d06de10716639e5" providerId="LiveId" clId="{F8931099-75CA-5660-A155-55881DF68D84}" dt="2026-09-16T14:37:33.956" v="1235" actId="20577"/>
          <ac:spMkLst>
            <pc:docMk/>
            <pc:sldMk cId="0" sldId="61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18B0EE-4D36-4F22-9622-021322CFFE3A}" type="datetimeFigureOut">
              <a:rPr lang="en-US" smtClean="0"/>
              <a:t>9/16/26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FD6E22-9A40-4B73-8B1F-06CEEFE4CFDF}" type="slidenum">
              <a:rPr lang="en-US" smtClean="0"/>
              <a:t>‹#›</a:t>
            </a:fld>
            <a:endParaRPr lang="en-US"/>
          </a:p>
        </p:txBody>
      </p:sp>
    </p:spTree>
    <p:extLst>
      <p:ext uri="{BB962C8B-B14F-4D97-AF65-F5344CB8AC3E}">
        <p14:creationId xmlns:p14="http://schemas.microsoft.com/office/powerpoint/2010/main" val="18899595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Surfacing the right thing, and the point in the day where the work stops being about prompts.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piece of infrastructure, embeddings, and the rhythm again: three demos, then your lab hour.</a:t>
            </a:r>
          </a:p>
          <a:p>
            <a:r>
              <a:t>Embeddings turn text into vectors; distance between vectors means similarity of meaning.</a:t>
            </a:r>
          </a:p>
          <a:p>
            <a:r>
              <a:t>04: a search box that finds what users mean.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05: the same retrieval, plus a model that reads what it found and cites it.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06: the same vectors, with the query swapped for an item. Same math, three products.</a:t>
            </a:r>
          </a:p>
          <a:p>
            <a:r>
              <a:rPr dirty="0"/>
              <a:t>The thread to watch: embeddings capture what text is about, and nothing about whether it's suitable, safe, or current. </a:t>
            </a:r>
            <a:endParaRPr lang="en-US" dirty="0"/>
          </a:p>
          <a:p>
            <a:r>
              <a:rPr dirty="0"/>
              <a:t>Search hands a cliff edge to "quiet, for kids"; recommendations answer the 65-litre pack with the 40-litre pack. </a:t>
            </a:r>
            <a:endParaRPr lang="en-US" dirty="0"/>
          </a:p>
          <a:p>
            <a:r>
              <a:rPr dirty="0"/>
              <a:t>The fix is metadata, filters, thresholds, and how you split documents, not a bigger model.</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user problem, spoken, 60 seconds: "dog-friendly waterfall hike, not too steep." The catalog has a dozen matches and keyword search returns almost nothing, because no description says "not too steep"; the best trail says "a gentle grade shaded by cedars." Three bad results and the user goes back to asking strangers on Reddit.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textbook version (Wikipedia): search with meaning, as distinguished from lexical search, where the engine looks for literal matches of the query words. Read the slide, let it sit a beat, then the problem.</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Two phases. Index, once: thirty trail descriptions from trails-slice.json.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app reads the descriptions at startup, not per search.</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One model: nomic-embed-text on Ollama. It doesn't write anything; it turns text into numbers.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Thirty descriptions in, thirty vectors out. 768 numbers each, and similar meaning lands close.</a:t>
            </a:r>
          </a:p>
          <a:p>
            <a:r>
              <a:rPr lang="en-US" dirty="0"/>
              <a:t>Show the raw float array once in the demo so the word "vector" stops being magic.</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Keep one vector per trail. In the lab that's a list in memory; pgvector or Azure AI Search is the same math at scale.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~5 min · </a:t>
            </a:r>
            <a:r>
              <a:rPr dirty="0">
                <a:latin typeface="Consolas"/>
              </a:rPr>
              <a:t>cd modules/M2-finding/F04-semantic-search/dotnet</a:t>
            </a:r>
          </a:p>
          <a:p>
            <a:r>
              <a:rPr dirty="0"/>
              <a:t>Files: </a:t>
            </a:r>
            <a:r>
              <a:rPr dirty="0">
                <a:latin typeface="Consolas"/>
              </a:rPr>
              <a:t>trails-</a:t>
            </a:r>
            <a:r>
              <a:rPr dirty="0" err="1">
                <a:latin typeface="Consolas"/>
              </a:rPr>
              <a:t>slice.json</a:t>
            </a:r>
            <a:r>
              <a:rPr dirty="0"/>
              <a:t> = 30 trails · </a:t>
            </a:r>
            <a:r>
              <a:rPr dirty="0" err="1">
                <a:latin typeface="Consolas"/>
              </a:rPr>
              <a:t>queries.json</a:t>
            </a:r>
            <a:r>
              <a:rPr dirty="0"/>
              <a:t> = the three demo queries · </a:t>
            </a:r>
            <a:r>
              <a:rPr dirty="0" err="1">
                <a:latin typeface="Consolas"/>
              </a:rPr>
              <a:t>embeddings.json</a:t>
            </a:r>
            <a:r>
              <a:rPr dirty="0"/>
              <a:t> = cache, delete to embed live</a:t>
            </a:r>
          </a:p>
          <a:p>
            <a:r>
              <a:rPr dirty="0" err="1"/>
              <a:t>Args</a:t>
            </a:r>
            <a:r>
              <a:rPr dirty="0"/>
              <a:t>: the query, in plain words; none = "dog-friendly waterfall hike, not too steep"</a:t>
            </a:r>
          </a:p>
          <a:p>
            <a:r>
              <a:rPr dirty="0"/>
              <a:t>1. Before: </a:t>
            </a:r>
            <a:r>
              <a:rPr dirty="0">
                <a:latin typeface="Consolas"/>
              </a:rPr>
              <a:t>cd starter &amp;&amp; dotnet run</a:t>
            </a:r>
            <a:r>
              <a:rPr dirty="0"/>
              <a:t>. Keyword search. Junk.</a:t>
            </a:r>
          </a:p>
          <a:p>
            <a:r>
              <a:rPr dirty="0"/>
              <a:t>2. After: </a:t>
            </a:r>
            <a:r>
              <a:rPr dirty="0">
                <a:latin typeface="Consolas"/>
              </a:rPr>
              <a:t>cd ../complete &amp;&amp; rm -f </a:t>
            </a:r>
            <a:r>
              <a:rPr dirty="0" err="1">
                <a:latin typeface="Consolas"/>
              </a:rPr>
              <a:t>embeddings.json</a:t>
            </a:r>
            <a:r>
              <a:rPr dirty="0">
                <a:latin typeface="Consolas"/>
              </a:rPr>
              <a:t> &amp;&amp; dotnet run</a:t>
            </a:r>
            <a:r>
              <a:rPr dirty="0"/>
              <a:t>. 30 trails embedded in under 2 s, same query. Right trails, scores beside them. Show </a:t>
            </a:r>
            <a:r>
              <a:rPr dirty="0" err="1">
                <a:latin typeface="Consolas"/>
              </a:rPr>
              <a:t>queryVector</a:t>
            </a:r>
            <a:r>
              <a:rPr dirty="0"/>
              <a:t> in </a:t>
            </a:r>
            <a:r>
              <a:rPr dirty="0" err="1">
                <a:latin typeface="Consolas"/>
              </a:rPr>
              <a:t>Program.cs</a:t>
            </a:r>
            <a:r>
              <a:rPr dirty="0"/>
              <a:t>: 768 floats.</a:t>
            </a:r>
          </a:p>
          <a:p>
            <a:r>
              <a:rPr dirty="0"/>
              <a:t>3. Show the cosine method. One screen.</a:t>
            </a:r>
          </a:p>
          <a:p>
            <a:r>
              <a:rPr dirty="0"/>
              <a:t>4. </a:t>
            </a:r>
            <a:r>
              <a:rPr dirty="0">
                <a:latin typeface="Consolas"/>
              </a:rPr>
              <a:t>dotnet run -- somewhere quiet to take my kids</a:t>
            </a:r>
            <a:r>
              <a:rPr dirty="0"/>
              <a:t>: Taft Point, a 3,000-foot drop. Scores top out near 0.49 vs 0.77. Filters and a floor, not a better model.</a:t>
            </a:r>
          </a:p>
          <a:p>
            <a:r>
              <a:rPr dirty="0"/>
              <a:t>Cut: 4.</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Also: any catalog where people describe what they want instead of naming it.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line for your boss. Row 4.</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Easy. If asked about cost: days to a prototype on an existing catalog; embeddings cheap to free; the work is evaluation and tuning.</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user problem, spoken, 60 seconds: "Can I have a campfire at Sperry Chalet in September?" The answer exists: paragraph four of a 12-page regulations document nobody will read. Search returns the document, not the answer; a plain chatbot answers fluently and makes it up, and a confidently wrong answer about fire rules is worse than no answer.</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textbook version (AWS/NVIDIA): retrieval-augmented generation has the model consult an authoritative knowledge source outside its training data before generating, so answers are grounded in your content and can cite it.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A visitor asks: can I have a campfire at Sperry Chalet in September? The answer is paragraph four of a document nobody reads.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app takes the question.</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park docs were split into 250 chunks and embedded once, before anyone asked: 04's index step, on documents.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Embed the question the same way, with the same model.</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Cosine against every chunk, keep the top 3. Retrieval is 04, verbatim.</a:t>
            </a:r>
          </a:p>
          <a:p>
            <a:r>
              <a:rPr lang="en-US" dirty="0"/>
              <a:t>The right chunk wins by 0.05. Ranks 2 and 3 are relevant and wrong: fire rules that say fires are allowed.</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~8 min · </a:t>
            </a:r>
            <a:r>
              <a:rPr dirty="0">
                <a:latin typeface="Consolas"/>
              </a:rPr>
              <a:t>cd modules/M2-finding/F05-rag/dotnet</a:t>
            </a:r>
          </a:p>
          <a:p>
            <a:r>
              <a:rPr dirty="0"/>
              <a:t>Files: </a:t>
            </a:r>
            <a:r>
              <a:rPr dirty="0">
                <a:latin typeface="Consolas"/>
              </a:rPr>
              <a:t>park-docs/</a:t>
            </a:r>
            <a:r>
              <a:rPr dirty="0"/>
              <a:t> = 25 regulation docs · </a:t>
            </a:r>
            <a:r>
              <a:rPr dirty="0" err="1">
                <a:latin typeface="Consolas"/>
              </a:rPr>
              <a:t>chunks.jsonl</a:t>
            </a:r>
            <a:r>
              <a:rPr dirty="0"/>
              <a:t> = 250 chunks · </a:t>
            </a:r>
            <a:r>
              <a:rPr dirty="0">
                <a:latin typeface="Consolas"/>
              </a:rPr>
              <a:t>chunk-</a:t>
            </a:r>
            <a:r>
              <a:rPr dirty="0" err="1">
                <a:latin typeface="Consolas"/>
              </a:rPr>
              <a:t>embeddings.json</a:t>
            </a:r>
            <a:r>
              <a:rPr dirty="0"/>
              <a:t> = their vectors, precomputed · </a:t>
            </a:r>
            <a:r>
              <a:rPr dirty="0" err="1">
                <a:latin typeface="Consolas"/>
              </a:rPr>
              <a:t>questions.json</a:t>
            </a:r>
            <a:r>
              <a:rPr dirty="0"/>
              <a:t> = the four lab questions</a:t>
            </a:r>
          </a:p>
          <a:p>
            <a:r>
              <a:rPr dirty="0"/>
              <a:t>Flags: </a:t>
            </a:r>
            <a:r>
              <a:rPr dirty="0">
                <a:latin typeface="Consolas"/>
              </a:rPr>
              <a:t>--retrieval-only</a:t>
            </a:r>
            <a:r>
              <a:rPr dirty="0"/>
              <a:t> = no answer, just ranks · </a:t>
            </a:r>
            <a:r>
              <a:rPr dirty="0">
                <a:latin typeface="Consolas"/>
              </a:rPr>
              <a:t>--top-k N</a:t>
            </a:r>
            <a:r>
              <a:rPr dirty="0"/>
              <a:t> = chunks retrieved (default 3) · </a:t>
            </a:r>
            <a:r>
              <a:rPr dirty="0">
                <a:latin typeface="Consolas"/>
              </a:rPr>
              <a:t>--alpha</a:t>
            </a:r>
            <a:r>
              <a:rPr dirty="0"/>
              <a:t> = semantic weight, 1.0 = cosine only, default 0.6 · </a:t>
            </a:r>
            <a:r>
              <a:rPr dirty="0">
                <a:latin typeface="Consolas"/>
              </a:rPr>
              <a:t>--no-context</a:t>
            </a:r>
            <a:r>
              <a:rPr dirty="0"/>
              <a:t> = plain chatbot · a quoted question replaces the Sperry default</a:t>
            </a:r>
          </a:p>
          <a:p>
            <a:r>
              <a:rPr dirty="0"/>
              <a:t>1. Before: </a:t>
            </a:r>
            <a:r>
              <a:rPr dirty="0">
                <a:latin typeface="Consolas"/>
              </a:rPr>
              <a:t>cd starter &amp;&amp; dotnet run</a:t>
            </a:r>
            <a:r>
              <a:rPr dirty="0"/>
              <a:t>. The Sperry campfire question, no context. Confident. Wrong.</a:t>
            </a:r>
          </a:p>
          <a:p>
            <a:r>
              <a:rPr dirty="0"/>
              <a:t>2. Open </a:t>
            </a:r>
            <a:r>
              <a:rPr dirty="0">
                <a:latin typeface="Consolas"/>
              </a:rPr>
              <a:t>data/park-docs/glacier-backcountry-camping-</a:t>
            </a:r>
            <a:r>
              <a:rPr dirty="0" err="1">
                <a:latin typeface="Consolas"/>
              </a:rPr>
              <a:t>guide.md</a:t>
            </a:r>
            <a:r>
              <a:rPr dirty="0"/>
              <a:t>, section 4. Read 4.1 then 4.2 aloud. Which one does a model answer from?</a:t>
            </a:r>
          </a:p>
          <a:p>
            <a:r>
              <a:rPr dirty="0"/>
              <a:t>3. </a:t>
            </a:r>
            <a:r>
              <a:rPr dirty="0">
                <a:latin typeface="Consolas"/>
              </a:rPr>
              <a:t>cd ../complete &amp;&amp; dotnet run -- --top-k 8 --alpha 1.0 --retrieval-only</a:t>
            </a:r>
            <a:r>
              <a:rPr dirty="0"/>
              <a:t>: ranks 4 to 8 are Acadia and Yosemite.</a:t>
            </a:r>
          </a:p>
          <a:p>
            <a:r>
              <a:rPr dirty="0"/>
              <a:t>4. </a:t>
            </a:r>
            <a:r>
              <a:rPr dirty="0">
                <a:latin typeface="Consolas"/>
              </a:rPr>
              <a:t>dotnet run -- --top-k 8 --retrieval-only</a:t>
            </a:r>
            <a:r>
              <a:rPr dirty="0"/>
              <a:t>: hybrid. Acadia gone, "</a:t>
            </a:r>
            <a:r>
              <a:rPr dirty="0" err="1"/>
              <a:t>sperry</a:t>
            </a:r>
            <a:r>
              <a:rPr dirty="0"/>
              <a:t>" doing the work.</a:t>
            </a:r>
          </a:p>
          <a:p>
            <a:r>
              <a:rPr dirty="0"/>
              <a:t>5. After: </a:t>
            </a:r>
            <a:r>
              <a:rPr dirty="0">
                <a:latin typeface="Consolas"/>
              </a:rPr>
              <a:t>dotnet run</a:t>
            </a:r>
            <a:r>
              <a:rPr dirty="0"/>
              <a:t>. Right answer, cited by name. Point at the citation check line.</a:t>
            </a:r>
          </a:p>
          <a:p>
            <a:r>
              <a:rPr dirty="0"/>
              <a:t>6. </a:t>
            </a:r>
            <a:r>
              <a:rPr dirty="0">
                <a:latin typeface="Consolas"/>
              </a:rPr>
              <a:t>dotnet run -- "Are there EV charging stations in Glacier National Park?"</a:t>
            </a:r>
            <a:r>
              <a:rPr dirty="0"/>
              <a:t>: "The documents don't say."</a:t>
            </a:r>
          </a:p>
          <a:p>
            <a:r>
              <a:rPr dirty="0"/>
              <a:t>7. </a:t>
            </a:r>
            <a:r>
              <a:rPr dirty="0">
                <a:latin typeface="Consolas"/>
              </a:rPr>
              <a:t>dotnet run -- "Is the Avalanche Lake Trail open right now?"</a:t>
            </a:r>
            <a:r>
              <a:rPr dirty="0"/>
              <a:t>: the date in the prompt. Without it, refused 10 of 18.</a:t>
            </a:r>
          </a:p>
          <a:p>
            <a:r>
              <a:rPr dirty="0"/>
              <a:t>8. Point at the DI line: this was gpt-4.1. Local would be one line.</a:t>
            </a:r>
          </a:p>
          <a:p>
            <a:r>
              <a:rPr dirty="0"/>
              <a:t>Cut: 7, then 6.</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Internal knowledge bases, support and policy docs, product documentation. The production work is chunking, retrieval evaluation, keeping documents current.</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line for your boss. The uncomfortable one underneath it: the worst bug was a text-splitting rule, not a model or a prompt. Ask what your evaluation would have caught. Row 5.</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Hard. If asked about cost: a day to demo, weeks to production quality.</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user problem, spoken, 60 seconds: a hiker just finished Avalanche Lake Trail and loved it, and the app says nothing. "You'd probably like these three" never got built because everyone assumes it needs a data-science team and six months. Same gap in the gear store: buy the Cascade 65, get a random carousel.</a:t>
            </a:r>
          </a:p>
          <a:p>
            <a:r>
              <a:t>No concept slide: the Same First Half diagram already told this story: same vectors, same similarity code, the query swapped for an item, no model call while the user waits.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textbook version: a recommender system predicts what a user will prefer. Today's shortcut is content-based (similarity of descriptions); the classical version is collaborative filtering over behavior data.</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~4 min · </a:t>
            </a:r>
            <a:r>
              <a:rPr dirty="0">
                <a:latin typeface="Consolas"/>
              </a:rPr>
              <a:t>cd modules/M2-finding/F06-recommendations/dotnet</a:t>
            </a:r>
          </a:p>
          <a:p>
            <a:r>
              <a:rPr dirty="0"/>
              <a:t>Files: </a:t>
            </a:r>
            <a:r>
              <a:rPr dirty="0" err="1">
                <a:latin typeface="Consolas"/>
              </a:rPr>
              <a:t>trails.json</a:t>
            </a:r>
            <a:r>
              <a:rPr dirty="0"/>
              <a:t> = 30 trails · </a:t>
            </a:r>
            <a:r>
              <a:rPr dirty="0">
                <a:latin typeface="Consolas"/>
              </a:rPr>
              <a:t>trail-</a:t>
            </a:r>
            <a:r>
              <a:rPr dirty="0" err="1">
                <a:latin typeface="Consolas"/>
              </a:rPr>
              <a:t>embeddings.json</a:t>
            </a:r>
            <a:r>
              <a:rPr dirty="0"/>
              <a:t> = 04's vectors, precomputed · </a:t>
            </a:r>
            <a:r>
              <a:rPr dirty="0">
                <a:latin typeface="Consolas"/>
              </a:rPr>
              <a:t>gear-</a:t>
            </a:r>
            <a:r>
              <a:rPr dirty="0" err="1">
                <a:latin typeface="Consolas"/>
              </a:rPr>
              <a:t>reviews.jsonl</a:t>
            </a:r>
            <a:r>
              <a:rPr dirty="0"/>
              <a:t> = 300 reviews</a:t>
            </a:r>
          </a:p>
          <a:p>
            <a:r>
              <a:rPr dirty="0" err="1"/>
              <a:t>Args</a:t>
            </a:r>
            <a:r>
              <a:rPr dirty="0"/>
              <a:t>: a trail id or name (default trail-0117, Avalanche Lake) · </a:t>
            </a:r>
            <a:r>
              <a:rPr dirty="0">
                <a:latin typeface="Consolas"/>
              </a:rPr>
              <a:t>--gear &lt;product&gt;</a:t>
            </a:r>
            <a:r>
              <a:rPr dirty="0"/>
              <a:t> = same trick over review text</a:t>
            </a:r>
          </a:p>
          <a:p>
            <a:r>
              <a:rPr dirty="0"/>
              <a:t>1. Avalanche Lake Trail page. What belongs at the bottom of this screen?</a:t>
            </a:r>
          </a:p>
          <a:p>
            <a:r>
              <a:rPr dirty="0"/>
              <a:t>2. Before: </a:t>
            </a:r>
            <a:r>
              <a:rPr dirty="0">
                <a:latin typeface="Consolas"/>
              </a:rPr>
              <a:t>cd starter &amp;&amp; dotnet run</a:t>
            </a:r>
            <a:r>
              <a:rPr dirty="0"/>
              <a:t>. Random picks. That is what most apps ship.</a:t>
            </a:r>
          </a:p>
          <a:p>
            <a:r>
              <a:rPr dirty="0"/>
              <a:t>3. After: </a:t>
            </a:r>
            <a:r>
              <a:rPr dirty="0">
                <a:latin typeface="Consolas"/>
              </a:rPr>
              <a:t>cd ../complete &amp;&amp; dotnet run</a:t>
            </a:r>
            <a:r>
              <a:rPr dirty="0"/>
              <a:t>. Same vectors as 04, nothing new embedded. Lakes cluster, but mostly hard, and one has no lake.</a:t>
            </a:r>
          </a:p>
          <a:p>
            <a:r>
              <a:rPr dirty="0"/>
              <a:t>4. Difficulty and park are in the catalog, not the text. Similarity gets candidates; metadata re-ranks.</a:t>
            </a:r>
          </a:p>
          <a:p>
            <a:r>
              <a:rPr dirty="0"/>
              <a:t>5. </a:t>
            </a:r>
            <a:r>
              <a:rPr dirty="0">
                <a:latin typeface="Consolas"/>
              </a:rPr>
              <a:t>dotnet run -- --gear Cascade 65</a:t>
            </a:r>
            <a:r>
              <a:rPr dirty="0"/>
              <a:t>: the Cascade 40. Substitutes, not complements. What people use with it lives in the reviews: the bear canister, in </a:t>
            </a:r>
            <a:r>
              <a:rPr dirty="0">
                <a:latin typeface="Consolas"/>
              </a:rPr>
              <a:t>expected-</a:t>
            </a:r>
            <a:r>
              <a:rPr dirty="0" err="1">
                <a:latin typeface="Consolas"/>
              </a:rPr>
              <a:t>output.md</a:t>
            </a:r>
            <a:r>
              <a:rPr dirty="0"/>
              <a:t>.</a:t>
            </a:r>
          </a:p>
          <a:p>
            <a:r>
              <a:rPr dirty="0"/>
              <a:t>Cut: 5.</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Any catalog or content library. Collaborative filtering comes later, when behavior data exists.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line for your boss. Row 6.</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Easy. If asked about cost: nearly free once search exists; days from scratch.</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 embed 30 trails, embed a query, rank by cosine; keyword baseline provided. Two honest routes: if RAG is why you came, go straight to 05 and come back to 04 after. Nobody should leave having never built the thing they came for. 06 is 04's code with the query swapped for an item.</a:t>
            </a:r>
          </a:p>
          <a:p>
            <a:r>
              <a:t>05's step that says run question 1 twenty times matters: a wrong answer one run in five is invisible in a single run and is the only defect here that could hurt somebody.</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Ask two people what surprised them.</a:t>
            </a:r>
          </a:p>
          <a:p>
            <a:r>
              <a:t>Prompts if quiet: who got Taft Point for the kids query? Who got the Cascade 40? Rows 4-6 of the framework are done. Lunch, then Module 3.</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Search, every query. A user types "dog-friendly waterfall hike, not too steep." No trail description contains those words.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Embed the query the same way, with the same model. The only model call turns text into numbers.</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Cosine similarity against every stored vector: ten lines of plain code.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Top results with scores: all four dog-friendly waterfall trails lead, none of which say "dog-friendly" or "steep."</a:t>
            </a:r>
          </a:p>
          <a:p>
            <a:r>
              <a:rPr lang="en-US" dirty="0"/>
              <a:t>Nothing is generated.</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Now the chat model: the top 3 chunks plus the question, and a prompt that says answer only from these, cite the chunk, or say the documents don't say.</a:t>
            </a:r>
          </a:p>
          <a:p>
            <a:r>
              <a:rPr lang="en-US" dirty="0"/>
              <a:t>Generation is 01 with reading material. The model reads instead of remembers.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app checks every citation against the chunks it sent, then answers: wood fires are prohibited year-round, with the source.</a:t>
            </a:r>
          </a:p>
          <a:p>
            <a:r>
              <a:rPr lang="en-US" dirty="0"/>
              <a:t>Two failure spots: the wrong chunk, or a bad split. Splitting a fire rule from its exception produced "campfires are fine" 4 runs in 20; re-splitting at subsections, 0 in 60. Chunking is a correctness decision.</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A hiker just finished Avalanche Lake and loved it. The app says nothing. That's the gap.</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app knows which trail: trail-0117.</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same kind of vectors 04 built, one per trail, already stored. No new index.</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Look up Avalanche Lake's own vector and score every other trail against it. Leave the target out.</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Top matches: Gunsight Lake, Black Lake, Piegan Pass. Hard lake hikes, like the one they just did.</a:t>
            </a:r>
          </a:p>
          <a:p>
            <a:r>
              <a:rPr lang="en-US" dirty="0"/>
              <a:t>And no model call at request time: no chat model, no prompt. Recommendations are 04's math pointed at an item instead of a query.</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1"/>
        </a:solidFill>
        <a:effectLst/>
      </p:bgPr>
    </p:bg>
    <p:spTree>
      <p:nvGrpSpPr>
        <p:cNvPr id="1" name=""/>
        <p:cNvGrpSpPr/>
        <p:nvPr/>
      </p:nvGrpSpPr>
      <p:grpSpPr>
        <a:xfrm>
          <a:off x="0" y="0"/>
          <a:ext cx="0" cy="0"/>
          <a:chOff x="0" y="0"/>
          <a:chExt cx="0" cy="0"/>
        </a:xfrm>
      </p:grpSpPr>
      <p:sp>
        <p:nvSpPr>
          <p:cNvPr id="4" name="Rectangle 3"/>
          <p:cNvSpPr/>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603505" y="770467"/>
            <a:ext cx="10782300" cy="3352800"/>
          </a:xfrm>
        </p:spPr>
        <p:txBody>
          <a:bodyPr anchor="b">
            <a:noAutofit/>
          </a:bodyPr>
          <a:lstStyle>
            <a:lvl1pPr algn="l">
              <a:lnSpc>
                <a:spcPct val="80000"/>
              </a:lnSpc>
              <a:defRPr sz="6600" spc="-90" baseline="0">
                <a:solidFill>
                  <a:srgbClr val="FFFFFF"/>
                </a:solidFill>
              </a:defRPr>
            </a:lvl1pPr>
          </a:lstStyle>
          <a:p>
            <a:r>
              <a:rPr lang="en-US"/>
              <a:t>Click to edit Master title style</a:t>
            </a:r>
          </a:p>
        </p:txBody>
      </p:sp>
      <p:sp>
        <p:nvSpPr>
          <p:cNvPr id="7" name="Date Placeholder 6"/>
          <p:cNvSpPr>
            <a:spLocks noGrp="1"/>
          </p:cNvSpPr>
          <p:nvPr>
            <p:ph type="dt" sz="half" idx="10"/>
          </p:nvPr>
        </p:nvSpPr>
        <p:spPr/>
        <p:txBody>
          <a:bodyPr/>
          <a:lstStyle>
            <a:lvl1pPr>
              <a:defRPr>
                <a:solidFill>
                  <a:srgbClr val="FFFFFF">
                    <a:alpha val="80000"/>
                  </a:srgbClr>
                </a:solidFill>
              </a:defRPr>
            </a:lvl1pPr>
          </a:lstStyle>
          <a:p>
            <a:pPr defTabSz="342900"/>
            <a:fld id="{FDB08721-E45B-4A66-93A6-531BE00DB2CF}" type="datetimeFigureOut">
              <a:rPr lang="en-US" smtClean="0"/>
              <a:pPr defTabSz="342900"/>
              <a:t>9/16/26</a:t>
            </a:fld>
            <a:endParaRPr lang="en-US"/>
          </a:p>
        </p:txBody>
      </p:sp>
      <p:sp>
        <p:nvSpPr>
          <p:cNvPr id="8" name="Footer Placeholder 7"/>
          <p:cNvSpPr>
            <a:spLocks noGrp="1"/>
          </p:cNvSpPr>
          <p:nvPr>
            <p:ph type="ftr" sz="quarter" idx="11"/>
          </p:nvPr>
        </p:nvSpPr>
        <p:spPr/>
        <p:txBody>
          <a:bodyPr/>
          <a:lstStyle>
            <a:lvl1pPr>
              <a:defRPr>
                <a:solidFill>
                  <a:srgbClr val="FFFFFF">
                    <a:alpha val="80000"/>
                  </a:srgbClr>
                </a:solidFill>
              </a:defRPr>
            </a:lvl1pPr>
          </a:lstStyle>
          <a:p>
            <a:pPr defTabSz="342900"/>
            <a:endParaRPr lang="en-US"/>
          </a:p>
        </p:txBody>
      </p:sp>
      <p:sp>
        <p:nvSpPr>
          <p:cNvPr id="9" name="Slide Number Placeholder 8"/>
          <p:cNvSpPr>
            <a:spLocks noGrp="1"/>
          </p:cNvSpPr>
          <p:nvPr>
            <p:ph type="sldNum" sz="quarter" idx="12"/>
          </p:nvPr>
        </p:nvSpPr>
        <p:spPr/>
        <p:txBody>
          <a:bodyPr/>
          <a:lstStyle>
            <a:lvl1pPr>
              <a:defRPr>
                <a:solidFill>
                  <a:srgbClr val="FFFFFF">
                    <a:alpha val="25000"/>
                  </a:srgbClr>
                </a:solidFill>
              </a:defRPr>
            </a:lvl1pPr>
          </a:lstStyle>
          <a:p>
            <a:pPr defTabSz="342900"/>
            <a:fld id="{78C739BE-451B-478D-B9BF-5E72F79512D5}" type="slidenum">
              <a:rPr lang="en-US" smtClean="0"/>
              <a:pPr defTabSz="342900"/>
              <a:t>‹#›</a:t>
            </a:fld>
            <a:endParaRPr lang="en-US"/>
          </a:p>
        </p:txBody>
      </p:sp>
      <p:sp>
        <p:nvSpPr>
          <p:cNvPr id="10" name="Rectangle 9"/>
          <p:cNvSpPr/>
          <p:nvPr userDrawn="1"/>
        </p:nvSpPr>
        <p:spPr>
          <a:xfrm>
            <a:off x="0" y="4160704"/>
            <a:ext cx="12192000" cy="8691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9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Light" panose="020F0302020204030204"/>
              <a:ea typeface="+mn-ea"/>
              <a:cs typeface="+mn-cs"/>
            </a:endParaRPr>
          </a:p>
        </p:txBody>
      </p:sp>
      <p:sp>
        <p:nvSpPr>
          <p:cNvPr id="3" name="Subtitle 2"/>
          <p:cNvSpPr>
            <a:spLocks noGrp="1"/>
          </p:cNvSpPr>
          <p:nvPr>
            <p:ph type="subTitle" idx="1"/>
          </p:nvPr>
        </p:nvSpPr>
        <p:spPr>
          <a:xfrm>
            <a:off x="667513" y="4284569"/>
            <a:ext cx="9228201" cy="1587279"/>
          </a:xfrm>
        </p:spPr>
        <p:txBody>
          <a:bodyPr>
            <a:normAutofit/>
          </a:bodyPr>
          <a:lstStyle>
            <a:lvl1pPr marL="0" indent="0" algn="l">
              <a:buNone/>
              <a:defRPr sz="2400">
                <a:solidFill>
                  <a:srgbClr val="0072C6"/>
                </a:solidFill>
                <a:latin typeface="+mj-lt"/>
              </a:defRPr>
            </a:lvl1pPr>
            <a:lvl2pPr marL="342900" indent="0" algn="ctr">
              <a:buNone/>
              <a:defRPr sz="2100"/>
            </a:lvl2pPr>
            <a:lvl3pPr marL="685800" indent="0" algn="ctr">
              <a:buNone/>
              <a:defRPr sz="1800"/>
            </a:lvl3pPr>
            <a:lvl4pPr marL="1028700" indent="0" algn="ctr">
              <a:buNone/>
              <a:defRPr sz="1500"/>
            </a:lvl4pPr>
            <a:lvl5pPr marL="1371600" indent="0" algn="ctr">
              <a:buNone/>
              <a:defRPr sz="1500"/>
            </a:lvl5pPr>
            <a:lvl6pPr marL="1714500" indent="0" algn="ctr">
              <a:buNone/>
              <a:defRPr sz="1500"/>
            </a:lvl6pPr>
            <a:lvl7pPr marL="2057400" indent="0" algn="ctr">
              <a:buNone/>
              <a:defRPr sz="1500"/>
            </a:lvl7pPr>
            <a:lvl8pPr marL="2400300" indent="0" algn="ctr">
              <a:buNone/>
              <a:defRPr sz="1500"/>
            </a:lvl8pPr>
            <a:lvl9pPr marL="2743200" indent="0" algn="ctr">
              <a:buNone/>
              <a:defRPr sz="1500"/>
            </a:lvl9pPr>
          </a:lstStyle>
          <a:p>
            <a:endParaRPr lang="en-US"/>
          </a:p>
        </p:txBody>
      </p:sp>
    </p:spTree>
    <p:extLst>
      <p:ext uri="{BB962C8B-B14F-4D97-AF65-F5344CB8AC3E}">
        <p14:creationId xmlns:p14="http://schemas.microsoft.com/office/powerpoint/2010/main" val="10322254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599795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3504" y="767419"/>
            <a:ext cx="10780776" cy="4558624"/>
          </a:xfrm>
        </p:spPr>
        <p:txBody>
          <a:bodyPr anchor="b">
            <a:normAutofit/>
          </a:bodyPr>
          <a:lstStyle>
            <a:lvl1pPr>
              <a:lnSpc>
                <a:spcPct val="80000"/>
              </a:lnSpc>
              <a:defRPr sz="6600" b="0" baseline="0">
                <a:solidFill>
                  <a:schemeClr val="accent1"/>
                </a:solidFill>
              </a:defRPr>
            </a:lvl1pPr>
          </a:lstStyle>
          <a:p>
            <a:r>
              <a:rPr lang="en-US" dirty="0"/>
              <a:t>Click to edit Master title style</a:t>
            </a:r>
          </a:p>
        </p:txBody>
      </p:sp>
      <p:sp>
        <p:nvSpPr>
          <p:cNvPr id="3" name="Text Placeholder 2"/>
          <p:cNvSpPr>
            <a:spLocks noGrp="1"/>
          </p:cNvSpPr>
          <p:nvPr>
            <p:ph type="body" idx="1"/>
          </p:nvPr>
        </p:nvSpPr>
        <p:spPr>
          <a:xfrm>
            <a:off x="667512" y="5468293"/>
            <a:ext cx="9226296" cy="381836"/>
          </a:xfrm>
        </p:spPr>
        <p:txBody>
          <a:bodyPr anchor="t">
            <a:normAutofit/>
          </a:bodyPr>
          <a:lstStyle>
            <a:lvl1pPr marL="0" indent="0">
              <a:buNone/>
              <a:defRPr sz="2400">
                <a:solidFill>
                  <a:schemeClr val="tx1"/>
                </a:solidFill>
                <a:latin typeface="+mj-lt"/>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Edit Master text styles</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38448365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76656" y="1998134"/>
            <a:ext cx="4663440" cy="376732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11331" y="1998134"/>
            <a:ext cx="4663440" cy="376732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6" name="Footer Placeholder 5"/>
          <p:cNvSpPr>
            <a:spLocks noGrp="1"/>
          </p:cNvSpPr>
          <p:nvPr>
            <p:ph type="ftr" sz="quarter" idx="11"/>
          </p:nvPr>
        </p:nvSpPr>
        <p:spPr/>
        <p:txBody>
          <a:bodyPr/>
          <a:lstStyle/>
          <a:p>
            <a:pPr defTabSz="342900"/>
            <a:endParaRPr lang="en-US">
              <a:solidFill>
                <a:prstClr val="black">
                  <a:alpha val="80000"/>
                </a:prstClr>
              </a:solidFill>
            </a:endParaRPr>
          </a:p>
        </p:txBody>
      </p:sp>
      <p:sp>
        <p:nvSpPr>
          <p:cNvPr id="7" name="Slide Number Placeholder 6"/>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5241218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p>
        </p:txBody>
      </p:sp>
      <p:sp>
        <p:nvSpPr>
          <p:cNvPr id="3" name="Text Placeholder 2"/>
          <p:cNvSpPr>
            <a:spLocks noGrp="1"/>
          </p:cNvSpPr>
          <p:nvPr>
            <p:ph type="body" idx="1"/>
          </p:nvPr>
        </p:nvSpPr>
        <p:spPr>
          <a:xfrm>
            <a:off x="676656" y="2040467"/>
            <a:ext cx="4663440" cy="723400"/>
          </a:xfrm>
        </p:spPr>
        <p:txBody>
          <a:bodyPr anchor="ctr">
            <a:normAutofit/>
          </a:bodyPr>
          <a:lstStyle>
            <a:lvl1pPr marL="0" indent="0">
              <a:buNone/>
              <a:defRPr sz="1650" b="0" cap="all" baseline="0">
                <a:solidFill>
                  <a:schemeClr val="tx1">
                    <a:lumMod val="85000"/>
                    <a:lumOff val="15000"/>
                  </a:schemeClr>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676656" y="2753084"/>
            <a:ext cx="4663440" cy="3200400"/>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007608" y="2038435"/>
            <a:ext cx="4663440" cy="722376"/>
          </a:xfrm>
        </p:spPr>
        <p:txBody>
          <a:bodyPr anchor="ctr">
            <a:normAutofit/>
          </a:bodyPr>
          <a:lstStyle>
            <a:lvl1pPr marL="0" indent="0">
              <a:buNone/>
              <a:defRPr sz="1650" b="0" cap="all" baseline="0">
                <a:solidFill>
                  <a:schemeClr val="tx1">
                    <a:lumMod val="85000"/>
                    <a:lumOff val="15000"/>
                  </a:schemeClr>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6007608" y="2750990"/>
            <a:ext cx="4663440" cy="3200400"/>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8" name="Footer Placeholder 7"/>
          <p:cNvSpPr>
            <a:spLocks noGrp="1"/>
          </p:cNvSpPr>
          <p:nvPr>
            <p:ph type="ftr" sz="quarter" idx="11"/>
          </p:nvPr>
        </p:nvSpPr>
        <p:spPr/>
        <p:txBody>
          <a:bodyPr/>
          <a:lstStyle/>
          <a:p>
            <a:pPr defTabSz="342900"/>
            <a:endParaRPr lang="en-US">
              <a:solidFill>
                <a:prstClr val="black">
                  <a:alpha val="80000"/>
                </a:prstClr>
              </a:solidFill>
            </a:endParaRPr>
          </a:p>
        </p:txBody>
      </p:sp>
      <p:sp>
        <p:nvSpPr>
          <p:cNvPr id="9" name="Slide Number Placeholder 8"/>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20952598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4" name="Footer Placeholder 3"/>
          <p:cNvSpPr>
            <a:spLocks noGrp="1"/>
          </p:cNvSpPr>
          <p:nvPr>
            <p:ph type="ftr" sz="quarter" idx="11"/>
          </p:nvPr>
        </p:nvSpPr>
        <p:spPr/>
        <p:txBody>
          <a:bodyPr/>
          <a:lstStyle/>
          <a:p>
            <a:pPr defTabSz="342900"/>
            <a:endParaRPr lang="en-US">
              <a:solidFill>
                <a:prstClr val="black">
                  <a:alpha val="80000"/>
                </a:prstClr>
              </a:solidFill>
            </a:endParaRPr>
          </a:p>
        </p:txBody>
      </p:sp>
      <p:sp>
        <p:nvSpPr>
          <p:cNvPr id="5" name="Slide Number Placeholder 4"/>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4237501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3" name="Footer Placeholder 2"/>
          <p:cNvSpPr>
            <a:spLocks noGrp="1"/>
          </p:cNvSpPr>
          <p:nvPr>
            <p:ph type="ftr" sz="quarter" idx="11"/>
          </p:nvPr>
        </p:nvSpPr>
        <p:spPr/>
        <p:txBody>
          <a:bodyPr/>
          <a:lstStyle/>
          <a:p>
            <a:pPr defTabSz="342900"/>
            <a:endParaRPr lang="en-US">
              <a:solidFill>
                <a:prstClr val="black">
                  <a:alpha val="80000"/>
                </a:prstClr>
              </a:solidFill>
            </a:endParaRPr>
          </a:p>
        </p:txBody>
      </p:sp>
      <p:sp>
        <p:nvSpPr>
          <p:cNvPr id="4" name="Slide Number Placeholder 3"/>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7956549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Rectangle 1"/>
          <p:cNvSpPr/>
          <p:nvPr/>
        </p:nvSpPr>
        <p:spPr>
          <a:xfrm>
            <a:off x="7620000" y="0"/>
            <a:ext cx="457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9" name="Title 8"/>
          <p:cNvSpPr>
            <a:spLocks noGrp="1"/>
          </p:cNvSpPr>
          <p:nvPr>
            <p:ph type="title"/>
          </p:nvPr>
        </p:nvSpPr>
        <p:spPr>
          <a:xfrm>
            <a:off x="8261404" y="542282"/>
            <a:ext cx="3383280" cy="1920240"/>
          </a:xfrm>
        </p:spPr>
        <p:txBody>
          <a:bodyPr anchor="b">
            <a:noAutofit/>
          </a:bodyPr>
          <a:lstStyle>
            <a:lvl1pPr>
              <a:lnSpc>
                <a:spcPct val="85000"/>
              </a:lnSpc>
              <a:defRPr sz="3000">
                <a:solidFill>
                  <a:srgbClr val="FFFFFF"/>
                </a:solidFill>
              </a:defRPr>
            </a:lvl1pPr>
          </a:lstStyle>
          <a:p>
            <a:r>
              <a:rPr lang="en-US"/>
              <a:t>Click to edit Master title style</a:t>
            </a:r>
          </a:p>
        </p:txBody>
      </p:sp>
      <p:sp>
        <p:nvSpPr>
          <p:cNvPr id="3" name="Content Placeholder 2"/>
          <p:cNvSpPr>
            <a:spLocks noGrp="1"/>
          </p:cNvSpPr>
          <p:nvPr>
            <p:ph idx="1"/>
          </p:nvPr>
        </p:nvSpPr>
        <p:spPr>
          <a:xfrm>
            <a:off x="762000" y="762000"/>
            <a:ext cx="6096000" cy="4572000"/>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275983" y="2511813"/>
            <a:ext cx="3398520" cy="3126987"/>
          </a:xfrm>
        </p:spPr>
        <p:txBody>
          <a:bodyPr>
            <a:normAutofit/>
          </a:bodyPr>
          <a:lstStyle>
            <a:lvl1pPr marL="0" marR="0" indent="0" algn="l" defTabSz="685800" rtl="0" eaLnBrk="1" fontAlgn="auto" latinLnBrk="0" hangingPunct="1">
              <a:lnSpc>
                <a:spcPct val="100000"/>
              </a:lnSpc>
              <a:spcBef>
                <a:spcPts val="900"/>
              </a:spcBef>
              <a:spcAft>
                <a:spcPts val="0"/>
              </a:spcAft>
              <a:buClrTx/>
              <a:buSzTx/>
              <a:buFontTx/>
              <a:buNone/>
              <a:tabLst/>
              <a:defRPr sz="1350">
                <a:solidFill>
                  <a:srgbClr val="262626"/>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marL="0" marR="0" lvl="0" indent="0" algn="l" defTabSz="685800" rtl="0" eaLnBrk="1" fontAlgn="auto" latinLnBrk="0" hangingPunct="1">
              <a:lnSpc>
                <a:spcPct val="100000"/>
              </a:lnSpc>
              <a:spcBef>
                <a:spcPts val="1050"/>
              </a:spcBef>
              <a:spcAft>
                <a:spcPts val="0"/>
              </a:spcAft>
              <a:buClrTx/>
              <a:buSzTx/>
              <a:buFontTx/>
              <a:buNone/>
              <a:tabLst/>
              <a:defRPr/>
            </a:pPr>
            <a:r>
              <a:rPr lang="en-US"/>
              <a:t>Edit Master text styles</a:t>
            </a:r>
          </a:p>
        </p:txBody>
      </p:sp>
      <p:sp>
        <p:nvSpPr>
          <p:cNvPr id="5" name="Date Placeholder 4"/>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6" name="Footer Placeholder 5"/>
          <p:cNvSpPr>
            <a:spLocks noGrp="1"/>
          </p:cNvSpPr>
          <p:nvPr>
            <p:ph type="ftr" sz="quarter" idx="11"/>
          </p:nvPr>
        </p:nvSpPr>
        <p:spPr/>
        <p:txBody>
          <a:bodyPr/>
          <a:lstStyle/>
          <a:p>
            <a:pPr defTabSz="342900"/>
            <a:endParaRPr lang="en-US">
              <a:solidFill>
                <a:prstClr val="black">
                  <a:alpha val="80000"/>
                </a:prstClr>
              </a:solidFill>
            </a:endParaRPr>
          </a:p>
        </p:txBody>
      </p:sp>
      <p:sp>
        <p:nvSpPr>
          <p:cNvPr id="7" name="Slide Number Placeholder 6"/>
          <p:cNvSpPr>
            <a:spLocks noGrp="1"/>
          </p:cNvSpPr>
          <p:nvPr>
            <p:ph type="sldNum" sz="quarter" idx="12"/>
          </p:nvPr>
        </p:nvSpPr>
        <p:spPr/>
        <p:txBody>
          <a:bodyPr/>
          <a:lstStyle>
            <a:lvl1pPr>
              <a:defRPr>
                <a:solidFill>
                  <a:srgbClr val="FFFFFF">
                    <a:alpha val="20000"/>
                  </a:srgbClr>
                </a:solidFill>
              </a:defRPr>
            </a:lvl1pPr>
          </a:lstStyle>
          <a:p>
            <a:pPr defTabSz="342900"/>
            <a:fld id="{78C739BE-451B-478D-B9BF-5E72F79512D5}" type="slidenum">
              <a:rPr lang="en-US" smtClean="0"/>
              <a:pPr defTabSz="342900"/>
              <a:t>‹#›</a:t>
            </a:fld>
            <a:endParaRPr lang="en-US"/>
          </a:p>
        </p:txBody>
      </p:sp>
    </p:spTree>
    <p:extLst>
      <p:ext uri="{BB962C8B-B14F-4D97-AF65-F5344CB8AC3E}">
        <p14:creationId xmlns:p14="http://schemas.microsoft.com/office/powerpoint/2010/main" val="24072032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49224" y="5418669"/>
            <a:ext cx="10780776" cy="613283"/>
          </a:xfrm>
        </p:spPr>
        <p:txBody>
          <a:bodyPr anchor="b">
            <a:normAutofit/>
          </a:bodyPr>
          <a:lstStyle>
            <a:lvl1pPr>
              <a:defRPr sz="2400" b="0">
                <a:solidFill>
                  <a:srgbClr val="FFFFFF"/>
                </a:solidFill>
              </a:defRPr>
            </a:lvl1pPr>
          </a:lstStyle>
          <a:p>
            <a:r>
              <a:rPr lang="en-US"/>
              <a:t>Click to edit Master title style</a:t>
            </a:r>
          </a:p>
        </p:txBody>
      </p:sp>
      <p:sp>
        <p:nvSpPr>
          <p:cNvPr id="3" name="Picture Placeholder 2"/>
          <p:cNvSpPr>
            <a:spLocks noGrp="1" noChangeAspect="1"/>
          </p:cNvSpPr>
          <p:nvPr>
            <p:ph type="pic" idx="1"/>
          </p:nvPr>
        </p:nvSpPr>
        <p:spPr>
          <a:xfrm>
            <a:off x="0" y="0"/>
            <a:ext cx="12192000" cy="5330952"/>
          </a:xfrm>
          <a:solidFill>
            <a:schemeClr val="accent1">
              <a:lumMod val="40000"/>
              <a:lumOff val="60000"/>
            </a:schemeClr>
          </a:solidFill>
        </p:spPr>
        <p:txBody>
          <a:bodyPr anchor="t"/>
          <a:lstStyle>
            <a:lvl1pPr marL="0" indent="0" algn="ctr">
              <a:spcBef>
                <a:spcPts val="600"/>
              </a:spcBef>
              <a:buNone/>
              <a:defRPr sz="2400">
                <a:solidFill>
                  <a:schemeClr val="tx1">
                    <a:lumMod val="75000"/>
                    <a:lumOff val="25000"/>
                  </a:schemeClr>
                </a:solidFill>
              </a:defRPr>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676656" y="5909735"/>
            <a:ext cx="9229344" cy="533400"/>
          </a:xfrm>
        </p:spPr>
        <p:txBody>
          <a:bodyPr>
            <a:normAutofit/>
          </a:bodyPr>
          <a:lstStyle>
            <a:lvl1pPr marL="0" indent="0">
              <a:lnSpc>
                <a:spcPct val="90000"/>
              </a:lnSpc>
              <a:buNone/>
              <a:defRPr sz="1050">
                <a:solidFill>
                  <a:srgbClr val="262626"/>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Edit Master text styles</a:t>
            </a:r>
          </a:p>
        </p:txBody>
      </p:sp>
      <p:sp>
        <p:nvSpPr>
          <p:cNvPr id="12" name="Date Placeholder 11"/>
          <p:cNvSpPr>
            <a:spLocks noGrp="1"/>
          </p:cNvSpPr>
          <p:nvPr>
            <p:ph type="dt" sz="half" idx="10"/>
          </p:nvPr>
        </p:nvSpPr>
        <p:spPr/>
        <p:txBody>
          <a:bodyPr/>
          <a:lstStyle>
            <a:lvl1pPr>
              <a:defRPr>
                <a:solidFill>
                  <a:srgbClr val="FFFFFF">
                    <a:alpha val="80000"/>
                  </a:srgbClr>
                </a:solidFill>
              </a:defRPr>
            </a:lvl1pPr>
          </a:lstStyle>
          <a:p>
            <a:pPr defTabSz="342900"/>
            <a:fld id="{FDB08721-E45B-4A66-93A6-531BE00DB2CF}" type="datetimeFigureOut">
              <a:rPr lang="en-US" smtClean="0"/>
              <a:pPr defTabSz="342900"/>
              <a:t>9/16/26</a:t>
            </a:fld>
            <a:endParaRPr lang="en-US"/>
          </a:p>
        </p:txBody>
      </p:sp>
      <p:sp>
        <p:nvSpPr>
          <p:cNvPr id="13" name="Footer Placeholder 12"/>
          <p:cNvSpPr>
            <a:spLocks noGrp="1"/>
          </p:cNvSpPr>
          <p:nvPr>
            <p:ph type="ftr" sz="quarter" idx="11"/>
          </p:nvPr>
        </p:nvSpPr>
        <p:spPr/>
        <p:txBody>
          <a:bodyPr/>
          <a:lstStyle>
            <a:lvl1pPr>
              <a:defRPr>
                <a:solidFill>
                  <a:srgbClr val="FFFFFF">
                    <a:alpha val="80000"/>
                  </a:srgbClr>
                </a:solidFill>
              </a:defRPr>
            </a:lvl1pPr>
          </a:lstStyle>
          <a:p>
            <a:pPr defTabSz="342900"/>
            <a:endParaRPr lang="en-US"/>
          </a:p>
        </p:txBody>
      </p:sp>
      <p:sp>
        <p:nvSpPr>
          <p:cNvPr id="14" name="Slide Number Placeholder 13"/>
          <p:cNvSpPr>
            <a:spLocks noGrp="1"/>
          </p:cNvSpPr>
          <p:nvPr>
            <p:ph type="sldNum" sz="quarter" idx="12"/>
          </p:nvPr>
        </p:nvSpPr>
        <p:spPr/>
        <p:txBody>
          <a:bodyPr/>
          <a:lstStyle>
            <a:lvl1pPr>
              <a:defRPr>
                <a:solidFill>
                  <a:srgbClr val="FFFFFF">
                    <a:alpha val="25000"/>
                  </a:srgbClr>
                </a:solidFill>
              </a:defRPr>
            </a:lvl1pPr>
          </a:lstStyle>
          <a:p>
            <a:pPr defTabSz="342900"/>
            <a:fld id="{78C739BE-451B-478D-B9BF-5E72F79512D5}" type="slidenum">
              <a:rPr lang="en-US" smtClean="0"/>
              <a:pPr defTabSz="342900"/>
              <a:t>‹#›</a:t>
            </a:fld>
            <a:endParaRPr lang="en-US"/>
          </a:p>
        </p:txBody>
      </p:sp>
    </p:spTree>
    <p:extLst>
      <p:ext uri="{BB962C8B-B14F-4D97-AF65-F5344CB8AC3E}">
        <p14:creationId xmlns:p14="http://schemas.microsoft.com/office/powerpoint/2010/main" val="1795388696"/>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649926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43951" y="695325"/>
            <a:ext cx="2628900" cy="48006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71526" y="714377"/>
            <a:ext cx="7734300" cy="540067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3507239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57226" y="499533"/>
            <a:ext cx="10772775" cy="1658198"/>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76656" y="2011680"/>
            <a:ext cx="10753725" cy="3766185"/>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85800" y="6412447"/>
            <a:ext cx="4114800" cy="228600"/>
          </a:xfrm>
          <a:prstGeom prst="rect">
            <a:avLst/>
          </a:prstGeom>
        </p:spPr>
        <p:txBody>
          <a:bodyPr vert="horz" lIns="91440" tIns="45720" rIns="91440" bIns="45720" rtlCol="0" anchor="ctr"/>
          <a:lstStyle>
            <a:lvl1pPr algn="l">
              <a:defRPr sz="713">
                <a:solidFill>
                  <a:schemeClr val="tx1">
                    <a:alpha val="80000"/>
                  </a:schemeClr>
                </a:solidFill>
                <a:latin typeface="Segoe UI" panose="020B0502040204020203" pitchFamily="34" charset="0"/>
                <a:cs typeface="Segoe UI" panose="020B0502040204020203" pitchFamily="34" charset="0"/>
              </a:defRPr>
            </a:lvl1p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5" name="Footer Placeholder 4"/>
          <p:cNvSpPr>
            <a:spLocks noGrp="1"/>
          </p:cNvSpPr>
          <p:nvPr>
            <p:ph type="ftr" sz="quarter" idx="3"/>
          </p:nvPr>
        </p:nvSpPr>
        <p:spPr>
          <a:xfrm>
            <a:off x="685800" y="6554697"/>
            <a:ext cx="5029200" cy="228600"/>
          </a:xfrm>
          <a:prstGeom prst="rect">
            <a:avLst/>
          </a:prstGeom>
        </p:spPr>
        <p:txBody>
          <a:bodyPr vert="horz" lIns="91440" tIns="45720" rIns="91440" bIns="45720" rtlCol="0" anchor="ctr"/>
          <a:lstStyle>
            <a:lvl1pPr algn="l">
              <a:defRPr sz="713" cap="all" baseline="0">
                <a:solidFill>
                  <a:schemeClr val="tx1">
                    <a:alpha val="80000"/>
                  </a:schemeClr>
                </a:solidFill>
                <a:latin typeface="Segoe UI" panose="020B0502040204020203" pitchFamily="34" charset="0"/>
                <a:cs typeface="Segoe UI" panose="020B0502040204020203" pitchFamily="34" charset="0"/>
              </a:defRPr>
            </a:lvl1pPr>
          </a:lstStyle>
          <a:p>
            <a:pPr defTabSz="342900"/>
            <a:endParaRPr lang="en-US">
              <a:solidFill>
                <a:prstClr val="black">
                  <a:alpha val="80000"/>
                </a:prstClr>
              </a:solidFill>
            </a:endParaRPr>
          </a:p>
        </p:txBody>
      </p:sp>
      <p:sp>
        <p:nvSpPr>
          <p:cNvPr id="6" name="Slide Number Placeholder 5"/>
          <p:cNvSpPr>
            <a:spLocks noGrp="1"/>
          </p:cNvSpPr>
          <p:nvPr>
            <p:ph type="sldNum" sz="quarter" idx="4"/>
          </p:nvPr>
        </p:nvSpPr>
        <p:spPr>
          <a:xfrm>
            <a:off x="8763927" y="5876414"/>
            <a:ext cx="2926080" cy="1397039"/>
          </a:xfrm>
          <a:prstGeom prst="rect">
            <a:avLst/>
          </a:prstGeom>
        </p:spPr>
        <p:txBody>
          <a:bodyPr vert="horz" lIns="91440" tIns="45720" rIns="91440" bIns="45720" rtlCol="0" anchor="b"/>
          <a:lstStyle>
            <a:lvl1pPr algn="r">
              <a:defRPr sz="7725" b="0">
                <a:ln>
                  <a:noFill/>
                </a:ln>
                <a:solidFill>
                  <a:schemeClr val="accent1">
                    <a:alpha val="25000"/>
                  </a:schemeClr>
                </a:solidFill>
                <a:latin typeface="Segoe UI" panose="020B0502040204020203" pitchFamily="34" charset="0"/>
                <a:cs typeface="Segoe UI" panose="020B0502040204020203" pitchFamily="34" charset="0"/>
              </a:defRPr>
            </a:lvl1p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404898969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85000"/>
        </a:lnSpc>
        <a:spcBef>
          <a:spcPct val="0"/>
        </a:spcBef>
        <a:buNone/>
        <a:defRPr sz="4050" kern="1200" spc="-90" baseline="0">
          <a:solidFill>
            <a:srgbClr val="0070C0"/>
          </a:solidFill>
          <a:latin typeface="Segoe UI" panose="020B0502040204020203" pitchFamily="34" charset="0"/>
          <a:ea typeface="+mj-ea"/>
          <a:cs typeface="Segoe UI" panose="020B0502040204020203" pitchFamily="34" charset="0"/>
        </a:defRPr>
      </a:lvl1pPr>
    </p:titleStyle>
    <p:bodyStyle>
      <a:lvl1pPr marL="68580" indent="-68580" algn="l" defTabSz="685800" rtl="0" eaLnBrk="1" latinLnBrk="0" hangingPunct="1">
        <a:lnSpc>
          <a:spcPct val="85000"/>
        </a:lnSpc>
        <a:spcBef>
          <a:spcPts val="975"/>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1pPr>
      <a:lvl2pPr marL="260604" indent="-257175" algn="l" defTabSz="685800" rtl="0" eaLnBrk="1" latinLnBrk="0" hangingPunct="1">
        <a:lnSpc>
          <a:spcPct val="85000"/>
        </a:lnSpc>
        <a:spcBef>
          <a:spcPts val="450"/>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2pPr>
      <a:lvl3pPr marL="411480" indent="-411480" algn="l" defTabSz="685800" rtl="0" eaLnBrk="1" latinLnBrk="0" hangingPunct="1">
        <a:lnSpc>
          <a:spcPct val="85000"/>
        </a:lnSpc>
        <a:spcBef>
          <a:spcPts val="450"/>
        </a:spcBef>
        <a:buFont typeface="Arial" pitchFamily="34" charset="0"/>
        <a:buChar char=" "/>
        <a:defRPr sz="1500" i="1" kern="1200">
          <a:solidFill>
            <a:schemeClr val="tx1">
              <a:lumMod val="85000"/>
              <a:lumOff val="15000"/>
            </a:schemeClr>
          </a:solidFill>
          <a:latin typeface="Segoe UI" panose="020B0502040204020203" pitchFamily="34" charset="0"/>
          <a:ea typeface="+mn-ea"/>
          <a:cs typeface="Segoe UI" panose="020B0502040204020203" pitchFamily="34" charset="0"/>
        </a:defRPr>
      </a:lvl3pPr>
      <a:lvl4pPr marL="617220" indent="-61722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Segoe UI" panose="020B0502040204020203" pitchFamily="34" charset="0"/>
          <a:ea typeface="+mn-ea"/>
          <a:cs typeface="Segoe UI" panose="020B0502040204020203" pitchFamily="34" charset="0"/>
        </a:defRPr>
      </a:lvl4pPr>
      <a:lvl5pPr marL="822960" indent="-82296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Segoe UI" panose="020B0502040204020203" pitchFamily="34" charset="0"/>
          <a:ea typeface="+mn-ea"/>
          <a:cs typeface="Segoe UI" panose="020B0502040204020203" pitchFamily="34" charset="0"/>
        </a:defRPr>
      </a:lvl5pPr>
      <a:lvl6pPr marL="90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6pPr>
      <a:lvl7pPr marL="105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7pPr>
      <a:lvl8pPr marL="120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8pPr>
      <a:lvl9pPr marL="135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8.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4000" b="1"/>
              <a:t>Building Pragmatic AI</a:t>
            </a:r>
          </a:p>
        </p:txBody>
      </p:sp>
      <p:sp>
        <p:nvSpPr>
          <p:cNvPr id="3" name="Text Placeholder 2"/>
          <p:cNvSpPr>
            <a:spLocks noGrp="1"/>
          </p:cNvSpPr>
          <p:nvPr>
            <p:ph type="body" idx="1"/>
          </p:nvPr>
        </p:nvSpPr>
        <p:spPr/>
        <p:txBody>
          <a:bodyPr>
            <a:normAutofit lnSpcReduction="10000"/>
          </a:bodyPr>
          <a:lstStyle/>
          <a:p>
            <a:r>
              <a:t>Module 2: Finding</a:t>
            </a: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pic>
        <p:nvPicPr>
          <p:cNvPr id="5" name="Picture 4" descr="banner.png"/>
          <p:cNvPicPr>
            <a:picLocks noChangeAspect="1"/>
          </p:cNvPicPr>
          <p:nvPr/>
        </p:nvPicPr>
        <p:blipFill>
          <a:blip r:embed="rId4"/>
          <a:stretch>
            <a:fillRect/>
          </a:stretch>
        </p:blipFill>
        <p:spPr>
          <a:xfrm>
            <a:off x="0" y="9144"/>
            <a:ext cx="12188952" cy="3182112"/>
          </a:xfrm>
          <a:prstGeom prst="rect">
            <a:avLst/>
          </a:prstGeom>
        </p:spPr>
      </p:pic>
      <p:pic>
        <p:nvPicPr>
          <p:cNvPr id="6" name="Picture 5" descr="image.png"/>
          <p:cNvPicPr>
            <a:picLocks noChangeAspect="1"/>
          </p:cNvPicPr>
          <p:nvPr/>
        </p:nvPicPr>
        <p:blipFill>
          <a:blip r:embed="rId5"/>
          <a:stretch>
            <a:fillRect/>
          </a:stretch>
        </p:blipFill>
        <p:spPr>
          <a:xfrm>
            <a:off x="9272016" y="3657600"/>
            <a:ext cx="2167128" cy="21671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This Module</a:t>
            </a:r>
          </a:p>
        </p:txBody>
      </p:sp>
      <p:pic>
        <p:nvPicPr>
          <p:cNvPr id="3" name="Picture 2" descr="search.png"/>
          <p:cNvPicPr>
            <a:picLocks noChangeAspect="1"/>
          </p:cNvPicPr>
          <p:nvPr/>
        </p:nvPicPr>
        <p:blipFill>
          <a:blip r:embed="rId3"/>
          <a:stretch>
            <a:fillRect/>
          </a:stretch>
        </p:blipFill>
        <p:spPr>
          <a:xfrm>
            <a:off x="1600200" y="2990088"/>
            <a:ext cx="868680" cy="868680"/>
          </a:xfrm>
          <a:prstGeom prst="rect">
            <a:avLst/>
          </a:prstGeom>
        </p:spPr>
      </p:pic>
      <p:sp>
        <p:nvSpPr>
          <p:cNvPr id="4" name="TextBox 3"/>
          <p:cNvSpPr txBox="1"/>
          <p:nvPr/>
        </p:nvSpPr>
        <p:spPr>
          <a:xfrm>
            <a:off x="960120" y="4005072"/>
            <a:ext cx="2148840" cy="830997"/>
          </a:xfrm>
          <a:prstGeom prst="rect">
            <a:avLst/>
          </a:prstGeom>
          <a:noFill/>
        </p:spPr>
        <p:txBody>
          <a:bodyPr wrap="square">
            <a:spAutoFit/>
          </a:bodyPr>
          <a:lstStyle/>
          <a:p>
            <a:pPr algn="ctr"/>
            <a:r>
              <a:rPr sz="2400" b="1" dirty="0"/>
              <a:t>F04 S</a:t>
            </a:r>
            <a:r>
              <a:rPr lang="en-US" sz="2400" b="1" dirty="0"/>
              <a:t>ematic S</a:t>
            </a:r>
            <a:r>
              <a:rPr sz="2400" b="1" dirty="0"/>
              <a:t>earch</a:t>
            </a:r>
          </a:p>
        </p:txBody>
      </p:sp>
      <p:pic>
        <p:nvPicPr>
          <p:cNvPr id="5" name="Picture 4" descr="image.png"/>
          <p:cNvPicPr>
            <a:picLocks noChangeAspect="1"/>
          </p:cNvPicPr>
          <p:nvPr/>
        </p:nvPicPr>
        <p:blipFill>
          <a:blip r:embed="rId4"/>
          <a:stretch>
            <a:fillRect/>
          </a:stretch>
        </p:blipFill>
        <p:spPr>
          <a:xfrm>
            <a:off x="9326880" y="5989320"/>
            <a:ext cx="2560320" cy="64008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This Module</a:t>
            </a:r>
          </a:p>
        </p:txBody>
      </p:sp>
      <p:pic>
        <p:nvPicPr>
          <p:cNvPr id="3" name="Picture 2" descr="search.png"/>
          <p:cNvPicPr>
            <a:picLocks noChangeAspect="1"/>
          </p:cNvPicPr>
          <p:nvPr/>
        </p:nvPicPr>
        <p:blipFill>
          <a:blip r:embed="rId3"/>
          <a:stretch>
            <a:fillRect/>
          </a:stretch>
        </p:blipFill>
        <p:spPr>
          <a:xfrm>
            <a:off x="1600200" y="2990088"/>
            <a:ext cx="868680" cy="868680"/>
          </a:xfrm>
          <a:prstGeom prst="rect">
            <a:avLst/>
          </a:prstGeom>
        </p:spPr>
      </p:pic>
      <p:sp>
        <p:nvSpPr>
          <p:cNvPr id="4" name="TextBox 3"/>
          <p:cNvSpPr txBox="1"/>
          <p:nvPr/>
        </p:nvSpPr>
        <p:spPr>
          <a:xfrm>
            <a:off x="960120" y="4005072"/>
            <a:ext cx="2148840" cy="830997"/>
          </a:xfrm>
          <a:prstGeom prst="rect">
            <a:avLst/>
          </a:prstGeom>
          <a:noFill/>
        </p:spPr>
        <p:txBody>
          <a:bodyPr wrap="square">
            <a:spAutoFit/>
          </a:bodyPr>
          <a:lstStyle/>
          <a:p>
            <a:pPr algn="ctr"/>
            <a:r>
              <a:rPr lang="en-US" sz="2400" b="1" dirty="0"/>
              <a:t>F04 Sematic Search</a:t>
            </a:r>
          </a:p>
        </p:txBody>
      </p:sp>
      <p:pic>
        <p:nvPicPr>
          <p:cNvPr id="5" name="Picture 4" descr="document.png"/>
          <p:cNvPicPr>
            <a:picLocks noChangeAspect="1"/>
          </p:cNvPicPr>
          <p:nvPr/>
        </p:nvPicPr>
        <p:blipFill>
          <a:blip r:embed="rId4"/>
          <a:stretch>
            <a:fillRect/>
          </a:stretch>
        </p:blipFill>
        <p:spPr>
          <a:xfrm>
            <a:off x="5760720" y="2990088"/>
            <a:ext cx="868680" cy="868680"/>
          </a:xfrm>
          <a:prstGeom prst="rect">
            <a:avLst/>
          </a:prstGeom>
        </p:spPr>
      </p:pic>
      <p:sp>
        <p:nvSpPr>
          <p:cNvPr id="6" name="TextBox 5"/>
          <p:cNvSpPr txBox="1"/>
          <p:nvPr/>
        </p:nvSpPr>
        <p:spPr>
          <a:xfrm>
            <a:off x="5120640" y="4005072"/>
            <a:ext cx="2148840" cy="1200329"/>
          </a:xfrm>
          <a:prstGeom prst="rect">
            <a:avLst/>
          </a:prstGeom>
          <a:noFill/>
        </p:spPr>
        <p:txBody>
          <a:bodyPr wrap="square">
            <a:spAutoFit/>
          </a:bodyPr>
          <a:lstStyle/>
          <a:p>
            <a:pPr algn="ctr"/>
            <a:r>
              <a:rPr sz="2400" b="1" dirty="0"/>
              <a:t>F05 </a:t>
            </a:r>
            <a:r>
              <a:rPr lang="en-US" sz="2400" b="1" dirty="0"/>
              <a:t>Retrieval-Augmented Generation</a:t>
            </a:r>
            <a:endParaRPr sz="2400" b="1" dirty="0"/>
          </a:p>
        </p:txBody>
      </p:sp>
      <p:pic>
        <p:nvPicPr>
          <p:cNvPr id="7" name="Picture 6" descr="image.png"/>
          <p:cNvPicPr>
            <a:picLocks noChangeAspect="1"/>
          </p:cNvPicPr>
          <p:nvPr/>
        </p:nvPicPr>
        <p:blipFill>
          <a:blip r:embed="rId5"/>
          <a:stretch>
            <a:fillRect/>
          </a:stretch>
        </p:blipFill>
        <p:spPr>
          <a:xfrm>
            <a:off x="9326880" y="5989320"/>
            <a:ext cx="2560320" cy="64008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This Module</a:t>
            </a:r>
          </a:p>
        </p:txBody>
      </p:sp>
      <p:pic>
        <p:nvPicPr>
          <p:cNvPr id="3" name="Picture 2" descr="search.png"/>
          <p:cNvPicPr>
            <a:picLocks noChangeAspect="1"/>
          </p:cNvPicPr>
          <p:nvPr/>
        </p:nvPicPr>
        <p:blipFill>
          <a:blip r:embed="rId3"/>
          <a:stretch>
            <a:fillRect/>
          </a:stretch>
        </p:blipFill>
        <p:spPr>
          <a:xfrm>
            <a:off x="1600200" y="2990088"/>
            <a:ext cx="868680" cy="868680"/>
          </a:xfrm>
          <a:prstGeom prst="rect">
            <a:avLst/>
          </a:prstGeom>
        </p:spPr>
      </p:pic>
      <p:sp>
        <p:nvSpPr>
          <p:cNvPr id="4" name="TextBox 3"/>
          <p:cNvSpPr txBox="1"/>
          <p:nvPr/>
        </p:nvSpPr>
        <p:spPr>
          <a:xfrm>
            <a:off x="960120" y="4005072"/>
            <a:ext cx="2148840" cy="830997"/>
          </a:xfrm>
          <a:prstGeom prst="rect">
            <a:avLst/>
          </a:prstGeom>
          <a:noFill/>
        </p:spPr>
        <p:txBody>
          <a:bodyPr wrap="square">
            <a:spAutoFit/>
          </a:bodyPr>
          <a:lstStyle/>
          <a:p>
            <a:pPr algn="ctr"/>
            <a:r>
              <a:rPr lang="en-US" sz="2400" b="1" dirty="0"/>
              <a:t>F04 Sematic Search</a:t>
            </a:r>
          </a:p>
        </p:txBody>
      </p:sp>
      <p:pic>
        <p:nvPicPr>
          <p:cNvPr id="5" name="Picture 4" descr="document.png"/>
          <p:cNvPicPr>
            <a:picLocks noChangeAspect="1"/>
          </p:cNvPicPr>
          <p:nvPr/>
        </p:nvPicPr>
        <p:blipFill>
          <a:blip r:embed="rId4"/>
          <a:stretch>
            <a:fillRect/>
          </a:stretch>
        </p:blipFill>
        <p:spPr>
          <a:xfrm>
            <a:off x="5760720" y="2990088"/>
            <a:ext cx="868680" cy="868680"/>
          </a:xfrm>
          <a:prstGeom prst="rect">
            <a:avLst/>
          </a:prstGeom>
        </p:spPr>
      </p:pic>
      <p:sp>
        <p:nvSpPr>
          <p:cNvPr id="6" name="TextBox 5"/>
          <p:cNvSpPr txBox="1"/>
          <p:nvPr/>
        </p:nvSpPr>
        <p:spPr>
          <a:xfrm>
            <a:off x="5120640" y="4005072"/>
            <a:ext cx="2148840" cy="1200329"/>
          </a:xfrm>
          <a:prstGeom prst="rect">
            <a:avLst/>
          </a:prstGeom>
          <a:noFill/>
        </p:spPr>
        <p:txBody>
          <a:bodyPr wrap="square">
            <a:spAutoFit/>
          </a:bodyPr>
          <a:lstStyle/>
          <a:p>
            <a:pPr algn="ctr"/>
            <a:r>
              <a:rPr lang="en-US" sz="2400" b="1" dirty="0"/>
              <a:t>F05 Retrieval-Augmented Generation</a:t>
            </a:r>
          </a:p>
        </p:txBody>
      </p:sp>
      <p:pic>
        <p:nvPicPr>
          <p:cNvPr id="7" name="Picture 6" descr="route.png"/>
          <p:cNvPicPr>
            <a:picLocks noChangeAspect="1"/>
          </p:cNvPicPr>
          <p:nvPr/>
        </p:nvPicPr>
        <p:blipFill>
          <a:blip r:embed="rId5"/>
          <a:stretch>
            <a:fillRect/>
          </a:stretch>
        </p:blipFill>
        <p:spPr>
          <a:xfrm>
            <a:off x="9921240" y="2990088"/>
            <a:ext cx="868680" cy="868680"/>
          </a:xfrm>
          <a:prstGeom prst="rect">
            <a:avLst/>
          </a:prstGeom>
        </p:spPr>
      </p:pic>
      <p:sp>
        <p:nvSpPr>
          <p:cNvPr id="8" name="TextBox 7"/>
          <p:cNvSpPr txBox="1"/>
          <p:nvPr/>
        </p:nvSpPr>
        <p:spPr>
          <a:xfrm>
            <a:off x="9281160" y="4005072"/>
            <a:ext cx="2148840" cy="777240"/>
          </a:xfrm>
          <a:prstGeom prst="rect">
            <a:avLst/>
          </a:prstGeom>
          <a:noFill/>
        </p:spPr>
        <p:txBody>
          <a:bodyPr wrap="square">
            <a:spAutoFit/>
          </a:bodyPr>
          <a:lstStyle/>
          <a:p>
            <a:pPr algn="ctr"/>
            <a:r>
              <a:rPr sz="2400" b="1"/>
              <a:t>F06 Recommend</a:t>
            </a:r>
          </a:p>
        </p:txBody>
      </p:sp>
      <p:pic>
        <p:nvPicPr>
          <p:cNvPr id="9" name="Picture 8" descr="image.png"/>
          <p:cNvPicPr>
            <a:picLocks noChangeAspect="1"/>
          </p:cNvPicPr>
          <p:nvPr/>
        </p:nvPicPr>
        <p:blipFill>
          <a:blip r:embed="rId6"/>
          <a:stretch>
            <a:fillRect/>
          </a:stretch>
        </p:blipFill>
        <p:spPr>
          <a:xfrm>
            <a:off x="9326880" y="5989320"/>
            <a:ext cx="2560320" cy="64008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4000" b="1">
                <a:solidFill>
                  <a:srgbClr val="017AB4"/>
                </a:solidFill>
              </a:rPr>
              <a:t>F04 · Semantic Search</a:t>
            </a:r>
          </a:p>
        </p:txBody>
      </p:sp>
      <p:sp>
        <p:nvSpPr>
          <p:cNvPr id="3" name="Text Placeholder 2"/>
          <p:cNvSpPr>
            <a:spLocks noGrp="1"/>
          </p:cNvSpPr>
          <p:nvPr>
            <p:ph type="body" idx="1"/>
          </p:nvPr>
        </p:nvSpPr>
        <p:spPr/>
        <p:txBody>
          <a:bodyPr>
            <a:normAutofit lnSpcReduction="10000"/>
          </a:bodyPr>
          <a:lstStyle/>
          <a:p>
            <a:endParaRP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earch.png"/>
          <p:cNvPicPr>
            <a:picLocks noChangeAspect="1"/>
          </p:cNvPicPr>
          <p:nvPr/>
        </p:nvPicPr>
        <p:blipFill>
          <a:blip r:embed="rId3"/>
          <a:stretch>
            <a:fillRect/>
          </a:stretch>
        </p:blipFill>
        <p:spPr>
          <a:xfrm>
            <a:off x="5638800" y="1371600"/>
            <a:ext cx="914400" cy="914400"/>
          </a:xfrm>
          <a:prstGeom prst="rect">
            <a:avLst/>
          </a:prstGeom>
        </p:spPr>
      </p:pic>
      <p:sp>
        <p:nvSpPr>
          <p:cNvPr id="3" name="TextBox 2"/>
          <p:cNvSpPr txBox="1"/>
          <p:nvPr/>
        </p:nvSpPr>
        <p:spPr>
          <a:xfrm>
            <a:off x="914400" y="3178760"/>
            <a:ext cx="10332720" cy="1323439"/>
          </a:xfrm>
          <a:prstGeom prst="rect">
            <a:avLst/>
          </a:prstGeom>
          <a:noFill/>
        </p:spPr>
        <p:txBody>
          <a:bodyPr wrap="square" anchor="ctr">
            <a:spAutoFit/>
          </a:bodyPr>
          <a:lstStyle/>
          <a:p>
            <a:pPr algn="ctr"/>
            <a:r>
              <a:rPr sz="4000" dirty="0"/>
              <a:t>Search by what words </a:t>
            </a:r>
            <a:r>
              <a:rPr sz="4000" b="1" dirty="0">
                <a:solidFill>
                  <a:srgbClr val="017AB4"/>
                </a:solidFill>
              </a:rPr>
              <a:t>mean</a:t>
            </a:r>
            <a:r>
              <a:rPr sz="4000" dirty="0"/>
              <a:t>, </a:t>
            </a:r>
            <a:endParaRPr lang="en-US" sz="4000" dirty="0"/>
          </a:p>
          <a:p>
            <a:pPr algn="ctr"/>
            <a:r>
              <a:rPr sz="4000" dirty="0"/>
              <a:t>not by which words appear.</a:t>
            </a:r>
          </a:p>
        </p:txBody>
      </p:sp>
      <p:pic>
        <p:nvPicPr>
          <p:cNvPr id="4" name="Picture 3" descr="image.png"/>
          <p:cNvPicPr>
            <a:picLocks noChangeAspect="1"/>
          </p:cNvPicPr>
          <p:nvPr/>
        </p:nvPicPr>
        <p:blipFill>
          <a:blip r:embed="rId4"/>
          <a:stretch>
            <a:fillRect/>
          </a:stretch>
        </p:blipFill>
        <p:spPr>
          <a:xfrm>
            <a:off x="9326880" y="5989320"/>
            <a:ext cx="2560320" cy="64008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1 · Index, once</a:t>
            </a:r>
          </a:p>
        </p:txBody>
      </p:sp>
      <p:grpSp>
        <p:nvGrpSpPr>
          <p:cNvPr id="103" name="30 Trails icon"/>
          <p:cNvGrpSpPr/>
          <p:nvPr/>
        </p:nvGrpSpPr>
        <p:grpSpPr>
          <a:xfrm>
            <a:off x="1325880" y="3244431"/>
            <a:ext cx="822960" cy="822960"/>
            <a:chOff x="0" y="0"/>
            <a:chExt cx="822960" cy="822960"/>
          </a:xfrm>
        </p:grpSpPr>
        <p:sp>
          <p:nvSpPr>
            <p:cNvPr id="104" name="30 Trails icon backing"/>
            <p:cNvSpPr/>
            <p:nvPr/>
          </p:nvSpPr>
          <p:spPr>
            <a:xfrm>
              <a:off x="0" y="0"/>
              <a:ext cx="822960" cy="822960"/>
            </a:xfrm>
            <a:custGeom>
              <a:avLst/>
              <a:gdLst/>
              <a:ahLst/>
              <a:cxnLst/>
              <a:rect l="l" t="t" r="r" b="b"/>
              <a:pathLst>
                <a:path w="96000" h="96000">
                  <a:moveTo>
                    <a:pt x="8000" y="20000"/>
                  </a:moveTo>
                  <a:cubicBezTo>
                    <a:pt x="8000" y="38667"/>
                    <a:pt x="8000" y="57333"/>
                    <a:pt x="8000" y="76000"/>
                  </a:cubicBezTo>
                  <a:cubicBezTo>
                    <a:pt x="34667" y="76000"/>
                    <a:pt x="61333" y="76000"/>
                    <a:pt x="88000" y="76000"/>
                  </a:cubicBezTo>
                  <a:cubicBezTo>
                    <a:pt x="88000" y="57333"/>
                    <a:pt x="88000" y="38667"/>
                    <a:pt x="88000" y="20000"/>
                  </a:cubicBezTo>
                  <a:cubicBezTo>
                    <a:pt x="61333" y="20000"/>
                    <a:pt x="34667" y="20000"/>
                    <a:pt x="8000" y="20000"/>
                  </a:cubicBezTo>
                  <a:close/>
                </a:path>
              </a:pathLst>
            </a:custGeom>
            <a:solidFill>
              <a:srgbClr val="FFFFFF"/>
            </a:solidFill>
            <a:ln>
              <a:noFill/>
            </a:ln>
          </p:spPr>
          <p:txBody>
            <a:bodyPr rtlCol="0" anchor="ctr"/>
            <a:lstStyle/>
            <a:p>
              <a:endParaRPr lang="en-US"/>
            </a:p>
          </p:txBody>
        </p:sp>
        <p:sp>
          <p:nvSpPr>
            <p:cNvPr id="102" name="30 Trails icon 1"/>
            <p:cNvSpPr/>
            <p:nvPr/>
          </p:nvSpPr>
          <p:spPr>
            <a:xfrm>
              <a:off x="0" y="0"/>
              <a:ext cx="822960" cy="822960"/>
            </a:xfrm>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noFill/>
            <a:ln w="19050" cap="rnd">
              <a:solidFill>
                <a:srgbClr val="1F3A5F"/>
              </a:solidFill>
              <a:round/>
              <a:extLst>
                <a:ext uri="{C807C97D-BFC1-408E-A445-0C87EB9F89A2}">
                  <ask:lineSketchStyleProps xmlns:ask="http://schemas.microsoft.com/office/drawing/2018/sketchyshapes" sd="8060">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sk:type>
                      <ask:lineSketchScribble/>
                    </ask:type>
                  </ask:lineSketchStyleProps>
                </a:ext>
              </a:extLst>
            </a:ln>
          </p:spPr>
          <p:txBody>
            <a:bodyPr rtlCol="0" anchor="ctr"/>
            <a:lstStyle/>
            <a:p>
              <a:endParaRPr lang="en-US"/>
            </a:p>
          </p:txBody>
        </p:sp>
      </p:grpSp>
      <p:sp>
        <p:nvSpPr>
          <p:cNvPr id="105"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30 Trails</a:t>
            </a:r>
          </a:p>
        </p:txBody>
      </p:sp>
      <p:sp>
        <p:nvSpPr>
          <p:cNvPr id="106"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trails-slice.json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1 · Index, once</a:t>
            </a:r>
          </a:p>
        </p:txBody>
      </p:sp>
      <p:grpSp>
        <p:nvGrpSpPr>
          <p:cNvPr id="103" name="30 Trails icon"/>
          <p:cNvGrpSpPr/>
          <p:nvPr/>
        </p:nvGrpSpPr>
        <p:grpSpPr>
          <a:xfrm>
            <a:off x="1325880" y="3244431"/>
            <a:ext cx="822960" cy="822960"/>
            <a:chOff x="0" y="0"/>
            <a:chExt cx="822960" cy="822960"/>
          </a:xfrm>
        </p:grpSpPr>
        <p:sp>
          <p:nvSpPr>
            <p:cNvPr id="104" name="30 Trails icon backing"/>
            <p:cNvSpPr/>
            <p:nvPr/>
          </p:nvSpPr>
          <p:spPr>
            <a:xfrm>
              <a:off x="0" y="0"/>
              <a:ext cx="822960" cy="822960"/>
            </a:xfrm>
            <a:custGeom>
              <a:avLst/>
              <a:gdLst/>
              <a:ahLst/>
              <a:cxnLst/>
              <a:rect l="l" t="t" r="r" b="b"/>
              <a:pathLst>
                <a:path w="96000" h="96000">
                  <a:moveTo>
                    <a:pt x="8000" y="20000"/>
                  </a:moveTo>
                  <a:cubicBezTo>
                    <a:pt x="8000" y="38667"/>
                    <a:pt x="8000" y="57333"/>
                    <a:pt x="8000" y="76000"/>
                  </a:cubicBezTo>
                  <a:cubicBezTo>
                    <a:pt x="34667" y="76000"/>
                    <a:pt x="61333" y="76000"/>
                    <a:pt x="88000" y="76000"/>
                  </a:cubicBezTo>
                  <a:cubicBezTo>
                    <a:pt x="88000" y="57333"/>
                    <a:pt x="88000" y="38667"/>
                    <a:pt x="88000" y="20000"/>
                  </a:cubicBezTo>
                  <a:cubicBezTo>
                    <a:pt x="61333" y="20000"/>
                    <a:pt x="34667" y="20000"/>
                    <a:pt x="8000" y="20000"/>
                  </a:cubicBezTo>
                  <a:close/>
                </a:path>
              </a:pathLst>
            </a:custGeom>
            <a:solidFill>
              <a:srgbClr val="FFFFFF"/>
            </a:solidFill>
            <a:ln>
              <a:noFill/>
            </a:ln>
          </p:spPr>
          <p:txBody>
            <a:bodyPr rtlCol="0" anchor="ctr"/>
            <a:lstStyle/>
            <a:p>
              <a:endParaRPr lang="en-US"/>
            </a:p>
          </p:txBody>
        </p:sp>
        <p:sp>
          <p:nvSpPr>
            <p:cNvPr id="102" name="30 Trails icon 1"/>
            <p:cNvSpPr/>
            <p:nvPr/>
          </p:nvSpPr>
          <p:spPr>
            <a:xfrm>
              <a:off x="0" y="0"/>
              <a:ext cx="822960" cy="822960"/>
            </a:xfrm>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noFill/>
            <a:ln w="19050" cap="rnd">
              <a:solidFill>
                <a:srgbClr val="1F3A5F"/>
              </a:solidFill>
              <a:round/>
              <a:extLst>
                <a:ext uri="{C807C97D-BFC1-408E-A445-0C87EB9F89A2}">
                  <ask:lineSketchStyleProps xmlns:ask="http://schemas.microsoft.com/office/drawing/2018/sketchyshapes" sd="8060">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sk:type>
                      <ask:lineSketchScribble/>
                    </ask:type>
                  </ask:lineSketchStyleProps>
                </a:ext>
              </a:extLst>
            </a:ln>
          </p:spPr>
          <p:txBody>
            <a:bodyPr rtlCol="0" anchor="ctr"/>
            <a:lstStyle/>
            <a:p>
              <a:endParaRPr lang="en-US"/>
            </a:p>
          </p:txBody>
        </p:sp>
      </p:grpSp>
      <p:sp>
        <p:nvSpPr>
          <p:cNvPr id="105"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30 Trails</a:t>
            </a:r>
          </a:p>
        </p:txBody>
      </p:sp>
      <p:sp>
        <p:nvSpPr>
          <p:cNvPr id="106"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trails-slice.json</a:t>
            </a:r>
          </a:p>
        </p:txBody>
      </p:sp>
      <p:cxnSp>
        <p:nvCxnSpPr>
          <p:cNvPr id="107" name="Doc-App"/>
          <p:cNvCxnSpPr/>
          <p:nvPr/>
        </p:nvCxnSpPr>
        <p:spPr>
          <a:xfrm>
            <a:off x="2331720" y="3655911"/>
            <a:ext cx="2437190" cy="0"/>
          </a:xfrm>
          <a:prstGeom prst="straightConnector1">
            <a:avLst/>
          </a:prstGeom>
          <a:ln w="28575">
            <a:solidFill>
              <a:srgbClr val="000000"/>
            </a:solidFill>
            <a:tailEnd type="triangle"/>
          </a:ln>
        </p:spPr>
      </p:cxnSp>
      <p:sp>
        <p:nvSpPr>
          <p:cNvPr id="108" name="Doc arrow label"/>
          <p:cNvSpPr txBox="1"/>
          <p:nvPr/>
        </p:nvSpPr>
        <p:spPr>
          <a:xfrm>
            <a:off x="2331720" y="3198711"/>
            <a:ext cx="2437190" cy="365760"/>
          </a:xfrm>
          <a:prstGeom prst="rect">
            <a:avLst/>
          </a:prstGeom>
          <a:noFill/>
        </p:spPr>
        <p:txBody>
          <a:bodyPr wrap="square" lIns="0" tIns="0" rIns="0" bIns="0" anchor="t">
            <a:noAutofit/>
          </a:bodyPr>
          <a:lstStyle/>
          <a:p>
            <a:pPr algn="ctr">
              <a:lnSpc>
                <a:spcPct val="90000"/>
              </a:lnSpc>
            </a:pPr>
            <a:r>
              <a:rPr lang="en-US" sz="1600" dirty="0">
                <a:solidFill>
                  <a:srgbClr val="000000"/>
                </a:solidFill>
                <a:latin typeface="Ink Free" panose="03080402000500000000" pitchFamily="66" charset="0"/>
              </a:rPr>
              <a:t>descriptions</a:t>
            </a:r>
          </a:p>
        </p:txBody>
      </p:sp>
      <p:sp>
        <p:nvSpPr>
          <p:cNvPr id="109"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0" name="Graphic 2" descr="Single gear outline"/>
          <p:cNvGrpSpPr/>
          <p:nvPr/>
        </p:nvGrpSpPr>
        <p:grpSpPr>
          <a:xfrm>
            <a:off x="5738021" y="3331981"/>
            <a:ext cx="648652" cy="647861"/>
            <a:chOff x="5772150" y="3332061"/>
            <a:chExt cx="648652" cy="647861"/>
          </a:xfrm>
          <a:noFill/>
        </p:grpSpPr>
        <p:sp>
          <p:nvSpPr>
            <p:cNvPr id="111"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2"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3"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1 · Index, once</a:t>
            </a:r>
          </a:p>
        </p:txBody>
      </p:sp>
      <p:grpSp>
        <p:nvGrpSpPr>
          <p:cNvPr id="103" name="30 Trails icon"/>
          <p:cNvGrpSpPr/>
          <p:nvPr/>
        </p:nvGrpSpPr>
        <p:grpSpPr>
          <a:xfrm>
            <a:off x="1325880" y="3244431"/>
            <a:ext cx="822960" cy="822960"/>
            <a:chOff x="0" y="0"/>
            <a:chExt cx="822960" cy="822960"/>
          </a:xfrm>
        </p:grpSpPr>
        <p:sp>
          <p:nvSpPr>
            <p:cNvPr id="104" name="30 Trails icon backing"/>
            <p:cNvSpPr/>
            <p:nvPr/>
          </p:nvSpPr>
          <p:spPr>
            <a:xfrm>
              <a:off x="0" y="0"/>
              <a:ext cx="822960" cy="822960"/>
            </a:xfrm>
            <a:custGeom>
              <a:avLst/>
              <a:gdLst/>
              <a:ahLst/>
              <a:cxnLst/>
              <a:rect l="l" t="t" r="r" b="b"/>
              <a:pathLst>
                <a:path w="96000" h="96000">
                  <a:moveTo>
                    <a:pt x="8000" y="20000"/>
                  </a:moveTo>
                  <a:cubicBezTo>
                    <a:pt x="8000" y="38667"/>
                    <a:pt x="8000" y="57333"/>
                    <a:pt x="8000" y="76000"/>
                  </a:cubicBezTo>
                  <a:cubicBezTo>
                    <a:pt x="34667" y="76000"/>
                    <a:pt x="61333" y="76000"/>
                    <a:pt x="88000" y="76000"/>
                  </a:cubicBezTo>
                  <a:cubicBezTo>
                    <a:pt x="88000" y="57333"/>
                    <a:pt x="88000" y="38667"/>
                    <a:pt x="88000" y="20000"/>
                  </a:cubicBezTo>
                  <a:cubicBezTo>
                    <a:pt x="61333" y="20000"/>
                    <a:pt x="34667" y="20000"/>
                    <a:pt x="8000" y="20000"/>
                  </a:cubicBezTo>
                  <a:close/>
                </a:path>
              </a:pathLst>
            </a:custGeom>
            <a:solidFill>
              <a:srgbClr val="FFFFFF"/>
            </a:solidFill>
            <a:ln>
              <a:noFill/>
            </a:ln>
          </p:spPr>
          <p:txBody>
            <a:bodyPr rtlCol="0" anchor="ctr"/>
            <a:lstStyle/>
            <a:p>
              <a:endParaRPr lang="en-US"/>
            </a:p>
          </p:txBody>
        </p:sp>
        <p:sp>
          <p:nvSpPr>
            <p:cNvPr id="102" name="30 Trails icon 1"/>
            <p:cNvSpPr/>
            <p:nvPr/>
          </p:nvSpPr>
          <p:spPr>
            <a:xfrm>
              <a:off x="0" y="0"/>
              <a:ext cx="822960" cy="822960"/>
            </a:xfrm>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noFill/>
            <a:ln w="19050" cap="rnd">
              <a:solidFill>
                <a:srgbClr val="1F3A5F"/>
              </a:solidFill>
              <a:round/>
              <a:extLst>
                <a:ext uri="{C807C97D-BFC1-408E-A445-0C87EB9F89A2}">
                  <ask:lineSketchStyleProps xmlns:ask="http://schemas.microsoft.com/office/drawing/2018/sketchyshapes" sd="8060">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sk:type>
                      <ask:lineSketchScribble/>
                    </ask:type>
                  </ask:lineSketchStyleProps>
                </a:ext>
              </a:extLst>
            </a:ln>
          </p:spPr>
          <p:txBody>
            <a:bodyPr rtlCol="0" anchor="ctr"/>
            <a:lstStyle/>
            <a:p>
              <a:endParaRPr lang="en-US"/>
            </a:p>
          </p:txBody>
        </p:sp>
      </p:grpSp>
      <p:sp>
        <p:nvSpPr>
          <p:cNvPr id="105"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30 Trails</a:t>
            </a:r>
          </a:p>
        </p:txBody>
      </p:sp>
      <p:sp>
        <p:nvSpPr>
          <p:cNvPr id="106"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trails-slice.json</a:t>
            </a:r>
          </a:p>
        </p:txBody>
      </p:sp>
      <p:cxnSp>
        <p:nvCxnSpPr>
          <p:cNvPr id="107" name="Doc-App"/>
          <p:cNvCxnSpPr/>
          <p:nvPr/>
        </p:nvCxnSpPr>
        <p:spPr>
          <a:xfrm>
            <a:off x="2331720" y="3655911"/>
            <a:ext cx="2437190" cy="0"/>
          </a:xfrm>
          <a:prstGeom prst="straightConnector1">
            <a:avLst/>
          </a:prstGeom>
          <a:ln w="28575">
            <a:solidFill>
              <a:srgbClr val="000000"/>
            </a:solidFill>
            <a:tailEnd type="triangle"/>
          </a:ln>
        </p:spPr>
      </p:cxnSp>
      <p:sp>
        <p:nvSpPr>
          <p:cNvPr id="108" name="Doc arrow label"/>
          <p:cNvSpPr txBox="1"/>
          <p:nvPr/>
        </p:nvSpPr>
        <p:spPr>
          <a:xfrm>
            <a:off x="2331720" y="3198711"/>
            <a:ext cx="2437190" cy="365760"/>
          </a:xfrm>
          <a:prstGeom prst="rect">
            <a:avLst/>
          </a:prstGeom>
          <a:noFill/>
        </p:spPr>
        <p:txBody>
          <a:bodyPr wrap="square" lIns="0" tIns="0" rIns="0" bIns="0" anchor="t">
            <a:noAutofit/>
          </a:bodyPr>
          <a:lstStyle/>
          <a:p>
            <a:pPr algn="ctr">
              <a:lnSpc>
                <a:spcPct val="90000"/>
              </a:lnSpc>
            </a:pPr>
            <a:r>
              <a:rPr lang="en-US" sz="1600" dirty="0">
                <a:solidFill>
                  <a:srgbClr val="000000"/>
                </a:solidFill>
                <a:latin typeface="Ink Free" panose="03080402000500000000" pitchFamily="66" charset="0"/>
              </a:rPr>
              <a:t>descriptions</a:t>
            </a:r>
          </a:p>
        </p:txBody>
      </p:sp>
      <p:sp>
        <p:nvSpPr>
          <p:cNvPr id="109"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0" name="Graphic 2" descr="Single gear outline"/>
          <p:cNvGrpSpPr/>
          <p:nvPr/>
        </p:nvGrpSpPr>
        <p:grpSpPr>
          <a:xfrm>
            <a:off x="5738021" y="3331981"/>
            <a:ext cx="648652" cy="647861"/>
            <a:chOff x="5772150" y="3332061"/>
            <a:chExt cx="648652" cy="647861"/>
          </a:xfrm>
          <a:noFill/>
        </p:grpSpPr>
        <p:sp>
          <p:nvSpPr>
            <p:cNvPr id="111"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2"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3"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grpSp>
        <p:nvGrpSpPr>
          <p:cNvPr id="114" name="Graphic 62" descr="Artificial Intelligence outline"/>
          <p:cNvGrpSpPr/>
          <p:nvPr/>
        </p:nvGrpSpPr>
        <p:grpSpPr>
          <a:xfrm>
            <a:off x="9309806" y="1906534"/>
            <a:ext cx="647797" cy="768143"/>
            <a:chOff x="6096473" y="4106117"/>
            <a:chExt cx="647797" cy="768143"/>
          </a:xfrm>
          <a:noFill/>
        </p:grpSpPr>
        <p:sp>
          <p:nvSpPr>
            <p:cNvPr id="115"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16"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7"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8"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9"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1 · Index, once</a:t>
            </a:r>
          </a:p>
        </p:txBody>
      </p:sp>
      <p:grpSp>
        <p:nvGrpSpPr>
          <p:cNvPr id="103" name="30 Trails icon"/>
          <p:cNvGrpSpPr/>
          <p:nvPr/>
        </p:nvGrpSpPr>
        <p:grpSpPr>
          <a:xfrm>
            <a:off x="1325880" y="3244431"/>
            <a:ext cx="822960" cy="822960"/>
            <a:chOff x="0" y="0"/>
            <a:chExt cx="822960" cy="822960"/>
          </a:xfrm>
        </p:grpSpPr>
        <p:sp>
          <p:nvSpPr>
            <p:cNvPr id="104" name="30 Trails icon backing"/>
            <p:cNvSpPr/>
            <p:nvPr/>
          </p:nvSpPr>
          <p:spPr>
            <a:xfrm>
              <a:off x="0" y="0"/>
              <a:ext cx="822960" cy="822960"/>
            </a:xfrm>
            <a:custGeom>
              <a:avLst/>
              <a:gdLst/>
              <a:ahLst/>
              <a:cxnLst/>
              <a:rect l="l" t="t" r="r" b="b"/>
              <a:pathLst>
                <a:path w="96000" h="96000">
                  <a:moveTo>
                    <a:pt x="8000" y="20000"/>
                  </a:moveTo>
                  <a:cubicBezTo>
                    <a:pt x="8000" y="38667"/>
                    <a:pt x="8000" y="57333"/>
                    <a:pt x="8000" y="76000"/>
                  </a:cubicBezTo>
                  <a:cubicBezTo>
                    <a:pt x="34667" y="76000"/>
                    <a:pt x="61333" y="76000"/>
                    <a:pt x="88000" y="76000"/>
                  </a:cubicBezTo>
                  <a:cubicBezTo>
                    <a:pt x="88000" y="57333"/>
                    <a:pt x="88000" y="38667"/>
                    <a:pt x="88000" y="20000"/>
                  </a:cubicBezTo>
                  <a:cubicBezTo>
                    <a:pt x="61333" y="20000"/>
                    <a:pt x="34667" y="20000"/>
                    <a:pt x="8000" y="20000"/>
                  </a:cubicBezTo>
                  <a:close/>
                </a:path>
              </a:pathLst>
            </a:custGeom>
            <a:solidFill>
              <a:srgbClr val="FFFFFF"/>
            </a:solidFill>
            <a:ln>
              <a:noFill/>
            </a:ln>
          </p:spPr>
          <p:txBody>
            <a:bodyPr rtlCol="0" anchor="ctr"/>
            <a:lstStyle/>
            <a:p>
              <a:endParaRPr lang="en-US"/>
            </a:p>
          </p:txBody>
        </p:sp>
        <p:sp>
          <p:nvSpPr>
            <p:cNvPr id="102" name="30 Trails icon 1"/>
            <p:cNvSpPr/>
            <p:nvPr/>
          </p:nvSpPr>
          <p:spPr>
            <a:xfrm>
              <a:off x="0" y="0"/>
              <a:ext cx="822960" cy="822960"/>
            </a:xfrm>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noFill/>
            <a:ln w="19050" cap="rnd">
              <a:solidFill>
                <a:srgbClr val="1F3A5F"/>
              </a:solidFill>
              <a:round/>
              <a:extLst>
                <a:ext uri="{C807C97D-BFC1-408E-A445-0C87EB9F89A2}">
                  <ask:lineSketchStyleProps xmlns:ask="http://schemas.microsoft.com/office/drawing/2018/sketchyshapes" sd="8060">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sk:type>
                      <ask:lineSketchScribble/>
                    </ask:type>
                  </ask:lineSketchStyleProps>
                </a:ext>
              </a:extLst>
            </a:ln>
          </p:spPr>
          <p:txBody>
            <a:bodyPr rtlCol="0" anchor="ctr"/>
            <a:lstStyle/>
            <a:p>
              <a:endParaRPr lang="en-US"/>
            </a:p>
          </p:txBody>
        </p:sp>
      </p:grpSp>
      <p:sp>
        <p:nvSpPr>
          <p:cNvPr id="105"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30 Trails</a:t>
            </a:r>
          </a:p>
        </p:txBody>
      </p:sp>
      <p:sp>
        <p:nvSpPr>
          <p:cNvPr id="106"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trails-slice.json</a:t>
            </a:r>
          </a:p>
        </p:txBody>
      </p:sp>
      <p:cxnSp>
        <p:nvCxnSpPr>
          <p:cNvPr id="107" name="Doc-App"/>
          <p:cNvCxnSpPr/>
          <p:nvPr/>
        </p:nvCxnSpPr>
        <p:spPr>
          <a:xfrm>
            <a:off x="2331720" y="3655911"/>
            <a:ext cx="2437190" cy="0"/>
          </a:xfrm>
          <a:prstGeom prst="straightConnector1">
            <a:avLst/>
          </a:prstGeom>
          <a:ln w="28575">
            <a:solidFill>
              <a:srgbClr val="000000"/>
            </a:solidFill>
            <a:tailEnd type="triangle"/>
          </a:ln>
        </p:spPr>
      </p:cxnSp>
      <p:sp>
        <p:nvSpPr>
          <p:cNvPr id="108" name="Doc arrow label"/>
          <p:cNvSpPr txBox="1"/>
          <p:nvPr/>
        </p:nvSpPr>
        <p:spPr>
          <a:xfrm>
            <a:off x="2331720" y="3198711"/>
            <a:ext cx="2437190" cy="365760"/>
          </a:xfrm>
          <a:prstGeom prst="rect">
            <a:avLst/>
          </a:prstGeom>
          <a:noFill/>
        </p:spPr>
        <p:txBody>
          <a:bodyPr wrap="square" lIns="0" tIns="0" rIns="0" bIns="0" anchor="t">
            <a:noAutofit/>
          </a:bodyPr>
          <a:lstStyle/>
          <a:p>
            <a:pPr algn="ctr">
              <a:lnSpc>
                <a:spcPct val="90000"/>
              </a:lnSpc>
            </a:pPr>
            <a:r>
              <a:rPr lang="en-US" sz="1600" dirty="0">
                <a:solidFill>
                  <a:srgbClr val="000000"/>
                </a:solidFill>
                <a:latin typeface="Ink Free" panose="03080402000500000000" pitchFamily="66" charset="0"/>
              </a:rPr>
              <a:t>descriptions</a:t>
            </a:r>
          </a:p>
        </p:txBody>
      </p:sp>
      <p:sp>
        <p:nvSpPr>
          <p:cNvPr id="109"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0" name="Graphic 2" descr="Single gear outline"/>
          <p:cNvGrpSpPr/>
          <p:nvPr/>
        </p:nvGrpSpPr>
        <p:grpSpPr>
          <a:xfrm>
            <a:off x="5738021" y="3331981"/>
            <a:ext cx="648652" cy="647861"/>
            <a:chOff x="5772150" y="3332061"/>
            <a:chExt cx="648652" cy="647861"/>
          </a:xfrm>
          <a:noFill/>
        </p:grpSpPr>
        <p:sp>
          <p:nvSpPr>
            <p:cNvPr id="111"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2"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3"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grpSp>
        <p:nvGrpSpPr>
          <p:cNvPr id="114" name="Graphic 62" descr="Artificial Intelligence outline"/>
          <p:cNvGrpSpPr/>
          <p:nvPr/>
        </p:nvGrpSpPr>
        <p:grpSpPr>
          <a:xfrm>
            <a:off x="9309806" y="1906534"/>
            <a:ext cx="647797" cy="768143"/>
            <a:chOff x="6096473" y="4106117"/>
            <a:chExt cx="647797" cy="768143"/>
          </a:xfrm>
          <a:noFill/>
        </p:grpSpPr>
        <p:sp>
          <p:nvSpPr>
            <p:cNvPr id="115"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16"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7"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8"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9"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20" name="App-Model"/>
          <p:cNvCxnSpPr/>
          <p:nvPr/>
        </p:nvCxnSpPr>
        <p:spPr>
          <a:xfrm flipV="1">
            <a:off x="7440610" y="2513045"/>
            <a:ext cx="1775406" cy="498503"/>
          </a:xfrm>
          <a:prstGeom prst="straightConnector1">
            <a:avLst/>
          </a:prstGeom>
          <a:ln w="28575">
            <a:solidFill>
              <a:srgbClr val="000000"/>
            </a:solidFill>
            <a:headEnd type="triangle"/>
            <a:tailEnd type="triangle"/>
          </a:ln>
        </p:spPr>
      </p:cxnSp>
      <p:sp>
        <p:nvSpPr>
          <p:cNvPr id="121" name="Request"/>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30 descriptions</a:t>
            </a:r>
          </a:p>
        </p:txBody>
      </p:sp>
      <p:sp>
        <p:nvSpPr>
          <p:cNvPr id="122" name="Reply"/>
          <p:cNvSpPr txBox="1"/>
          <p:nvPr/>
        </p:nvSpPr>
        <p:spPr>
          <a:xfrm>
            <a:off x="7388352" y="3154680"/>
            <a:ext cx="1737360" cy="5029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[0.0611, -0.0001,</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-0.2007, …]</a:t>
            </a:r>
          </a:p>
        </p:txBody>
      </p:sp>
      <p:sp>
        <p:nvSpPr>
          <p:cNvPr id="123" name="Dims"/>
          <p:cNvSpPr txBox="1"/>
          <p:nvPr/>
        </p:nvSpPr>
        <p:spPr>
          <a:xfrm>
            <a:off x="7388352" y="3520440"/>
            <a:ext cx="1645920" cy="320040"/>
          </a:xfrm>
          <a:prstGeom prst="rect">
            <a:avLst/>
          </a:prstGeom>
          <a:noFill/>
        </p:spPr>
        <p:txBody>
          <a:bodyPr wrap="square" lIns="0" tIns="0" rIns="0" bIns="0" anchor="t">
            <a:noAutofit/>
          </a:bodyPr>
          <a:lstStyle/>
          <a:p>
            <a:pPr algn="ctr">
              <a:lnSpc>
                <a:spcPct val="90000"/>
              </a:lnSpc>
            </a:pPr>
            <a:r>
              <a:rPr lang="en-US" sz="1400" dirty="0">
                <a:solidFill>
                  <a:srgbClr val="000000"/>
                </a:solidFill>
                <a:latin typeface="Ink Free" panose="03080402000500000000" pitchFamily="66" charset="0"/>
              </a:rPr>
              <a:t>768 numbers each</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1 · Index, once</a:t>
            </a:r>
          </a:p>
        </p:txBody>
      </p:sp>
      <p:grpSp>
        <p:nvGrpSpPr>
          <p:cNvPr id="103" name="30 Trails icon"/>
          <p:cNvGrpSpPr/>
          <p:nvPr/>
        </p:nvGrpSpPr>
        <p:grpSpPr>
          <a:xfrm>
            <a:off x="1325880" y="3244431"/>
            <a:ext cx="822960" cy="822960"/>
            <a:chOff x="0" y="0"/>
            <a:chExt cx="822960" cy="822960"/>
          </a:xfrm>
        </p:grpSpPr>
        <p:sp>
          <p:nvSpPr>
            <p:cNvPr id="104" name="30 Trails icon backing"/>
            <p:cNvSpPr/>
            <p:nvPr/>
          </p:nvSpPr>
          <p:spPr>
            <a:xfrm>
              <a:off x="0" y="0"/>
              <a:ext cx="822960" cy="822960"/>
            </a:xfrm>
            <a:custGeom>
              <a:avLst/>
              <a:gdLst/>
              <a:ahLst/>
              <a:cxnLst/>
              <a:rect l="l" t="t" r="r" b="b"/>
              <a:pathLst>
                <a:path w="96000" h="96000">
                  <a:moveTo>
                    <a:pt x="8000" y="20000"/>
                  </a:moveTo>
                  <a:cubicBezTo>
                    <a:pt x="8000" y="38667"/>
                    <a:pt x="8000" y="57333"/>
                    <a:pt x="8000" y="76000"/>
                  </a:cubicBezTo>
                  <a:cubicBezTo>
                    <a:pt x="34667" y="76000"/>
                    <a:pt x="61333" y="76000"/>
                    <a:pt x="88000" y="76000"/>
                  </a:cubicBezTo>
                  <a:cubicBezTo>
                    <a:pt x="88000" y="57333"/>
                    <a:pt x="88000" y="38667"/>
                    <a:pt x="88000" y="20000"/>
                  </a:cubicBezTo>
                  <a:cubicBezTo>
                    <a:pt x="61333" y="20000"/>
                    <a:pt x="34667" y="20000"/>
                    <a:pt x="8000" y="20000"/>
                  </a:cubicBezTo>
                  <a:close/>
                </a:path>
              </a:pathLst>
            </a:custGeom>
            <a:solidFill>
              <a:srgbClr val="FFFFFF"/>
            </a:solidFill>
            <a:ln>
              <a:noFill/>
            </a:ln>
          </p:spPr>
          <p:txBody>
            <a:bodyPr rtlCol="0" anchor="ctr"/>
            <a:lstStyle/>
            <a:p>
              <a:endParaRPr lang="en-US"/>
            </a:p>
          </p:txBody>
        </p:sp>
        <p:sp>
          <p:nvSpPr>
            <p:cNvPr id="102" name="30 Trails icon 1"/>
            <p:cNvSpPr/>
            <p:nvPr/>
          </p:nvSpPr>
          <p:spPr>
            <a:xfrm>
              <a:off x="0" y="0"/>
              <a:ext cx="822960" cy="822960"/>
            </a:xfrm>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noFill/>
            <a:ln w="19050" cap="rnd">
              <a:solidFill>
                <a:srgbClr val="1F3A5F"/>
              </a:solidFill>
              <a:round/>
              <a:extLst>
                <a:ext uri="{C807C97D-BFC1-408E-A445-0C87EB9F89A2}">
                  <ask:lineSketchStyleProps xmlns:ask="http://schemas.microsoft.com/office/drawing/2018/sketchyshapes" sd="8060">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sk:type>
                      <ask:lineSketchScribble/>
                    </ask:type>
                  </ask:lineSketchStyleProps>
                </a:ext>
              </a:extLst>
            </a:ln>
          </p:spPr>
          <p:txBody>
            <a:bodyPr rtlCol="0" anchor="ctr"/>
            <a:lstStyle/>
            <a:p>
              <a:endParaRPr lang="en-US"/>
            </a:p>
          </p:txBody>
        </p:sp>
      </p:grpSp>
      <p:sp>
        <p:nvSpPr>
          <p:cNvPr id="105"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30 Trails</a:t>
            </a:r>
          </a:p>
        </p:txBody>
      </p:sp>
      <p:sp>
        <p:nvSpPr>
          <p:cNvPr id="106"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trails-slice.json</a:t>
            </a:r>
          </a:p>
        </p:txBody>
      </p:sp>
      <p:cxnSp>
        <p:nvCxnSpPr>
          <p:cNvPr id="107" name="Doc-App"/>
          <p:cNvCxnSpPr/>
          <p:nvPr/>
        </p:nvCxnSpPr>
        <p:spPr>
          <a:xfrm>
            <a:off x="2331720" y="3655911"/>
            <a:ext cx="2437190" cy="0"/>
          </a:xfrm>
          <a:prstGeom prst="straightConnector1">
            <a:avLst/>
          </a:prstGeom>
          <a:ln w="28575">
            <a:solidFill>
              <a:srgbClr val="000000"/>
            </a:solidFill>
            <a:tailEnd type="triangle"/>
          </a:ln>
        </p:spPr>
      </p:cxnSp>
      <p:sp>
        <p:nvSpPr>
          <p:cNvPr id="108" name="Doc arrow label"/>
          <p:cNvSpPr txBox="1"/>
          <p:nvPr/>
        </p:nvSpPr>
        <p:spPr>
          <a:xfrm>
            <a:off x="2331720" y="3198711"/>
            <a:ext cx="2437190" cy="365760"/>
          </a:xfrm>
          <a:prstGeom prst="rect">
            <a:avLst/>
          </a:prstGeom>
          <a:noFill/>
        </p:spPr>
        <p:txBody>
          <a:bodyPr wrap="square" lIns="0" tIns="0" rIns="0" bIns="0" anchor="t">
            <a:noAutofit/>
          </a:bodyPr>
          <a:lstStyle/>
          <a:p>
            <a:pPr algn="ctr">
              <a:lnSpc>
                <a:spcPct val="90000"/>
              </a:lnSpc>
            </a:pPr>
            <a:r>
              <a:rPr lang="en-US" sz="1600" dirty="0">
                <a:solidFill>
                  <a:srgbClr val="000000"/>
                </a:solidFill>
                <a:latin typeface="Ink Free" panose="03080402000500000000" pitchFamily="66" charset="0"/>
              </a:rPr>
              <a:t>descriptions</a:t>
            </a:r>
          </a:p>
        </p:txBody>
      </p:sp>
      <p:sp>
        <p:nvSpPr>
          <p:cNvPr id="109"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0" name="Graphic 2" descr="Single gear outline"/>
          <p:cNvGrpSpPr/>
          <p:nvPr/>
        </p:nvGrpSpPr>
        <p:grpSpPr>
          <a:xfrm>
            <a:off x="5738021" y="3331981"/>
            <a:ext cx="648652" cy="647861"/>
            <a:chOff x="5772150" y="3332061"/>
            <a:chExt cx="648652" cy="647861"/>
          </a:xfrm>
          <a:noFill/>
        </p:grpSpPr>
        <p:sp>
          <p:nvSpPr>
            <p:cNvPr id="111"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2"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3"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grpSp>
        <p:nvGrpSpPr>
          <p:cNvPr id="114" name="Graphic 62" descr="Artificial Intelligence outline"/>
          <p:cNvGrpSpPr/>
          <p:nvPr/>
        </p:nvGrpSpPr>
        <p:grpSpPr>
          <a:xfrm>
            <a:off x="9309806" y="1906534"/>
            <a:ext cx="647797" cy="768143"/>
            <a:chOff x="6096473" y="4106117"/>
            <a:chExt cx="647797" cy="768143"/>
          </a:xfrm>
          <a:noFill/>
        </p:grpSpPr>
        <p:sp>
          <p:nvSpPr>
            <p:cNvPr id="115"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16"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7"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8"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9"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20" name="App-Model"/>
          <p:cNvCxnSpPr/>
          <p:nvPr/>
        </p:nvCxnSpPr>
        <p:spPr>
          <a:xfrm flipV="1">
            <a:off x="7440610" y="2513045"/>
            <a:ext cx="1775406" cy="498503"/>
          </a:xfrm>
          <a:prstGeom prst="straightConnector1">
            <a:avLst/>
          </a:prstGeom>
          <a:ln w="28575">
            <a:solidFill>
              <a:srgbClr val="000000"/>
            </a:solidFill>
            <a:headEnd type="triangle"/>
            <a:tailEnd type="triangle"/>
          </a:ln>
        </p:spPr>
      </p:cxnSp>
      <p:sp>
        <p:nvSpPr>
          <p:cNvPr id="121" name="Request"/>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30 descriptions</a:t>
            </a:r>
          </a:p>
        </p:txBody>
      </p:sp>
      <p:sp>
        <p:nvSpPr>
          <p:cNvPr id="122" name="Reply"/>
          <p:cNvSpPr txBox="1"/>
          <p:nvPr/>
        </p:nvSpPr>
        <p:spPr>
          <a:xfrm>
            <a:off x="7388352" y="3154680"/>
            <a:ext cx="1737360" cy="5029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[0.0611, -0.0001,</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-0.2007, …]</a:t>
            </a:r>
          </a:p>
        </p:txBody>
      </p:sp>
      <p:sp>
        <p:nvSpPr>
          <p:cNvPr id="123" name="Dims"/>
          <p:cNvSpPr txBox="1"/>
          <p:nvPr/>
        </p:nvSpPr>
        <p:spPr>
          <a:xfrm>
            <a:off x="7388352" y="3520440"/>
            <a:ext cx="1645920" cy="320040"/>
          </a:xfrm>
          <a:prstGeom prst="rect">
            <a:avLst/>
          </a:prstGeom>
          <a:noFill/>
        </p:spPr>
        <p:txBody>
          <a:bodyPr wrap="square" lIns="0" tIns="0" rIns="0" bIns="0" anchor="t">
            <a:noAutofit/>
          </a:bodyPr>
          <a:lstStyle/>
          <a:p>
            <a:pPr algn="ctr">
              <a:lnSpc>
                <a:spcPct val="90000"/>
              </a:lnSpc>
            </a:pPr>
            <a:r>
              <a:rPr lang="en-US" sz="1400" dirty="0">
                <a:solidFill>
                  <a:srgbClr val="000000"/>
                </a:solidFill>
                <a:latin typeface="Ink Free" panose="03080402000500000000" pitchFamily="66" charset="0"/>
              </a:rPr>
              <a:t>768 numbers each</a:t>
            </a:r>
          </a:p>
        </p:txBody>
      </p:sp>
      <p:cxnSp>
        <p:nvCxnSpPr>
          <p:cNvPr id="125" name="App-Store"/>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24"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26" name="Stored"/>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name, vector} ×30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916936"/>
            <a:ext cx="10332720" cy="1014984"/>
          </a:xfrm>
          <a:prstGeom prst="rect">
            <a:avLst/>
          </a:prstGeom>
          <a:noFill/>
        </p:spPr>
        <p:txBody>
          <a:bodyPr wrap="square" anchor="ctr">
            <a:spAutoFit/>
          </a:bodyPr>
          <a:lstStyle/>
          <a:p>
            <a:pPr algn="ctr"/>
            <a:r>
              <a:rPr sz="6000" b="1">
                <a:solidFill>
                  <a:srgbClr val="FFFFFF"/>
                </a:solidFill>
              </a:rPr>
              <a:t>DEMO</a:t>
            </a:r>
            <a:r>
              <a:rPr sz="6000">
                <a:solidFill>
                  <a:srgbClr val="FFFFFF"/>
                </a:solidFill>
              </a:rPr>
              <a:t> · F04 Semantic Search</a:t>
            </a:r>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Semantic Search · Demo: What to Watch</a:t>
            </a:r>
          </a:p>
        </p:txBody>
      </p:sp>
      <p:sp>
        <p:nvSpPr>
          <p:cNvPr id="3" name="Content Placeholder 2"/>
          <p:cNvSpPr>
            <a:spLocks noGrp="1"/>
          </p:cNvSpPr>
          <p:nvPr>
            <p:ph idx="1"/>
          </p:nvPr>
        </p:nvSpPr>
        <p:spPr>
          <a:xfrm>
            <a:off x="612648" y="1920240"/>
            <a:ext cx="10966704" cy="4617720"/>
          </a:xfrm>
        </p:spPr>
        <p:txBody>
          <a:bodyPr wrap="square"/>
          <a:lstStyle/>
          <a:p>
            <a:r>
              <a:rPr sz="2800"/>
              <a:t>❌ Keyword baseline: junk</a:t>
            </a:r>
          </a:p>
          <a:p>
            <a:r>
              <a:rPr sz="2800"/>
              <a:t>The raw float array</a:t>
            </a:r>
          </a:p>
          <a:p>
            <a:r>
              <a:rPr sz="2800"/>
              <a:t>30 trails embedded in &lt; 2 s</a:t>
            </a:r>
          </a:p>
          <a:p>
            <a:r>
              <a:rPr sz="2800"/>
              <a:t>Cosine: one visible method</a:t>
            </a:r>
          </a:p>
          <a:p>
            <a:r>
              <a:rPr sz="2800"/>
              <a:t>✅ Same query, semantic: the right trails, with scores</a:t>
            </a:r>
          </a:p>
          <a:p>
            <a:r>
              <a:rPr sz="2800"/>
              <a:t>"Quiet, for kids" → Taft Point. A 3,000-foot drop.</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Semantic Search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dirty="0"/>
              <a:t>When:</a:t>
            </a:r>
            <a:r>
              <a:rPr sz="2800" dirty="0"/>
              <a:t> A </a:t>
            </a:r>
            <a:r>
              <a:rPr lang="en-US" sz="2800" dirty="0"/>
              <a:t>previously useless search box now allows them to</a:t>
            </a:r>
            <a:r>
              <a:rPr sz="2800" dirty="0"/>
              <a:t> describe what they want</a:t>
            </a:r>
            <a:r>
              <a:rPr lang="en-US" sz="2800" dirty="0"/>
              <a:t> and</a:t>
            </a:r>
            <a:r>
              <a:rPr sz="2800" dirty="0"/>
              <a:t> it </a:t>
            </a:r>
            <a:r>
              <a:rPr lang="en-US" sz="2800" dirty="0"/>
              <a:t>finds the most conceptually related things</a:t>
            </a:r>
            <a:r>
              <a:rPr sz="2800" dirty="0"/>
              <a: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Semantic Search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lang="en-US" sz="2800" b="1" dirty="0"/>
              <a:t>When:</a:t>
            </a:r>
            <a:r>
              <a:rPr lang="en-US" sz="2800" dirty="0"/>
              <a:t> A previously useless search box now allows them to describe what they want and it finds the most conceptually related things.</a:t>
            </a:r>
          </a:p>
          <a:p>
            <a:pPr>
              <a:spcAft>
                <a:spcPts val="1400"/>
              </a:spcAft>
            </a:pPr>
            <a:r>
              <a:rPr sz="2800" b="1" dirty="0"/>
              <a:t>Think:</a:t>
            </a:r>
            <a:r>
              <a:rPr sz="2800" dirty="0"/>
              <a:t> "Our search finds what users mean, not just what they type."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Semantic Search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lang="en-US" sz="2800" b="1" dirty="0"/>
              <a:t>When:</a:t>
            </a:r>
            <a:r>
              <a:rPr lang="en-US" sz="2800" dirty="0"/>
              <a:t> A previously useless search box now allows them to describe what they want and it finds the most conceptually related things.</a:t>
            </a:r>
          </a:p>
          <a:p>
            <a:pPr>
              <a:spcAft>
                <a:spcPts val="1400"/>
              </a:spcAft>
            </a:pPr>
            <a:r>
              <a:rPr sz="2800" b="1" dirty="0"/>
              <a:t>Think:</a:t>
            </a:r>
            <a:r>
              <a:rPr sz="2800" dirty="0"/>
              <a:t> "Our search finds what users mean, not just what they type."</a:t>
            </a:r>
          </a:p>
          <a:p>
            <a:pPr>
              <a:spcAft>
                <a:spcPts val="1400"/>
              </a:spcAft>
            </a:pPr>
            <a:endParaRPr sz="2800" dirty="0"/>
          </a:p>
          <a:p>
            <a:pPr>
              <a:spcAft>
                <a:spcPts val="1400"/>
              </a:spcAft>
            </a:pPr>
            <a:r>
              <a:rPr sz="2800" b="1" dirty="0"/>
              <a:t>Difficulty:</a:t>
            </a:r>
            <a:r>
              <a:rPr sz="2800" dirty="0"/>
              <a:t> </a:t>
            </a:r>
          </a:p>
        </p:txBody>
      </p:sp>
      <p:sp>
        <p:nvSpPr>
          <p:cNvPr id="4" name="Rounded Rectangle 3"/>
          <p:cNvSpPr/>
          <p:nvPr/>
        </p:nvSpPr>
        <p:spPr>
          <a:xfrm>
            <a:off x="2807208" y="4809744"/>
            <a:ext cx="256032" cy="256032"/>
          </a:xfrm>
          <a:prstGeom prst="roundRect">
            <a:avLst>
              <a:gd name="adj" fmla="val 25000"/>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3154680" y="4608576"/>
            <a:ext cx="256032" cy="457200"/>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502152" y="4407408"/>
            <a:ext cx="256032" cy="658368"/>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32888" y="5120640"/>
            <a:ext cx="1499616" cy="320040"/>
          </a:xfrm>
          <a:prstGeom prst="rect">
            <a:avLst/>
          </a:prstGeom>
          <a:noFill/>
        </p:spPr>
        <p:txBody>
          <a:bodyPr wrap="none">
            <a:spAutoFit/>
          </a:bodyPr>
          <a:lstStyle/>
          <a:p>
            <a:pPr algn="ctr"/>
            <a:r>
              <a:rPr sz="1400" b="1"/>
              <a:t>Easy</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4000" b="1">
                <a:solidFill>
                  <a:srgbClr val="017AB4"/>
                </a:solidFill>
              </a:rPr>
              <a:t>F05 · RAG</a:t>
            </a:r>
          </a:p>
        </p:txBody>
      </p:sp>
      <p:sp>
        <p:nvSpPr>
          <p:cNvPr id="3" name="Text Placeholder 2"/>
          <p:cNvSpPr>
            <a:spLocks noGrp="1"/>
          </p:cNvSpPr>
          <p:nvPr>
            <p:ph type="body" idx="1"/>
          </p:nvPr>
        </p:nvSpPr>
        <p:spPr/>
        <p:txBody>
          <a:bodyPr>
            <a:normAutofit lnSpcReduction="10000"/>
          </a:bodyPr>
          <a:lstStyle/>
          <a:p>
            <a:endParaRP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document.png"/>
          <p:cNvPicPr>
            <a:picLocks noChangeAspect="1"/>
          </p:cNvPicPr>
          <p:nvPr/>
        </p:nvPicPr>
        <p:blipFill>
          <a:blip r:embed="rId3"/>
          <a:stretch>
            <a:fillRect/>
          </a:stretch>
        </p:blipFill>
        <p:spPr>
          <a:xfrm>
            <a:off x="5638800" y="1371600"/>
            <a:ext cx="914400" cy="914400"/>
          </a:xfrm>
          <a:prstGeom prst="rect">
            <a:avLst/>
          </a:prstGeom>
        </p:spPr>
      </p:pic>
      <p:sp>
        <p:nvSpPr>
          <p:cNvPr id="3" name="TextBox 2"/>
          <p:cNvSpPr txBox="1"/>
          <p:nvPr/>
        </p:nvSpPr>
        <p:spPr>
          <a:xfrm>
            <a:off x="914400" y="3178760"/>
            <a:ext cx="10332720" cy="1323439"/>
          </a:xfrm>
          <a:prstGeom prst="rect">
            <a:avLst/>
          </a:prstGeom>
          <a:noFill/>
        </p:spPr>
        <p:txBody>
          <a:bodyPr wrap="square" anchor="ctr">
            <a:spAutoFit/>
          </a:bodyPr>
          <a:lstStyle/>
          <a:p>
            <a:pPr algn="ctr"/>
            <a:r>
              <a:rPr sz="4000" dirty="0"/>
              <a:t>Look </a:t>
            </a:r>
            <a:r>
              <a:rPr lang="en-US" sz="4000" dirty="0"/>
              <a:t>in your </a:t>
            </a:r>
            <a:r>
              <a:rPr sz="4000" dirty="0"/>
              <a:t>documents </a:t>
            </a:r>
            <a:r>
              <a:rPr lang="en-US" sz="4000" dirty="0"/>
              <a:t>as the source</a:t>
            </a:r>
            <a:r>
              <a:rPr sz="4000" dirty="0"/>
              <a:t>; the </a:t>
            </a:r>
            <a:endParaRPr lang="en-US" sz="4000" dirty="0"/>
          </a:p>
          <a:p>
            <a:pPr algn="ctr"/>
            <a:r>
              <a:rPr sz="4000" dirty="0"/>
              <a:t>model </a:t>
            </a:r>
            <a:r>
              <a:rPr lang="en-US" sz="4000" b="1" dirty="0">
                <a:solidFill>
                  <a:srgbClr val="017AB4"/>
                </a:solidFill>
              </a:rPr>
              <a:t>composes an a</a:t>
            </a:r>
            <a:r>
              <a:rPr sz="4000" b="1" dirty="0">
                <a:solidFill>
                  <a:srgbClr val="017AB4"/>
                </a:solidFill>
              </a:rPr>
              <a:t>nswer from what it finds</a:t>
            </a:r>
            <a:r>
              <a:rPr sz="4000" dirty="0"/>
              <a:t>.</a:t>
            </a:r>
          </a:p>
        </p:txBody>
      </p:sp>
      <p:pic>
        <p:nvPicPr>
          <p:cNvPr id="4" name="Picture 3" descr="image.png"/>
          <p:cNvPicPr>
            <a:picLocks noChangeAspect="1"/>
          </p:cNvPicPr>
          <p:nvPr/>
        </p:nvPicPr>
        <p:blipFill>
          <a:blip r:embed="rId4"/>
          <a:stretch>
            <a:fillRect/>
          </a:stretch>
        </p:blipFill>
        <p:spPr>
          <a:xfrm>
            <a:off x="9326880" y="5989320"/>
            <a:ext cx="2560320" cy="64008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101"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02"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03"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04"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Visitor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101"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02"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03"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04"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Visitor</a:t>
            </a:r>
          </a:p>
        </p:txBody>
      </p:sp>
      <p:cxnSp>
        <p:nvCxnSpPr>
          <p:cNvPr id="105"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06"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"Can I have a campfire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at Sperry in September?"</a:t>
            </a:r>
          </a:p>
        </p:txBody>
      </p:sp>
      <p:sp>
        <p:nvSpPr>
          <p:cNvPr id="107"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8" name="Graphic 2" descr="Single gear outline"/>
          <p:cNvGrpSpPr/>
          <p:nvPr/>
        </p:nvGrpSpPr>
        <p:grpSpPr>
          <a:xfrm>
            <a:off x="5738021" y="2728234"/>
            <a:ext cx="648652" cy="647861"/>
            <a:chOff x="5772150" y="3332061"/>
            <a:chExt cx="648652" cy="647861"/>
          </a:xfrm>
          <a:noFill/>
        </p:grpSpPr>
        <p:sp>
          <p:nvSpPr>
            <p:cNvPr id="109"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0"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1"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101"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02"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03"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04"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Visitor</a:t>
            </a:r>
          </a:p>
        </p:txBody>
      </p:sp>
      <p:cxnSp>
        <p:nvCxnSpPr>
          <p:cNvPr id="105"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06"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"Can I have a campfire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at Sperry in September?"</a:t>
            </a:r>
          </a:p>
        </p:txBody>
      </p:sp>
      <p:sp>
        <p:nvSpPr>
          <p:cNvPr id="107"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8" name="Graphic 2" descr="Single gear outline"/>
          <p:cNvGrpSpPr/>
          <p:nvPr/>
        </p:nvGrpSpPr>
        <p:grpSpPr>
          <a:xfrm>
            <a:off x="5738021" y="2728234"/>
            <a:ext cx="648652" cy="647861"/>
            <a:chOff x="5772150" y="3332061"/>
            <a:chExt cx="648652" cy="647861"/>
          </a:xfrm>
          <a:noFill/>
        </p:grpSpPr>
        <p:sp>
          <p:nvSpPr>
            <p:cNvPr id="109"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0"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1"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2"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Park</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Doc</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Chunks</a:t>
            </a:r>
          </a:p>
        </p:txBody>
      </p:sp>
      <p:sp>
        <p:nvSpPr>
          <p:cNvPr id="113"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text, vector} ×250</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101"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02"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03"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04"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Visitor</a:t>
            </a:r>
          </a:p>
        </p:txBody>
      </p:sp>
      <p:cxnSp>
        <p:nvCxnSpPr>
          <p:cNvPr id="105"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06"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"Can I have a campfire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at Sperry in September?"</a:t>
            </a:r>
          </a:p>
        </p:txBody>
      </p:sp>
      <p:sp>
        <p:nvSpPr>
          <p:cNvPr id="107"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8" name="Graphic 2" descr="Single gear outline"/>
          <p:cNvGrpSpPr/>
          <p:nvPr/>
        </p:nvGrpSpPr>
        <p:grpSpPr>
          <a:xfrm>
            <a:off x="5738021" y="2728234"/>
            <a:ext cx="648652" cy="647861"/>
            <a:chOff x="5772150" y="3332061"/>
            <a:chExt cx="648652" cy="647861"/>
          </a:xfrm>
          <a:noFill/>
        </p:grpSpPr>
        <p:sp>
          <p:nvSpPr>
            <p:cNvPr id="109"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0"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1"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2"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Park</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Doc</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Chunks</a:t>
            </a:r>
          </a:p>
        </p:txBody>
      </p:sp>
      <p:sp>
        <p:nvSpPr>
          <p:cNvPr id="113"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text, vector} ×250</a:t>
            </a:r>
          </a:p>
        </p:txBody>
      </p:sp>
      <p:grpSp>
        <p:nvGrpSpPr>
          <p:cNvPr id="114" name="Graphic 62" descr="Artificial Intelligence outline"/>
          <p:cNvGrpSpPr/>
          <p:nvPr/>
        </p:nvGrpSpPr>
        <p:grpSpPr>
          <a:xfrm>
            <a:off x="9309806" y="1906534"/>
            <a:ext cx="647797" cy="768143"/>
            <a:chOff x="6096473" y="4106117"/>
            <a:chExt cx="647797" cy="768143"/>
          </a:xfrm>
          <a:noFill/>
        </p:grpSpPr>
        <p:sp>
          <p:nvSpPr>
            <p:cNvPr id="115"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16"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7"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8"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9"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20" name="App-Model"/>
          <p:cNvCxnSpPr/>
          <p:nvPr/>
        </p:nvCxnSpPr>
        <p:spPr>
          <a:xfrm flipV="1">
            <a:off x="7440610" y="2513045"/>
            <a:ext cx="1775406" cy="498503"/>
          </a:xfrm>
          <a:prstGeom prst="straightConnector1">
            <a:avLst/>
          </a:prstGeom>
          <a:ln w="28575">
            <a:solidFill>
              <a:srgbClr val="000000"/>
            </a:solidFill>
            <a:headEnd type="triangle"/>
            <a:tailEnd type="triangle"/>
          </a:ln>
        </p:spPr>
      </p:cxnSp>
      <p:sp>
        <p:nvSpPr>
          <p:cNvPr id="121" name="Request"/>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the question</a:t>
            </a:r>
          </a:p>
        </p:txBody>
      </p:sp>
      <p:sp>
        <p:nvSpPr>
          <p:cNvPr id="122" name="Reply"/>
          <p:cNvSpPr txBox="1"/>
          <p:nvPr/>
        </p:nvSpPr>
        <p:spPr>
          <a:xfrm>
            <a:off x="7388352" y="3154680"/>
            <a:ext cx="173736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[768 numbers]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101"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02"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03"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04"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Visitor</a:t>
            </a:r>
          </a:p>
        </p:txBody>
      </p:sp>
      <p:cxnSp>
        <p:nvCxnSpPr>
          <p:cNvPr id="105"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06"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"Can I have a campfire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at Sperry in September?"</a:t>
            </a:r>
          </a:p>
        </p:txBody>
      </p:sp>
      <p:sp>
        <p:nvSpPr>
          <p:cNvPr id="107"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8" name="Graphic 2" descr="Single gear outline"/>
          <p:cNvGrpSpPr/>
          <p:nvPr/>
        </p:nvGrpSpPr>
        <p:grpSpPr>
          <a:xfrm>
            <a:off x="5738021" y="2728234"/>
            <a:ext cx="648652" cy="647861"/>
            <a:chOff x="5772150" y="3332061"/>
            <a:chExt cx="648652" cy="647861"/>
          </a:xfrm>
          <a:noFill/>
        </p:grpSpPr>
        <p:sp>
          <p:nvSpPr>
            <p:cNvPr id="109"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0"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1"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2"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Park</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Doc</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Chunks</a:t>
            </a:r>
          </a:p>
        </p:txBody>
      </p:sp>
      <p:sp>
        <p:nvSpPr>
          <p:cNvPr id="113"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text, vector} ×250</a:t>
            </a:r>
          </a:p>
        </p:txBody>
      </p:sp>
      <p:grpSp>
        <p:nvGrpSpPr>
          <p:cNvPr id="114" name="Graphic 62" descr="Artificial Intelligence outline"/>
          <p:cNvGrpSpPr/>
          <p:nvPr/>
        </p:nvGrpSpPr>
        <p:grpSpPr>
          <a:xfrm>
            <a:off x="9309806" y="1906534"/>
            <a:ext cx="647797" cy="768143"/>
            <a:chOff x="6096473" y="4106117"/>
            <a:chExt cx="647797" cy="768143"/>
          </a:xfrm>
          <a:noFill/>
        </p:grpSpPr>
        <p:sp>
          <p:nvSpPr>
            <p:cNvPr id="115"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16"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7"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8"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9"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20" name="App-Model"/>
          <p:cNvCxnSpPr/>
          <p:nvPr/>
        </p:nvCxnSpPr>
        <p:spPr>
          <a:xfrm flipV="1">
            <a:off x="7440610" y="2513045"/>
            <a:ext cx="1775406" cy="498503"/>
          </a:xfrm>
          <a:prstGeom prst="straightConnector1">
            <a:avLst/>
          </a:prstGeom>
          <a:ln w="28575">
            <a:solidFill>
              <a:srgbClr val="000000"/>
            </a:solidFill>
            <a:headEnd type="triangle"/>
            <a:tailEnd type="triangle"/>
          </a:ln>
        </p:spPr>
      </p:cxnSp>
      <p:sp>
        <p:nvSpPr>
          <p:cNvPr id="121" name="Request"/>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the question</a:t>
            </a:r>
          </a:p>
        </p:txBody>
      </p:sp>
      <p:sp>
        <p:nvSpPr>
          <p:cNvPr id="122" name="Reply"/>
          <p:cNvSpPr txBox="1"/>
          <p:nvPr/>
        </p:nvSpPr>
        <p:spPr>
          <a:xfrm>
            <a:off x="7388352" y="3154680"/>
            <a:ext cx="173736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[768 numbers]</a:t>
            </a:r>
          </a:p>
        </p:txBody>
      </p:sp>
      <p:cxnSp>
        <p:nvCxnSpPr>
          <p:cNvPr id="123" name="App-LowRight"/>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24" name="App line 0"/>
          <p:cNvSpPr txBox="1"/>
          <p:nvPr/>
        </p:nvSpPr>
        <p:spPr>
          <a:xfrm>
            <a:off x="4878638" y="3660922"/>
            <a:ext cx="2367419" cy="301752"/>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cosine → top 3</a:t>
            </a:r>
          </a:p>
        </p:txBody>
      </p:sp>
      <p:sp>
        <p:nvSpPr>
          <p:cNvPr id="125" name="Top 3"/>
          <p:cNvSpPr txBox="1"/>
          <p:nvPr/>
        </p:nvSpPr>
        <p:spPr>
          <a:xfrm>
            <a:off x="6903720" y="4956048"/>
            <a:ext cx="2331720" cy="502920"/>
          </a:xfrm>
          <a:prstGeom prst="rect">
            <a:avLst/>
          </a:prstGeom>
          <a:noFill/>
        </p:spPr>
        <p:txBody>
          <a:bodyPr wrap="square" lIns="0" tIns="0" rIns="0" bIns="0" anchor="t">
            <a:noAutofit/>
          </a:bodyPr>
          <a:lstStyle/>
          <a:p>
            <a:pPr algn="l">
              <a:lnSpc>
                <a:spcPct val="90000"/>
              </a:lnSpc>
            </a:pPr>
            <a:r>
              <a:rPr lang="en-US" sz="1000" dirty="0">
                <a:solidFill>
                  <a:srgbClr val="000000"/>
                </a:solidFill>
                <a:latin typeface="Consolas" panose="020B0609020204030204" pitchFamily="49" charset="0"/>
                <a:cs typeface="Consolas" panose="020B0609020204030204" pitchFamily="49" charset="0"/>
              </a:rPr>
              <a:t>camping-guide:04.2  0.74</a:t>
            </a:r>
          </a:p>
          <a:p>
            <a:pPr algn="l">
              <a:lnSpc>
                <a:spcPct val="90000"/>
              </a:lnSpc>
            </a:pPr>
            <a:r>
              <a:rPr lang="en-US" sz="1000" dirty="0">
                <a:solidFill>
                  <a:srgbClr val="000000"/>
                </a:solidFill>
                <a:latin typeface="Consolas" panose="020B0609020204030204" pitchFamily="49" charset="0"/>
                <a:cs typeface="Consolas" panose="020B0609020204030204" pitchFamily="49" charset="0"/>
              </a:rPr>
              <a:t>frontcountry:04.1-2 0.69</a:t>
            </a:r>
          </a:p>
          <a:p>
            <a:pPr algn="l">
              <a:lnSpc>
                <a:spcPct val="90000"/>
              </a:lnSpc>
            </a:pPr>
            <a:r>
              <a:rPr lang="en-US" sz="1000" dirty="0">
                <a:solidFill>
                  <a:srgbClr val="000000"/>
                </a:solidFill>
                <a:latin typeface="Consolas" panose="020B0609020204030204" pitchFamily="49" charset="0"/>
                <a:cs typeface="Consolas" panose="020B0609020204030204" pitchFamily="49" charset="0"/>
              </a:rPr>
              <a:t>yosemite-fire:03    0.68</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916936"/>
            <a:ext cx="10332720" cy="1014984"/>
          </a:xfrm>
          <a:prstGeom prst="rect">
            <a:avLst/>
          </a:prstGeom>
          <a:noFill/>
        </p:spPr>
        <p:txBody>
          <a:bodyPr wrap="square" anchor="ctr">
            <a:spAutoFit/>
          </a:bodyPr>
          <a:lstStyle/>
          <a:p>
            <a:pPr algn="ctr"/>
            <a:r>
              <a:rPr sz="6000" b="1">
                <a:solidFill>
                  <a:srgbClr val="FFFFFF"/>
                </a:solidFill>
              </a:rPr>
              <a:t>DEMO</a:t>
            </a:r>
            <a:r>
              <a:rPr sz="6000">
                <a:solidFill>
                  <a:srgbClr val="FFFFFF"/>
                </a:solidFill>
              </a:rPr>
              <a:t> · F05 RAG</a:t>
            </a:r>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RAG · Demo: What to Watch</a:t>
            </a:r>
          </a:p>
        </p:txBody>
      </p:sp>
      <p:sp>
        <p:nvSpPr>
          <p:cNvPr id="3" name="Content Placeholder 2"/>
          <p:cNvSpPr>
            <a:spLocks noGrp="1"/>
          </p:cNvSpPr>
          <p:nvPr>
            <p:ph idx="1"/>
          </p:nvPr>
        </p:nvSpPr>
        <p:spPr>
          <a:xfrm>
            <a:off x="612648" y="1920240"/>
            <a:ext cx="10966704" cy="4617720"/>
          </a:xfrm>
        </p:spPr>
        <p:txBody>
          <a:bodyPr wrap="square"/>
          <a:lstStyle/>
          <a:p>
            <a:r>
              <a:rPr sz="2400"/>
              <a:t>❌ No context: confident and wrong</a:t>
            </a:r>
          </a:p>
          <a:p>
            <a:r>
              <a:rPr sz="2400"/>
              <a:t>Embeddings only: 5 of 8 chunks, wrong park</a:t>
            </a:r>
          </a:p>
          <a:p>
            <a:r>
              <a:rPr sz="2400"/>
              <a:t>✅ Hybrid: "Sperry" starts to count</a:t>
            </a:r>
          </a:p>
          <a:p>
            <a:r>
              <a:rPr sz="2400"/>
              <a:t>✅ Grounded prompt: right answer, cited</a:t>
            </a:r>
          </a:p>
          <a:p>
            <a:r>
              <a:rPr sz="2400"/>
              <a:t>Citations are strings: validate the ids</a:t>
            </a:r>
          </a:p>
          <a:p>
            <a:r>
              <a:rPr sz="2400"/>
              <a:t>"Drone?" → "The documents don't say."</a:t>
            </a:r>
          </a:p>
          <a:p>
            <a:r>
              <a:rPr sz="2400"/>
              <a:t>"Open right now?" needs the date in the prompt</a:t>
            </a:r>
          </a:p>
          <a:p>
            <a:r>
              <a:rPr sz="2400"/>
              <a:t>One-line swap to </a:t>
            </a:r>
            <a:r>
              <a:rPr sz="2400">
                <a:latin typeface="Consolas"/>
              </a:rPr>
              <a:t>gpt-4.1</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RAG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The org already wrote the answer down, and people still ask humans.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RAG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The org already wrote the answer down, and people still ask humans.</a:t>
            </a:r>
          </a:p>
          <a:p>
            <a:pPr>
              <a:spcAft>
                <a:spcPts val="1400"/>
              </a:spcAft>
            </a:pPr>
            <a:r>
              <a:rPr sz="2800" b="1"/>
              <a:t>Think:</a:t>
            </a:r>
            <a:r>
              <a:rPr sz="2800"/>
              <a:t> "Our documents already answer these questions. This makes them answer directly, with receipts."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RAG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The org already wrote the answer down, and people still ask humans.</a:t>
            </a:r>
          </a:p>
          <a:p>
            <a:pPr>
              <a:spcAft>
                <a:spcPts val="1400"/>
              </a:spcAft>
            </a:pPr>
            <a:r>
              <a:rPr sz="2800" b="1"/>
              <a:t>Think:</a:t>
            </a:r>
            <a:r>
              <a:rPr sz="2800"/>
              <a:t> "Our documents already answer these questions. This makes them answer directly, with receipts."</a:t>
            </a:r>
          </a:p>
          <a:p>
            <a:pPr>
              <a:spcAft>
                <a:spcPts val="1400"/>
              </a:spcAft>
            </a:pPr>
            <a:endParaRPr sz="2800"/>
          </a:p>
          <a:p>
            <a:pPr>
              <a:spcAft>
                <a:spcPts val="1400"/>
              </a:spcAft>
            </a:pPr>
            <a:r>
              <a:rPr sz="2800" b="1"/>
              <a:t>Difficulty:</a:t>
            </a:r>
            <a:r>
              <a:rPr sz="2800"/>
              <a:t> </a:t>
            </a:r>
          </a:p>
        </p:txBody>
      </p:sp>
      <p:sp>
        <p:nvSpPr>
          <p:cNvPr id="4" name="Rounded Rectangle 3"/>
          <p:cNvSpPr/>
          <p:nvPr/>
        </p:nvSpPr>
        <p:spPr>
          <a:xfrm>
            <a:off x="2807208" y="4809744"/>
            <a:ext cx="256032" cy="256032"/>
          </a:xfrm>
          <a:prstGeom prst="roundRect">
            <a:avLst>
              <a:gd name="adj" fmla="val 2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3154680" y="4608576"/>
            <a:ext cx="256032" cy="457200"/>
          </a:xfrm>
          <a:prstGeom prst="roundRect">
            <a:avLst>
              <a:gd name="adj" fmla="val 2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502152" y="4407408"/>
            <a:ext cx="256032" cy="658368"/>
          </a:xfrm>
          <a:prstGeom prst="roundRect">
            <a:avLst>
              <a:gd name="adj" fmla="val 2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32888" y="5120640"/>
            <a:ext cx="1499616" cy="320040"/>
          </a:xfrm>
          <a:prstGeom prst="rect">
            <a:avLst/>
          </a:prstGeom>
          <a:noFill/>
        </p:spPr>
        <p:txBody>
          <a:bodyPr wrap="none">
            <a:spAutoFit/>
          </a:bodyPr>
          <a:lstStyle/>
          <a:p>
            <a:pPr algn="ctr"/>
            <a:r>
              <a:rPr sz="1400" b="1"/>
              <a:t>Hard</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4000" b="1">
                <a:solidFill>
                  <a:srgbClr val="017AB4"/>
                </a:solidFill>
              </a:rPr>
              <a:t>F06 · Recommendations</a:t>
            </a:r>
          </a:p>
        </p:txBody>
      </p:sp>
      <p:sp>
        <p:nvSpPr>
          <p:cNvPr id="3" name="Text Placeholder 2"/>
          <p:cNvSpPr>
            <a:spLocks noGrp="1"/>
          </p:cNvSpPr>
          <p:nvPr>
            <p:ph type="body" idx="1"/>
          </p:nvPr>
        </p:nvSpPr>
        <p:spPr/>
        <p:txBody>
          <a:bodyPr>
            <a:normAutofit lnSpcReduction="10000"/>
          </a:bodyPr>
          <a:lstStyle/>
          <a:p>
            <a:endParaRP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route.png"/>
          <p:cNvPicPr>
            <a:picLocks noChangeAspect="1"/>
          </p:cNvPicPr>
          <p:nvPr/>
        </p:nvPicPr>
        <p:blipFill>
          <a:blip r:embed="rId3"/>
          <a:stretch>
            <a:fillRect/>
          </a:stretch>
        </p:blipFill>
        <p:spPr>
          <a:xfrm>
            <a:off x="5638800" y="1371600"/>
            <a:ext cx="914400" cy="914400"/>
          </a:xfrm>
          <a:prstGeom prst="rect">
            <a:avLst/>
          </a:prstGeom>
        </p:spPr>
      </p:pic>
      <p:sp>
        <p:nvSpPr>
          <p:cNvPr id="3" name="TextBox 2"/>
          <p:cNvSpPr txBox="1"/>
          <p:nvPr/>
        </p:nvSpPr>
        <p:spPr>
          <a:xfrm>
            <a:off x="914400" y="3178760"/>
            <a:ext cx="10332720" cy="1323439"/>
          </a:xfrm>
          <a:prstGeom prst="rect">
            <a:avLst/>
          </a:prstGeom>
          <a:noFill/>
        </p:spPr>
        <p:txBody>
          <a:bodyPr wrap="square" anchor="ctr">
            <a:spAutoFit/>
          </a:bodyPr>
          <a:lstStyle/>
          <a:p>
            <a:pPr algn="ctr"/>
            <a:r>
              <a:rPr sz="4000"/>
              <a:t>Suggest the </a:t>
            </a:r>
            <a:r>
              <a:rPr sz="4000" b="1">
                <a:solidFill>
                  <a:srgbClr val="017AB4"/>
                </a:solidFill>
              </a:rPr>
              <a:t>next thing</a:t>
            </a:r>
            <a:r>
              <a:rPr sz="4000"/>
              <a:t> a user will want, </a:t>
            </a:r>
            <a:endParaRPr lang="en-US" sz="4000"/>
          </a:p>
          <a:p>
            <a:pPr algn="ctr"/>
            <a:r>
              <a:rPr sz="4000"/>
              <a:t>from what they liked already.</a:t>
            </a:r>
          </a:p>
        </p:txBody>
      </p:sp>
      <p:pic>
        <p:nvPicPr>
          <p:cNvPr id="4" name="Picture 3" descr="image.png"/>
          <p:cNvPicPr>
            <a:picLocks noChangeAspect="1"/>
          </p:cNvPicPr>
          <p:nvPr/>
        </p:nvPicPr>
        <p:blipFill>
          <a:blip r:embed="rId4"/>
          <a:stretch>
            <a:fillRect/>
          </a:stretch>
        </p:blipFill>
        <p:spPr>
          <a:xfrm>
            <a:off x="9326880" y="5989320"/>
            <a:ext cx="2560320" cy="64008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916936"/>
            <a:ext cx="10332720" cy="1014984"/>
          </a:xfrm>
          <a:prstGeom prst="rect">
            <a:avLst/>
          </a:prstGeom>
          <a:noFill/>
        </p:spPr>
        <p:txBody>
          <a:bodyPr wrap="square" anchor="ctr">
            <a:spAutoFit/>
          </a:bodyPr>
          <a:lstStyle/>
          <a:p>
            <a:pPr algn="ctr"/>
            <a:r>
              <a:rPr sz="6000" b="1">
                <a:solidFill>
                  <a:srgbClr val="FFFFFF"/>
                </a:solidFill>
              </a:rPr>
              <a:t>DEMO</a:t>
            </a:r>
            <a:r>
              <a:rPr sz="6000">
                <a:solidFill>
                  <a:srgbClr val="FFFFFF"/>
                </a:solidFill>
              </a:rPr>
              <a:t> · F06 Recommendations</a:t>
            </a:r>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Recommendations · Demo: What to Watch</a:t>
            </a:r>
          </a:p>
        </p:txBody>
      </p:sp>
      <p:sp>
        <p:nvSpPr>
          <p:cNvPr id="3" name="Content Placeholder 2"/>
          <p:cNvSpPr>
            <a:spLocks noGrp="1"/>
          </p:cNvSpPr>
          <p:nvPr>
            <p:ph idx="1"/>
          </p:nvPr>
        </p:nvSpPr>
        <p:spPr>
          <a:xfrm>
            <a:off x="612648" y="1920240"/>
            <a:ext cx="10966704" cy="4617720"/>
          </a:xfrm>
        </p:spPr>
        <p:txBody>
          <a:bodyPr wrap="square"/>
          <a:lstStyle/>
          <a:p>
            <a:r>
              <a:rPr sz="2800"/>
              <a:t>Same vectors, still in memory</a:t>
            </a:r>
          </a:p>
          <a:p>
            <a:r>
              <a:rPr sz="2800"/>
              <a:t>"More like this" = search, query → item</a:t>
            </a:r>
          </a:p>
          <a:p>
            <a:r>
              <a:rPr sz="2800"/>
              <a:t>Lakes cluster, but mostly hard, and one has no lake</a:t>
            </a:r>
          </a:p>
          <a:p>
            <a:r>
              <a:rPr sz="2800"/>
              <a:t>Difficulty and park aren't in the description text</a:t>
            </a:r>
          </a:p>
          <a:p>
            <a:r>
              <a:rPr sz="2800"/>
              <a:t>Cascade 65 → Cascade 40: substitutes, not complements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Recommendations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Users finish one thing and the product offers no next step.</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Recommendations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Users finish one thing and the product offers no next step.</a:t>
            </a:r>
          </a:p>
          <a:p>
            <a:pPr>
              <a:spcAft>
                <a:spcPts val="1400"/>
              </a:spcAft>
            </a:pPr>
            <a:r>
              <a:rPr sz="2800" b="1"/>
              <a:t>Think:</a:t>
            </a:r>
            <a:r>
              <a:rPr sz="2800"/>
              <a:t> "The same vectors that power our search give us 'more like this' for free."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Recommendations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dirty="0"/>
              <a:t>When:</a:t>
            </a:r>
            <a:r>
              <a:rPr sz="2800" dirty="0"/>
              <a:t> Users finish one thing and the product offers no next step.</a:t>
            </a:r>
          </a:p>
          <a:p>
            <a:pPr>
              <a:spcAft>
                <a:spcPts val="1400"/>
              </a:spcAft>
            </a:pPr>
            <a:r>
              <a:rPr sz="2800" b="1" dirty="0"/>
              <a:t>Think:</a:t>
            </a:r>
            <a:r>
              <a:rPr sz="2800" dirty="0"/>
              <a:t> "The same vectors that power our search give </a:t>
            </a:r>
            <a:r>
              <a:rPr lang="en-US" sz="2800" dirty="0"/>
              <a:t>us</a:t>
            </a:r>
            <a:r>
              <a:rPr sz="2800" dirty="0"/>
              <a:t> 'more like this' for free."</a:t>
            </a:r>
          </a:p>
          <a:p>
            <a:pPr>
              <a:spcAft>
                <a:spcPts val="1400"/>
              </a:spcAft>
            </a:pPr>
            <a:endParaRPr sz="2800" dirty="0"/>
          </a:p>
          <a:p>
            <a:pPr>
              <a:spcAft>
                <a:spcPts val="1400"/>
              </a:spcAft>
            </a:pPr>
            <a:r>
              <a:rPr sz="2800" b="1" dirty="0"/>
              <a:t>Difficulty:</a:t>
            </a:r>
            <a:r>
              <a:rPr sz="2800" dirty="0"/>
              <a:t> </a:t>
            </a:r>
          </a:p>
        </p:txBody>
      </p:sp>
      <p:sp>
        <p:nvSpPr>
          <p:cNvPr id="4" name="Rounded Rectangle 3"/>
          <p:cNvSpPr/>
          <p:nvPr/>
        </p:nvSpPr>
        <p:spPr>
          <a:xfrm>
            <a:off x="2807208" y="4809744"/>
            <a:ext cx="256032" cy="256032"/>
          </a:xfrm>
          <a:prstGeom prst="roundRect">
            <a:avLst>
              <a:gd name="adj" fmla="val 25000"/>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3154680" y="4608576"/>
            <a:ext cx="256032" cy="457200"/>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502152" y="4407408"/>
            <a:ext cx="256032" cy="658368"/>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32888" y="5120640"/>
            <a:ext cx="1499616" cy="320040"/>
          </a:xfrm>
          <a:prstGeom prst="rect">
            <a:avLst/>
          </a:prstGeom>
          <a:noFill/>
        </p:spPr>
        <p:txBody>
          <a:bodyPr wrap="none">
            <a:spAutoFit/>
          </a:bodyPr>
          <a:lstStyle/>
          <a:p>
            <a:pPr algn="ctr"/>
            <a:r>
              <a:rPr sz="1400" b="1"/>
              <a:t>Easy</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Lab 2: ~50 Minutes</a:t>
            </a:r>
          </a:p>
        </p:txBody>
      </p:sp>
      <p:sp>
        <p:nvSpPr>
          <p:cNvPr id="3" name="Content Placeholder 2"/>
          <p:cNvSpPr>
            <a:spLocks noGrp="1"/>
          </p:cNvSpPr>
          <p:nvPr>
            <p:ph idx="1"/>
          </p:nvPr>
        </p:nvSpPr>
        <p:spPr>
          <a:xfrm>
            <a:off x="612648" y="1920240"/>
            <a:ext cx="10966704" cy="4617720"/>
          </a:xfrm>
        </p:spPr>
        <p:txBody>
          <a:bodyPr wrap="square"/>
          <a:lstStyle/>
          <a:p>
            <a:pPr marL="0" indent="0">
              <a:buNone/>
            </a:pPr>
            <a:r>
              <a:rPr sz="3600" dirty="0"/>
              <a:t>⭐ Recommended: </a:t>
            </a:r>
            <a:endParaRPr lang="en-US" sz="3600" dirty="0"/>
          </a:p>
          <a:p>
            <a:pPr marL="0" indent="0">
              <a:buNone/>
            </a:pPr>
            <a:r>
              <a:rPr sz="3600" b="1" dirty="0"/>
              <a:t>F04 Semantic Search</a:t>
            </a:r>
            <a:endParaRPr lang="en-US" sz="3600" b="1" dirty="0"/>
          </a:p>
          <a:p>
            <a:pPr marL="0" indent="0">
              <a:buNone/>
            </a:pPr>
            <a:endParaRPr sz="3600" b="1" dirty="0"/>
          </a:p>
          <a:p>
            <a:pPr marL="0" indent="0">
              <a:buNone/>
            </a:pPr>
            <a:r>
              <a:rPr sz="3600" dirty="0"/>
              <a:t>⛰️ Challenge: </a:t>
            </a:r>
            <a:endParaRPr lang="en-US" sz="3600" dirty="0"/>
          </a:p>
          <a:p>
            <a:pPr marL="0" indent="0">
              <a:buNone/>
            </a:pPr>
            <a:r>
              <a:rPr sz="3600" b="1" dirty="0"/>
              <a:t>F05 RAG</a:t>
            </a:r>
            <a:r>
              <a:rPr sz="3600" dirty="0"/>
              <a:t> (☁️ room key) · </a:t>
            </a:r>
            <a:r>
              <a:rPr sz="3600" b="1" dirty="0"/>
              <a:t>F06 Recommendations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Lab 2: Debrief</a:t>
            </a:r>
          </a:p>
        </p:txBody>
      </p:sp>
      <p:sp>
        <p:nvSpPr>
          <p:cNvPr id="3" name="Content Placeholder 2"/>
          <p:cNvSpPr>
            <a:spLocks noGrp="1"/>
          </p:cNvSpPr>
          <p:nvPr>
            <p:ph idx="1"/>
          </p:nvPr>
        </p:nvSpPr>
        <p:spPr>
          <a:xfrm>
            <a:off x="612648" y="1920240"/>
            <a:ext cx="10966704" cy="4617720"/>
          </a:xfrm>
        </p:spPr>
        <p:txBody>
          <a:bodyPr wrap="square"/>
          <a:lstStyle/>
          <a:p>
            <a:endParaRPr dirty="0"/>
          </a:p>
          <a:p>
            <a:r>
              <a:rPr sz="2800" dirty="0"/>
              <a:t>How'd it go?			  Observations?			        Questions?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2 · Search, every query</a:t>
            </a:r>
          </a:p>
        </p:txBody>
      </p:sp>
      <p:sp>
        <p:nvSpPr>
          <p:cNvPr id="102"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3" name="Graphic 2" descr="Single gear outline"/>
          <p:cNvGrpSpPr/>
          <p:nvPr/>
        </p:nvGrpSpPr>
        <p:grpSpPr>
          <a:xfrm>
            <a:off x="5738021" y="3331981"/>
            <a:ext cx="648652" cy="647861"/>
            <a:chOff x="5772150" y="3332061"/>
            <a:chExt cx="648652" cy="647861"/>
          </a:xfrm>
          <a:noFill/>
        </p:grpSpPr>
        <p:sp>
          <p:nvSpPr>
            <p:cNvPr id="104"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05"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06"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grpSp>
        <p:nvGrpSpPr>
          <p:cNvPr id="107" name="Graphic 62" descr="Artificial Intelligence outline"/>
          <p:cNvGrpSpPr/>
          <p:nvPr/>
        </p:nvGrpSpPr>
        <p:grpSpPr>
          <a:xfrm>
            <a:off x="9309806" y="1906534"/>
            <a:ext cx="647797" cy="768143"/>
            <a:chOff x="6096473" y="4106117"/>
            <a:chExt cx="647797" cy="768143"/>
          </a:xfrm>
          <a:noFill/>
        </p:grpSpPr>
        <p:sp>
          <p:nvSpPr>
            <p:cNvPr id="108"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09"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0"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1"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2"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13" name="App-Model"/>
          <p:cNvCxnSpPr/>
          <p:nvPr/>
        </p:nvCxnSpPr>
        <p:spPr>
          <a:xfrm flipV="1">
            <a:off x="7440610" y="2513045"/>
            <a:ext cx="1775406" cy="498503"/>
          </a:xfrm>
          <a:prstGeom prst="straightConnector1">
            <a:avLst/>
          </a:prstGeom>
          <a:ln w="28575">
            <a:solidFill>
              <a:srgbClr val="000000"/>
            </a:solidFill>
            <a:headEnd type="triangle"/>
            <a:tailEnd type="triangle"/>
          </a:ln>
        </p:spPr>
      </p:cxnSp>
      <p:cxnSp>
        <p:nvCxnSpPr>
          <p:cNvPr id="115" name="App-Store"/>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14"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16"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17"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18"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1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User Search</a:t>
            </a:r>
          </a:p>
        </p:txBody>
      </p:sp>
      <p:cxnSp>
        <p:nvCxnSpPr>
          <p:cNvPr id="120" name="User-App"/>
          <p:cNvCxnSpPr/>
          <p:nvPr/>
        </p:nvCxnSpPr>
        <p:spPr>
          <a:xfrm>
            <a:off x="2331720" y="3655911"/>
            <a:ext cx="2437190" cy="0"/>
          </a:xfrm>
          <a:prstGeom prst="straightConnector1">
            <a:avLst/>
          </a:prstGeom>
          <a:ln w="28575">
            <a:solidFill>
              <a:srgbClr val="000000"/>
            </a:solidFill>
            <a:headEnd type="triangle"/>
            <a:tailEnd type="triangle"/>
          </a:ln>
        </p:spPr>
      </p:cxnSp>
      <p:sp>
        <p:nvSpPr>
          <p:cNvPr id="121" name="Query"/>
          <p:cNvSpPr txBox="1"/>
          <p:nvPr/>
        </p:nvSpPr>
        <p:spPr>
          <a:xfrm>
            <a:off x="2423160" y="3152991"/>
            <a:ext cx="228600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"dog-friendly waterfall</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hike, not too steep"</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2 · Search, every query</a:t>
            </a:r>
          </a:p>
        </p:txBody>
      </p:sp>
      <p:sp>
        <p:nvSpPr>
          <p:cNvPr id="102"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3" name="Graphic 2" descr="Single gear outline"/>
          <p:cNvGrpSpPr/>
          <p:nvPr/>
        </p:nvGrpSpPr>
        <p:grpSpPr>
          <a:xfrm>
            <a:off x="5738021" y="3331981"/>
            <a:ext cx="648652" cy="647861"/>
            <a:chOff x="5772150" y="3332061"/>
            <a:chExt cx="648652" cy="647861"/>
          </a:xfrm>
          <a:noFill/>
        </p:grpSpPr>
        <p:sp>
          <p:nvSpPr>
            <p:cNvPr id="104"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05"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06"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grpSp>
        <p:nvGrpSpPr>
          <p:cNvPr id="107" name="Graphic 62" descr="Artificial Intelligence outline"/>
          <p:cNvGrpSpPr/>
          <p:nvPr/>
        </p:nvGrpSpPr>
        <p:grpSpPr>
          <a:xfrm>
            <a:off x="9309806" y="1906534"/>
            <a:ext cx="647797" cy="768143"/>
            <a:chOff x="6096473" y="4106117"/>
            <a:chExt cx="647797" cy="768143"/>
          </a:xfrm>
          <a:noFill/>
        </p:grpSpPr>
        <p:sp>
          <p:nvSpPr>
            <p:cNvPr id="108"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09"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0"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1"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2"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13" name="App-Model"/>
          <p:cNvCxnSpPr/>
          <p:nvPr/>
        </p:nvCxnSpPr>
        <p:spPr>
          <a:xfrm flipV="1">
            <a:off x="7440610" y="2513045"/>
            <a:ext cx="1775406" cy="498503"/>
          </a:xfrm>
          <a:prstGeom prst="straightConnector1">
            <a:avLst/>
          </a:prstGeom>
          <a:ln w="28575">
            <a:solidFill>
              <a:srgbClr val="000000"/>
            </a:solidFill>
            <a:headEnd type="triangle"/>
            <a:tailEnd type="triangle"/>
          </a:ln>
        </p:spPr>
      </p:cxnSp>
      <p:cxnSp>
        <p:nvCxnSpPr>
          <p:cNvPr id="115" name="App-Store"/>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14"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16"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17"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18"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1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User Search</a:t>
            </a:r>
          </a:p>
        </p:txBody>
      </p:sp>
      <p:cxnSp>
        <p:nvCxnSpPr>
          <p:cNvPr id="120" name="User-App"/>
          <p:cNvCxnSpPr/>
          <p:nvPr/>
        </p:nvCxnSpPr>
        <p:spPr>
          <a:xfrm>
            <a:off x="2331720" y="3655911"/>
            <a:ext cx="2437190" cy="0"/>
          </a:xfrm>
          <a:prstGeom prst="straightConnector1">
            <a:avLst/>
          </a:prstGeom>
          <a:ln w="28575">
            <a:solidFill>
              <a:srgbClr val="000000"/>
            </a:solidFill>
            <a:headEnd type="triangle"/>
            <a:tailEnd type="triangle"/>
          </a:ln>
        </p:spPr>
      </p:cxnSp>
      <p:sp>
        <p:nvSpPr>
          <p:cNvPr id="121" name="Query"/>
          <p:cNvSpPr txBox="1"/>
          <p:nvPr/>
        </p:nvSpPr>
        <p:spPr>
          <a:xfrm>
            <a:off x="2423160" y="3152991"/>
            <a:ext cx="228600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"dog-friendly waterfall</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hike, not too steep"</a:t>
            </a:r>
          </a:p>
        </p:txBody>
      </p:sp>
      <p:sp>
        <p:nvSpPr>
          <p:cNvPr id="122" name="Request 2"/>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the query</a:t>
            </a:r>
          </a:p>
        </p:txBody>
      </p:sp>
      <p:sp>
        <p:nvSpPr>
          <p:cNvPr id="123" name="Reply 2"/>
          <p:cNvSpPr txBox="1"/>
          <p:nvPr/>
        </p:nvSpPr>
        <p:spPr>
          <a:xfrm>
            <a:off x="7388352" y="3154680"/>
            <a:ext cx="173736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[768 numbers]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2 · Search, every query</a:t>
            </a:r>
          </a:p>
        </p:txBody>
      </p:sp>
      <p:sp>
        <p:nvSpPr>
          <p:cNvPr id="102"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3" name="Graphic 2" descr="Single gear outline"/>
          <p:cNvGrpSpPr/>
          <p:nvPr/>
        </p:nvGrpSpPr>
        <p:grpSpPr>
          <a:xfrm>
            <a:off x="5738021" y="3331981"/>
            <a:ext cx="648652" cy="647861"/>
            <a:chOff x="5772150" y="3332061"/>
            <a:chExt cx="648652" cy="647861"/>
          </a:xfrm>
          <a:noFill/>
        </p:grpSpPr>
        <p:sp>
          <p:nvSpPr>
            <p:cNvPr id="104"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05"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06"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grpSp>
        <p:nvGrpSpPr>
          <p:cNvPr id="107" name="Graphic 62" descr="Artificial Intelligence outline"/>
          <p:cNvGrpSpPr/>
          <p:nvPr/>
        </p:nvGrpSpPr>
        <p:grpSpPr>
          <a:xfrm>
            <a:off x="9309806" y="1906534"/>
            <a:ext cx="647797" cy="768143"/>
            <a:chOff x="6096473" y="4106117"/>
            <a:chExt cx="647797" cy="768143"/>
          </a:xfrm>
          <a:noFill/>
        </p:grpSpPr>
        <p:sp>
          <p:nvSpPr>
            <p:cNvPr id="108"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09"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0"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1"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2"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13" name="App-Model"/>
          <p:cNvCxnSpPr/>
          <p:nvPr/>
        </p:nvCxnSpPr>
        <p:spPr>
          <a:xfrm flipV="1">
            <a:off x="7440610" y="2513045"/>
            <a:ext cx="1775406" cy="498503"/>
          </a:xfrm>
          <a:prstGeom prst="straightConnector1">
            <a:avLst/>
          </a:prstGeom>
          <a:ln w="28575">
            <a:solidFill>
              <a:srgbClr val="000000"/>
            </a:solidFill>
            <a:headEnd type="triangle"/>
            <a:tailEnd type="triangle"/>
          </a:ln>
        </p:spPr>
      </p:cxnSp>
      <p:cxnSp>
        <p:nvCxnSpPr>
          <p:cNvPr id="115" name="App-Store"/>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14"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16"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17"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18"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1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User Search</a:t>
            </a:r>
          </a:p>
        </p:txBody>
      </p:sp>
      <p:cxnSp>
        <p:nvCxnSpPr>
          <p:cNvPr id="120" name="User-App"/>
          <p:cNvCxnSpPr/>
          <p:nvPr/>
        </p:nvCxnSpPr>
        <p:spPr>
          <a:xfrm>
            <a:off x="2331720" y="3655911"/>
            <a:ext cx="2437190" cy="0"/>
          </a:xfrm>
          <a:prstGeom prst="straightConnector1">
            <a:avLst/>
          </a:prstGeom>
          <a:ln w="28575">
            <a:solidFill>
              <a:srgbClr val="000000"/>
            </a:solidFill>
            <a:headEnd type="triangle"/>
            <a:tailEnd type="triangle"/>
          </a:ln>
        </p:spPr>
      </p:cxnSp>
      <p:sp>
        <p:nvSpPr>
          <p:cNvPr id="121" name="Query"/>
          <p:cNvSpPr txBox="1"/>
          <p:nvPr/>
        </p:nvSpPr>
        <p:spPr>
          <a:xfrm>
            <a:off x="2423160" y="3152991"/>
            <a:ext cx="228600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"dog-friendly waterfall</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hike, not too steep"</a:t>
            </a:r>
          </a:p>
        </p:txBody>
      </p:sp>
      <p:sp>
        <p:nvSpPr>
          <p:cNvPr id="122" name="Request 2"/>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the query</a:t>
            </a:r>
          </a:p>
        </p:txBody>
      </p:sp>
      <p:sp>
        <p:nvSpPr>
          <p:cNvPr id="123" name="Reply 2"/>
          <p:cNvSpPr txBox="1"/>
          <p:nvPr/>
        </p:nvSpPr>
        <p:spPr>
          <a:xfrm>
            <a:off x="7388352" y="3154680"/>
            <a:ext cx="173736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[768 numbers]</a:t>
            </a:r>
          </a:p>
        </p:txBody>
      </p:sp>
      <p:sp>
        <p:nvSpPr>
          <p:cNvPr id="124" name="Cosine"/>
          <p:cNvSpPr txBox="1"/>
          <p:nvPr/>
        </p:nvSpPr>
        <p:spPr>
          <a:xfrm>
            <a:off x="4878638" y="4072402"/>
            <a:ext cx="2367419" cy="320040"/>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cosine(q, v) ×30</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2 · Search, every query</a:t>
            </a:r>
          </a:p>
        </p:txBody>
      </p:sp>
      <p:sp>
        <p:nvSpPr>
          <p:cNvPr id="102"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3" name="Graphic 2" descr="Single gear outline"/>
          <p:cNvGrpSpPr/>
          <p:nvPr/>
        </p:nvGrpSpPr>
        <p:grpSpPr>
          <a:xfrm>
            <a:off x="5738021" y="3331981"/>
            <a:ext cx="648652" cy="647861"/>
            <a:chOff x="5772150" y="3332061"/>
            <a:chExt cx="648652" cy="647861"/>
          </a:xfrm>
          <a:noFill/>
        </p:grpSpPr>
        <p:sp>
          <p:nvSpPr>
            <p:cNvPr id="104"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05"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06"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grpSp>
        <p:nvGrpSpPr>
          <p:cNvPr id="107" name="Graphic 62" descr="Artificial Intelligence outline"/>
          <p:cNvGrpSpPr/>
          <p:nvPr/>
        </p:nvGrpSpPr>
        <p:grpSpPr>
          <a:xfrm>
            <a:off x="9309806" y="1906534"/>
            <a:ext cx="647797" cy="768143"/>
            <a:chOff x="6096473" y="4106117"/>
            <a:chExt cx="647797" cy="768143"/>
          </a:xfrm>
          <a:noFill/>
        </p:grpSpPr>
        <p:sp>
          <p:nvSpPr>
            <p:cNvPr id="108"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09"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0"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1"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2"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13" name="App-Model"/>
          <p:cNvCxnSpPr/>
          <p:nvPr/>
        </p:nvCxnSpPr>
        <p:spPr>
          <a:xfrm flipV="1">
            <a:off x="7440610" y="2513045"/>
            <a:ext cx="1775406" cy="498503"/>
          </a:xfrm>
          <a:prstGeom prst="straightConnector1">
            <a:avLst/>
          </a:prstGeom>
          <a:ln w="28575">
            <a:solidFill>
              <a:srgbClr val="000000"/>
            </a:solidFill>
            <a:headEnd type="triangle"/>
            <a:tailEnd type="triangle"/>
          </a:ln>
        </p:spPr>
      </p:cxnSp>
      <p:cxnSp>
        <p:nvCxnSpPr>
          <p:cNvPr id="115" name="App-Store"/>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14"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16"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17"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18"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1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User Search</a:t>
            </a:r>
          </a:p>
        </p:txBody>
      </p:sp>
      <p:cxnSp>
        <p:nvCxnSpPr>
          <p:cNvPr id="120" name="User-App"/>
          <p:cNvCxnSpPr/>
          <p:nvPr/>
        </p:nvCxnSpPr>
        <p:spPr>
          <a:xfrm>
            <a:off x="2331720" y="3655911"/>
            <a:ext cx="2437190" cy="0"/>
          </a:xfrm>
          <a:prstGeom prst="straightConnector1">
            <a:avLst/>
          </a:prstGeom>
          <a:ln w="28575">
            <a:solidFill>
              <a:srgbClr val="000000"/>
            </a:solidFill>
            <a:headEnd type="triangle"/>
            <a:tailEnd type="triangle"/>
          </a:ln>
        </p:spPr>
      </p:cxnSp>
      <p:sp>
        <p:nvSpPr>
          <p:cNvPr id="121" name="Query"/>
          <p:cNvSpPr txBox="1"/>
          <p:nvPr/>
        </p:nvSpPr>
        <p:spPr>
          <a:xfrm>
            <a:off x="2423160" y="3152991"/>
            <a:ext cx="228600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"dog-friendly waterfall</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hike, not too steep"</a:t>
            </a:r>
          </a:p>
        </p:txBody>
      </p:sp>
      <p:sp>
        <p:nvSpPr>
          <p:cNvPr id="122" name="Request 2"/>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the query</a:t>
            </a:r>
          </a:p>
        </p:txBody>
      </p:sp>
      <p:sp>
        <p:nvSpPr>
          <p:cNvPr id="123" name="Reply 2"/>
          <p:cNvSpPr txBox="1"/>
          <p:nvPr/>
        </p:nvSpPr>
        <p:spPr>
          <a:xfrm>
            <a:off x="7388352" y="3154680"/>
            <a:ext cx="173736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[768 numbers]</a:t>
            </a:r>
          </a:p>
        </p:txBody>
      </p:sp>
      <p:sp>
        <p:nvSpPr>
          <p:cNvPr id="124" name="Cosine"/>
          <p:cNvSpPr txBox="1"/>
          <p:nvPr/>
        </p:nvSpPr>
        <p:spPr>
          <a:xfrm>
            <a:off x="4878638" y="4072402"/>
            <a:ext cx="2367419" cy="320040"/>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cosine(q, v) ×30</a:t>
            </a:r>
          </a:p>
        </p:txBody>
      </p:sp>
      <p:sp>
        <p:nvSpPr>
          <p:cNvPr id="125" name="Results"/>
          <p:cNvSpPr txBox="1"/>
          <p:nvPr/>
        </p:nvSpPr>
        <p:spPr>
          <a:xfrm>
            <a:off x="2651760" y="3793071"/>
            <a:ext cx="2148840" cy="6400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0.77 Carlon Falls</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0.73 Copeland Falls</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0.73 Grotto Falls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101"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02"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03"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04"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Visitor</a:t>
            </a:r>
          </a:p>
        </p:txBody>
      </p:sp>
      <p:cxnSp>
        <p:nvCxnSpPr>
          <p:cNvPr id="105"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06"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"Can I have a campfire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at Sperry in September?"</a:t>
            </a:r>
          </a:p>
        </p:txBody>
      </p:sp>
      <p:sp>
        <p:nvSpPr>
          <p:cNvPr id="107"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8" name="Graphic 2" descr="Single gear outline"/>
          <p:cNvGrpSpPr/>
          <p:nvPr/>
        </p:nvGrpSpPr>
        <p:grpSpPr>
          <a:xfrm>
            <a:off x="5738021" y="2728234"/>
            <a:ext cx="648652" cy="647861"/>
            <a:chOff x="5772150" y="3332061"/>
            <a:chExt cx="648652" cy="647861"/>
          </a:xfrm>
          <a:noFill/>
        </p:grpSpPr>
        <p:sp>
          <p:nvSpPr>
            <p:cNvPr id="109"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0"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1"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2"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Park</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Doc</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Chunks</a:t>
            </a:r>
          </a:p>
        </p:txBody>
      </p:sp>
      <p:sp>
        <p:nvSpPr>
          <p:cNvPr id="113"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text, vector} ×250</a:t>
            </a:r>
          </a:p>
        </p:txBody>
      </p:sp>
      <p:grpSp>
        <p:nvGrpSpPr>
          <p:cNvPr id="114" name="Graphic 62" descr="Artificial Intelligence outline"/>
          <p:cNvGrpSpPr/>
          <p:nvPr/>
        </p:nvGrpSpPr>
        <p:grpSpPr>
          <a:xfrm>
            <a:off x="9309806" y="1906534"/>
            <a:ext cx="647797" cy="768143"/>
            <a:chOff x="6096473" y="4106117"/>
            <a:chExt cx="647797" cy="768143"/>
          </a:xfrm>
          <a:noFill/>
        </p:grpSpPr>
        <p:sp>
          <p:nvSpPr>
            <p:cNvPr id="115"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16"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7"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8"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9"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20" name="App-Model"/>
          <p:cNvCxnSpPr/>
          <p:nvPr/>
        </p:nvCxnSpPr>
        <p:spPr>
          <a:xfrm flipV="1">
            <a:off x="7440610" y="2513045"/>
            <a:ext cx="1775406" cy="498503"/>
          </a:xfrm>
          <a:prstGeom prst="straightConnector1">
            <a:avLst/>
          </a:prstGeom>
          <a:ln w="28575">
            <a:solidFill>
              <a:srgbClr val="000000"/>
            </a:solidFill>
            <a:headEnd type="triangle"/>
            <a:tailEnd type="triangle"/>
          </a:ln>
        </p:spPr>
      </p:cxnSp>
      <p:sp>
        <p:nvSpPr>
          <p:cNvPr id="121" name="Request"/>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the question</a:t>
            </a:r>
          </a:p>
        </p:txBody>
      </p:sp>
      <p:sp>
        <p:nvSpPr>
          <p:cNvPr id="122" name="Reply"/>
          <p:cNvSpPr txBox="1"/>
          <p:nvPr/>
        </p:nvSpPr>
        <p:spPr>
          <a:xfrm>
            <a:off x="7388352" y="3154680"/>
            <a:ext cx="173736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[768 numbers]</a:t>
            </a:r>
          </a:p>
        </p:txBody>
      </p:sp>
      <p:cxnSp>
        <p:nvCxnSpPr>
          <p:cNvPr id="123" name="App-LowRight"/>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24" name="App line 0"/>
          <p:cNvSpPr txBox="1"/>
          <p:nvPr/>
        </p:nvSpPr>
        <p:spPr>
          <a:xfrm>
            <a:off x="4878638" y="3660922"/>
            <a:ext cx="2367419" cy="301752"/>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cosine → top 3</a:t>
            </a:r>
          </a:p>
        </p:txBody>
      </p:sp>
      <p:sp>
        <p:nvSpPr>
          <p:cNvPr id="125" name="Top 3"/>
          <p:cNvSpPr txBox="1"/>
          <p:nvPr/>
        </p:nvSpPr>
        <p:spPr>
          <a:xfrm>
            <a:off x="6903720" y="4956048"/>
            <a:ext cx="2331720" cy="502920"/>
          </a:xfrm>
          <a:prstGeom prst="rect">
            <a:avLst/>
          </a:prstGeom>
          <a:noFill/>
        </p:spPr>
        <p:txBody>
          <a:bodyPr wrap="square" lIns="0" tIns="0" rIns="0" bIns="0" anchor="t">
            <a:noAutofit/>
          </a:bodyPr>
          <a:lstStyle/>
          <a:p>
            <a:pPr algn="l">
              <a:lnSpc>
                <a:spcPct val="90000"/>
              </a:lnSpc>
            </a:pPr>
            <a:r>
              <a:rPr lang="en-US" sz="1000" dirty="0">
                <a:solidFill>
                  <a:srgbClr val="000000"/>
                </a:solidFill>
                <a:latin typeface="Consolas" panose="020B0609020204030204" pitchFamily="49" charset="0"/>
                <a:cs typeface="Consolas" panose="020B0609020204030204" pitchFamily="49" charset="0"/>
              </a:rPr>
              <a:t>camping-guide:04.2  0.74</a:t>
            </a:r>
          </a:p>
          <a:p>
            <a:pPr algn="l">
              <a:lnSpc>
                <a:spcPct val="90000"/>
              </a:lnSpc>
            </a:pPr>
            <a:r>
              <a:rPr lang="en-US" sz="1000" dirty="0">
                <a:solidFill>
                  <a:srgbClr val="000000"/>
                </a:solidFill>
                <a:latin typeface="Consolas" panose="020B0609020204030204" pitchFamily="49" charset="0"/>
                <a:cs typeface="Consolas" panose="020B0609020204030204" pitchFamily="49" charset="0"/>
              </a:rPr>
              <a:t>frontcountry:04.1-2 0.69</a:t>
            </a:r>
          </a:p>
          <a:p>
            <a:pPr algn="l">
              <a:lnSpc>
                <a:spcPct val="90000"/>
              </a:lnSpc>
            </a:pPr>
            <a:r>
              <a:rPr lang="en-US" sz="1000" dirty="0">
                <a:solidFill>
                  <a:srgbClr val="000000"/>
                </a:solidFill>
                <a:latin typeface="Consolas" panose="020B0609020204030204" pitchFamily="49" charset="0"/>
                <a:cs typeface="Consolas" panose="020B0609020204030204" pitchFamily="49" charset="0"/>
              </a:rPr>
              <a:t>yosemite-fire:03    0.68</a:t>
            </a:r>
          </a:p>
        </p:txBody>
      </p:sp>
      <p:grpSp>
        <p:nvGrpSpPr>
          <p:cNvPr id="126" name="Graphic 62" descr="Artificial Intelligence outline"/>
          <p:cNvGrpSpPr/>
          <p:nvPr/>
        </p:nvGrpSpPr>
        <p:grpSpPr>
          <a:xfrm>
            <a:off x="1413462" y="1783080"/>
            <a:ext cx="647797" cy="768143"/>
            <a:chOff x="6096473" y="4106117"/>
            <a:chExt cx="647797" cy="768143"/>
          </a:xfrm>
          <a:noFill/>
        </p:grpSpPr>
        <p:sp>
          <p:nvSpPr>
            <p:cNvPr id="127"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28"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29"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30"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31" name="LLM label"/>
          <p:cNvSpPr txBox="1"/>
          <p:nvPr/>
        </p:nvSpPr>
        <p:spPr>
          <a:xfrm>
            <a:off x="868680" y="2569511"/>
            <a:ext cx="1737360" cy="548640"/>
          </a:xfrm>
          <a:prstGeom prst="rect">
            <a:avLst/>
          </a:prstGeom>
          <a:noFill/>
        </p:spPr>
        <p:txBody>
          <a:bodyPr wrap="square" lIns="0" tIns="0" rIns="0" bIns="0" anchor="t">
            <a:noAutofit/>
          </a:bodyPr>
          <a:lstStyle/>
          <a:p>
            <a:pPr algn="ctr">
              <a:lnSpc>
                <a:spcPct val="90000"/>
              </a:lnSpc>
            </a:pPr>
            <a:r>
              <a:rPr lang="en-US" sz="1600" dirty="0">
                <a:solidFill>
                  <a:srgbClr val="000000"/>
                </a:solidFill>
                <a:latin typeface="Ink Free" panose="03080402000500000000" pitchFamily="66" charset="0"/>
              </a:rPr>
              <a:t>Ollama llama3.2</a:t>
            </a:r>
          </a:p>
        </p:txBody>
      </p:sp>
      <p:cxnSp>
        <p:nvCxnSpPr>
          <p:cNvPr id="132" name="App-LLM"/>
          <p:cNvCxnSpPr/>
          <p:nvPr/>
        </p:nvCxnSpPr>
        <p:spPr>
          <a:xfrm flipH="1" flipV="1">
            <a:off x="2170987" y="2240280"/>
            <a:ext cx="2597923" cy="506242"/>
          </a:xfrm>
          <a:prstGeom prst="straightConnector1">
            <a:avLst/>
          </a:prstGeom>
          <a:ln w="28575">
            <a:solidFill>
              <a:srgbClr val="000000"/>
            </a:solidFill>
            <a:headEnd type="triangle"/>
            <a:tailEnd type="triangle"/>
          </a:ln>
        </p:spPr>
      </p:cxnSp>
      <p:sp>
        <p:nvSpPr>
          <p:cNvPr id="133" name="LLM request"/>
          <p:cNvSpPr txBox="1"/>
          <p:nvPr/>
        </p:nvSpPr>
        <p:spPr>
          <a:xfrm>
            <a:off x="2514600" y="1847088"/>
            <a:ext cx="22860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top 3 chunks + question</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101"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02"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03"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04"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Visitor</a:t>
            </a:r>
          </a:p>
        </p:txBody>
      </p:sp>
      <p:cxnSp>
        <p:nvCxnSpPr>
          <p:cNvPr id="105"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06"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"Can I have a campfire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at Sperry in September?"</a:t>
            </a:r>
          </a:p>
        </p:txBody>
      </p:sp>
      <p:sp>
        <p:nvSpPr>
          <p:cNvPr id="107"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8" name="Graphic 2" descr="Single gear outline"/>
          <p:cNvGrpSpPr/>
          <p:nvPr/>
        </p:nvGrpSpPr>
        <p:grpSpPr>
          <a:xfrm>
            <a:off x="5738021" y="2728234"/>
            <a:ext cx="648652" cy="647861"/>
            <a:chOff x="5772150" y="3332061"/>
            <a:chExt cx="648652" cy="647861"/>
          </a:xfrm>
          <a:noFill/>
        </p:grpSpPr>
        <p:sp>
          <p:nvSpPr>
            <p:cNvPr id="109"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0"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1"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2"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Park</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Doc</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Chunks</a:t>
            </a:r>
          </a:p>
        </p:txBody>
      </p:sp>
      <p:sp>
        <p:nvSpPr>
          <p:cNvPr id="113"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text, vector} ×250</a:t>
            </a:r>
          </a:p>
        </p:txBody>
      </p:sp>
      <p:grpSp>
        <p:nvGrpSpPr>
          <p:cNvPr id="114" name="Graphic 62" descr="Artificial Intelligence outline"/>
          <p:cNvGrpSpPr/>
          <p:nvPr/>
        </p:nvGrpSpPr>
        <p:grpSpPr>
          <a:xfrm>
            <a:off x="9309806" y="1906534"/>
            <a:ext cx="647797" cy="768143"/>
            <a:chOff x="6096473" y="4106117"/>
            <a:chExt cx="647797" cy="768143"/>
          </a:xfrm>
          <a:noFill/>
        </p:grpSpPr>
        <p:sp>
          <p:nvSpPr>
            <p:cNvPr id="115"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16"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7"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8"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9"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20" name="App-Model"/>
          <p:cNvCxnSpPr/>
          <p:nvPr/>
        </p:nvCxnSpPr>
        <p:spPr>
          <a:xfrm flipV="1">
            <a:off x="7440610" y="2513045"/>
            <a:ext cx="1775406" cy="498503"/>
          </a:xfrm>
          <a:prstGeom prst="straightConnector1">
            <a:avLst/>
          </a:prstGeom>
          <a:ln w="28575">
            <a:solidFill>
              <a:srgbClr val="000000"/>
            </a:solidFill>
            <a:headEnd type="triangle"/>
            <a:tailEnd type="triangle"/>
          </a:ln>
        </p:spPr>
      </p:cxnSp>
      <p:sp>
        <p:nvSpPr>
          <p:cNvPr id="121" name="Request"/>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the question</a:t>
            </a:r>
          </a:p>
        </p:txBody>
      </p:sp>
      <p:sp>
        <p:nvSpPr>
          <p:cNvPr id="122" name="Reply"/>
          <p:cNvSpPr txBox="1"/>
          <p:nvPr/>
        </p:nvSpPr>
        <p:spPr>
          <a:xfrm>
            <a:off x="7388352" y="3154680"/>
            <a:ext cx="173736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[768 numbers]</a:t>
            </a:r>
          </a:p>
        </p:txBody>
      </p:sp>
      <p:cxnSp>
        <p:nvCxnSpPr>
          <p:cNvPr id="123" name="App-LowRight"/>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24" name="App line 0"/>
          <p:cNvSpPr txBox="1"/>
          <p:nvPr/>
        </p:nvSpPr>
        <p:spPr>
          <a:xfrm>
            <a:off x="4878638" y="3660922"/>
            <a:ext cx="2367419" cy="301752"/>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cosine → top 3</a:t>
            </a:r>
          </a:p>
        </p:txBody>
      </p:sp>
      <p:sp>
        <p:nvSpPr>
          <p:cNvPr id="125" name="Top 3"/>
          <p:cNvSpPr txBox="1"/>
          <p:nvPr/>
        </p:nvSpPr>
        <p:spPr>
          <a:xfrm>
            <a:off x="6903720" y="4956048"/>
            <a:ext cx="2331720" cy="502920"/>
          </a:xfrm>
          <a:prstGeom prst="rect">
            <a:avLst/>
          </a:prstGeom>
          <a:noFill/>
        </p:spPr>
        <p:txBody>
          <a:bodyPr wrap="square" lIns="0" tIns="0" rIns="0" bIns="0" anchor="t">
            <a:noAutofit/>
          </a:bodyPr>
          <a:lstStyle/>
          <a:p>
            <a:pPr algn="l">
              <a:lnSpc>
                <a:spcPct val="90000"/>
              </a:lnSpc>
            </a:pPr>
            <a:r>
              <a:rPr lang="en-US" sz="1000" dirty="0">
                <a:solidFill>
                  <a:srgbClr val="000000"/>
                </a:solidFill>
                <a:latin typeface="Consolas" panose="020B0609020204030204" pitchFamily="49" charset="0"/>
                <a:cs typeface="Consolas" panose="020B0609020204030204" pitchFamily="49" charset="0"/>
              </a:rPr>
              <a:t>camping-guide:04.2  0.74</a:t>
            </a:r>
          </a:p>
          <a:p>
            <a:pPr algn="l">
              <a:lnSpc>
                <a:spcPct val="90000"/>
              </a:lnSpc>
            </a:pPr>
            <a:r>
              <a:rPr lang="en-US" sz="1000" dirty="0">
                <a:solidFill>
                  <a:srgbClr val="000000"/>
                </a:solidFill>
                <a:latin typeface="Consolas" panose="020B0609020204030204" pitchFamily="49" charset="0"/>
                <a:cs typeface="Consolas" panose="020B0609020204030204" pitchFamily="49" charset="0"/>
              </a:rPr>
              <a:t>frontcountry:04.1-2 0.69</a:t>
            </a:r>
          </a:p>
          <a:p>
            <a:pPr algn="l">
              <a:lnSpc>
                <a:spcPct val="90000"/>
              </a:lnSpc>
            </a:pPr>
            <a:r>
              <a:rPr lang="en-US" sz="1000" dirty="0">
                <a:solidFill>
                  <a:srgbClr val="000000"/>
                </a:solidFill>
                <a:latin typeface="Consolas" panose="020B0609020204030204" pitchFamily="49" charset="0"/>
                <a:cs typeface="Consolas" panose="020B0609020204030204" pitchFamily="49" charset="0"/>
              </a:rPr>
              <a:t>yosemite-fire:03    0.68</a:t>
            </a:r>
          </a:p>
        </p:txBody>
      </p:sp>
      <p:grpSp>
        <p:nvGrpSpPr>
          <p:cNvPr id="126" name="Graphic 62" descr="Artificial Intelligence outline"/>
          <p:cNvGrpSpPr/>
          <p:nvPr/>
        </p:nvGrpSpPr>
        <p:grpSpPr>
          <a:xfrm>
            <a:off x="1413462" y="1783080"/>
            <a:ext cx="647797" cy="768143"/>
            <a:chOff x="6096473" y="4106117"/>
            <a:chExt cx="647797" cy="768143"/>
          </a:xfrm>
          <a:noFill/>
        </p:grpSpPr>
        <p:sp>
          <p:nvSpPr>
            <p:cNvPr id="127"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28"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29"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30"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31" name="LLM label"/>
          <p:cNvSpPr txBox="1"/>
          <p:nvPr/>
        </p:nvSpPr>
        <p:spPr>
          <a:xfrm>
            <a:off x="868680" y="2569511"/>
            <a:ext cx="1737360" cy="548640"/>
          </a:xfrm>
          <a:prstGeom prst="rect">
            <a:avLst/>
          </a:prstGeom>
          <a:noFill/>
        </p:spPr>
        <p:txBody>
          <a:bodyPr wrap="square" lIns="0" tIns="0" rIns="0" bIns="0" anchor="t">
            <a:noAutofit/>
          </a:bodyPr>
          <a:lstStyle/>
          <a:p>
            <a:pPr algn="ctr">
              <a:lnSpc>
                <a:spcPct val="90000"/>
              </a:lnSpc>
            </a:pPr>
            <a:r>
              <a:rPr lang="en-US" sz="1600" dirty="0">
                <a:solidFill>
                  <a:srgbClr val="000000"/>
                </a:solidFill>
                <a:latin typeface="Ink Free" panose="03080402000500000000" pitchFamily="66" charset="0"/>
              </a:rPr>
              <a:t>Ollama llama3.2</a:t>
            </a:r>
          </a:p>
        </p:txBody>
      </p:sp>
      <p:cxnSp>
        <p:nvCxnSpPr>
          <p:cNvPr id="132" name="App-LLM"/>
          <p:cNvCxnSpPr/>
          <p:nvPr/>
        </p:nvCxnSpPr>
        <p:spPr>
          <a:xfrm flipH="1" flipV="1">
            <a:off x="2170987" y="2240280"/>
            <a:ext cx="2597923" cy="506242"/>
          </a:xfrm>
          <a:prstGeom prst="straightConnector1">
            <a:avLst/>
          </a:prstGeom>
          <a:ln w="28575">
            <a:solidFill>
              <a:srgbClr val="000000"/>
            </a:solidFill>
            <a:headEnd type="triangle"/>
            <a:tailEnd type="triangle"/>
          </a:ln>
        </p:spPr>
      </p:cxnSp>
      <p:sp>
        <p:nvSpPr>
          <p:cNvPr id="133" name="LLM request"/>
          <p:cNvSpPr txBox="1"/>
          <p:nvPr/>
        </p:nvSpPr>
        <p:spPr>
          <a:xfrm>
            <a:off x="2514600" y="1847088"/>
            <a:ext cx="22860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top 3 chunks + question</a:t>
            </a:r>
          </a:p>
        </p:txBody>
      </p:sp>
      <p:sp>
        <p:nvSpPr>
          <p:cNvPr id="134" name="App line 1"/>
          <p:cNvSpPr txBox="1"/>
          <p:nvPr/>
        </p:nvSpPr>
        <p:spPr>
          <a:xfrm>
            <a:off x="4878638" y="3962674"/>
            <a:ext cx="2367419" cy="301752"/>
          </a:xfrm>
          <a:prstGeom prst="rect">
            <a:avLst/>
          </a:prstGeom>
          <a:noFill/>
        </p:spPr>
        <p:txBody>
          <a:bodyPr wrap="square" lIns="0" tIns="0" rIns="0" bIns="0" anchor="t">
            <a:noAutofit/>
          </a:bodyPr>
          <a:lstStyle/>
          <a:p>
            <a:pPr algn="ctr">
              <a:lnSpc>
                <a:spcPct val="90000"/>
              </a:lnSpc>
            </a:pPr>
            <a:r>
              <a:rPr lang="en-US" sz="1300" dirty="0">
                <a:solidFill>
                  <a:srgbClr val="2E7D32"/>
                </a:solidFill>
                <a:latin typeface="Consolas" panose="020B0609020204030204" pitchFamily="49" charset="0"/>
                <a:cs typeface="Consolas" panose="020B0609020204030204" pitchFamily="49" charset="0"/>
              </a:rPr>
              <a:t>check citations ✓</a:t>
            </a:r>
          </a:p>
        </p:txBody>
      </p:sp>
      <p:sp>
        <p:nvSpPr>
          <p:cNvPr id="135" name="Left result"/>
          <p:cNvSpPr txBox="1"/>
          <p:nvPr/>
        </p:nvSpPr>
        <p:spPr>
          <a:xfrm>
            <a:off x="2651760" y="3793071"/>
            <a:ext cx="2148840" cy="68580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Wood fires prohibited</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year-round at Sperry.</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[camping-guide:04.2]</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How It Works</a:t>
            </a:r>
          </a:p>
        </p:txBody>
      </p:sp>
      <p:grpSp>
        <p:nvGrpSpPr>
          <p:cNvPr id="101" name="Graphic 24" descr="Web design outline"/>
          <p:cNvGrpSpPr/>
          <p:nvPr/>
        </p:nvGrpSpPr>
        <p:grpSpPr>
          <a:xfrm>
            <a:off x="1356360" y="3360636"/>
            <a:ext cx="762000" cy="590550"/>
            <a:chOff x="5715000" y="3133725"/>
            <a:chExt cx="762000" cy="590550"/>
          </a:xfrm>
          <a:noFill/>
        </p:grpSpPr>
        <p:sp>
          <p:nvSpPr>
            <p:cNvPr id="102" name="Freeform 26"/>
            <p:cNvSpPr/>
            <p:nvPr/>
          </p:nvSpPr>
          <p:spPr>
            <a:xfrm>
              <a:off x="5872981" y="3374640"/>
              <a:ext cx="115452" cy="203968"/>
            </a:xfrm>
            <a:custGeom>
              <a:avLst/>
              <a:gdLst>
                <a:gd name="csX0" fmla="*/ 101984 w 115452"/>
                <a:gd name="csY0" fmla="*/ 0 h 203968"/>
                <a:gd name="csX1" fmla="*/ 0 w 115452"/>
                <a:gd name="csY1" fmla="*/ 101984 h 203968"/>
                <a:gd name="csX2" fmla="*/ 101984 w 115452"/>
                <a:gd name="csY2" fmla="*/ 203968 h 203968"/>
                <a:gd name="csX3" fmla="*/ 115453 w 115452"/>
                <a:gd name="csY3" fmla="*/ 190500 h 203968"/>
                <a:gd name="csX4" fmla="*/ 26937 w 115452"/>
                <a:gd name="csY4" fmla="*/ 101984 h 203968"/>
                <a:gd name="csX5" fmla="*/ 115453 w 115452"/>
                <a:gd name="csY5" fmla="*/ 13468 h 203968"/>
                <a:gd name="csX6" fmla="*/ 101984 w 115452"/>
                <a:gd name="csY6" fmla="*/ 0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101984" y="0"/>
                  </a:moveTo>
                  <a:cubicBezTo>
                    <a:pt x="80469" y="29789"/>
                    <a:pt x="10671" y="68735"/>
                    <a:pt x="0" y="101984"/>
                  </a:cubicBezTo>
                  <a:cubicBezTo>
                    <a:pt x="35097" y="113800"/>
                    <a:pt x="52768" y="168720"/>
                    <a:pt x="101984" y="203968"/>
                  </a:cubicBezTo>
                  <a:cubicBezTo>
                    <a:pt x="106341" y="197468"/>
                    <a:pt x="111754" y="196900"/>
                    <a:pt x="115453" y="190500"/>
                  </a:cubicBezTo>
                  <a:cubicBezTo>
                    <a:pt x="86765" y="171738"/>
                    <a:pt x="72486" y="128597"/>
                    <a:pt x="26937" y="101984"/>
                  </a:cubicBezTo>
                  <a:cubicBezTo>
                    <a:pt x="56095" y="68628"/>
                    <a:pt x="87648" y="43689"/>
                    <a:pt x="115453" y="13468"/>
                  </a:cubicBezTo>
                  <a:cubicBezTo>
                    <a:pt x="110598" y="11500"/>
                    <a:pt x="108028" y="3862"/>
                    <a:pt x="101984" y="0"/>
                  </a:cubicBezTo>
                  <a:close/>
                </a:path>
                <a:path w="115452" h="203968" stroke="0" extrusionOk="0">
                  <a:moveTo>
                    <a:pt x="101984" y="0"/>
                  </a:moveTo>
                  <a:cubicBezTo>
                    <a:pt x="54666" y="49377"/>
                    <a:pt x="14242" y="66077"/>
                    <a:pt x="0" y="101984"/>
                  </a:cubicBezTo>
                  <a:cubicBezTo>
                    <a:pt x="50434" y="132521"/>
                    <a:pt x="69644" y="185088"/>
                    <a:pt x="101984" y="203968"/>
                  </a:cubicBezTo>
                  <a:cubicBezTo>
                    <a:pt x="106139" y="198738"/>
                    <a:pt x="111444" y="196583"/>
                    <a:pt x="115453" y="190500"/>
                  </a:cubicBezTo>
                  <a:cubicBezTo>
                    <a:pt x="76111" y="159672"/>
                    <a:pt x="70051" y="126332"/>
                    <a:pt x="26937" y="101984"/>
                  </a:cubicBezTo>
                  <a:cubicBezTo>
                    <a:pt x="50353" y="60681"/>
                    <a:pt x="104707" y="42634"/>
                    <a:pt x="115453" y="13468"/>
                  </a:cubicBezTo>
                  <a:cubicBezTo>
                    <a:pt x="111636" y="10467"/>
                    <a:pt x="107664" y="2756"/>
                    <a:pt x="101984"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101984 w 115452"/>
                        <a:gd name="connsiteY0" fmla="*/ 0 h 203968"/>
                        <a:gd name="connsiteX1" fmla="*/ 0 w 115452"/>
                        <a:gd name="connsiteY1" fmla="*/ 101984 h 203968"/>
                        <a:gd name="connsiteX2" fmla="*/ 101984 w 115452"/>
                        <a:gd name="connsiteY2" fmla="*/ 203968 h 203968"/>
                        <a:gd name="connsiteX3" fmla="*/ 115453 w 115452"/>
                        <a:gd name="connsiteY3" fmla="*/ 190500 h 203968"/>
                        <a:gd name="connsiteX4" fmla="*/ 26937 w 115452"/>
                        <a:gd name="connsiteY4" fmla="*/ 101984 h 203968"/>
                        <a:gd name="connsiteX5" fmla="*/ 115453 w 115452"/>
                        <a:gd name="connsiteY5" fmla="*/ 13468 h 203968"/>
                        <a:gd name="connsiteX6" fmla="*/ 101984 w 115452"/>
                        <a:gd name="connsiteY6" fmla="*/ 0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101984" y="0"/>
                          </a:moveTo>
                          <a:lnTo>
                            <a:pt x="0" y="101984"/>
                          </a:lnTo>
                          <a:lnTo>
                            <a:pt x="101984" y="203968"/>
                          </a:lnTo>
                          <a:lnTo>
                            <a:pt x="115453" y="190500"/>
                          </a:lnTo>
                          <a:lnTo>
                            <a:pt x="26937" y="101984"/>
                          </a:lnTo>
                          <a:lnTo>
                            <a:pt x="115453" y="13468"/>
                          </a:lnTo>
                          <a:lnTo>
                            <a:pt x="101984" y="0"/>
                          </a:lnTo>
                          <a:close/>
                        </a:path>
                      </a:pathLst>
                    </a:custGeom>
                    <ask:type>
                      <ask:lineSketchScribble/>
                    </ask:type>
                  </ask:lineSketchStyleProps>
                </a:ext>
              </a:extLst>
            </a:ln>
          </p:spPr>
          <p:txBody>
            <a:bodyPr rtlCol="0" anchor="ctr"/>
            <a:lstStyle/>
            <a:p>
              <a:endParaRPr lang="en-US"/>
            </a:p>
          </p:txBody>
        </p:sp>
        <p:sp>
          <p:nvSpPr>
            <p:cNvPr id="103" name="Freeform 27"/>
            <p:cNvSpPr/>
            <p:nvPr/>
          </p:nvSpPr>
          <p:spPr>
            <a:xfrm>
              <a:off x="6203565" y="3374640"/>
              <a:ext cx="115452" cy="203968"/>
            </a:xfrm>
            <a:custGeom>
              <a:avLst/>
              <a:gdLst>
                <a:gd name="csX0" fmla="*/ 0 w 115452"/>
                <a:gd name="csY0" fmla="*/ 13468 h 203968"/>
                <a:gd name="csX1" fmla="*/ 88516 w 115452"/>
                <a:gd name="csY1" fmla="*/ 101984 h 203968"/>
                <a:gd name="csX2" fmla="*/ 0 w 115452"/>
                <a:gd name="csY2" fmla="*/ 190500 h 203968"/>
                <a:gd name="csX3" fmla="*/ 13468 w 115452"/>
                <a:gd name="csY3" fmla="*/ 203968 h 203968"/>
                <a:gd name="csX4" fmla="*/ 115453 w 115452"/>
                <a:gd name="csY4" fmla="*/ 101984 h 203968"/>
                <a:gd name="csX5" fmla="*/ 13468 w 115452"/>
                <a:gd name="csY5" fmla="*/ 0 h 203968"/>
                <a:gd name="csX6" fmla="*/ 0 w 115452"/>
                <a:gd name="csY6" fmla="*/ 13468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0" y="13468"/>
                  </a:moveTo>
                  <a:cubicBezTo>
                    <a:pt x="28195" y="31658"/>
                    <a:pt x="62315" y="85716"/>
                    <a:pt x="88516" y="101984"/>
                  </a:cubicBezTo>
                  <a:cubicBezTo>
                    <a:pt x="58661" y="145296"/>
                    <a:pt x="33019" y="156066"/>
                    <a:pt x="0" y="190500"/>
                  </a:cubicBezTo>
                  <a:cubicBezTo>
                    <a:pt x="5261" y="193987"/>
                    <a:pt x="8997" y="201568"/>
                    <a:pt x="13468" y="203968"/>
                  </a:cubicBezTo>
                  <a:cubicBezTo>
                    <a:pt x="49805" y="148660"/>
                    <a:pt x="76016" y="150703"/>
                    <a:pt x="115453" y="101984"/>
                  </a:cubicBezTo>
                  <a:cubicBezTo>
                    <a:pt x="68851" y="78131"/>
                    <a:pt x="60248" y="25543"/>
                    <a:pt x="13468" y="0"/>
                  </a:cubicBezTo>
                  <a:cubicBezTo>
                    <a:pt x="7612" y="6684"/>
                    <a:pt x="4796" y="5981"/>
                    <a:pt x="0" y="13468"/>
                  </a:cubicBezTo>
                  <a:close/>
                </a:path>
                <a:path w="115452" h="203968" stroke="0" extrusionOk="0">
                  <a:moveTo>
                    <a:pt x="0" y="13468"/>
                  </a:moveTo>
                  <a:cubicBezTo>
                    <a:pt x="35903" y="44056"/>
                    <a:pt x="52973" y="84230"/>
                    <a:pt x="88516" y="101984"/>
                  </a:cubicBezTo>
                  <a:cubicBezTo>
                    <a:pt x="48291" y="147503"/>
                    <a:pt x="38948" y="145206"/>
                    <a:pt x="0" y="190500"/>
                  </a:cubicBezTo>
                  <a:cubicBezTo>
                    <a:pt x="4026" y="193879"/>
                    <a:pt x="5514" y="199242"/>
                    <a:pt x="13468" y="203968"/>
                  </a:cubicBezTo>
                  <a:cubicBezTo>
                    <a:pt x="29831" y="179468"/>
                    <a:pt x="77301" y="146098"/>
                    <a:pt x="115453" y="101984"/>
                  </a:cubicBezTo>
                  <a:cubicBezTo>
                    <a:pt x="80161" y="89125"/>
                    <a:pt x="66590" y="44761"/>
                    <a:pt x="13468" y="0"/>
                  </a:cubicBezTo>
                  <a:cubicBezTo>
                    <a:pt x="9274" y="4825"/>
                    <a:pt x="3783" y="8616"/>
                    <a:pt x="0" y="13468"/>
                  </a:cubicBezTo>
                  <a:close/>
                </a:path>
              </a:pathLst>
            </a:custGeom>
            <a:grpFill/>
            <a:ln w="15875" cap="flat">
              <a:solidFill>
                <a:srgbClr val="1F3A5F"/>
              </a:solidFill>
              <a:prstDash val="solid"/>
              <a:miter/>
              <a:extLst>
                <a:ext uri="{C807C97D-BFC1-408E-A445-0C87EB9F89A2}">
                  <ask:lineSketchStyleProps xmlns:ask="http://schemas.microsoft.com/office/drawing/2018/sketchyshapes" sd="2830084044">
                    <a:custGeom>
                      <a:avLst/>
                      <a:gdLst>
                        <a:gd name="connsiteX0" fmla="*/ 0 w 115452"/>
                        <a:gd name="connsiteY0" fmla="*/ 13468 h 203968"/>
                        <a:gd name="connsiteX1" fmla="*/ 88516 w 115452"/>
                        <a:gd name="connsiteY1" fmla="*/ 101984 h 203968"/>
                        <a:gd name="connsiteX2" fmla="*/ 0 w 115452"/>
                        <a:gd name="connsiteY2" fmla="*/ 190500 h 203968"/>
                        <a:gd name="connsiteX3" fmla="*/ 13468 w 115452"/>
                        <a:gd name="connsiteY3" fmla="*/ 203968 h 203968"/>
                        <a:gd name="connsiteX4" fmla="*/ 115453 w 115452"/>
                        <a:gd name="connsiteY4" fmla="*/ 101984 h 203968"/>
                        <a:gd name="connsiteX5" fmla="*/ 13468 w 115452"/>
                        <a:gd name="connsiteY5" fmla="*/ 0 h 203968"/>
                        <a:gd name="connsiteX6" fmla="*/ 0 w 115452"/>
                        <a:gd name="connsiteY6" fmla="*/ 13468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0" y="13468"/>
                          </a:moveTo>
                          <a:lnTo>
                            <a:pt x="88516" y="101984"/>
                          </a:lnTo>
                          <a:lnTo>
                            <a:pt x="0" y="190500"/>
                          </a:lnTo>
                          <a:lnTo>
                            <a:pt x="13468" y="203968"/>
                          </a:lnTo>
                          <a:lnTo>
                            <a:pt x="115453" y="101984"/>
                          </a:lnTo>
                          <a:lnTo>
                            <a:pt x="13468" y="0"/>
                          </a:lnTo>
                          <a:lnTo>
                            <a:pt x="0" y="13468"/>
                          </a:lnTo>
                          <a:close/>
                        </a:path>
                      </a:pathLst>
                    </a:custGeom>
                    <ask:type>
                      <ask:lineSketchScribble/>
                    </ask:type>
                  </ask:lineSketchStyleProps>
                </a:ext>
              </a:extLst>
            </a:ln>
          </p:spPr>
          <p:txBody>
            <a:bodyPr rtlCol="0" anchor="ctr"/>
            <a:lstStyle/>
            <a:p>
              <a:endParaRPr lang="en-US"/>
            </a:p>
          </p:txBody>
        </p:sp>
        <p:sp>
          <p:nvSpPr>
            <p:cNvPr id="104" name="Freeform 28"/>
            <p:cNvSpPr/>
            <p:nvPr/>
          </p:nvSpPr>
          <p:spPr>
            <a:xfrm rot="-3990120">
              <a:off x="5976555" y="3471860"/>
              <a:ext cx="238886" cy="19049"/>
            </a:xfrm>
            <a:custGeom>
              <a:avLst/>
              <a:gdLst>
                <a:gd name="csX0" fmla="*/ 0 w 238886"/>
                <a:gd name="csY0" fmla="*/ 0 h 19049"/>
                <a:gd name="csX1" fmla="*/ 238887 w 238886"/>
                <a:gd name="csY1" fmla="*/ 0 h 19049"/>
                <a:gd name="csX2" fmla="*/ 238887 w 238886"/>
                <a:gd name="csY2" fmla="*/ 19050 h 19049"/>
                <a:gd name="csX3" fmla="*/ 0 w 238886"/>
                <a:gd name="csY3" fmla="*/ 19050 h 19049"/>
                <a:gd name="csX4" fmla="*/ 0 w 238886"/>
                <a:gd name="csY4" fmla="*/ 0 h 19049"/>
              </a:gdLst>
              <a:ahLst/>
              <a:cxnLst>
                <a:cxn ang="0">
                  <a:pos x="csX0" y="csY0"/>
                </a:cxn>
                <a:cxn ang="0">
                  <a:pos x="csX1" y="csY1"/>
                </a:cxn>
                <a:cxn ang="0">
                  <a:pos x="csX2" y="csY2"/>
                </a:cxn>
                <a:cxn ang="0">
                  <a:pos x="csX3" y="csY3"/>
                </a:cxn>
                <a:cxn ang="0">
                  <a:pos x="csX4" y="csY4"/>
                </a:cxn>
              </a:cxnLst>
              <a:rect l="l" t="t" r="r" b="b"/>
              <a:pathLst>
                <a:path w="238886" h="19049" fill="none" extrusionOk="0">
                  <a:moveTo>
                    <a:pt x="0" y="0"/>
                  </a:moveTo>
                  <a:cubicBezTo>
                    <a:pt x="89439" y="-27312"/>
                    <a:pt x="129399" y="19521"/>
                    <a:pt x="238887" y="0"/>
                  </a:cubicBezTo>
                  <a:cubicBezTo>
                    <a:pt x="240312" y="8611"/>
                    <a:pt x="237794" y="9969"/>
                    <a:pt x="238887" y="19050"/>
                  </a:cubicBezTo>
                  <a:cubicBezTo>
                    <a:pt x="125798" y="22001"/>
                    <a:pt x="48091" y="-5468"/>
                    <a:pt x="0" y="19050"/>
                  </a:cubicBezTo>
                  <a:cubicBezTo>
                    <a:pt x="-332" y="10898"/>
                    <a:pt x="983" y="6475"/>
                    <a:pt x="0" y="0"/>
                  </a:cubicBezTo>
                  <a:close/>
                </a:path>
                <a:path w="238886" h="19049" stroke="0" extrusionOk="0">
                  <a:moveTo>
                    <a:pt x="0" y="0"/>
                  </a:moveTo>
                  <a:cubicBezTo>
                    <a:pt x="81267" y="-25071"/>
                    <a:pt x="137755" y="27943"/>
                    <a:pt x="238887" y="0"/>
                  </a:cubicBezTo>
                  <a:cubicBezTo>
                    <a:pt x="240527" y="4590"/>
                    <a:pt x="237147" y="12697"/>
                    <a:pt x="238887" y="19050"/>
                  </a:cubicBezTo>
                  <a:cubicBezTo>
                    <a:pt x="130063" y="34728"/>
                    <a:pt x="61649" y="-7729"/>
                    <a:pt x="0" y="19050"/>
                  </a:cubicBezTo>
                  <a:cubicBezTo>
                    <a:pt x="-926" y="10149"/>
                    <a:pt x="314" y="6645"/>
                    <a:pt x="0"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658789007">
                    <a:custGeom>
                      <a:avLst/>
                      <a:gdLst>
                        <a:gd name="connsiteX0" fmla="*/ 0 w 238886"/>
                        <a:gd name="connsiteY0" fmla="*/ 0 h 19049"/>
                        <a:gd name="connsiteX1" fmla="*/ 238887 w 238886"/>
                        <a:gd name="connsiteY1" fmla="*/ 0 h 19049"/>
                        <a:gd name="connsiteX2" fmla="*/ 238887 w 238886"/>
                        <a:gd name="connsiteY2" fmla="*/ 19050 h 19049"/>
                        <a:gd name="connsiteX3" fmla="*/ 0 w 238886"/>
                        <a:gd name="connsiteY3" fmla="*/ 19050 h 19049"/>
                      </a:gdLst>
                      <a:ahLst/>
                      <a:cxnLst>
                        <a:cxn ang="0">
                          <a:pos x="connsiteX0" y="connsiteY0"/>
                        </a:cxn>
                        <a:cxn ang="0">
                          <a:pos x="connsiteX1" y="connsiteY1"/>
                        </a:cxn>
                        <a:cxn ang="0">
                          <a:pos x="connsiteX2" y="connsiteY2"/>
                        </a:cxn>
                        <a:cxn ang="0">
                          <a:pos x="connsiteX3" y="connsiteY3"/>
                        </a:cxn>
                      </a:cxnLst>
                      <a:rect l="l" t="t" r="r" b="b"/>
                      <a:pathLst>
                        <a:path w="238886" h="19049">
                          <a:moveTo>
                            <a:pt x="0" y="0"/>
                          </a:moveTo>
                          <a:lnTo>
                            <a:pt x="238887" y="0"/>
                          </a:lnTo>
                          <a:lnTo>
                            <a:pt x="238887" y="19050"/>
                          </a:lnTo>
                          <a:lnTo>
                            <a:pt x="0" y="19050"/>
                          </a:lnTo>
                          <a:close/>
                        </a:path>
                      </a:pathLst>
                    </a:custGeom>
                    <ask:type>
                      <ask:lineSketchScribble/>
                    </ask:type>
                  </ask:lineSketchStyleProps>
                </a:ext>
              </a:extLst>
            </a:ln>
          </p:spPr>
          <p:txBody>
            <a:bodyPr rtlCol="0" anchor="ctr"/>
            <a:lstStyle/>
            <a:p>
              <a:endParaRPr lang="en-US"/>
            </a:p>
          </p:txBody>
        </p:sp>
        <p:sp>
          <p:nvSpPr>
            <p:cNvPr id="105" name="Freeform 29"/>
            <p:cNvSpPr/>
            <p:nvPr/>
          </p:nvSpPr>
          <p:spPr>
            <a:xfrm>
              <a:off x="5715000" y="3133725"/>
              <a:ext cx="762000" cy="590550"/>
            </a:xfrm>
            <a:custGeom>
              <a:avLst/>
              <a:gdLst>
                <a:gd name="csX0" fmla="*/ 0 w 762000"/>
                <a:gd name="csY0" fmla="*/ 590550 h 590550"/>
                <a:gd name="csX1" fmla="*/ 388620 w 762000"/>
                <a:gd name="csY1" fmla="*/ 590550 h 590550"/>
                <a:gd name="csX2" fmla="*/ 762000 w 762000"/>
                <a:gd name="csY2" fmla="*/ 590550 h 590550"/>
                <a:gd name="csX3" fmla="*/ 762000 w 762000"/>
                <a:gd name="csY3" fmla="*/ 0 h 590550"/>
                <a:gd name="csX4" fmla="*/ 403860 w 762000"/>
                <a:gd name="csY4" fmla="*/ 0 h 590550"/>
                <a:gd name="csX5" fmla="*/ 0 w 762000"/>
                <a:gd name="csY5" fmla="*/ 0 h 590550"/>
                <a:gd name="csX6" fmla="*/ 0 w 762000"/>
                <a:gd name="csY6" fmla="*/ 590550 h 590550"/>
                <a:gd name="csX7" fmla="*/ 19050 w 762000"/>
                <a:gd name="csY7" fmla="*/ 571500 h 590550"/>
                <a:gd name="csX8" fmla="*/ 19050 w 762000"/>
                <a:gd name="csY8" fmla="*/ 152400 h 590550"/>
                <a:gd name="csX9" fmla="*/ 359283 w 762000"/>
                <a:gd name="csY9" fmla="*/ 152400 h 590550"/>
                <a:gd name="csX10" fmla="*/ 742950 w 762000"/>
                <a:gd name="csY10" fmla="*/ 152400 h 590550"/>
                <a:gd name="csX11" fmla="*/ 742950 w 762000"/>
                <a:gd name="csY11" fmla="*/ 571500 h 590550"/>
                <a:gd name="csX12" fmla="*/ 388239 w 762000"/>
                <a:gd name="csY12" fmla="*/ 571500 h 590550"/>
                <a:gd name="csX13" fmla="*/ 19050 w 762000"/>
                <a:gd name="csY13" fmla="*/ 571500 h 590550"/>
                <a:gd name="csX14" fmla="*/ 742950 w 762000"/>
                <a:gd name="csY14" fmla="*/ 19050 h 590550"/>
                <a:gd name="csX15" fmla="*/ 742950 w 762000"/>
                <a:gd name="csY15" fmla="*/ 133350 h 590550"/>
                <a:gd name="csX16" fmla="*/ 373761 w 762000"/>
                <a:gd name="csY16" fmla="*/ 133350 h 590550"/>
                <a:gd name="csX17" fmla="*/ 19050 w 762000"/>
                <a:gd name="csY17" fmla="*/ 133350 h 590550"/>
                <a:gd name="csX18" fmla="*/ 19050 w 762000"/>
                <a:gd name="csY18" fmla="*/ 19050 h 590550"/>
                <a:gd name="csX19" fmla="*/ 395478 w 762000"/>
                <a:gd name="csY19" fmla="*/ 19050 h 590550"/>
                <a:gd name="csX20" fmla="*/ 742950 w 762000"/>
                <a:gd name="csY20" fmla="*/ 1905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62000" h="590550" fill="none" extrusionOk="0">
                  <a:moveTo>
                    <a:pt x="0" y="590550"/>
                  </a:moveTo>
                  <a:cubicBezTo>
                    <a:pt x="125280" y="565457"/>
                    <a:pt x="268114" y="600228"/>
                    <a:pt x="388620" y="590550"/>
                  </a:cubicBezTo>
                  <a:cubicBezTo>
                    <a:pt x="509126" y="580872"/>
                    <a:pt x="661997" y="602816"/>
                    <a:pt x="762000" y="590550"/>
                  </a:cubicBezTo>
                  <a:cubicBezTo>
                    <a:pt x="714429" y="454041"/>
                    <a:pt x="801435" y="123443"/>
                    <a:pt x="762000" y="0"/>
                  </a:cubicBezTo>
                  <a:cubicBezTo>
                    <a:pt x="638898" y="20488"/>
                    <a:pt x="581116" y="-29312"/>
                    <a:pt x="403860" y="0"/>
                  </a:cubicBezTo>
                  <a:cubicBezTo>
                    <a:pt x="226604" y="29312"/>
                    <a:pt x="94433" y="-30243"/>
                    <a:pt x="0" y="0"/>
                  </a:cubicBezTo>
                  <a:cubicBezTo>
                    <a:pt x="24103" y="259624"/>
                    <a:pt x="-17973" y="353689"/>
                    <a:pt x="0" y="590550"/>
                  </a:cubicBezTo>
                  <a:close/>
                  <a:moveTo>
                    <a:pt x="19050" y="571500"/>
                  </a:moveTo>
                  <a:cubicBezTo>
                    <a:pt x="17440" y="362395"/>
                    <a:pt x="57177" y="310726"/>
                    <a:pt x="19050" y="152400"/>
                  </a:cubicBezTo>
                  <a:cubicBezTo>
                    <a:pt x="169035" y="132790"/>
                    <a:pt x="221452" y="188570"/>
                    <a:pt x="359283" y="152400"/>
                  </a:cubicBezTo>
                  <a:cubicBezTo>
                    <a:pt x="497114" y="116230"/>
                    <a:pt x="624118" y="154138"/>
                    <a:pt x="742950" y="152400"/>
                  </a:cubicBezTo>
                  <a:cubicBezTo>
                    <a:pt x="778489" y="330828"/>
                    <a:pt x="741863" y="362207"/>
                    <a:pt x="742950" y="571500"/>
                  </a:cubicBezTo>
                  <a:cubicBezTo>
                    <a:pt x="645401" y="608398"/>
                    <a:pt x="517897" y="531493"/>
                    <a:pt x="388239" y="571500"/>
                  </a:cubicBezTo>
                  <a:cubicBezTo>
                    <a:pt x="258581" y="611507"/>
                    <a:pt x="165779" y="567707"/>
                    <a:pt x="19050" y="571500"/>
                  </a:cubicBezTo>
                  <a:close/>
                  <a:moveTo>
                    <a:pt x="742950" y="19050"/>
                  </a:moveTo>
                  <a:cubicBezTo>
                    <a:pt x="744351" y="43220"/>
                    <a:pt x="730953" y="89819"/>
                    <a:pt x="742950" y="133350"/>
                  </a:cubicBezTo>
                  <a:cubicBezTo>
                    <a:pt x="561477" y="148340"/>
                    <a:pt x="543754" y="113442"/>
                    <a:pt x="373761" y="133350"/>
                  </a:cubicBezTo>
                  <a:cubicBezTo>
                    <a:pt x="203768" y="153258"/>
                    <a:pt x="124158" y="118808"/>
                    <a:pt x="19050" y="133350"/>
                  </a:cubicBezTo>
                  <a:cubicBezTo>
                    <a:pt x="14037" y="77712"/>
                    <a:pt x="22118" y="65920"/>
                    <a:pt x="19050" y="19050"/>
                  </a:cubicBezTo>
                  <a:cubicBezTo>
                    <a:pt x="184673" y="16665"/>
                    <a:pt x="246057" y="31289"/>
                    <a:pt x="395478" y="19050"/>
                  </a:cubicBezTo>
                  <a:cubicBezTo>
                    <a:pt x="544899" y="6811"/>
                    <a:pt x="611113" y="58305"/>
                    <a:pt x="742950" y="19050"/>
                  </a:cubicBezTo>
                  <a:close/>
                </a:path>
                <a:path w="762000" h="590550" stroke="0" extrusionOk="0">
                  <a:moveTo>
                    <a:pt x="0" y="590550"/>
                  </a:moveTo>
                  <a:cubicBezTo>
                    <a:pt x="154775" y="558154"/>
                    <a:pt x="220356" y="612445"/>
                    <a:pt x="358140" y="590550"/>
                  </a:cubicBezTo>
                  <a:cubicBezTo>
                    <a:pt x="495924" y="568655"/>
                    <a:pt x="600340" y="604512"/>
                    <a:pt x="762000" y="590550"/>
                  </a:cubicBezTo>
                  <a:cubicBezTo>
                    <a:pt x="738712" y="386816"/>
                    <a:pt x="767145" y="240871"/>
                    <a:pt x="762000" y="0"/>
                  </a:cubicBezTo>
                  <a:cubicBezTo>
                    <a:pt x="585348" y="9617"/>
                    <a:pt x="503224" y="-31931"/>
                    <a:pt x="373380" y="0"/>
                  </a:cubicBezTo>
                  <a:cubicBezTo>
                    <a:pt x="243536" y="31931"/>
                    <a:pt x="75450" y="-13351"/>
                    <a:pt x="0" y="0"/>
                  </a:cubicBezTo>
                  <a:cubicBezTo>
                    <a:pt x="16906" y="120276"/>
                    <a:pt x="-49829" y="349513"/>
                    <a:pt x="0" y="590550"/>
                  </a:cubicBezTo>
                  <a:close/>
                  <a:moveTo>
                    <a:pt x="19050" y="571500"/>
                  </a:moveTo>
                  <a:cubicBezTo>
                    <a:pt x="4292" y="476438"/>
                    <a:pt x="41088" y="274487"/>
                    <a:pt x="19050" y="152400"/>
                  </a:cubicBezTo>
                  <a:cubicBezTo>
                    <a:pt x="168273" y="110561"/>
                    <a:pt x="282548" y="172153"/>
                    <a:pt x="381000" y="152400"/>
                  </a:cubicBezTo>
                  <a:cubicBezTo>
                    <a:pt x="479452" y="132647"/>
                    <a:pt x="616942" y="176757"/>
                    <a:pt x="742950" y="152400"/>
                  </a:cubicBezTo>
                  <a:cubicBezTo>
                    <a:pt x="786562" y="310896"/>
                    <a:pt x="730505" y="463900"/>
                    <a:pt x="742950" y="571500"/>
                  </a:cubicBezTo>
                  <a:cubicBezTo>
                    <a:pt x="661936" y="575281"/>
                    <a:pt x="547873" y="537137"/>
                    <a:pt x="373761" y="571500"/>
                  </a:cubicBezTo>
                  <a:cubicBezTo>
                    <a:pt x="199649" y="605863"/>
                    <a:pt x="135744" y="536574"/>
                    <a:pt x="19050" y="571500"/>
                  </a:cubicBezTo>
                  <a:close/>
                  <a:moveTo>
                    <a:pt x="742950" y="19050"/>
                  </a:moveTo>
                  <a:cubicBezTo>
                    <a:pt x="751566" y="63812"/>
                    <a:pt x="733453" y="96224"/>
                    <a:pt x="742950" y="133350"/>
                  </a:cubicBezTo>
                  <a:cubicBezTo>
                    <a:pt x="628384" y="141133"/>
                    <a:pt x="472624" y="114379"/>
                    <a:pt x="366522" y="133350"/>
                  </a:cubicBezTo>
                  <a:cubicBezTo>
                    <a:pt x="260420" y="152321"/>
                    <a:pt x="95857" y="127960"/>
                    <a:pt x="19050" y="133350"/>
                  </a:cubicBezTo>
                  <a:cubicBezTo>
                    <a:pt x="7134" y="100730"/>
                    <a:pt x="25888" y="52179"/>
                    <a:pt x="19050" y="19050"/>
                  </a:cubicBezTo>
                  <a:cubicBezTo>
                    <a:pt x="174631" y="-17870"/>
                    <a:pt x="304189" y="38168"/>
                    <a:pt x="381000" y="19050"/>
                  </a:cubicBezTo>
                  <a:cubicBezTo>
                    <a:pt x="457811" y="-68"/>
                    <a:pt x="605912" y="48223"/>
                    <a:pt x="74295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2498960035">
                    <a:custGeom>
                      <a:avLst/>
                      <a:gdLst>
                        <a:gd name="connsiteX0" fmla="*/ 0 w 762000"/>
                        <a:gd name="connsiteY0" fmla="*/ 590550 h 590550"/>
                        <a:gd name="connsiteX1" fmla="*/ 762000 w 762000"/>
                        <a:gd name="connsiteY1" fmla="*/ 590550 h 590550"/>
                        <a:gd name="connsiteX2" fmla="*/ 762000 w 762000"/>
                        <a:gd name="connsiteY2" fmla="*/ 0 h 590550"/>
                        <a:gd name="connsiteX3" fmla="*/ 0 w 762000"/>
                        <a:gd name="connsiteY3" fmla="*/ 0 h 590550"/>
                        <a:gd name="connsiteX4" fmla="*/ 19050 w 762000"/>
                        <a:gd name="connsiteY4" fmla="*/ 571500 h 590550"/>
                        <a:gd name="connsiteX5" fmla="*/ 19050 w 762000"/>
                        <a:gd name="connsiteY5" fmla="*/ 152400 h 590550"/>
                        <a:gd name="connsiteX6" fmla="*/ 742950 w 762000"/>
                        <a:gd name="connsiteY6" fmla="*/ 152400 h 590550"/>
                        <a:gd name="connsiteX7" fmla="*/ 742950 w 762000"/>
                        <a:gd name="connsiteY7" fmla="*/ 571500 h 590550"/>
                        <a:gd name="connsiteX8" fmla="*/ 742950 w 762000"/>
                        <a:gd name="connsiteY8" fmla="*/ 19050 h 590550"/>
                        <a:gd name="connsiteX9" fmla="*/ 742950 w 762000"/>
                        <a:gd name="connsiteY9" fmla="*/ 133350 h 590550"/>
                        <a:gd name="connsiteX10" fmla="*/ 19050 w 762000"/>
                        <a:gd name="connsiteY10" fmla="*/ 133350 h 590550"/>
                        <a:gd name="connsiteX11" fmla="*/ 19050 w 762000"/>
                        <a:gd name="connsiteY11" fmla="*/ 1905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62000" h="590550">
                          <a:moveTo>
                            <a:pt x="0" y="590550"/>
                          </a:moveTo>
                          <a:lnTo>
                            <a:pt x="762000" y="590550"/>
                          </a:lnTo>
                          <a:lnTo>
                            <a:pt x="762000" y="0"/>
                          </a:lnTo>
                          <a:lnTo>
                            <a:pt x="0" y="0"/>
                          </a:lnTo>
                          <a:close/>
                          <a:moveTo>
                            <a:pt x="19050" y="571500"/>
                          </a:moveTo>
                          <a:lnTo>
                            <a:pt x="19050" y="152400"/>
                          </a:lnTo>
                          <a:lnTo>
                            <a:pt x="742950" y="152400"/>
                          </a:lnTo>
                          <a:lnTo>
                            <a:pt x="742950" y="571500"/>
                          </a:lnTo>
                          <a:close/>
                          <a:moveTo>
                            <a:pt x="742950" y="19050"/>
                          </a:moveTo>
                          <a:lnTo>
                            <a:pt x="742950" y="133350"/>
                          </a:lnTo>
                          <a:lnTo>
                            <a:pt x="19050" y="133350"/>
                          </a:lnTo>
                          <a:lnTo>
                            <a:pt x="19050" y="19050"/>
                          </a:lnTo>
                          <a:close/>
                        </a:path>
                      </a:pathLst>
                    </a:custGeom>
                    <ask:type>
                      <ask:lineSketchScribble/>
                    </ask:type>
                  </ask:lineSketchStyleProps>
                </a:ext>
              </a:extLst>
            </a:ln>
          </p:spPr>
          <p:txBody>
            <a:bodyPr rtlCol="0" anchor="ctr"/>
            <a:lstStyle/>
            <a:p>
              <a:endParaRPr lang="en-US"/>
            </a:p>
          </p:txBody>
        </p:sp>
        <p:sp>
          <p:nvSpPr>
            <p:cNvPr id="106" name="Freeform 30"/>
            <p:cNvSpPr/>
            <p:nvPr/>
          </p:nvSpPr>
          <p:spPr>
            <a:xfrm>
              <a:off x="621982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6668" y="31495"/>
                    <a:pt x="28642" y="37612"/>
                    <a:pt x="19050" y="38100"/>
                  </a:cubicBezTo>
                  <a:cubicBezTo>
                    <a:pt x="9830" y="38864"/>
                    <a:pt x="-602" y="29313"/>
                    <a:pt x="0" y="19050"/>
                  </a:cubicBezTo>
                  <a:cubicBezTo>
                    <a:pt x="71" y="8241"/>
                    <a:pt x="8755" y="-475"/>
                    <a:pt x="19050" y="0"/>
                  </a:cubicBezTo>
                  <a:cubicBezTo>
                    <a:pt x="30529" y="2953"/>
                    <a:pt x="37016" y="9222"/>
                    <a:pt x="38100" y="19050"/>
                  </a:cubicBezTo>
                  <a:close/>
                </a:path>
                <a:path w="38100" h="38100" stroke="0" extrusionOk="0">
                  <a:moveTo>
                    <a:pt x="38100" y="19050"/>
                  </a:moveTo>
                  <a:cubicBezTo>
                    <a:pt x="39774" y="26900"/>
                    <a:pt x="28299" y="37085"/>
                    <a:pt x="19050" y="38100"/>
                  </a:cubicBezTo>
                  <a:cubicBezTo>
                    <a:pt x="9810" y="38297"/>
                    <a:pt x="-1109" y="32155"/>
                    <a:pt x="0" y="19050"/>
                  </a:cubicBezTo>
                  <a:cubicBezTo>
                    <a:pt x="1618" y="8508"/>
                    <a:pt x="8531" y="231"/>
                    <a:pt x="19050" y="0"/>
                  </a:cubicBezTo>
                  <a:cubicBezTo>
                    <a:pt x="30465" y="-1109"/>
                    <a:pt x="38645" y="8775"/>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801459907">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7" name="Freeform 31"/>
            <p:cNvSpPr/>
            <p:nvPr/>
          </p:nvSpPr>
          <p:spPr>
            <a:xfrm>
              <a:off x="6286500"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7148" y="27866"/>
                    <a:pt x="31150" y="39814"/>
                    <a:pt x="19050" y="38100"/>
                  </a:cubicBezTo>
                  <a:cubicBezTo>
                    <a:pt x="8503" y="40197"/>
                    <a:pt x="446" y="30213"/>
                    <a:pt x="0" y="19050"/>
                  </a:cubicBezTo>
                  <a:cubicBezTo>
                    <a:pt x="2158" y="9554"/>
                    <a:pt x="6247" y="174"/>
                    <a:pt x="19050" y="0"/>
                  </a:cubicBezTo>
                  <a:cubicBezTo>
                    <a:pt x="31189" y="123"/>
                    <a:pt x="40255" y="9425"/>
                    <a:pt x="38100" y="19050"/>
                  </a:cubicBezTo>
                  <a:close/>
                </a:path>
                <a:path w="38100" h="38100" stroke="0" extrusionOk="0">
                  <a:moveTo>
                    <a:pt x="38100" y="19050"/>
                  </a:moveTo>
                  <a:cubicBezTo>
                    <a:pt x="36702" y="28517"/>
                    <a:pt x="30289" y="38205"/>
                    <a:pt x="19050" y="38100"/>
                  </a:cubicBezTo>
                  <a:cubicBezTo>
                    <a:pt x="8050" y="37989"/>
                    <a:pt x="2019" y="31677"/>
                    <a:pt x="0" y="19050"/>
                  </a:cubicBezTo>
                  <a:cubicBezTo>
                    <a:pt x="352" y="9041"/>
                    <a:pt x="7961" y="-1347"/>
                    <a:pt x="19050" y="0"/>
                  </a:cubicBezTo>
                  <a:cubicBezTo>
                    <a:pt x="28406" y="-1785"/>
                    <a:pt x="37107" y="7113"/>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741904289">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8" name="Freeform 32"/>
            <p:cNvSpPr/>
            <p:nvPr/>
          </p:nvSpPr>
          <p:spPr>
            <a:xfrm>
              <a:off x="635317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40484" y="27911"/>
                    <a:pt x="28318" y="38040"/>
                    <a:pt x="19050" y="38100"/>
                  </a:cubicBezTo>
                  <a:cubicBezTo>
                    <a:pt x="6219" y="37740"/>
                    <a:pt x="1168" y="27565"/>
                    <a:pt x="0" y="19050"/>
                  </a:cubicBezTo>
                  <a:cubicBezTo>
                    <a:pt x="-1210" y="9994"/>
                    <a:pt x="10441" y="-1791"/>
                    <a:pt x="19050" y="0"/>
                  </a:cubicBezTo>
                  <a:cubicBezTo>
                    <a:pt x="28904" y="1053"/>
                    <a:pt x="37238" y="6479"/>
                    <a:pt x="38100" y="19050"/>
                  </a:cubicBezTo>
                  <a:close/>
                </a:path>
                <a:path w="38100" h="38100" stroke="0" extrusionOk="0">
                  <a:moveTo>
                    <a:pt x="38100" y="19050"/>
                  </a:moveTo>
                  <a:cubicBezTo>
                    <a:pt x="38795" y="29284"/>
                    <a:pt x="26912" y="37258"/>
                    <a:pt x="19050" y="38100"/>
                  </a:cubicBezTo>
                  <a:cubicBezTo>
                    <a:pt x="10193" y="38587"/>
                    <a:pt x="-2503" y="29971"/>
                    <a:pt x="0" y="19050"/>
                  </a:cubicBezTo>
                  <a:cubicBezTo>
                    <a:pt x="-9" y="8962"/>
                    <a:pt x="9807" y="15"/>
                    <a:pt x="19050" y="0"/>
                  </a:cubicBezTo>
                  <a:cubicBezTo>
                    <a:pt x="29850" y="-183"/>
                    <a:pt x="39296" y="8072"/>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078833563">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grpSp>
      <p:sp>
        <p:nvSpPr>
          <p:cNvPr id="10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Just Finished</a:t>
            </a:r>
          </a:p>
        </p:txBody>
      </p:sp>
      <p:sp>
        <p:nvSpPr>
          <p:cNvPr id="110"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trail-0117</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How It Works</a:t>
            </a:r>
          </a:p>
        </p:txBody>
      </p:sp>
      <p:grpSp>
        <p:nvGrpSpPr>
          <p:cNvPr id="101" name="Graphic 24" descr="Web design outline"/>
          <p:cNvGrpSpPr/>
          <p:nvPr/>
        </p:nvGrpSpPr>
        <p:grpSpPr>
          <a:xfrm>
            <a:off x="1356360" y="3360636"/>
            <a:ext cx="762000" cy="590550"/>
            <a:chOff x="5715000" y="3133725"/>
            <a:chExt cx="762000" cy="590550"/>
          </a:xfrm>
          <a:noFill/>
        </p:grpSpPr>
        <p:sp>
          <p:nvSpPr>
            <p:cNvPr id="102" name="Freeform 26"/>
            <p:cNvSpPr/>
            <p:nvPr/>
          </p:nvSpPr>
          <p:spPr>
            <a:xfrm>
              <a:off x="5872981" y="3374640"/>
              <a:ext cx="115452" cy="203968"/>
            </a:xfrm>
            <a:custGeom>
              <a:avLst/>
              <a:gdLst>
                <a:gd name="csX0" fmla="*/ 101984 w 115452"/>
                <a:gd name="csY0" fmla="*/ 0 h 203968"/>
                <a:gd name="csX1" fmla="*/ 0 w 115452"/>
                <a:gd name="csY1" fmla="*/ 101984 h 203968"/>
                <a:gd name="csX2" fmla="*/ 101984 w 115452"/>
                <a:gd name="csY2" fmla="*/ 203968 h 203968"/>
                <a:gd name="csX3" fmla="*/ 115453 w 115452"/>
                <a:gd name="csY3" fmla="*/ 190500 h 203968"/>
                <a:gd name="csX4" fmla="*/ 26937 w 115452"/>
                <a:gd name="csY4" fmla="*/ 101984 h 203968"/>
                <a:gd name="csX5" fmla="*/ 115453 w 115452"/>
                <a:gd name="csY5" fmla="*/ 13468 h 203968"/>
                <a:gd name="csX6" fmla="*/ 101984 w 115452"/>
                <a:gd name="csY6" fmla="*/ 0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101984" y="0"/>
                  </a:moveTo>
                  <a:cubicBezTo>
                    <a:pt x="80469" y="29789"/>
                    <a:pt x="10671" y="68735"/>
                    <a:pt x="0" y="101984"/>
                  </a:cubicBezTo>
                  <a:cubicBezTo>
                    <a:pt x="35097" y="113800"/>
                    <a:pt x="52768" y="168720"/>
                    <a:pt x="101984" y="203968"/>
                  </a:cubicBezTo>
                  <a:cubicBezTo>
                    <a:pt x="106341" y="197468"/>
                    <a:pt x="111754" y="196900"/>
                    <a:pt x="115453" y="190500"/>
                  </a:cubicBezTo>
                  <a:cubicBezTo>
                    <a:pt x="86765" y="171738"/>
                    <a:pt x="72486" y="128597"/>
                    <a:pt x="26937" y="101984"/>
                  </a:cubicBezTo>
                  <a:cubicBezTo>
                    <a:pt x="56095" y="68628"/>
                    <a:pt x="87648" y="43689"/>
                    <a:pt x="115453" y="13468"/>
                  </a:cubicBezTo>
                  <a:cubicBezTo>
                    <a:pt x="110598" y="11500"/>
                    <a:pt x="108028" y="3862"/>
                    <a:pt x="101984" y="0"/>
                  </a:cubicBezTo>
                  <a:close/>
                </a:path>
                <a:path w="115452" h="203968" stroke="0" extrusionOk="0">
                  <a:moveTo>
                    <a:pt x="101984" y="0"/>
                  </a:moveTo>
                  <a:cubicBezTo>
                    <a:pt x="54666" y="49377"/>
                    <a:pt x="14242" y="66077"/>
                    <a:pt x="0" y="101984"/>
                  </a:cubicBezTo>
                  <a:cubicBezTo>
                    <a:pt x="50434" y="132521"/>
                    <a:pt x="69644" y="185088"/>
                    <a:pt x="101984" y="203968"/>
                  </a:cubicBezTo>
                  <a:cubicBezTo>
                    <a:pt x="106139" y="198738"/>
                    <a:pt x="111444" y="196583"/>
                    <a:pt x="115453" y="190500"/>
                  </a:cubicBezTo>
                  <a:cubicBezTo>
                    <a:pt x="76111" y="159672"/>
                    <a:pt x="70051" y="126332"/>
                    <a:pt x="26937" y="101984"/>
                  </a:cubicBezTo>
                  <a:cubicBezTo>
                    <a:pt x="50353" y="60681"/>
                    <a:pt x="104707" y="42634"/>
                    <a:pt x="115453" y="13468"/>
                  </a:cubicBezTo>
                  <a:cubicBezTo>
                    <a:pt x="111636" y="10467"/>
                    <a:pt x="107664" y="2756"/>
                    <a:pt x="101984"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101984 w 115452"/>
                        <a:gd name="connsiteY0" fmla="*/ 0 h 203968"/>
                        <a:gd name="connsiteX1" fmla="*/ 0 w 115452"/>
                        <a:gd name="connsiteY1" fmla="*/ 101984 h 203968"/>
                        <a:gd name="connsiteX2" fmla="*/ 101984 w 115452"/>
                        <a:gd name="connsiteY2" fmla="*/ 203968 h 203968"/>
                        <a:gd name="connsiteX3" fmla="*/ 115453 w 115452"/>
                        <a:gd name="connsiteY3" fmla="*/ 190500 h 203968"/>
                        <a:gd name="connsiteX4" fmla="*/ 26937 w 115452"/>
                        <a:gd name="connsiteY4" fmla="*/ 101984 h 203968"/>
                        <a:gd name="connsiteX5" fmla="*/ 115453 w 115452"/>
                        <a:gd name="connsiteY5" fmla="*/ 13468 h 203968"/>
                        <a:gd name="connsiteX6" fmla="*/ 101984 w 115452"/>
                        <a:gd name="connsiteY6" fmla="*/ 0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101984" y="0"/>
                          </a:moveTo>
                          <a:lnTo>
                            <a:pt x="0" y="101984"/>
                          </a:lnTo>
                          <a:lnTo>
                            <a:pt x="101984" y="203968"/>
                          </a:lnTo>
                          <a:lnTo>
                            <a:pt x="115453" y="190500"/>
                          </a:lnTo>
                          <a:lnTo>
                            <a:pt x="26937" y="101984"/>
                          </a:lnTo>
                          <a:lnTo>
                            <a:pt x="115453" y="13468"/>
                          </a:lnTo>
                          <a:lnTo>
                            <a:pt x="101984" y="0"/>
                          </a:lnTo>
                          <a:close/>
                        </a:path>
                      </a:pathLst>
                    </a:custGeom>
                    <ask:type>
                      <ask:lineSketchScribble/>
                    </ask:type>
                  </ask:lineSketchStyleProps>
                </a:ext>
              </a:extLst>
            </a:ln>
          </p:spPr>
          <p:txBody>
            <a:bodyPr rtlCol="0" anchor="ctr"/>
            <a:lstStyle/>
            <a:p>
              <a:endParaRPr lang="en-US"/>
            </a:p>
          </p:txBody>
        </p:sp>
        <p:sp>
          <p:nvSpPr>
            <p:cNvPr id="103" name="Freeform 27"/>
            <p:cNvSpPr/>
            <p:nvPr/>
          </p:nvSpPr>
          <p:spPr>
            <a:xfrm>
              <a:off x="6203565" y="3374640"/>
              <a:ext cx="115452" cy="203968"/>
            </a:xfrm>
            <a:custGeom>
              <a:avLst/>
              <a:gdLst>
                <a:gd name="csX0" fmla="*/ 0 w 115452"/>
                <a:gd name="csY0" fmla="*/ 13468 h 203968"/>
                <a:gd name="csX1" fmla="*/ 88516 w 115452"/>
                <a:gd name="csY1" fmla="*/ 101984 h 203968"/>
                <a:gd name="csX2" fmla="*/ 0 w 115452"/>
                <a:gd name="csY2" fmla="*/ 190500 h 203968"/>
                <a:gd name="csX3" fmla="*/ 13468 w 115452"/>
                <a:gd name="csY3" fmla="*/ 203968 h 203968"/>
                <a:gd name="csX4" fmla="*/ 115453 w 115452"/>
                <a:gd name="csY4" fmla="*/ 101984 h 203968"/>
                <a:gd name="csX5" fmla="*/ 13468 w 115452"/>
                <a:gd name="csY5" fmla="*/ 0 h 203968"/>
                <a:gd name="csX6" fmla="*/ 0 w 115452"/>
                <a:gd name="csY6" fmla="*/ 13468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0" y="13468"/>
                  </a:moveTo>
                  <a:cubicBezTo>
                    <a:pt x="28195" y="31658"/>
                    <a:pt x="62315" y="85716"/>
                    <a:pt x="88516" y="101984"/>
                  </a:cubicBezTo>
                  <a:cubicBezTo>
                    <a:pt x="58661" y="145296"/>
                    <a:pt x="33019" y="156066"/>
                    <a:pt x="0" y="190500"/>
                  </a:cubicBezTo>
                  <a:cubicBezTo>
                    <a:pt x="5261" y="193987"/>
                    <a:pt x="8997" y="201568"/>
                    <a:pt x="13468" y="203968"/>
                  </a:cubicBezTo>
                  <a:cubicBezTo>
                    <a:pt x="49805" y="148660"/>
                    <a:pt x="76016" y="150703"/>
                    <a:pt x="115453" y="101984"/>
                  </a:cubicBezTo>
                  <a:cubicBezTo>
                    <a:pt x="68851" y="78131"/>
                    <a:pt x="60248" y="25543"/>
                    <a:pt x="13468" y="0"/>
                  </a:cubicBezTo>
                  <a:cubicBezTo>
                    <a:pt x="7612" y="6684"/>
                    <a:pt x="4796" y="5981"/>
                    <a:pt x="0" y="13468"/>
                  </a:cubicBezTo>
                  <a:close/>
                </a:path>
                <a:path w="115452" h="203968" stroke="0" extrusionOk="0">
                  <a:moveTo>
                    <a:pt x="0" y="13468"/>
                  </a:moveTo>
                  <a:cubicBezTo>
                    <a:pt x="35903" y="44056"/>
                    <a:pt x="52973" y="84230"/>
                    <a:pt x="88516" y="101984"/>
                  </a:cubicBezTo>
                  <a:cubicBezTo>
                    <a:pt x="48291" y="147503"/>
                    <a:pt x="38948" y="145206"/>
                    <a:pt x="0" y="190500"/>
                  </a:cubicBezTo>
                  <a:cubicBezTo>
                    <a:pt x="4026" y="193879"/>
                    <a:pt x="5514" y="199242"/>
                    <a:pt x="13468" y="203968"/>
                  </a:cubicBezTo>
                  <a:cubicBezTo>
                    <a:pt x="29831" y="179468"/>
                    <a:pt x="77301" y="146098"/>
                    <a:pt x="115453" y="101984"/>
                  </a:cubicBezTo>
                  <a:cubicBezTo>
                    <a:pt x="80161" y="89125"/>
                    <a:pt x="66590" y="44761"/>
                    <a:pt x="13468" y="0"/>
                  </a:cubicBezTo>
                  <a:cubicBezTo>
                    <a:pt x="9274" y="4825"/>
                    <a:pt x="3783" y="8616"/>
                    <a:pt x="0" y="13468"/>
                  </a:cubicBezTo>
                  <a:close/>
                </a:path>
              </a:pathLst>
            </a:custGeom>
            <a:grpFill/>
            <a:ln w="15875" cap="flat">
              <a:solidFill>
                <a:srgbClr val="1F3A5F"/>
              </a:solidFill>
              <a:prstDash val="solid"/>
              <a:miter/>
              <a:extLst>
                <a:ext uri="{C807C97D-BFC1-408E-A445-0C87EB9F89A2}">
                  <ask:lineSketchStyleProps xmlns:ask="http://schemas.microsoft.com/office/drawing/2018/sketchyshapes" sd="2830084044">
                    <a:custGeom>
                      <a:avLst/>
                      <a:gdLst>
                        <a:gd name="connsiteX0" fmla="*/ 0 w 115452"/>
                        <a:gd name="connsiteY0" fmla="*/ 13468 h 203968"/>
                        <a:gd name="connsiteX1" fmla="*/ 88516 w 115452"/>
                        <a:gd name="connsiteY1" fmla="*/ 101984 h 203968"/>
                        <a:gd name="connsiteX2" fmla="*/ 0 w 115452"/>
                        <a:gd name="connsiteY2" fmla="*/ 190500 h 203968"/>
                        <a:gd name="connsiteX3" fmla="*/ 13468 w 115452"/>
                        <a:gd name="connsiteY3" fmla="*/ 203968 h 203968"/>
                        <a:gd name="connsiteX4" fmla="*/ 115453 w 115452"/>
                        <a:gd name="connsiteY4" fmla="*/ 101984 h 203968"/>
                        <a:gd name="connsiteX5" fmla="*/ 13468 w 115452"/>
                        <a:gd name="connsiteY5" fmla="*/ 0 h 203968"/>
                        <a:gd name="connsiteX6" fmla="*/ 0 w 115452"/>
                        <a:gd name="connsiteY6" fmla="*/ 13468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0" y="13468"/>
                          </a:moveTo>
                          <a:lnTo>
                            <a:pt x="88516" y="101984"/>
                          </a:lnTo>
                          <a:lnTo>
                            <a:pt x="0" y="190500"/>
                          </a:lnTo>
                          <a:lnTo>
                            <a:pt x="13468" y="203968"/>
                          </a:lnTo>
                          <a:lnTo>
                            <a:pt x="115453" y="101984"/>
                          </a:lnTo>
                          <a:lnTo>
                            <a:pt x="13468" y="0"/>
                          </a:lnTo>
                          <a:lnTo>
                            <a:pt x="0" y="13468"/>
                          </a:lnTo>
                          <a:close/>
                        </a:path>
                      </a:pathLst>
                    </a:custGeom>
                    <ask:type>
                      <ask:lineSketchScribble/>
                    </ask:type>
                  </ask:lineSketchStyleProps>
                </a:ext>
              </a:extLst>
            </a:ln>
          </p:spPr>
          <p:txBody>
            <a:bodyPr rtlCol="0" anchor="ctr"/>
            <a:lstStyle/>
            <a:p>
              <a:endParaRPr lang="en-US"/>
            </a:p>
          </p:txBody>
        </p:sp>
        <p:sp>
          <p:nvSpPr>
            <p:cNvPr id="104" name="Freeform 28"/>
            <p:cNvSpPr/>
            <p:nvPr/>
          </p:nvSpPr>
          <p:spPr>
            <a:xfrm rot="-3990120">
              <a:off x="5976555" y="3471860"/>
              <a:ext cx="238886" cy="19049"/>
            </a:xfrm>
            <a:custGeom>
              <a:avLst/>
              <a:gdLst>
                <a:gd name="csX0" fmla="*/ 0 w 238886"/>
                <a:gd name="csY0" fmla="*/ 0 h 19049"/>
                <a:gd name="csX1" fmla="*/ 238887 w 238886"/>
                <a:gd name="csY1" fmla="*/ 0 h 19049"/>
                <a:gd name="csX2" fmla="*/ 238887 w 238886"/>
                <a:gd name="csY2" fmla="*/ 19050 h 19049"/>
                <a:gd name="csX3" fmla="*/ 0 w 238886"/>
                <a:gd name="csY3" fmla="*/ 19050 h 19049"/>
                <a:gd name="csX4" fmla="*/ 0 w 238886"/>
                <a:gd name="csY4" fmla="*/ 0 h 19049"/>
              </a:gdLst>
              <a:ahLst/>
              <a:cxnLst>
                <a:cxn ang="0">
                  <a:pos x="csX0" y="csY0"/>
                </a:cxn>
                <a:cxn ang="0">
                  <a:pos x="csX1" y="csY1"/>
                </a:cxn>
                <a:cxn ang="0">
                  <a:pos x="csX2" y="csY2"/>
                </a:cxn>
                <a:cxn ang="0">
                  <a:pos x="csX3" y="csY3"/>
                </a:cxn>
                <a:cxn ang="0">
                  <a:pos x="csX4" y="csY4"/>
                </a:cxn>
              </a:cxnLst>
              <a:rect l="l" t="t" r="r" b="b"/>
              <a:pathLst>
                <a:path w="238886" h="19049" fill="none" extrusionOk="0">
                  <a:moveTo>
                    <a:pt x="0" y="0"/>
                  </a:moveTo>
                  <a:cubicBezTo>
                    <a:pt x="89439" y="-27312"/>
                    <a:pt x="129399" y="19521"/>
                    <a:pt x="238887" y="0"/>
                  </a:cubicBezTo>
                  <a:cubicBezTo>
                    <a:pt x="240312" y="8611"/>
                    <a:pt x="237794" y="9969"/>
                    <a:pt x="238887" y="19050"/>
                  </a:cubicBezTo>
                  <a:cubicBezTo>
                    <a:pt x="125798" y="22001"/>
                    <a:pt x="48091" y="-5468"/>
                    <a:pt x="0" y="19050"/>
                  </a:cubicBezTo>
                  <a:cubicBezTo>
                    <a:pt x="-332" y="10898"/>
                    <a:pt x="983" y="6475"/>
                    <a:pt x="0" y="0"/>
                  </a:cubicBezTo>
                  <a:close/>
                </a:path>
                <a:path w="238886" h="19049" stroke="0" extrusionOk="0">
                  <a:moveTo>
                    <a:pt x="0" y="0"/>
                  </a:moveTo>
                  <a:cubicBezTo>
                    <a:pt x="81267" y="-25071"/>
                    <a:pt x="137755" y="27943"/>
                    <a:pt x="238887" y="0"/>
                  </a:cubicBezTo>
                  <a:cubicBezTo>
                    <a:pt x="240527" y="4590"/>
                    <a:pt x="237147" y="12697"/>
                    <a:pt x="238887" y="19050"/>
                  </a:cubicBezTo>
                  <a:cubicBezTo>
                    <a:pt x="130063" y="34728"/>
                    <a:pt x="61649" y="-7729"/>
                    <a:pt x="0" y="19050"/>
                  </a:cubicBezTo>
                  <a:cubicBezTo>
                    <a:pt x="-926" y="10149"/>
                    <a:pt x="314" y="6645"/>
                    <a:pt x="0"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658789007">
                    <a:custGeom>
                      <a:avLst/>
                      <a:gdLst>
                        <a:gd name="connsiteX0" fmla="*/ 0 w 238886"/>
                        <a:gd name="connsiteY0" fmla="*/ 0 h 19049"/>
                        <a:gd name="connsiteX1" fmla="*/ 238887 w 238886"/>
                        <a:gd name="connsiteY1" fmla="*/ 0 h 19049"/>
                        <a:gd name="connsiteX2" fmla="*/ 238887 w 238886"/>
                        <a:gd name="connsiteY2" fmla="*/ 19050 h 19049"/>
                        <a:gd name="connsiteX3" fmla="*/ 0 w 238886"/>
                        <a:gd name="connsiteY3" fmla="*/ 19050 h 19049"/>
                      </a:gdLst>
                      <a:ahLst/>
                      <a:cxnLst>
                        <a:cxn ang="0">
                          <a:pos x="connsiteX0" y="connsiteY0"/>
                        </a:cxn>
                        <a:cxn ang="0">
                          <a:pos x="connsiteX1" y="connsiteY1"/>
                        </a:cxn>
                        <a:cxn ang="0">
                          <a:pos x="connsiteX2" y="connsiteY2"/>
                        </a:cxn>
                        <a:cxn ang="0">
                          <a:pos x="connsiteX3" y="connsiteY3"/>
                        </a:cxn>
                      </a:cxnLst>
                      <a:rect l="l" t="t" r="r" b="b"/>
                      <a:pathLst>
                        <a:path w="238886" h="19049">
                          <a:moveTo>
                            <a:pt x="0" y="0"/>
                          </a:moveTo>
                          <a:lnTo>
                            <a:pt x="238887" y="0"/>
                          </a:lnTo>
                          <a:lnTo>
                            <a:pt x="238887" y="19050"/>
                          </a:lnTo>
                          <a:lnTo>
                            <a:pt x="0" y="19050"/>
                          </a:lnTo>
                          <a:close/>
                        </a:path>
                      </a:pathLst>
                    </a:custGeom>
                    <ask:type>
                      <ask:lineSketchScribble/>
                    </ask:type>
                  </ask:lineSketchStyleProps>
                </a:ext>
              </a:extLst>
            </a:ln>
          </p:spPr>
          <p:txBody>
            <a:bodyPr rtlCol="0" anchor="ctr"/>
            <a:lstStyle/>
            <a:p>
              <a:endParaRPr lang="en-US"/>
            </a:p>
          </p:txBody>
        </p:sp>
        <p:sp>
          <p:nvSpPr>
            <p:cNvPr id="105" name="Freeform 29"/>
            <p:cNvSpPr/>
            <p:nvPr/>
          </p:nvSpPr>
          <p:spPr>
            <a:xfrm>
              <a:off x="5715000" y="3133725"/>
              <a:ext cx="762000" cy="590550"/>
            </a:xfrm>
            <a:custGeom>
              <a:avLst/>
              <a:gdLst>
                <a:gd name="csX0" fmla="*/ 0 w 762000"/>
                <a:gd name="csY0" fmla="*/ 590550 h 590550"/>
                <a:gd name="csX1" fmla="*/ 388620 w 762000"/>
                <a:gd name="csY1" fmla="*/ 590550 h 590550"/>
                <a:gd name="csX2" fmla="*/ 762000 w 762000"/>
                <a:gd name="csY2" fmla="*/ 590550 h 590550"/>
                <a:gd name="csX3" fmla="*/ 762000 w 762000"/>
                <a:gd name="csY3" fmla="*/ 0 h 590550"/>
                <a:gd name="csX4" fmla="*/ 403860 w 762000"/>
                <a:gd name="csY4" fmla="*/ 0 h 590550"/>
                <a:gd name="csX5" fmla="*/ 0 w 762000"/>
                <a:gd name="csY5" fmla="*/ 0 h 590550"/>
                <a:gd name="csX6" fmla="*/ 0 w 762000"/>
                <a:gd name="csY6" fmla="*/ 590550 h 590550"/>
                <a:gd name="csX7" fmla="*/ 19050 w 762000"/>
                <a:gd name="csY7" fmla="*/ 571500 h 590550"/>
                <a:gd name="csX8" fmla="*/ 19050 w 762000"/>
                <a:gd name="csY8" fmla="*/ 152400 h 590550"/>
                <a:gd name="csX9" fmla="*/ 359283 w 762000"/>
                <a:gd name="csY9" fmla="*/ 152400 h 590550"/>
                <a:gd name="csX10" fmla="*/ 742950 w 762000"/>
                <a:gd name="csY10" fmla="*/ 152400 h 590550"/>
                <a:gd name="csX11" fmla="*/ 742950 w 762000"/>
                <a:gd name="csY11" fmla="*/ 571500 h 590550"/>
                <a:gd name="csX12" fmla="*/ 388239 w 762000"/>
                <a:gd name="csY12" fmla="*/ 571500 h 590550"/>
                <a:gd name="csX13" fmla="*/ 19050 w 762000"/>
                <a:gd name="csY13" fmla="*/ 571500 h 590550"/>
                <a:gd name="csX14" fmla="*/ 742950 w 762000"/>
                <a:gd name="csY14" fmla="*/ 19050 h 590550"/>
                <a:gd name="csX15" fmla="*/ 742950 w 762000"/>
                <a:gd name="csY15" fmla="*/ 133350 h 590550"/>
                <a:gd name="csX16" fmla="*/ 373761 w 762000"/>
                <a:gd name="csY16" fmla="*/ 133350 h 590550"/>
                <a:gd name="csX17" fmla="*/ 19050 w 762000"/>
                <a:gd name="csY17" fmla="*/ 133350 h 590550"/>
                <a:gd name="csX18" fmla="*/ 19050 w 762000"/>
                <a:gd name="csY18" fmla="*/ 19050 h 590550"/>
                <a:gd name="csX19" fmla="*/ 395478 w 762000"/>
                <a:gd name="csY19" fmla="*/ 19050 h 590550"/>
                <a:gd name="csX20" fmla="*/ 742950 w 762000"/>
                <a:gd name="csY20" fmla="*/ 1905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62000" h="590550" fill="none" extrusionOk="0">
                  <a:moveTo>
                    <a:pt x="0" y="590550"/>
                  </a:moveTo>
                  <a:cubicBezTo>
                    <a:pt x="125280" y="565457"/>
                    <a:pt x="268114" y="600228"/>
                    <a:pt x="388620" y="590550"/>
                  </a:cubicBezTo>
                  <a:cubicBezTo>
                    <a:pt x="509126" y="580872"/>
                    <a:pt x="661997" y="602816"/>
                    <a:pt x="762000" y="590550"/>
                  </a:cubicBezTo>
                  <a:cubicBezTo>
                    <a:pt x="714429" y="454041"/>
                    <a:pt x="801435" y="123443"/>
                    <a:pt x="762000" y="0"/>
                  </a:cubicBezTo>
                  <a:cubicBezTo>
                    <a:pt x="638898" y="20488"/>
                    <a:pt x="581116" y="-29312"/>
                    <a:pt x="403860" y="0"/>
                  </a:cubicBezTo>
                  <a:cubicBezTo>
                    <a:pt x="226604" y="29312"/>
                    <a:pt x="94433" y="-30243"/>
                    <a:pt x="0" y="0"/>
                  </a:cubicBezTo>
                  <a:cubicBezTo>
                    <a:pt x="24103" y="259624"/>
                    <a:pt x="-17973" y="353689"/>
                    <a:pt x="0" y="590550"/>
                  </a:cubicBezTo>
                  <a:close/>
                  <a:moveTo>
                    <a:pt x="19050" y="571500"/>
                  </a:moveTo>
                  <a:cubicBezTo>
                    <a:pt x="17440" y="362395"/>
                    <a:pt x="57177" y="310726"/>
                    <a:pt x="19050" y="152400"/>
                  </a:cubicBezTo>
                  <a:cubicBezTo>
                    <a:pt x="169035" y="132790"/>
                    <a:pt x="221452" y="188570"/>
                    <a:pt x="359283" y="152400"/>
                  </a:cubicBezTo>
                  <a:cubicBezTo>
                    <a:pt x="497114" y="116230"/>
                    <a:pt x="624118" y="154138"/>
                    <a:pt x="742950" y="152400"/>
                  </a:cubicBezTo>
                  <a:cubicBezTo>
                    <a:pt x="778489" y="330828"/>
                    <a:pt x="741863" y="362207"/>
                    <a:pt x="742950" y="571500"/>
                  </a:cubicBezTo>
                  <a:cubicBezTo>
                    <a:pt x="645401" y="608398"/>
                    <a:pt x="517897" y="531493"/>
                    <a:pt x="388239" y="571500"/>
                  </a:cubicBezTo>
                  <a:cubicBezTo>
                    <a:pt x="258581" y="611507"/>
                    <a:pt x="165779" y="567707"/>
                    <a:pt x="19050" y="571500"/>
                  </a:cubicBezTo>
                  <a:close/>
                  <a:moveTo>
                    <a:pt x="742950" y="19050"/>
                  </a:moveTo>
                  <a:cubicBezTo>
                    <a:pt x="744351" y="43220"/>
                    <a:pt x="730953" y="89819"/>
                    <a:pt x="742950" y="133350"/>
                  </a:cubicBezTo>
                  <a:cubicBezTo>
                    <a:pt x="561477" y="148340"/>
                    <a:pt x="543754" y="113442"/>
                    <a:pt x="373761" y="133350"/>
                  </a:cubicBezTo>
                  <a:cubicBezTo>
                    <a:pt x="203768" y="153258"/>
                    <a:pt x="124158" y="118808"/>
                    <a:pt x="19050" y="133350"/>
                  </a:cubicBezTo>
                  <a:cubicBezTo>
                    <a:pt x="14037" y="77712"/>
                    <a:pt x="22118" y="65920"/>
                    <a:pt x="19050" y="19050"/>
                  </a:cubicBezTo>
                  <a:cubicBezTo>
                    <a:pt x="184673" y="16665"/>
                    <a:pt x="246057" y="31289"/>
                    <a:pt x="395478" y="19050"/>
                  </a:cubicBezTo>
                  <a:cubicBezTo>
                    <a:pt x="544899" y="6811"/>
                    <a:pt x="611113" y="58305"/>
                    <a:pt x="742950" y="19050"/>
                  </a:cubicBezTo>
                  <a:close/>
                </a:path>
                <a:path w="762000" h="590550" stroke="0" extrusionOk="0">
                  <a:moveTo>
                    <a:pt x="0" y="590550"/>
                  </a:moveTo>
                  <a:cubicBezTo>
                    <a:pt x="154775" y="558154"/>
                    <a:pt x="220356" y="612445"/>
                    <a:pt x="358140" y="590550"/>
                  </a:cubicBezTo>
                  <a:cubicBezTo>
                    <a:pt x="495924" y="568655"/>
                    <a:pt x="600340" y="604512"/>
                    <a:pt x="762000" y="590550"/>
                  </a:cubicBezTo>
                  <a:cubicBezTo>
                    <a:pt x="738712" y="386816"/>
                    <a:pt x="767145" y="240871"/>
                    <a:pt x="762000" y="0"/>
                  </a:cubicBezTo>
                  <a:cubicBezTo>
                    <a:pt x="585348" y="9617"/>
                    <a:pt x="503224" y="-31931"/>
                    <a:pt x="373380" y="0"/>
                  </a:cubicBezTo>
                  <a:cubicBezTo>
                    <a:pt x="243536" y="31931"/>
                    <a:pt x="75450" y="-13351"/>
                    <a:pt x="0" y="0"/>
                  </a:cubicBezTo>
                  <a:cubicBezTo>
                    <a:pt x="16906" y="120276"/>
                    <a:pt x="-49829" y="349513"/>
                    <a:pt x="0" y="590550"/>
                  </a:cubicBezTo>
                  <a:close/>
                  <a:moveTo>
                    <a:pt x="19050" y="571500"/>
                  </a:moveTo>
                  <a:cubicBezTo>
                    <a:pt x="4292" y="476438"/>
                    <a:pt x="41088" y="274487"/>
                    <a:pt x="19050" y="152400"/>
                  </a:cubicBezTo>
                  <a:cubicBezTo>
                    <a:pt x="168273" y="110561"/>
                    <a:pt x="282548" y="172153"/>
                    <a:pt x="381000" y="152400"/>
                  </a:cubicBezTo>
                  <a:cubicBezTo>
                    <a:pt x="479452" y="132647"/>
                    <a:pt x="616942" y="176757"/>
                    <a:pt x="742950" y="152400"/>
                  </a:cubicBezTo>
                  <a:cubicBezTo>
                    <a:pt x="786562" y="310896"/>
                    <a:pt x="730505" y="463900"/>
                    <a:pt x="742950" y="571500"/>
                  </a:cubicBezTo>
                  <a:cubicBezTo>
                    <a:pt x="661936" y="575281"/>
                    <a:pt x="547873" y="537137"/>
                    <a:pt x="373761" y="571500"/>
                  </a:cubicBezTo>
                  <a:cubicBezTo>
                    <a:pt x="199649" y="605863"/>
                    <a:pt x="135744" y="536574"/>
                    <a:pt x="19050" y="571500"/>
                  </a:cubicBezTo>
                  <a:close/>
                  <a:moveTo>
                    <a:pt x="742950" y="19050"/>
                  </a:moveTo>
                  <a:cubicBezTo>
                    <a:pt x="751566" y="63812"/>
                    <a:pt x="733453" y="96224"/>
                    <a:pt x="742950" y="133350"/>
                  </a:cubicBezTo>
                  <a:cubicBezTo>
                    <a:pt x="628384" y="141133"/>
                    <a:pt x="472624" y="114379"/>
                    <a:pt x="366522" y="133350"/>
                  </a:cubicBezTo>
                  <a:cubicBezTo>
                    <a:pt x="260420" y="152321"/>
                    <a:pt x="95857" y="127960"/>
                    <a:pt x="19050" y="133350"/>
                  </a:cubicBezTo>
                  <a:cubicBezTo>
                    <a:pt x="7134" y="100730"/>
                    <a:pt x="25888" y="52179"/>
                    <a:pt x="19050" y="19050"/>
                  </a:cubicBezTo>
                  <a:cubicBezTo>
                    <a:pt x="174631" y="-17870"/>
                    <a:pt x="304189" y="38168"/>
                    <a:pt x="381000" y="19050"/>
                  </a:cubicBezTo>
                  <a:cubicBezTo>
                    <a:pt x="457811" y="-68"/>
                    <a:pt x="605912" y="48223"/>
                    <a:pt x="74295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2498960035">
                    <a:custGeom>
                      <a:avLst/>
                      <a:gdLst>
                        <a:gd name="connsiteX0" fmla="*/ 0 w 762000"/>
                        <a:gd name="connsiteY0" fmla="*/ 590550 h 590550"/>
                        <a:gd name="connsiteX1" fmla="*/ 762000 w 762000"/>
                        <a:gd name="connsiteY1" fmla="*/ 590550 h 590550"/>
                        <a:gd name="connsiteX2" fmla="*/ 762000 w 762000"/>
                        <a:gd name="connsiteY2" fmla="*/ 0 h 590550"/>
                        <a:gd name="connsiteX3" fmla="*/ 0 w 762000"/>
                        <a:gd name="connsiteY3" fmla="*/ 0 h 590550"/>
                        <a:gd name="connsiteX4" fmla="*/ 19050 w 762000"/>
                        <a:gd name="connsiteY4" fmla="*/ 571500 h 590550"/>
                        <a:gd name="connsiteX5" fmla="*/ 19050 w 762000"/>
                        <a:gd name="connsiteY5" fmla="*/ 152400 h 590550"/>
                        <a:gd name="connsiteX6" fmla="*/ 742950 w 762000"/>
                        <a:gd name="connsiteY6" fmla="*/ 152400 h 590550"/>
                        <a:gd name="connsiteX7" fmla="*/ 742950 w 762000"/>
                        <a:gd name="connsiteY7" fmla="*/ 571500 h 590550"/>
                        <a:gd name="connsiteX8" fmla="*/ 742950 w 762000"/>
                        <a:gd name="connsiteY8" fmla="*/ 19050 h 590550"/>
                        <a:gd name="connsiteX9" fmla="*/ 742950 w 762000"/>
                        <a:gd name="connsiteY9" fmla="*/ 133350 h 590550"/>
                        <a:gd name="connsiteX10" fmla="*/ 19050 w 762000"/>
                        <a:gd name="connsiteY10" fmla="*/ 133350 h 590550"/>
                        <a:gd name="connsiteX11" fmla="*/ 19050 w 762000"/>
                        <a:gd name="connsiteY11" fmla="*/ 1905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62000" h="590550">
                          <a:moveTo>
                            <a:pt x="0" y="590550"/>
                          </a:moveTo>
                          <a:lnTo>
                            <a:pt x="762000" y="590550"/>
                          </a:lnTo>
                          <a:lnTo>
                            <a:pt x="762000" y="0"/>
                          </a:lnTo>
                          <a:lnTo>
                            <a:pt x="0" y="0"/>
                          </a:lnTo>
                          <a:close/>
                          <a:moveTo>
                            <a:pt x="19050" y="571500"/>
                          </a:moveTo>
                          <a:lnTo>
                            <a:pt x="19050" y="152400"/>
                          </a:lnTo>
                          <a:lnTo>
                            <a:pt x="742950" y="152400"/>
                          </a:lnTo>
                          <a:lnTo>
                            <a:pt x="742950" y="571500"/>
                          </a:lnTo>
                          <a:close/>
                          <a:moveTo>
                            <a:pt x="742950" y="19050"/>
                          </a:moveTo>
                          <a:lnTo>
                            <a:pt x="742950" y="133350"/>
                          </a:lnTo>
                          <a:lnTo>
                            <a:pt x="19050" y="133350"/>
                          </a:lnTo>
                          <a:lnTo>
                            <a:pt x="19050" y="19050"/>
                          </a:lnTo>
                          <a:close/>
                        </a:path>
                      </a:pathLst>
                    </a:custGeom>
                    <ask:type>
                      <ask:lineSketchScribble/>
                    </ask:type>
                  </ask:lineSketchStyleProps>
                </a:ext>
              </a:extLst>
            </a:ln>
          </p:spPr>
          <p:txBody>
            <a:bodyPr rtlCol="0" anchor="ctr"/>
            <a:lstStyle/>
            <a:p>
              <a:endParaRPr lang="en-US"/>
            </a:p>
          </p:txBody>
        </p:sp>
        <p:sp>
          <p:nvSpPr>
            <p:cNvPr id="106" name="Freeform 30"/>
            <p:cNvSpPr/>
            <p:nvPr/>
          </p:nvSpPr>
          <p:spPr>
            <a:xfrm>
              <a:off x="621982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6668" y="31495"/>
                    <a:pt x="28642" y="37612"/>
                    <a:pt x="19050" y="38100"/>
                  </a:cubicBezTo>
                  <a:cubicBezTo>
                    <a:pt x="9830" y="38864"/>
                    <a:pt x="-602" y="29313"/>
                    <a:pt x="0" y="19050"/>
                  </a:cubicBezTo>
                  <a:cubicBezTo>
                    <a:pt x="71" y="8241"/>
                    <a:pt x="8755" y="-475"/>
                    <a:pt x="19050" y="0"/>
                  </a:cubicBezTo>
                  <a:cubicBezTo>
                    <a:pt x="30529" y="2953"/>
                    <a:pt x="37016" y="9222"/>
                    <a:pt x="38100" y="19050"/>
                  </a:cubicBezTo>
                  <a:close/>
                </a:path>
                <a:path w="38100" h="38100" stroke="0" extrusionOk="0">
                  <a:moveTo>
                    <a:pt x="38100" y="19050"/>
                  </a:moveTo>
                  <a:cubicBezTo>
                    <a:pt x="39774" y="26900"/>
                    <a:pt x="28299" y="37085"/>
                    <a:pt x="19050" y="38100"/>
                  </a:cubicBezTo>
                  <a:cubicBezTo>
                    <a:pt x="9810" y="38297"/>
                    <a:pt x="-1109" y="32155"/>
                    <a:pt x="0" y="19050"/>
                  </a:cubicBezTo>
                  <a:cubicBezTo>
                    <a:pt x="1618" y="8508"/>
                    <a:pt x="8531" y="231"/>
                    <a:pt x="19050" y="0"/>
                  </a:cubicBezTo>
                  <a:cubicBezTo>
                    <a:pt x="30465" y="-1109"/>
                    <a:pt x="38645" y="8775"/>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801459907">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7" name="Freeform 31"/>
            <p:cNvSpPr/>
            <p:nvPr/>
          </p:nvSpPr>
          <p:spPr>
            <a:xfrm>
              <a:off x="6286500"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7148" y="27866"/>
                    <a:pt x="31150" y="39814"/>
                    <a:pt x="19050" y="38100"/>
                  </a:cubicBezTo>
                  <a:cubicBezTo>
                    <a:pt x="8503" y="40197"/>
                    <a:pt x="446" y="30213"/>
                    <a:pt x="0" y="19050"/>
                  </a:cubicBezTo>
                  <a:cubicBezTo>
                    <a:pt x="2158" y="9554"/>
                    <a:pt x="6247" y="174"/>
                    <a:pt x="19050" y="0"/>
                  </a:cubicBezTo>
                  <a:cubicBezTo>
                    <a:pt x="31189" y="123"/>
                    <a:pt x="40255" y="9425"/>
                    <a:pt x="38100" y="19050"/>
                  </a:cubicBezTo>
                  <a:close/>
                </a:path>
                <a:path w="38100" h="38100" stroke="0" extrusionOk="0">
                  <a:moveTo>
                    <a:pt x="38100" y="19050"/>
                  </a:moveTo>
                  <a:cubicBezTo>
                    <a:pt x="36702" y="28517"/>
                    <a:pt x="30289" y="38205"/>
                    <a:pt x="19050" y="38100"/>
                  </a:cubicBezTo>
                  <a:cubicBezTo>
                    <a:pt x="8050" y="37989"/>
                    <a:pt x="2019" y="31677"/>
                    <a:pt x="0" y="19050"/>
                  </a:cubicBezTo>
                  <a:cubicBezTo>
                    <a:pt x="352" y="9041"/>
                    <a:pt x="7961" y="-1347"/>
                    <a:pt x="19050" y="0"/>
                  </a:cubicBezTo>
                  <a:cubicBezTo>
                    <a:pt x="28406" y="-1785"/>
                    <a:pt x="37107" y="7113"/>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741904289">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8" name="Freeform 32"/>
            <p:cNvSpPr/>
            <p:nvPr/>
          </p:nvSpPr>
          <p:spPr>
            <a:xfrm>
              <a:off x="635317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40484" y="27911"/>
                    <a:pt x="28318" y="38040"/>
                    <a:pt x="19050" y="38100"/>
                  </a:cubicBezTo>
                  <a:cubicBezTo>
                    <a:pt x="6219" y="37740"/>
                    <a:pt x="1168" y="27565"/>
                    <a:pt x="0" y="19050"/>
                  </a:cubicBezTo>
                  <a:cubicBezTo>
                    <a:pt x="-1210" y="9994"/>
                    <a:pt x="10441" y="-1791"/>
                    <a:pt x="19050" y="0"/>
                  </a:cubicBezTo>
                  <a:cubicBezTo>
                    <a:pt x="28904" y="1053"/>
                    <a:pt x="37238" y="6479"/>
                    <a:pt x="38100" y="19050"/>
                  </a:cubicBezTo>
                  <a:close/>
                </a:path>
                <a:path w="38100" h="38100" stroke="0" extrusionOk="0">
                  <a:moveTo>
                    <a:pt x="38100" y="19050"/>
                  </a:moveTo>
                  <a:cubicBezTo>
                    <a:pt x="38795" y="29284"/>
                    <a:pt x="26912" y="37258"/>
                    <a:pt x="19050" y="38100"/>
                  </a:cubicBezTo>
                  <a:cubicBezTo>
                    <a:pt x="10193" y="38587"/>
                    <a:pt x="-2503" y="29971"/>
                    <a:pt x="0" y="19050"/>
                  </a:cubicBezTo>
                  <a:cubicBezTo>
                    <a:pt x="-9" y="8962"/>
                    <a:pt x="9807" y="15"/>
                    <a:pt x="19050" y="0"/>
                  </a:cubicBezTo>
                  <a:cubicBezTo>
                    <a:pt x="29850" y="-183"/>
                    <a:pt x="39296" y="8072"/>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078833563">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grpSp>
      <p:sp>
        <p:nvSpPr>
          <p:cNvPr id="10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Just Finished</a:t>
            </a:r>
          </a:p>
        </p:txBody>
      </p:sp>
      <p:sp>
        <p:nvSpPr>
          <p:cNvPr id="110"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trail-0117</a:t>
            </a:r>
          </a:p>
        </p:txBody>
      </p:sp>
      <p:cxnSp>
        <p:nvCxnSpPr>
          <p:cNvPr id="111"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12"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Avalanche Lake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(trail-0117)</a:t>
            </a:r>
          </a:p>
        </p:txBody>
      </p:sp>
      <p:sp>
        <p:nvSpPr>
          <p:cNvPr id="113"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4" name="Graphic 2" descr="Single gear outline"/>
          <p:cNvGrpSpPr/>
          <p:nvPr/>
        </p:nvGrpSpPr>
        <p:grpSpPr>
          <a:xfrm>
            <a:off x="5738021" y="2728234"/>
            <a:ext cx="648652" cy="647861"/>
            <a:chOff x="5772150" y="3332061"/>
            <a:chExt cx="648652" cy="647861"/>
          </a:xfrm>
          <a:noFill/>
        </p:grpSpPr>
        <p:sp>
          <p:nvSpPr>
            <p:cNvPr id="115"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6"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7"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How It Works</a:t>
            </a:r>
          </a:p>
        </p:txBody>
      </p:sp>
      <p:grpSp>
        <p:nvGrpSpPr>
          <p:cNvPr id="101" name="Graphic 24" descr="Web design outline"/>
          <p:cNvGrpSpPr/>
          <p:nvPr/>
        </p:nvGrpSpPr>
        <p:grpSpPr>
          <a:xfrm>
            <a:off x="1356360" y="3360636"/>
            <a:ext cx="762000" cy="590550"/>
            <a:chOff x="5715000" y="3133725"/>
            <a:chExt cx="762000" cy="590550"/>
          </a:xfrm>
          <a:noFill/>
        </p:grpSpPr>
        <p:sp>
          <p:nvSpPr>
            <p:cNvPr id="102" name="Freeform 26"/>
            <p:cNvSpPr/>
            <p:nvPr/>
          </p:nvSpPr>
          <p:spPr>
            <a:xfrm>
              <a:off x="5872981" y="3374640"/>
              <a:ext cx="115452" cy="203968"/>
            </a:xfrm>
            <a:custGeom>
              <a:avLst/>
              <a:gdLst>
                <a:gd name="csX0" fmla="*/ 101984 w 115452"/>
                <a:gd name="csY0" fmla="*/ 0 h 203968"/>
                <a:gd name="csX1" fmla="*/ 0 w 115452"/>
                <a:gd name="csY1" fmla="*/ 101984 h 203968"/>
                <a:gd name="csX2" fmla="*/ 101984 w 115452"/>
                <a:gd name="csY2" fmla="*/ 203968 h 203968"/>
                <a:gd name="csX3" fmla="*/ 115453 w 115452"/>
                <a:gd name="csY3" fmla="*/ 190500 h 203968"/>
                <a:gd name="csX4" fmla="*/ 26937 w 115452"/>
                <a:gd name="csY4" fmla="*/ 101984 h 203968"/>
                <a:gd name="csX5" fmla="*/ 115453 w 115452"/>
                <a:gd name="csY5" fmla="*/ 13468 h 203968"/>
                <a:gd name="csX6" fmla="*/ 101984 w 115452"/>
                <a:gd name="csY6" fmla="*/ 0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101984" y="0"/>
                  </a:moveTo>
                  <a:cubicBezTo>
                    <a:pt x="80469" y="29789"/>
                    <a:pt x="10671" y="68735"/>
                    <a:pt x="0" y="101984"/>
                  </a:cubicBezTo>
                  <a:cubicBezTo>
                    <a:pt x="35097" y="113800"/>
                    <a:pt x="52768" y="168720"/>
                    <a:pt x="101984" y="203968"/>
                  </a:cubicBezTo>
                  <a:cubicBezTo>
                    <a:pt x="106341" y="197468"/>
                    <a:pt x="111754" y="196900"/>
                    <a:pt x="115453" y="190500"/>
                  </a:cubicBezTo>
                  <a:cubicBezTo>
                    <a:pt x="86765" y="171738"/>
                    <a:pt x="72486" y="128597"/>
                    <a:pt x="26937" y="101984"/>
                  </a:cubicBezTo>
                  <a:cubicBezTo>
                    <a:pt x="56095" y="68628"/>
                    <a:pt x="87648" y="43689"/>
                    <a:pt x="115453" y="13468"/>
                  </a:cubicBezTo>
                  <a:cubicBezTo>
                    <a:pt x="110598" y="11500"/>
                    <a:pt x="108028" y="3862"/>
                    <a:pt x="101984" y="0"/>
                  </a:cubicBezTo>
                  <a:close/>
                </a:path>
                <a:path w="115452" h="203968" stroke="0" extrusionOk="0">
                  <a:moveTo>
                    <a:pt x="101984" y="0"/>
                  </a:moveTo>
                  <a:cubicBezTo>
                    <a:pt x="54666" y="49377"/>
                    <a:pt x="14242" y="66077"/>
                    <a:pt x="0" y="101984"/>
                  </a:cubicBezTo>
                  <a:cubicBezTo>
                    <a:pt x="50434" y="132521"/>
                    <a:pt x="69644" y="185088"/>
                    <a:pt x="101984" y="203968"/>
                  </a:cubicBezTo>
                  <a:cubicBezTo>
                    <a:pt x="106139" y="198738"/>
                    <a:pt x="111444" y="196583"/>
                    <a:pt x="115453" y="190500"/>
                  </a:cubicBezTo>
                  <a:cubicBezTo>
                    <a:pt x="76111" y="159672"/>
                    <a:pt x="70051" y="126332"/>
                    <a:pt x="26937" y="101984"/>
                  </a:cubicBezTo>
                  <a:cubicBezTo>
                    <a:pt x="50353" y="60681"/>
                    <a:pt x="104707" y="42634"/>
                    <a:pt x="115453" y="13468"/>
                  </a:cubicBezTo>
                  <a:cubicBezTo>
                    <a:pt x="111636" y="10467"/>
                    <a:pt x="107664" y="2756"/>
                    <a:pt x="101984"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101984 w 115452"/>
                        <a:gd name="connsiteY0" fmla="*/ 0 h 203968"/>
                        <a:gd name="connsiteX1" fmla="*/ 0 w 115452"/>
                        <a:gd name="connsiteY1" fmla="*/ 101984 h 203968"/>
                        <a:gd name="connsiteX2" fmla="*/ 101984 w 115452"/>
                        <a:gd name="connsiteY2" fmla="*/ 203968 h 203968"/>
                        <a:gd name="connsiteX3" fmla="*/ 115453 w 115452"/>
                        <a:gd name="connsiteY3" fmla="*/ 190500 h 203968"/>
                        <a:gd name="connsiteX4" fmla="*/ 26937 w 115452"/>
                        <a:gd name="connsiteY4" fmla="*/ 101984 h 203968"/>
                        <a:gd name="connsiteX5" fmla="*/ 115453 w 115452"/>
                        <a:gd name="connsiteY5" fmla="*/ 13468 h 203968"/>
                        <a:gd name="connsiteX6" fmla="*/ 101984 w 115452"/>
                        <a:gd name="connsiteY6" fmla="*/ 0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101984" y="0"/>
                          </a:moveTo>
                          <a:lnTo>
                            <a:pt x="0" y="101984"/>
                          </a:lnTo>
                          <a:lnTo>
                            <a:pt x="101984" y="203968"/>
                          </a:lnTo>
                          <a:lnTo>
                            <a:pt x="115453" y="190500"/>
                          </a:lnTo>
                          <a:lnTo>
                            <a:pt x="26937" y="101984"/>
                          </a:lnTo>
                          <a:lnTo>
                            <a:pt x="115453" y="13468"/>
                          </a:lnTo>
                          <a:lnTo>
                            <a:pt x="101984" y="0"/>
                          </a:lnTo>
                          <a:close/>
                        </a:path>
                      </a:pathLst>
                    </a:custGeom>
                    <ask:type>
                      <ask:lineSketchScribble/>
                    </ask:type>
                  </ask:lineSketchStyleProps>
                </a:ext>
              </a:extLst>
            </a:ln>
          </p:spPr>
          <p:txBody>
            <a:bodyPr rtlCol="0" anchor="ctr"/>
            <a:lstStyle/>
            <a:p>
              <a:endParaRPr lang="en-US"/>
            </a:p>
          </p:txBody>
        </p:sp>
        <p:sp>
          <p:nvSpPr>
            <p:cNvPr id="103" name="Freeform 27"/>
            <p:cNvSpPr/>
            <p:nvPr/>
          </p:nvSpPr>
          <p:spPr>
            <a:xfrm>
              <a:off x="6203565" y="3374640"/>
              <a:ext cx="115452" cy="203968"/>
            </a:xfrm>
            <a:custGeom>
              <a:avLst/>
              <a:gdLst>
                <a:gd name="csX0" fmla="*/ 0 w 115452"/>
                <a:gd name="csY0" fmla="*/ 13468 h 203968"/>
                <a:gd name="csX1" fmla="*/ 88516 w 115452"/>
                <a:gd name="csY1" fmla="*/ 101984 h 203968"/>
                <a:gd name="csX2" fmla="*/ 0 w 115452"/>
                <a:gd name="csY2" fmla="*/ 190500 h 203968"/>
                <a:gd name="csX3" fmla="*/ 13468 w 115452"/>
                <a:gd name="csY3" fmla="*/ 203968 h 203968"/>
                <a:gd name="csX4" fmla="*/ 115453 w 115452"/>
                <a:gd name="csY4" fmla="*/ 101984 h 203968"/>
                <a:gd name="csX5" fmla="*/ 13468 w 115452"/>
                <a:gd name="csY5" fmla="*/ 0 h 203968"/>
                <a:gd name="csX6" fmla="*/ 0 w 115452"/>
                <a:gd name="csY6" fmla="*/ 13468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0" y="13468"/>
                  </a:moveTo>
                  <a:cubicBezTo>
                    <a:pt x="28195" y="31658"/>
                    <a:pt x="62315" y="85716"/>
                    <a:pt x="88516" y="101984"/>
                  </a:cubicBezTo>
                  <a:cubicBezTo>
                    <a:pt x="58661" y="145296"/>
                    <a:pt x="33019" y="156066"/>
                    <a:pt x="0" y="190500"/>
                  </a:cubicBezTo>
                  <a:cubicBezTo>
                    <a:pt x="5261" y="193987"/>
                    <a:pt x="8997" y="201568"/>
                    <a:pt x="13468" y="203968"/>
                  </a:cubicBezTo>
                  <a:cubicBezTo>
                    <a:pt x="49805" y="148660"/>
                    <a:pt x="76016" y="150703"/>
                    <a:pt x="115453" y="101984"/>
                  </a:cubicBezTo>
                  <a:cubicBezTo>
                    <a:pt x="68851" y="78131"/>
                    <a:pt x="60248" y="25543"/>
                    <a:pt x="13468" y="0"/>
                  </a:cubicBezTo>
                  <a:cubicBezTo>
                    <a:pt x="7612" y="6684"/>
                    <a:pt x="4796" y="5981"/>
                    <a:pt x="0" y="13468"/>
                  </a:cubicBezTo>
                  <a:close/>
                </a:path>
                <a:path w="115452" h="203968" stroke="0" extrusionOk="0">
                  <a:moveTo>
                    <a:pt x="0" y="13468"/>
                  </a:moveTo>
                  <a:cubicBezTo>
                    <a:pt x="35903" y="44056"/>
                    <a:pt x="52973" y="84230"/>
                    <a:pt x="88516" y="101984"/>
                  </a:cubicBezTo>
                  <a:cubicBezTo>
                    <a:pt x="48291" y="147503"/>
                    <a:pt x="38948" y="145206"/>
                    <a:pt x="0" y="190500"/>
                  </a:cubicBezTo>
                  <a:cubicBezTo>
                    <a:pt x="4026" y="193879"/>
                    <a:pt x="5514" y="199242"/>
                    <a:pt x="13468" y="203968"/>
                  </a:cubicBezTo>
                  <a:cubicBezTo>
                    <a:pt x="29831" y="179468"/>
                    <a:pt x="77301" y="146098"/>
                    <a:pt x="115453" y="101984"/>
                  </a:cubicBezTo>
                  <a:cubicBezTo>
                    <a:pt x="80161" y="89125"/>
                    <a:pt x="66590" y="44761"/>
                    <a:pt x="13468" y="0"/>
                  </a:cubicBezTo>
                  <a:cubicBezTo>
                    <a:pt x="9274" y="4825"/>
                    <a:pt x="3783" y="8616"/>
                    <a:pt x="0" y="13468"/>
                  </a:cubicBezTo>
                  <a:close/>
                </a:path>
              </a:pathLst>
            </a:custGeom>
            <a:grpFill/>
            <a:ln w="15875" cap="flat">
              <a:solidFill>
                <a:srgbClr val="1F3A5F"/>
              </a:solidFill>
              <a:prstDash val="solid"/>
              <a:miter/>
              <a:extLst>
                <a:ext uri="{C807C97D-BFC1-408E-A445-0C87EB9F89A2}">
                  <ask:lineSketchStyleProps xmlns:ask="http://schemas.microsoft.com/office/drawing/2018/sketchyshapes" sd="2830084044">
                    <a:custGeom>
                      <a:avLst/>
                      <a:gdLst>
                        <a:gd name="connsiteX0" fmla="*/ 0 w 115452"/>
                        <a:gd name="connsiteY0" fmla="*/ 13468 h 203968"/>
                        <a:gd name="connsiteX1" fmla="*/ 88516 w 115452"/>
                        <a:gd name="connsiteY1" fmla="*/ 101984 h 203968"/>
                        <a:gd name="connsiteX2" fmla="*/ 0 w 115452"/>
                        <a:gd name="connsiteY2" fmla="*/ 190500 h 203968"/>
                        <a:gd name="connsiteX3" fmla="*/ 13468 w 115452"/>
                        <a:gd name="connsiteY3" fmla="*/ 203968 h 203968"/>
                        <a:gd name="connsiteX4" fmla="*/ 115453 w 115452"/>
                        <a:gd name="connsiteY4" fmla="*/ 101984 h 203968"/>
                        <a:gd name="connsiteX5" fmla="*/ 13468 w 115452"/>
                        <a:gd name="connsiteY5" fmla="*/ 0 h 203968"/>
                        <a:gd name="connsiteX6" fmla="*/ 0 w 115452"/>
                        <a:gd name="connsiteY6" fmla="*/ 13468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0" y="13468"/>
                          </a:moveTo>
                          <a:lnTo>
                            <a:pt x="88516" y="101984"/>
                          </a:lnTo>
                          <a:lnTo>
                            <a:pt x="0" y="190500"/>
                          </a:lnTo>
                          <a:lnTo>
                            <a:pt x="13468" y="203968"/>
                          </a:lnTo>
                          <a:lnTo>
                            <a:pt x="115453" y="101984"/>
                          </a:lnTo>
                          <a:lnTo>
                            <a:pt x="13468" y="0"/>
                          </a:lnTo>
                          <a:lnTo>
                            <a:pt x="0" y="13468"/>
                          </a:lnTo>
                          <a:close/>
                        </a:path>
                      </a:pathLst>
                    </a:custGeom>
                    <ask:type>
                      <ask:lineSketchScribble/>
                    </ask:type>
                  </ask:lineSketchStyleProps>
                </a:ext>
              </a:extLst>
            </a:ln>
          </p:spPr>
          <p:txBody>
            <a:bodyPr rtlCol="0" anchor="ctr"/>
            <a:lstStyle/>
            <a:p>
              <a:endParaRPr lang="en-US"/>
            </a:p>
          </p:txBody>
        </p:sp>
        <p:sp>
          <p:nvSpPr>
            <p:cNvPr id="104" name="Freeform 28"/>
            <p:cNvSpPr/>
            <p:nvPr/>
          </p:nvSpPr>
          <p:spPr>
            <a:xfrm rot="-3990120">
              <a:off x="5976555" y="3471860"/>
              <a:ext cx="238886" cy="19049"/>
            </a:xfrm>
            <a:custGeom>
              <a:avLst/>
              <a:gdLst>
                <a:gd name="csX0" fmla="*/ 0 w 238886"/>
                <a:gd name="csY0" fmla="*/ 0 h 19049"/>
                <a:gd name="csX1" fmla="*/ 238887 w 238886"/>
                <a:gd name="csY1" fmla="*/ 0 h 19049"/>
                <a:gd name="csX2" fmla="*/ 238887 w 238886"/>
                <a:gd name="csY2" fmla="*/ 19050 h 19049"/>
                <a:gd name="csX3" fmla="*/ 0 w 238886"/>
                <a:gd name="csY3" fmla="*/ 19050 h 19049"/>
                <a:gd name="csX4" fmla="*/ 0 w 238886"/>
                <a:gd name="csY4" fmla="*/ 0 h 19049"/>
              </a:gdLst>
              <a:ahLst/>
              <a:cxnLst>
                <a:cxn ang="0">
                  <a:pos x="csX0" y="csY0"/>
                </a:cxn>
                <a:cxn ang="0">
                  <a:pos x="csX1" y="csY1"/>
                </a:cxn>
                <a:cxn ang="0">
                  <a:pos x="csX2" y="csY2"/>
                </a:cxn>
                <a:cxn ang="0">
                  <a:pos x="csX3" y="csY3"/>
                </a:cxn>
                <a:cxn ang="0">
                  <a:pos x="csX4" y="csY4"/>
                </a:cxn>
              </a:cxnLst>
              <a:rect l="l" t="t" r="r" b="b"/>
              <a:pathLst>
                <a:path w="238886" h="19049" fill="none" extrusionOk="0">
                  <a:moveTo>
                    <a:pt x="0" y="0"/>
                  </a:moveTo>
                  <a:cubicBezTo>
                    <a:pt x="89439" y="-27312"/>
                    <a:pt x="129399" y="19521"/>
                    <a:pt x="238887" y="0"/>
                  </a:cubicBezTo>
                  <a:cubicBezTo>
                    <a:pt x="240312" y="8611"/>
                    <a:pt x="237794" y="9969"/>
                    <a:pt x="238887" y="19050"/>
                  </a:cubicBezTo>
                  <a:cubicBezTo>
                    <a:pt x="125798" y="22001"/>
                    <a:pt x="48091" y="-5468"/>
                    <a:pt x="0" y="19050"/>
                  </a:cubicBezTo>
                  <a:cubicBezTo>
                    <a:pt x="-332" y="10898"/>
                    <a:pt x="983" y="6475"/>
                    <a:pt x="0" y="0"/>
                  </a:cubicBezTo>
                  <a:close/>
                </a:path>
                <a:path w="238886" h="19049" stroke="0" extrusionOk="0">
                  <a:moveTo>
                    <a:pt x="0" y="0"/>
                  </a:moveTo>
                  <a:cubicBezTo>
                    <a:pt x="81267" y="-25071"/>
                    <a:pt x="137755" y="27943"/>
                    <a:pt x="238887" y="0"/>
                  </a:cubicBezTo>
                  <a:cubicBezTo>
                    <a:pt x="240527" y="4590"/>
                    <a:pt x="237147" y="12697"/>
                    <a:pt x="238887" y="19050"/>
                  </a:cubicBezTo>
                  <a:cubicBezTo>
                    <a:pt x="130063" y="34728"/>
                    <a:pt x="61649" y="-7729"/>
                    <a:pt x="0" y="19050"/>
                  </a:cubicBezTo>
                  <a:cubicBezTo>
                    <a:pt x="-926" y="10149"/>
                    <a:pt x="314" y="6645"/>
                    <a:pt x="0"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658789007">
                    <a:custGeom>
                      <a:avLst/>
                      <a:gdLst>
                        <a:gd name="connsiteX0" fmla="*/ 0 w 238886"/>
                        <a:gd name="connsiteY0" fmla="*/ 0 h 19049"/>
                        <a:gd name="connsiteX1" fmla="*/ 238887 w 238886"/>
                        <a:gd name="connsiteY1" fmla="*/ 0 h 19049"/>
                        <a:gd name="connsiteX2" fmla="*/ 238887 w 238886"/>
                        <a:gd name="connsiteY2" fmla="*/ 19050 h 19049"/>
                        <a:gd name="connsiteX3" fmla="*/ 0 w 238886"/>
                        <a:gd name="connsiteY3" fmla="*/ 19050 h 19049"/>
                      </a:gdLst>
                      <a:ahLst/>
                      <a:cxnLst>
                        <a:cxn ang="0">
                          <a:pos x="connsiteX0" y="connsiteY0"/>
                        </a:cxn>
                        <a:cxn ang="0">
                          <a:pos x="connsiteX1" y="connsiteY1"/>
                        </a:cxn>
                        <a:cxn ang="0">
                          <a:pos x="connsiteX2" y="connsiteY2"/>
                        </a:cxn>
                        <a:cxn ang="0">
                          <a:pos x="connsiteX3" y="connsiteY3"/>
                        </a:cxn>
                      </a:cxnLst>
                      <a:rect l="l" t="t" r="r" b="b"/>
                      <a:pathLst>
                        <a:path w="238886" h="19049">
                          <a:moveTo>
                            <a:pt x="0" y="0"/>
                          </a:moveTo>
                          <a:lnTo>
                            <a:pt x="238887" y="0"/>
                          </a:lnTo>
                          <a:lnTo>
                            <a:pt x="238887" y="19050"/>
                          </a:lnTo>
                          <a:lnTo>
                            <a:pt x="0" y="19050"/>
                          </a:lnTo>
                          <a:close/>
                        </a:path>
                      </a:pathLst>
                    </a:custGeom>
                    <ask:type>
                      <ask:lineSketchScribble/>
                    </ask:type>
                  </ask:lineSketchStyleProps>
                </a:ext>
              </a:extLst>
            </a:ln>
          </p:spPr>
          <p:txBody>
            <a:bodyPr rtlCol="0" anchor="ctr"/>
            <a:lstStyle/>
            <a:p>
              <a:endParaRPr lang="en-US"/>
            </a:p>
          </p:txBody>
        </p:sp>
        <p:sp>
          <p:nvSpPr>
            <p:cNvPr id="105" name="Freeform 29"/>
            <p:cNvSpPr/>
            <p:nvPr/>
          </p:nvSpPr>
          <p:spPr>
            <a:xfrm>
              <a:off x="5715000" y="3133725"/>
              <a:ext cx="762000" cy="590550"/>
            </a:xfrm>
            <a:custGeom>
              <a:avLst/>
              <a:gdLst>
                <a:gd name="csX0" fmla="*/ 0 w 762000"/>
                <a:gd name="csY0" fmla="*/ 590550 h 590550"/>
                <a:gd name="csX1" fmla="*/ 388620 w 762000"/>
                <a:gd name="csY1" fmla="*/ 590550 h 590550"/>
                <a:gd name="csX2" fmla="*/ 762000 w 762000"/>
                <a:gd name="csY2" fmla="*/ 590550 h 590550"/>
                <a:gd name="csX3" fmla="*/ 762000 w 762000"/>
                <a:gd name="csY3" fmla="*/ 0 h 590550"/>
                <a:gd name="csX4" fmla="*/ 403860 w 762000"/>
                <a:gd name="csY4" fmla="*/ 0 h 590550"/>
                <a:gd name="csX5" fmla="*/ 0 w 762000"/>
                <a:gd name="csY5" fmla="*/ 0 h 590550"/>
                <a:gd name="csX6" fmla="*/ 0 w 762000"/>
                <a:gd name="csY6" fmla="*/ 590550 h 590550"/>
                <a:gd name="csX7" fmla="*/ 19050 w 762000"/>
                <a:gd name="csY7" fmla="*/ 571500 h 590550"/>
                <a:gd name="csX8" fmla="*/ 19050 w 762000"/>
                <a:gd name="csY8" fmla="*/ 152400 h 590550"/>
                <a:gd name="csX9" fmla="*/ 359283 w 762000"/>
                <a:gd name="csY9" fmla="*/ 152400 h 590550"/>
                <a:gd name="csX10" fmla="*/ 742950 w 762000"/>
                <a:gd name="csY10" fmla="*/ 152400 h 590550"/>
                <a:gd name="csX11" fmla="*/ 742950 w 762000"/>
                <a:gd name="csY11" fmla="*/ 571500 h 590550"/>
                <a:gd name="csX12" fmla="*/ 388239 w 762000"/>
                <a:gd name="csY12" fmla="*/ 571500 h 590550"/>
                <a:gd name="csX13" fmla="*/ 19050 w 762000"/>
                <a:gd name="csY13" fmla="*/ 571500 h 590550"/>
                <a:gd name="csX14" fmla="*/ 742950 w 762000"/>
                <a:gd name="csY14" fmla="*/ 19050 h 590550"/>
                <a:gd name="csX15" fmla="*/ 742950 w 762000"/>
                <a:gd name="csY15" fmla="*/ 133350 h 590550"/>
                <a:gd name="csX16" fmla="*/ 373761 w 762000"/>
                <a:gd name="csY16" fmla="*/ 133350 h 590550"/>
                <a:gd name="csX17" fmla="*/ 19050 w 762000"/>
                <a:gd name="csY17" fmla="*/ 133350 h 590550"/>
                <a:gd name="csX18" fmla="*/ 19050 w 762000"/>
                <a:gd name="csY18" fmla="*/ 19050 h 590550"/>
                <a:gd name="csX19" fmla="*/ 395478 w 762000"/>
                <a:gd name="csY19" fmla="*/ 19050 h 590550"/>
                <a:gd name="csX20" fmla="*/ 742950 w 762000"/>
                <a:gd name="csY20" fmla="*/ 1905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62000" h="590550" fill="none" extrusionOk="0">
                  <a:moveTo>
                    <a:pt x="0" y="590550"/>
                  </a:moveTo>
                  <a:cubicBezTo>
                    <a:pt x="125280" y="565457"/>
                    <a:pt x="268114" y="600228"/>
                    <a:pt x="388620" y="590550"/>
                  </a:cubicBezTo>
                  <a:cubicBezTo>
                    <a:pt x="509126" y="580872"/>
                    <a:pt x="661997" y="602816"/>
                    <a:pt x="762000" y="590550"/>
                  </a:cubicBezTo>
                  <a:cubicBezTo>
                    <a:pt x="714429" y="454041"/>
                    <a:pt x="801435" y="123443"/>
                    <a:pt x="762000" y="0"/>
                  </a:cubicBezTo>
                  <a:cubicBezTo>
                    <a:pt x="638898" y="20488"/>
                    <a:pt x="581116" y="-29312"/>
                    <a:pt x="403860" y="0"/>
                  </a:cubicBezTo>
                  <a:cubicBezTo>
                    <a:pt x="226604" y="29312"/>
                    <a:pt x="94433" y="-30243"/>
                    <a:pt x="0" y="0"/>
                  </a:cubicBezTo>
                  <a:cubicBezTo>
                    <a:pt x="24103" y="259624"/>
                    <a:pt x="-17973" y="353689"/>
                    <a:pt x="0" y="590550"/>
                  </a:cubicBezTo>
                  <a:close/>
                  <a:moveTo>
                    <a:pt x="19050" y="571500"/>
                  </a:moveTo>
                  <a:cubicBezTo>
                    <a:pt x="17440" y="362395"/>
                    <a:pt x="57177" y="310726"/>
                    <a:pt x="19050" y="152400"/>
                  </a:cubicBezTo>
                  <a:cubicBezTo>
                    <a:pt x="169035" y="132790"/>
                    <a:pt x="221452" y="188570"/>
                    <a:pt x="359283" y="152400"/>
                  </a:cubicBezTo>
                  <a:cubicBezTo>
                    <a:pt x="497114" y="116230"/>
                    <a:pt x="624118" y="154138"/>
                    <a:pt x="742950" y="152400"/>
                  </a:cubicBezTo>
                  <a:cubicBezTo>
                    <a:pt x="778489" y="330828"/>
                    <a:pt x="741863" y="362207"/>
                    <a:pt x="742950" y="571500"/>
                  </a:cubicBezTo>
                  <a:cubicBezTo>
                    <a:pt x="645401" y="608398"/>
                    <a:pt x="517897" y="531493"/>
                    <a:pt x="388239" y="571500"/>
                  </a:cubicBezTo>
                  <a:cubicBezTo>
                    <a:pt x="258581" y="611507"/>
                    <a:pt x="165779" y="567707"/>
                    <a:pt x="19050" y="571500"/>
                  </a:cubicBezTo>
                  <a:close/>
                  <a:moveTo>
                    <a:pt x="742950" y="19050"/>
                  </a:moveTo>
                  <a:cubicBezTo>
                    <a:pt x="744351" y="43220"/>
                    <a:pt x="730953" y="89819"/>
                    <a:pt x="742950" y="133350"/>
                  </a:cubicBezTo>
                  <a:cubicBezTo>
                    <a:pt x="561477" y="148340"/>
                    <a:pt x="543754" y="113442"/>
                    <a:pt x="373761" y="133350"/>
                  </a:cubicBezTo>
                  <a:cubicBezTo>
                    <a:pt x="203768" y="153258"/>
                    <a:pt x="124158" y="118808"/>
                    <a:pt x="19050" y="133350"/>
                  </a:cubicBezTo>
                  <a:cubicBezTo>
                    <a:pt x="14037" y="77712"/>
                    <a:pt x="22118" y="65920"/>
                    <a:pt x="19050" y="19050"/>
                  </a:cubicBezTo>
                  <a:cubicBezTo>
                    <a:pt x="184673" y="16665"/>
                    <a:pt x="246057" y="31289"/>
                    <a:pt x="395478" y="19050"/>
                  </a:cubicBezTo>
                  <a:cubicBezTo>
                    <a:pt x="544899" y="6811"/>
                    <a:pt x="611113" y="58305"/>
                    <a:pt x="742950" y="19050"/>
                  </a:cubicBezTo>
                  <a:close/>
                </a:path>
                <a:path w="762000" h="590550" stroke="0" extrusionOk="0">
                  <a:moveTo>
                    <a:pt x="0" y="590550"/>
                  </a:moveTo>
                  <a:cubicBezTo>
                    <a:pt x="154775" y="558154"/>
                    <a:pt x="220356" y="612445"/>
                    <a:pt x="358140" y="590550"/>
                  </a:cubicBezTo>
                  <a:cubicBezTo>
                    <a:pt x="495924" y="568655"/>
                    <a:pt x="600340" y="604512"/>
                    <a:pt x="762000" y="590550"/>
                  </a:cubicBezTo>
                  <a:cubicBezTo>
                    <a:pt x="738712" y="386816"/>
                    <a:pt x="767145" y="240871"/>
                    <a:pt x="762000" y="0"/>
                  </a:cubicBezTo>
                  <a:cubicBezTo>
                    <a:pt x="585348" y="9617"/>
                    <a:pt x="503224" y="-31931"/>
                    <a:pt x="373380" y="0"/>
                  </a:cubicBezTo>
                  <a:cubicBezTo>
                    <a:pt x="243536" y="31931"/>
                    <a:pt x="75450" y="-13351"/>
                    <a:pt x="0" y="0"/>
                  </a:cubicBezTo>
                  <a:cubicBezTo>
                    <a:pt x="16906" y="120276"/>
                    <a:pt x="-49829" y="349513"/>
                    <a:pt x="0" y="590550"/>
                  </a:cubicBezTo>
                  <a:close/>
                  <a:moveTo>
                    <a:pt x="19050" y="571500"/>
                  </a:moveTo>
                  <a:cubicBezTo>
                    <a:pt x="4292" y="476438"/>
                    <a:pt x="41088" y="274487"/>
                    <a:pt x="19050" y="152400"/>
                  </a:cubicBezTo>
                  <a:cubicBezTo>
                    <a:pt x="168273" y="110561"/>
                    <a:pt x="282548" y="172153"/>
                    <a:pt x="381000" y="152400"/>
                  </a:cubicBezTo>
                  <a:cubicBezTo>
                    <a:pt x="479452" y="132647"/>
                    <a:pt x="616942" y="176757"/>
                    <a:pt x="742950" y="152400"/>
                  </a:cubicBezTo>
                  <a:cubicBezTo>
                    <a:pt x="786562" y="310896"/>
                    <a:pt x="730505" y="463900"/>
                    <a:pt x="742950" y="571500"/>
                  </a:cubicBezTo>
                  <a:cubicBezTo>
                    <a:pt x="661936" y="575281"/>
                    <a:pt x="547873" y="537137"/>
                    <a:pt x="373761" y="571500"/>
                  </a:cubicBezTo>
                  <a:cubicBezTo>
                    <a:pt x="199649" y="605863"/>
                    <a:pt x="135744" y="536574"/>
                    <a:pt x="19050" y="571500"/>
                  </a:cubicBezTo>
                  <a:close/>
                  <a:moveTo>
                    <a:pt x="742950" y="19050"/>
                  </a:moveTo>
                  <a:cubicBezTo>
                    <a:pt x="751566" y="63812"/>
                    <a:pt x="733453" y="96224"/>
                    <a:pt x="742950" y="133350"/>
                  </a:cubicBezTo>
                  <a:cubicBezTo>
                    <a:pt x="628384" y="141133"/>
                    <a:pt x="472624" y="114379"/>
                    <a:pt x="366522" y="133350"/>
                  </a:cubicBezTo>
                  <a:cubicBezTo>
                    <a:pt x="260420" y="152321"/>
                    <a:pt x="95857" y="127960"/>
                    <a:pt x="19050" y="133350"/>
                  </a:cubicBezTo>
                  <a:cubicBezTo>
                    <a:pt x="7134" y="100730"/>
                    <a:pt x="25888" y="52179"/>
                    <a:pt x="19050" y="19050"/>
                  </a:cubicBezTo>
                  <a:cubicBezTo>
                    <a:pt x="174631" y="-17870"/>
                    <a:pt x="304189" y="38168"/>
                    <a:pt x="381000" y="19050"/>
                  </a:cubicBezTo>
                  <a:cubicBezTo>
                    <a:pt x="457811" y="-68"/>
                    <a:pt x="605912" y="48223"/>
                    <a:pt x="74295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2498960035">
                    <a:custGeom>
                      <a:avLst/>
                      <a:gdLst>
                        <a:gd name="connsiteX0" fmla="*/ 0 w 762000"/>
                        <a:gd name="connsiteY0" fmla="*/ 590550 h 590550"/>
                        <a:gd name="connsiteX1" fmla="*/ 762000 w 762000"/>
                        <a:gd name="connsiteY1" fmla="*/ 590550 h 590550"/>
                        <a:gd name="connsiteX2" fmla="*/ 762000 w 762000"/>
                        <a:gd name="connsiteY2" fmla="*/ 0 h 590550"/>
                        <a:gd name="connsiteX3" fmla="*/ 0 w 762000"/>
                        <a:gd name="connsiteY3" fmla="*/ 0 h 590550"/>
                        <a:gd name="connsiteX4" fmla="*/ 19050 w 762000"/>
                        <a:gd name="connsiteY4" fmla="*/ 571500 h 590550"/>
                        <a:gd name="connsiteX5" fmla="*/ 19050 w 762000"/>
                        <a:gd name="connsiteY5" fmla="*/ 152400 h 590550"/>
                        <a:gd name="connsiteX6" fmla="*/ 742950 w 762000"/>
                        <a:gd name="connsiteY6" fmla="*/ 152400 h 590550"/>
                        <a:gd name="connsiteX7" fmla="*/ 742950 w 762000"/>
                        <a:gd name="connsiteY7" fmla="*/ 571500 h 590550"/>
                        <a:gd name="connsiteX8" fmla="*/ 742950 w 762000"/>
                        <a:gd name="connsiteY8" fmla="*/ 19050 h 590550"/>
                        <a:gd name="connsiteX9" fmla="*/ 742950 w 762000"/>
                        <a:gd name="connsiteY9" fmla="*/ 133350 h 590550"/>
                        <a:gd name="connsiteX10" fmla="*/ 19050 w 762000"/>
                        <a:gd name="connsiteY10" fmla="*/ 133350 h 590550"/>
                        <a:gd name="connsiteX11" fmla="*/ 19050 w 762000"/>
                        <a:gd name="connsiteY11" fmla="*/ 1905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62000" h="590550">
                          <a:moveTo>
                            <a:pt x="0" y="590550"/>
                          </a:moveTo>
                          <a:lnTo>
                            <a:pt x="762000" y="590550"/>
                          </a:lnTo>
                          <a:lnTo>
                            <a:pt x="762000" y="0"/>
                          </a:lnTo>
                          <a:lnTo>
                            <a:pt x="0" y="0"/>
                          </a:lnTo>
                          <a:close/>
                          <a:moveTo>
                            <a:pt x="19050" y="571500"/>
                          </a:moveTo>
                          <a:lnTo>
                            <a:pt x="19050" y="152400"/>
                          </a:lnTo>
                          <a:lnTo>
                            <a:pt x="742950" y="152400"/>
                          </a:lnTo>
                          <a:lnTo>
                            <a:pt x="742950" y="571500"/>
                          </a:lnTo>
                          <a:close/>
                          <a:moveTo>
                            <a:pt x="742950" y="19050"/>
                          </a:moveTo>
                          <a:lnTo>
                            <a:pt x="742950" y="133350"/>
                          </a:lnTo>
                          <a:lnTo>
                            <a:pt x="19050" y="133350"/>
                          </a:lnTo>
                          <a:lnTo>
                            <a:pt x="19050" y="19050"/>
                          </a:lnTo>
                          <a:close/>
                        </a:path>
                      </a:pathLst>
                    </a:custGeom>
                    <ask:type>
                      <ask:lineSketchScribble/>
                    </ask:type>
                  </ask:lineSketchStyleProps>
                </a:ext>
              </a:extLst>
            </a:ln>
          </p:spPr>
          <p:txBody>
            <a:bodyPr rtlCol="0" anchor="ctr"/>
            <a:lstStyle/>
            <a:p>
              <a:endParaRPr lang="en-US"/>
            </a:p>
          </p:txBody>
        </p:sp>
        <p:sp>
          <p:nvSpPr>
            <p:cNvPr id="106" name="Freeform 30"/>
            <p:cNvSpPr/>
            <p:nvPr/>
          </p:nvSpPr>
          <p:spPr>
            <a:xfrm>
              <a:off x="621982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6668" y="31495"/>
                    <a:pt x="28642" y="37612"/>
                    <a:pt x="19050" y="38100"/>
                  </a:cubicBezTo>
                  <a:cubicBezTo>
                    <a:pt x="9830" y="38864"/>
                    <a:pt x="-602" y="29313"/>
                    <a:pt x="0" y="19050"/>
                  </a:cubicBezTo>
                  <a:cubicBezTo>
                    <a:pt x="71" y="8241"/>
                    <a:pt x="8755" y="-475"/>
                    <a:pt x="19050" y="0"/>
                  </a:cubicBezTo>
                  <a:cubicBezTo>
                    <a:pt x="30529" y="2953"/>
                    <a:pt x="37016" y="9222"/>
                    <a:pt x="38100" y="19050"/>
                  </a:cubicBezTo>
                  <a:close/>
                </a:path>
                <a:path w="38100" h="38100" stroke="0" extrusionOk="0">
                  <a:moveTo>
                    <a:pt x="38100" y="19050"/>
                  </a:moveTo>
                  <a:cubicBezTo>
                    <a:pt x="39774" y="26900"/>
                    <a:pt x="28299" y="37085"/>
                    <a:pt x="19050" y="38100"/>
                  </a:cubicBezTo>
                  <a:cubicBezTo>
                    <a:pt x="9810" y="38297"/>
                    <a:pt x="-1109" y="32155"/>
                    <a:pt x="0" y="19050"/>
                  </a:cubicBezTo>
                  <a:cubicBezTo>
                    <a:pt x="1618" y="8508"/>
                    <a:pt x="8531" y="231"/>
                    <a:pt x="19050" y="0"/>
                  </a:cubicBezTo>
                  <a:cubicBezTo>
                    <a:pt x="30465" y="-1109"/>
                    <a:pt x="38645" y="8775"/>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801459907">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7" name="Freeform 31"/>
            <p:cNvSpPr/>
            <p:nvPr/>
          </p:nvSpPr>
          <p:spPr>
            <a:xfrm>
              <a:off x="6286500"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7148" y="27866"/>
                    <a:pt x="31150" y="39814"/>
                    <a:pt x="19050" y="38100"/>
                  </a:cubicBezTo>
                  <a:cubicBezTo>
                    <a:pt x="8503" y="40197"/>
                    <a:pt x="446" y="30213"/>
                    <a:pt x="0" y="19050"/>
                  </a:cubicBezTo>
                  <a:cubicBezTo>
                    <a:pt x="2158" y="9554"/>
                    <a:pt x="6247" y="174"/>
                    <a:pt x="19050" y="0"/>
                  </a:cubicBezTo>
                  <a:cubicBezTo>
                    <a:pt x="31189" y="123"/>
                    <a:pt x="40255" y="9425"/>
                    <a:pt x="38100" y="19050"/>
                  </a:cubicBezTo>
                  <a:close/>
                </a:path>
                <a:path w="38100" h="38100" stroke="0" extrusionOk="0">
                  <a:moveTo>
                    <a:pt x="38100" y="19050"/>
                  </a:moveTo>
                  <a:cubicBezTo>
                    <a:pt x="36702" y="28517"/>
                    <a:pt x="30289" y="38205"/>
                    <a:pt x="19050" y="38100"/>
                  </a:cubicBezTo>
                  <a:cubicBezTo>
                    <a:pt x="8050" y="37989"/>
                    <a:pt x="2019" y="31677"/>
                    <a:pt x="0" y="19050"/>
                  </a:cubicBezTo>
                  <a:cubicBezTo>
                    <a:pt x="352" y="9041"/>
                    <a:pt x="7961" y="-1347"/>
                    <a:pt x="19050" y="0"/>
                  </a:cubicBezTo>
                  <a:cubicBezTo>
                    <a:pt x="28406" y="-1785"/>
                    <a:pt x="37107" y="7113"/>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741904289">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8" name="Freeform 32"/>
            <p:cNvSpPr/>
            <p:nvPr/>
          </p:nvSpPr>
          <p:spPr>
            <a:xfrm>
              <a:off x="635317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40484" y="27911"/>
                    <a:pt x="28318" y="38040"/>
                    <a:pt x="19050" y="38100"/>
                  </a:cubicBezTo>
                  <a:cubicBezTo>
                    <a:pt x="6219" y="37740"/>
                    <a:pt x="1168" y="27565"/>
                    <a:pt x="0" y="19050"/>
                  </a:cubicBezTo>
                  <a:cubicBezTo>
                    <a:pt x="-1210" y="9994"/>
                    <a:pt x="10441" y="-1791"/>
                    <a:pt x="19050" y="0"/>
                  </a:cubicBezTo>
                  <a:cubicBezTo>
                    <a:pt x="28904" y="1053"/>
                    <a:pt x="37238" y="6479"/>
                    <a:pt x="38100" y="19050"/>
                  </a:cubicBezTo>
                  <a:close/>
                </a:path>
                <a:path w="38100" h="38100" stroke="0" extrusionOk="0">
                  <a:moveTo>
                    <a:pt x="38100" y="19050"/>
                  </a:moveTo>
                  <a:cubicBezTo>
                    <a:pt x="38795" y="29284"/>
                    <a:pt x="26912" y="37258"/>
                    <a:pt x="19050" y="38100"/>
                  </a:cubicBezTo>
                  <a:cubicBezTo>
                    <a:pt x="10193" y="38587"/>
                    <a:pt x="-2503" y="29971"/>
                    <a:pt x="0" y="19050"/>
                  </a:cubicBezTo>
                  <a:cubicBezTo>
                    <a:pt x="-9" y="8962"/>
                    <a:pt x="9807" y="15"/>
                    <a:pt x="19050" y="0"/>
                  </a:cubicBezTo>
                  <a:cubicBezTo>
                    <a:pt x="29850" y="-183"/>
                    <a:pt x="39296" y="8072"/>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078833563">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grpSp>
      <p:sp>
        <p:nvSpPr>
          <p:cNvPr id="10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Just Finished</a:t>
            </a:r>
          </a:p>
        </p:txBody>
      </p:sp>
      <p:sp>
        <p:nvSpPr>
          <p:cNvPr id="110"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trail-0117</a:t>
            </a:r>
          </a:p>
        </p:txBody>
      </p:sp>
      <p:cxnSp>
        <p:nvCxnSpPr>
          <p:cNvPr id="111"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12"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Avalanche Lake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(trail-0117)</a:t>
            </a:r>
          </a:p>
        </p:txBody>
      </p:sp>
      <p:sp>
        <p:nvSpPr>
          <p:cNvPr id="113"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4" name="Graphic 2" descr="Single gear outline"/>
          <p:cNvGrpSpPr/>
          <p:nvPr/>
        </p:nvGrpSpPr>
        <p:grpSpPr>
          <a:xfrm>
            <a:off x="5738021" y="2728234"/>
            <a:ext cx="648652" cy="647861"/>
            <a:chOff x="5772150" y="3332061"/>
            <a:chExt cx="648652" cy="647861"/>
          </a:xfrm>
          <a:noFill/>
        </p:grpSpPr>
        <p:sp>
          <p:nvSpPr>
            <p:cNvPr id="115"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6"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7"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8"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19"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vector} ×30</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How It Works</a:t>
            </a:r>
          </a:p>
        </p:txBody>
      </p:sp>
      <p:grpSp>
        <p:nvGrpSpPr>
          <p:cNvPr id="101" name="Graphic 24" descr="Web design outline"/>
          <p:cNvGrpSpPr/>
          <p:nvPr/>
        </p:nvGrpSpPr>
        <p:grpSpPr>
          <a:xfrm>
            <a:off x="1356360" y="3360636"/>
            <a:ext cx="762000" cy="590550"/>
            <a:chOff x="5715000" y="3133725"/>
            <a:chExt cx="762000" cy="590550"/>
          </a:xfrm>
          <a:noFill/>
        </p:grpSpPr>
        <p:sp>
          <p:nvSpPr>
            <p:cNvPr id="102" name="Freeform 26"/>
            <p:cNvSpPr/>
            <p:nvPr/>
          </p:nvSpPr>
          <p:spPr>
            <a:xfrm>
              <a:off x="5872981" y="3374640"/>
              <a:ext cx="115452" cy="203968"/>
            </a:xfrm>
            <a:custGeom>
              <a:avLst/>
              <a:gdLst>
                <a:gd name="csX0" fmla="*/ 101984 w 115452"/>
                <a:gd name="csY0" fmla="*/ 0 h 203968"/>
                <a:gd name="csX1" fmla="*/ 0 w 115452"/>
                <a:gd name="csY1" fmla="*/ 101984 h 203968"/>
                <a:gd name="csX2" fmla="*/ 101984 w 115452"/>
                <a:gd name="csY2" fmla="*/ 203968 h 203968"/>
                <a:gd name="csX3" fmla="*/ 115453 w 115452"/>
                <a:gd name="csY3" fmla="*/ 190500 h 203968"/>
                <a:gd name="csX4" fmla="*/ 26937 w 115452"/>
                <a:gd name="csY4" fmla="*/ 101984 h 203968"/>
                <a:gd name="csX5" fmla="*/ 115453 w 115452"/>
                <a:gd name="csY5" fmla="*/ 13468 h 203968"/>
                <a:gd name="csX6" fmla="*/ 101984 w 115452"/>
                <a:gd name="csY6" fmla="*/ 0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101984" y="0"/>
                  </a:moveTo>
                  <a:cubicBezTo>
                    <a:pt x="80469" y="29789"/>
                    <a:pt x="10671" y="68735"/>
                    <a:pt x="0" y="101984"/>
                  </a:cubicBezTo>
                  <a:cubicBezTo>
                    <a:pt x="35097" y="113800"/>
                    <a:pt x="52768" y="168720"/>
                    <a:pt x="101984" y="203968"/>
                  </a:cubicBezTo>
                  <a:cubicBezTo>
                    <a:pt x="106341" y="197468"/>
                    <a:pt x="111754" y="196900"/>
                    <a:pt x="115453" y="190500"/>
                  </a:cubicBezTo>
                  <a:cubicBezTo>
                    <a:pt x="86765" y="171738"/>
                    <a:pt x="72486" y="128597"/>
                    <a:pt x="26937" y="101984"/>
                  </a:cubicBezTo>
                  <a:cubicBezTo>
                    <a:pt x="56095" y="68628"/>
                    <a:pt x="87648" y="43689"/>
                    <a:pt x="115453" y="13468"/>
                  </a:cubicBezTo>
                  <a:cubicBezTo>
                    <a:pt x="110598" y="11500"/>
                    <a:pt x="108028" y="3862"/>
                    <a:pt x="101984" y="0"/>
                  </a:cubicBezTo>
                  <a:close/>
                </a:path>
                <a:path w="115452" h="203968" stroke="0" extrusionOk="0">
                  <a:moveTo>
                    <a:pt x="101984" y="0"/>
                  </a:moveTo>
                  <a:cubicBezTo>
                    <a:pt x="54666" y="49377"/>
                    <a:pt x="14242" y="66077"/>
                    <a:pt x="0" y="101984"/>
                  </a:cubicBezTo>
                  <a:cubicBezTo>
                    <a:pt x="50434" y="132521"/>
                    <a:pt x="69644" y="185088"/>
                    <a:pt x="101984" y="203968"/>
                  </a:cubicBezTo>
                  <a:cubicBezTo>
                    <a:pt x="106139" y="198738"/>
                    <a:pt x="111444" y="196583"/>
                    <a:pt x="115453" y="190500"/>
                  </a:cubicBezTo>
                  <a:cubicBezTo>
                    <a:pt x="76111" y="159672"/>
                    <a:pt x="70051" y="126332"/>
                    <a:pt x="26937" y="101984"/>
                  </a:cubicBezTo>
                  <a:cubicBezTo>
                    <a:pt x="50353" y="60681"/>
                    <a:pt x="104707" y="42634"/>
                    <a:pt x="115453" y="13468"/>
                  </a:cubicBezTo>
                  <a:cubicBezTo>
                    <a:pt x="111636" y="10467"/>
                    <a:pt x="107664" y="2756"/>
                    <a:pt x="101984"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101984 w 115452"/>
                        <a:gd name="connsiteY0" fmla="*/ 0 h 203968"/>
                        <a:gd name="connsiteX1" fmla="*/ 0 w 115452"/>
                        <a:gd name="connsiteY1" fmla="*/ 101984 h 203968"/>
                        <a:gd name="connsiteX2" fmla="*/ 101984 w 115452"/>
                        <a:gd name="connsiteY2" fmla="*/ 203968 h 203968"/>
                        <a:gd name="connsiteX3" fmla="*/ 115453 w 115452"/>
                        <a:gd name="connsiteY3" fmla="*/ 190500 h 203968"/>
                        <a:gd name="connsiteX4" fmla="*/ 26937 w 115452"/>
                        <a:gd name="connsiteY4" fmla="*/ 101984 h 203968"/>
                        <a:gd name="connsiteX5" fmla="*/ 115453 w 115452"/>
                        <a:gd name="connsiteY5" fmla="*/ 13468 h 203968"/>
                        <a:gd name="connsiteX6" fmla="*/ 101984 w 115452"/>
                        <a:gd name="connsiteY6" fmla="*/ 0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101984" y="0"/>
                          </a:moveTo>
                          <a:lnTo>
                            <a:pt x="0" y="101984"/>
                          </a:lnTo>
                          <a:lnTo>
                            <a:pt x="101984" y="203968"/>
                          </a:lnTo>
                          <a:lnTo>
                            <a:pt x="115453" y="190500"/>
                          </a:lnTo>
                          <a:lnTo>
                            <a:pt x="26937" y="101984"/>
                          </a:lnTo>
                          <a:lnTo>
                            <a:pt x="115453" y="13468"/>
                          </a:lnTo>
                          <a:lnTo>
                            <a:pt x="101984" y="0"/>
                          </a:lnTo>
                          <a:close/>
                        </a:path>
                      </a:pathLst>
                    </a:custGeom>
                    <ask:type>
                      <ask:lineSketchScribble/>
                    </ask:type>
                  </ask:lineSketchStyleProps>
                </a:ext>
              </a:extLst>
            </a:ln>
          </p:spPr>
          <p:txBody>
            <a:bodyPr rtlCol="0" anchor="ctr"/>
            <a:lstStyle/>
            <a:p>
              <a:endParaRPr lang="en-US"/>
            </a:p>
          </p:txBody>
        </p:sp>
        <p:sp>
          <p:nvSpPr>
            <p:cNvPr id="103" name="Freeform 27"/>
            <p:cNvSpPr/>
            <p:nvPr/>
          </p:nvSpPr>
          <p:spPr>
            <a:xfrm>
              <a:off x="6203565" y="3374640"/>
              <a:ext cx="115452" cy="203968"/>
            </a:xfrm>
            <a:custGeom>
              <a:avLst/>
              <a:gdLst>
                <a:gd name="csX0" fmla="*/ 0 w 115452"/>
                <a:gd name="csY0" fmla="*/ 13468 h 203968"/>
                <a:gd name="csX1" fmla="*/ 88516 w 115452"/>
                <a:gd name="csY1" fmla="*/ 101984 h 203968"/>
                <a:gd name="csX2" fmla="*/ 0 w 115452"/>
                <a:gd name="csY2" fmla="*/ 190500 h 203968"/>
                <a:gd name="csX3" fmla="*/ 13468 w 115452"/>
                <a:gd name="csY3" fmla="*/ 203968 h 203968"/>
                <a:gd name="csX4" fmla="*/ 115453 w 115452"/>
                <a:gd name="csY4" fmla="*/ 101984 h 203968"/>
                <a:gd name="csX5" fmla="*/ 13468 w 115452"/>
                <a:gd name="csY5" fmla="*/ 0 h 203968"/>
                <a:gd name="csX6" fmla="*/ 0 w 115452"/>
                <a:gd name="csY6" fmla="*/ 13468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0" y="13468"/>
                  </a:moveTo>
                  <a:cubicBezTo>
                    <a:pt x="28195" y="31658"/>
                    <a:pt x="62315" y="85716"/>
                    <a:pt x="88516" y="101984"/>
                  </a:cubicBezTo>
                  <a:cubicBezTo>
                    <a:pt x="58661" y="145296"/>
                    <a:pt x="33019" y="156066"/>
                    <a:pt x="0" y="190500"/>
                  </a:cubicBezTo>
                  <a:cubicBezTo>
                    <a:pt x="5261" y="193987"/>
                    <a:pt x="8997" y="201568"/>
                    <a:pt x="13468" y="203968"/>
                  </a:cubicBezTo>
                  <a:cubicBezTo>
                    <a:pt x="49805" y="148660"/>
                    <a:pt x="76016" y="150703"/>
                    <a:pt x="115453" y="101984"/>
                  </a:cubicBezTo>
                  <a:cubicBezTo>
                    <a:pt x="68851" y="78131"/>
                    <a:pt x="60248" y="25543"/>
                    <a:pt x="13468" y="0"/>
                  </a:cubicBezTo>
                  <a:cubicBezTo>
                    <a:pt x="7612" y="6684"/>
                    <a:pt x="4796" y="5981"/>
                    <a:pt x="0" y="13468"/>
                  </a:cubicBezTo>
                  <a:close/>
                </a:path>
                <a:path w="115452" h="203968" stroke="0" extrusionOk="0">
                  <a:moveTo>
                    <a:pt x="0" y="13468"/>
                  </a:moveTo>
                  <a:cubicBezTo>
                    <a:pt x="35903" y="44056"/>
                    <a:pt x="52973" y="84230"/>
                    <a:pt x="88516" y="101984"/>
                  </a:cubicBezTo>
                  <a:cubicBezTo>
                    <a:pt x="48291" y="147503"/>
                    <a:pt x="38948" y="145206"/>
                    <a:pt x="0" y="190500"/>
                  </a:cubicBezTo>
                  <a:cubicBezTo>
                    <a:pt x="4026" y="193879"/>
                    <a:pt x="5514" y="199242"/>
                    <a:pt x="13468" y="203968"/>
                  </a:cubicBezTo>
                  <a:cubicBezTo>
                    <a:pt x="29831" y="179468"/>
                    <a:pt x="77301" y="146098"/>
                    <a:pt x="115453" y="101984"/>
                  </a:cubicBezTo>
                  <a:cubicBezTo>
                    <a:pt x="80161" y="89125"/>
                    <a:pt x="66590" y="44761"/>
                    <a:pt x="13468" y="0"/>
                  </a:cubicBezTo>
                  <a:cubicBezTo>
                    <a:pt x="9274" y="4825"/>
                    <a:pt x="3783" y="8616"/>
                    <a:pt x="0" y="13468"/>
                  </a:cubicBezTo>
                  <a:close/>
                </a:path>
              </a:pathLst>
            </a:custGeom>
            <a:grpFill/>
            <a:ln w="15875" cap="flat">
              <a:solidFill>
                <a:srgbClr val="1F3A5F"/>
              </a:solidFill>
              <a:prstDash val="solid"/>
              <a:miter/>
              <a:extLst>
                <a:ext uri="{C807C97D-BFC1-408E-A445-0C87EB9F89A2}">
                  <ask:lineSketchStyleProps xmlns:ask="http://schemas.microsoft.com/office/drawing/2018/sketchyshapes" sd="2830084044">
                    <a:custGeom>
                      <a:avLst/>
                      <a:gdLst>
                        <a:gd name="connsiteX0" fmla="*/ 0 w 115452"/>
                        <a:gd name="connsiteY0" fmla="*/ 13468 h 203968"/>
                        <a:gd name="connsiteX1" fmla="*/ 88516 w 115452"/>
                        <a:gd name="connsiteY1" fmla="*/ 101984 h 203968"/>
                        <a:gd name="connsiteX2" fmla="*/ 0 w 115452"/>
                        <a:gd name="connsiteY2" fmla="*/ 190500 h 203968"/>
                        <a:gd name="connsiteX3" fmla="*/ 13468 w 115452"/>
                        <a:gd name="connsiteY3" fmla="*/ 203968 h 203968"/>
                        <a:gd name="connsiteX4" fmla="*/ 115453 w 115452"/>
                        <a:gd name="connsiteY4" fmla="*/ 101984 h 203968"/>
                        <a:gd name="connsiteX5" fmla="*/ 13468 w 115452"/>
                        <a:gd name="connsiteY5" fmla="*/ 0 h 203968"/>
                        <a:gd name="connsiteX6" fmla="*/ 0 w 115452"/>
                        <a:gd name="connsiteY6" fmla="*/ 13468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0" y="13468"/>
                          </a:moveTo>
                          <a:lnTo>
                            <a:pt x="88516" y="101984"/>
                          </a:lnTo>
                          <a:lnTo>
                            <a:pt x="0" y="190500"/>
                          </a:lnTo>
                          <a:lnTo>
                            <a:pt x="13468" y="203968"/>
                          </a:lnTo>
                          <a:lnTo>
                            <a:pt x="115453" y="101984"/>
                          </a:lnTo>
                          <a:lnTo>
                            <a:pt x="13468" y="0"/>
                          </a:lnTo>
                          <a:lnTo>
                            <a:pt x="0" y="13468"/>
                          </a:lnTo>
                          <a:close/>
                        </a:path>
                      </a:pathLst>
                    </a:custGeom>
                    <ask:type>
                      <ask:lineSketchScribble/>
                    </ask:type>
                  </ask:lineSketchStyleProps>
                </a:ext>
              </a:extLst>
            </a:ln>
          </p:spPr>
          <p:txBody>
            <a:bodyPr rtlCol="0" anchor="ctr"/>
            <a:lstStyle/>
            <a:p>
              <a:endParaRPr lang="en-US"/>
            </a:p>
          </p:txBody>
        </p:sp>
        <p:sp>
          <p:nvSpPr>
            <p:cNvPr id="104" name="Freeform 28"/>
            <p:cNvSpPr/>
            <p:nvPr/>
          </p:nvSpPr>
          <p:spPr>
            <a:xfrm rot="-3990120">
              <a:off x="5976555" y="3471860"/>
              <a:ext cx="238886" cy="19049"/>
            </a:xfrm>
            <a:custGeom>
              <a:avLst/>
              <a:gdLst>
                <a:gd name="csX0" fmla="*/ 0 w 238886"/>
                <a:gd name="csY0" fmla="*/ 0 h 19049"/>
                <a:gd name="csX1" fmla="*/ 238887 w 238886"/>
                <a:gd name="csY1" fmla="*/ 0 h 19049"/>
                <a:gd name="csX2" fmla="*/ 238887 w 238886"/>
                <a:gd name="csY2" fmla="*/ 19050 h 19049"/>
                <a:gd name="csX3" fmla="*/ 0 w 238886"/>
                <a:gd name="csY3" fmla="*/ 19050 h 19049"/>
                <a:gd name="csX4" fmla="*/ 0 w 238886"/>
                <a:gd name="csY4" fmla="*/ 0 h 19049"/>
              </a:gdLst>
              <a:ahLst/>
              <a:cxnLst>
                <a:cxn ang="0">
                  <a:pos x="csX0" y="csY0"/>
                </a:cxn>
                <a:cxn ang="0">
                  <a:pos x="csX1" y="csY1"/>
                </a:cxn>
                <a:cxn ang="0">
                  <a:pos x="csX2" y="csY2"/>
                </a:cxn>
                <a:cxn ang="0">
                  <a:pos x="csX3" y="csY3"/>
                </a:cxn>
                <a:cxn ang="0">
                  <a:pos x="csX4" y="csY4"/>
                </a:cxn>
              </a:cxnLst>
              <a:rect l="l" t="t" r="r" b="b"/>
              <a:pathLst>
                <a:path w="238886" h="19049" fill="none" extrusionOk="0">
                  <a:moveTo>
                    <a:pt x="0" y="0"/>
                  </a:moveTo>
                  <a:cubicBezTo>
                    <a:pt x="89439" y="-27312"/>
                    <a:pt x="129399" y="19521"/>
                    <a:pt x="238887" y="0"/>
                  </a:cubicBezTo>
                  <a:cubicBezTo>
                    <a:pt x="240312" y="8611"/>
                    <a:pt x="237794" y="9969"/>
                    <a:pt x="238887" y="19050"/>
                  </a:cubicBezTo>
                  <a:cubicBezTo>
                    <a:pt x="125798" y="22001"/>
                    <a:pt x="48091" y="-5468"/>
                    <a:pt x="0" y="19050"/>
                  </a:cubicBezTo>
                  <a:cubicBezTo>
                    <a:pt x="-332" y="10898"/>
                    <a:pt x="983" y="6475"/>
                    <a:pt x="0" y="0"/>
                  </a:cubicBezTo>
                  <a:close/>
                </a:path>
                <a:path w="238886" h="19049" stroke="0" extrusionOk="0">
                  <a:moveTo>
                    <a:pt x="0" y="0"/>
                  </a:moveTo>
                  <a:cubicBezTo>
                    <a:pt x="81267" y="-25071"/>
                    <a:pt x="137755" y="27943"/>
                    <a:pt x="238887" y="0"/>
                  </a:cubicBezTo>
                  <a:cubicBezTo>
                    <a:pt x="240527" y="4590"/>
                    <a:pt x="237147" y="12697"/>
                    <a:pt x="238887" y="19050"/>
                  </a:cubicBezTo>
                  <a:cubicBezTo>
                    <a:pt x="130063" y="34728"/>
                    <a:pt x="61649" y="-7729"/>
                    <a:pt x="0" y="19050"/>
                  </a:cubicBezTo>
                  <a:cubicBezTo>
                    <a:pt x="-926" y="10149"/>
                    <a:pt x="314" y="6645"/>
                    <a:pt x="0"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658789007">
                    <a:custGeom>
                      <a:avLst/>
                      <a:gdLst>
                        <a:gd name="connsiteX0" fmla="*/ 0 w 238886"/>
                        <a:gd name="connsiteY0" fmla="*/ 0 h 19049"/>
                        <a:gd name="connsiteX1" fmla="*/ 238887 w 238886"/>
                        <a:gd name="connsiteY1" fmla="*/ 0 h 19049"/>
                        <a:gd name="connsiteX2" fmla="*/ 238887 w 238886"/>
                        <a:gd name="connsiteY2" fmla="*/ 19050 h 19049"/>
                        <a:gd name="connsiteX3" fmla="*/ 0 w 238886"/>
                        <a:gd name="connsiteY3" fmla="*/ 19050 h 19049"/>
                      </a:gdLst>
                      <a:ahLst/>
                      <a:cxnLst>
                        <a:cxn ang="0">
                          <a:pos x="connsiteX0" y="connsiteY0"/>
                        </a:cxn>
                        <a:cxn ang="0">
                          <a:pos x="connsiteX1" y="connsiteY1"/>
                        </a:cxn>
                        <a:cxn ang="0">
                          <a:pos x="connsiteX2" y="connsiteY2"/>
                        </a:cxn>
                        <a:cxn ang="0">
                          <a:pos x="connsiteX3" y="connsiteY3"/>
                        </a:cxn>
                      </a:cxnLst>
                      <a:rect l="l" t="t" r="r" b="b"/>
                      <a:pathLst>
                        <a:path w="238886" h="19049">
                          <a:moveTo>
                            <a:pt x="0" y="0"/>
                          </a:moveTo>
                          <a:lnTo>
                            <a:pt x="238887" y="0"/>
                          </a:lnTo>
                          <a:lnTo>
                            <a:pt x="238887" y="19050"/>
                          </a:lnTo>
                          <a:lnTo>
                            <a:pt x="0" y="19050"/>
                          </a:lnTo>
                          <a:close/>
                        </a:path>
                      </a:pathLst>
                    </a:custGeom>
                    <ask:type>
                      <ask:lineSketchScribble/>
                    </ask:type>
                  </ask:lineSketchStyleProps>
                </a:ext>
              </a:extLst>
            </a:ln>
          </p:spPr>
          <p:txBody>
            <a:bodyPr rtlCol="0" anchor="ctr"/>
            <a:lstStyle/>
            <a:p>
              <a:endParaRPr lang="en-US"/>
            </a:p>
          </p:txBody>
        </p:sp>
        <p:sp>
          <p:nvSpPr>
            <p:cNvPr id="105" name="Freeform 29"/>
            <p:cNvSpPr/>
            <p:nvPr/>
          </p:nvSpPr>
          <p:spPr>
            <a:xfrm>
              <a:off x="5715000" y="3133725"/>
              <a:ext cx="762000" cy="590550"/>
            </a:xfrm>
            <a:custGeom>
              <a:avLst/>
              <a:gdLst>
                <a:gd name="csX0" fmla="*/ 0 w 762000"/>
                <a:gd name="csY0" fmla="*/ 590550 h 590550"/>
                <a:gd name="csX1" fmla="*/ 388620 w 762000"/>
                <a:gd name="csY1" fmla="*/ 590550 h 590550"/>
                <a:gd name="csX2" fmla="*/ 762000 w 762000"/>
                <a:gd name="csY2" fmla="*/ 590550 h 590550"/>
                <a:gd name="csX3" fmla="*/ 762000 w 762000"/>
                <a:gd name="csY3" fmla="*/ 0 h 590550"/>
                <a:gd name="csX4" fmla="*/ 403860 w 762000"/>
                <a:gd name="csY4" fmla="*/ 0 h 590550"/>
                <a:gd name="csX5" fmla="*/ 0 w 762000"/>
                <a:gd name="csY5" fmla="*/ 0 h 590550"/>
                <a:gd name="csX6" fmla="*/ 0 w 762000"/>
                <a:gd name="csY6" fmla="*/ 590550 h 590550"/>
                <a:gd name="csX7" fmla="*/ 19050 w 762000"/>
                <a:gd name="csY7" fmla="*/ 571500 h 590550"/>
                <a:gd name="csX8" fmla="*/ 19050 w 762000"/>
                <a:gd name="csY8" fmla="*/ 152400 h 590550"/>
                <a:gd name="csX9" fmla="*/ 359283 w 762000"/>
                <a:gd name="csY9" fmla="*/ 152400 h 590550"/>
                <a:gd name="csX10" fmla="*/ 742950 w 762000"/>
                <a:gd name="csY10" fmla="*/ 152400 h 590550"/>
                <a:gd name="csX11" fmla="*/ 742950 w 762000"/>
                <a:gd name="csY11" fmla="*/ 571500 h 590550"/>
                <a:gd name="csX12" fmla="*/ 388239 w 762000"/>
                <a:gd name="csY12" fmla="*/ 571500 h 590550"/>
                <a:gd name="csX13" fmla="*/ 19050 w 762000"/>
                <a:gd name="csY13" fmla="*/ 571500 h 590550"/>
                <a:gd name="csX14" fmla="*/ 742950 w 762000"/>
                <a:gd name="csY14" fmla="*/ 19050 h 590550"/>
                <a:gd name="csX15" fmla="*/ 742950 w 762000"/>
                <a:gd name="csY15" fmla="*/ 133350 h 590550"/>
                <a:gd name="csX16" fmla="*/ 373761 w 762000"/>
                <a:gd name="csY16" fmla="*/ 133350 h 590550"/>
                <a:gd name="csX17" fmla="*/ 19050 w 762000"/>
                <a:gd name="csY17" fmla="*/ 133350 h 590550"/>
                <a:gd name="csX18" fmla="*/ 19050 w 762000"/>
                <a:gd name="csY18" fmla="*/ 19050 h 590550"/>
                <a:gd name="csX19" fmla="*/ 395478 w 762000"/>
                <a:gd name="csY19" fmla="*/ 19050 h 590550"/>
                <a:gd name="csX20" fmla="*/ 742950 w 762000"/>
                <a:gd name="csY20" fmla="*/ 1905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62000" h="590550" fill="none" extrusionOk="0">
                  <a:moveTo>
                    <a:pt x="0" y="590550"/>
                  </a:moveTo>
                  <a:cubicBezTo>
                    <a:pt x="125280" y="565457"/>
                    <a:pt x="268114" y="600228"/>
                    <a:pt x="388620" y="590550"/>
                  </a:cubicBezTo>
                  <a:cubicBezTo>
                    <a:pt x="509126" y="580872"/>
                    <a:pt x="661997" y="602816"/>
                    <a:pt x="762000" y="590550"/>
                  </a:cubicBezTo>
                  <a:cubicBezTo>
                    <a:pt x="714429" y="454041"/>
                    <a:pt x="801435" y="123443"/>
                    <a:pt x="762000" y="0"/>
                  </a:cubicBezTo>
                  <a:cubicBezTo>
                    <a:pt x="638898" y="20488"/>
                    <a:pt x="581116" y="-29312"/>
                    <a:pt x="403860" y="0"/>
                  </a:cubicBezTo>
                  <a:cubicBezTo>
                    <a:pt x="226604" y="29312"/>
                    <a:pt x="94433" y="-30243"/>
                    <a:pt x="0" y="0"/>
                  </a:cubicBezTo>
                  <a:cubicBezTo>
                    <a:pt x="24103" y="259624"/>
                    <a:pt x="-17973" y="353689"/>
                    <a:pt x="0" y="590550"/>
                  </a:cubicBezTo>
                  <a:close/>
                  <a:moveTo>
                    <a:pt x="19050" y="571500"/>
                  </a:moveTo>
                  <a:cubicBezTo>
                    <a:pt x="17440" y="362395"/>
                    <a:pt x="57177" y="310726"/>
                    <a:pt x="19050" y="152400"/>
                  </a:cubicBezTo>
                  <a:cubicBezTo>
                    <a:pt x="169035" y="132790"/>
                    <a:pt x="221452" y="188570"/>
                    <a:pt x="359283" y="152400"/>
                  </a:cubicBezTo>
                  <a:cubicBezTo>
                    <a:pt x="497114" y="116230"/>
                    <a:pt x="624118" y="154138"/>
                    <a:pt x="742950" y="152400"/>
                  </a:cubicBezTo>
                  <a:cubicBezTo>
                    <a:pt x="778489" y="330828"/>
                    <a:pt x="741863" y="362207"/>
                    <a:pt x="742950" y="571500"/>
                  </a:cubicBezTo>
                  <a:cubicBezTo>
                    <a:pt x="645401" y="608398"/>
                    <a:pt x="517897" y="531493"/>
                    <a:pt x="388239" y="571500"/>
                  </a:cubicBezTo>
                  <a:cubicBezTo>
                    <a:pt x="258581" y="611507"/>
                    <a:pt x="165779" y="567707"/>
                    <a:pt x="19050" y="571500"/>
                  </a:cubicBezTo>
                  <a:close/>
                  <a:moveTo>
                    <a:pt x="742950" y="19050"/>
                  </a:moveTo>
                  <a:cubicBezTo>
                    <a:pt x="744351" y="43220"/>
                    <a:pt x="730953" y="89819"/>
                    <a:pt x="742950" y="133350"/>
                  </a:cubicBezTo>
                  <a:cubicBezTo>
                    <a:pt x="561477" y="148340"/>
                    <a:pt x="543754" y="113442"/>
                    <a:pt x="373761" y="133350"/>
                  </a:cubicBezTo>
                  <a:cubicBezTo>
                    <a:pt x="203768" y="153258"/>
                    <a:pt x="124158" y="118808"/>
                    <a:pt x="19050" y="133350"/>
                  </a:cubicBezTo>
                  <a:cubicBezTo>
                    <a:pt x="14037" y="77712"/>
                    <a:pt x="22118" y="65920"/>
                    <a:pt x="19050" y="19050"/>
                  </a:cubicBezTo>
                  <a:cubicBezTo>
                    <a:pt x="184673" y="16665"/>
                    <a:pt x="246057" y="31289"/>
                    <a:pt x="395478" y="19050"/>
                  </a:cubicBezTo>
                  <a:cubicBezTo>
                    <a:pt x="544899" y="6811"/>
                    <a:pt x="611113" y="58305"/>
                    <a:pt x="742950" y="19050"/>
                  </a:cubicBezTo>
                  <a:close/>
                </a:path>
                <a:path w="762000" h="590550" stroke="0" extrusionOk="0">
                  <a:moveTo>
                    <a:pt x="0" y="590550"/>
                  </a:moveTo>
                  <a:cubicBezTo>
                    <a:pt x="154775" y="558154"/>
                    <a:pt x="220356" y="612445"/>
                    <a:pt x="358140" y="590550"/>
                  </a:cubicBezTo>
                  <a:cubicBezTo>
                    <a:pt x="495924" y="568655"/>
                    <a:pt x="600340" y="604512"/>
                    <a:pt x="762000" y="590550"/>
                  </a:cubicBezTo>
                  <a:cubicBezTo>
                    <a:pt x="738712" y="386816"/>
                    <a:pt x="767145" y="240871"/>
                    <a:pt x="762000" y="0"/>
                  </a:cubicBezTo>
                  <a:cubicBezTo>
                    <a:pt x="585348" y="9617"/>
                    <a:pt x="503224" y="-31931"/>
                    <a:pt x="373380" y="0"/>
                  </a:cubicBezTo>
                  <a:cubicBezTo>
                    <a:pt x="243536" y="31931"/>
                    <a:pt x="75450" y="-13351"/>
                    <a:pt x="0" y="0"/>
                  </a:cubicBezTo>
                  <a:cubicBezTo>
                    <a:pt x="16906" y="120276"/>
                    <a:pt x="-49829" y="349513"/>
                    <a:pt x="0" y="590550"/>
                  </a:cubicBezTo>
                  <a:close/>
                  <a:moveTo>
                    <a:pt x="19050" y="571500"/>
                  </a:moveTo>
                  <a:cubicBezTo>
                    <a:pt x="4292" y="476438"/>
                    <a:pt x="41088" y="274487"/>
                    <a:pt x="19050" y="152400"/>
                  </a:cubicBezTo>
                  <a:cubicBezTo>
                    <a:pt x="168273" y="110561"/>
                    <a:pt x="282548" y="172153"/>
                    <a:pt x="381000" y="152400"/>
                  </a:cubicBezTo>
                  <a:cubicBezTo>
                    <a:pt x="479452" y="132647"/>
                    <a:pt x="616942" y="176757"/>
                    <a:pt x="742950" y="152400"/>
                  </a:cubicBezTo>
                  <a:cubicBezTo>
                    <a:pt x="786562" y="310896"/>
                    <a:pt x="730505" y="463900"/>
                    <a:pt x="742950" y="571500"/>
                  </a:cubicBezTo>
                  <a:cubicBezTo>
                    <a:pt x="661936" y="575281"/>
                    <a:pt x="547873" y="537137"/>
                    <a:pt x="373761" y="571500"/>
                  </a:cubicBezTo>
                  <a:cubicBezTo>
                    <a:pt x="199649" y="605863"/>
                    <a:pt x="135744" y="536574"/>
                    <a:pt x="19050" y="571500"/>
                  </a:cubicBezTo>
                  <a:close/>
                  <a:moveTo>
                    <a:pt x="742950" y="19050"/>
                  </a:moveTo>
                  <a:cubicBezTo>
                    <a:pt x="751566" y="63812"/>
                    <a:pt x="733453" y="96224"/>
                    <a:pt x="742950" y="133350"/>
                  </a:cubicBezTo>
                  <a:cubicBezTo>
                    <a:pt x="628384" y="141133"/>
                    <a:pt x="472624" y="114379"/>
                    <a:pt x="366522" y="133350"/>
                  </a:cubicBezTo>
                  <a:cubicBezTo>
                    <a:pt x="260420" y="152321"/>
                    <a:pt x="95857" y="127960"/>
                    <a:pt x="19050" y="133350"/>
                  </a:cubicBezTo>
                  <a:cubicBezTo>
                    <a:pt x="7134" y="100730"/>
                    <a:pt x="25888" y="52179"/>
                    <a:pt x="19050" y="19050"/>
                  </a:cubicBezTo>
                  <a:cubicBezTo>
                    <a:pt x="174631" y="-17870"/>
                    <a:pt x="304189" y="38168"/>
                    <a:pt x="381000" y="19050"/>
                  </a:cubicBezTo>
                  <a:cubicBezTo>
                    <a:pt x="457811" y="-68"/>
                    <a:pt x="605912" y="48223"/>
                    <a:pt x="74295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2498960035">
                    <a:custGeom>
                      <a:avLst/>
                      <a:gdLst>
                        <a:gd name="connsiteX0" fmla="*/ 0 w 762000"/>
                        <a:gd name="connsiteY0" fmla="*/ 590550 h 590550"/>
                        <a:gd name="connsiteX1" fmla="*/ 762000 w 762000"/>
                        <a:gd name="connsiteY1" fmla="*/ 590550 h 590550"/>
                        <a:gd name="connsiteX2" fmla="*/ 762000 w 762000"/>
                        <a:gd name="connsiteY2" fmla="*/ 0 h 590550"/>
                        <a:gd name="connsiteX3" fmla="*/ 0 w 762000"/>
                        <a:gd name="connsiteY3" fmla="*/ 0 h 590550"/>
                        <a:gd name="connsiteX4" fmla="*/ 19050 w 762000"/>
                        <a:gd name="connsiteY4" fmla="*/ 571500 h 590550"/>
                        <a:gd name="connsiteX5" fmla="*/ 19050 w 762000"/>
                        <a:gd name="connsiteY5" fmla="*/ 152400 h 590550"/>
                        <a:gd name="connsiteX6" fmla="*/ 742950 w 762000"/>
                        <a:gd name="connsiteY6" fmla="*/ 152400 h 590550"/>
                        <a:gd name="connsiteX7" fmla="*/ 742950 w 762000"/>
                        <a:gd name="connsiteY7" fmla="*/ 571500 h 590550"/>
                        <a:gd name="connsiteX8" fmla="*/ 742950 w 762000"/>
                        <a:gd name="connsiteY8" fmla="*/ 19050 h 590550"/>
                        <a:gd name="connsiteX9" fmla="*/ 742950 w 762000"/>
                        <a:gd name="connsiteY9" fmla="*/ 133350 h 590550"/>
                        <a:gd name="connsiteX10" fmla="*/ 19050 w 762000"/>
                        <a:gd name="connsiteY10" fmla="*/ 133350 h 590550"/>
                        <a:gd name="connsiteX11" fmla="*/ 19050 w 762000"/>
                        <a:gd name="connsiteY11" fmla="*/ 1905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62000" h="590550">
                          <a:moveTo>
                            <a:pt x="0" y="590550"/>
                          </a:moveTo>
                          <a:lnTo>
                            <a:pt x="762000" y="590550"/>
                          </a:lnTo>
                          <a:lnTo>
                            <a:pt x="762000" y="0"/>
                          </a:lnTo>
                          <a:lnTo>
                            <a:pt x="0" y="0"/>
                          </a:lnTo>
                          <a:close/>
                          <a:moveTo>
                            <a:pt x="19050" y="571500"/>
                          </a:moveTo>
                          <a:lnTo>
                            <a:pt x="19050" y="152400"/>
                          </a:lnTo>
                          <a:lnTo>
                            <a:pt x="742950" y="152400"/>
                          </a:lnTo>
                          <a:lnTo>
                            <a:pt x="742950" y="571500"/>
                          </a:lnTo>
                          <a:close/>
                          <a:moveTo>
                            <a:pt x="742950" y="19050"/>
                          </a:moveTo>
                          <a:lnTo>
                            <a:pt x="742950" y="133350"/>
                          </a:lnTo>
                          <a:lnTo>
                            <a:pt x="19050" y="133350"/>
                          </a:lnTo>
                          <a:lnTo>
                            <a:pt x="19050" y="19050"/>
                          </a:lnTo>
                          <a:close/>
                        </a:path>
                      </a:pathLst>
                    </a:custGeom>
                    <ask:type>
                      <ask:lineSketchScribble/>
                    </ask:type>
                  </ask:lineSketchStyleProps>
                </a:ext>
              </a:extLst>
            </a:ln>
          </p:spPr>
          <p:txBody>
            <a:bodyPr rtlCol="0" anchor="ctr"/>
            <a:lstStyle/>
            <a:p>
              <a:endParaRPr lang="en-US"/>
            </a:p>
          </p:txBody>
        </p:sp>
        <p:sp>
          <p:nvSpPr>
            <p:cNvPr id="106" name="Freeform 30"/>
            <p:cNvSpPr/>
            <p:nvPr/>
          </p:nvSpPr>
          <p:spPr>
            <a:xfrm>
              <a:off x="621982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6668" y="31495"/>
                    <a:pt x="28642" y="37612"/>
                    <a:pt x="19050" y="38100"/>
                  </a:cubicBezTo>
                  <a:cubicBezTo>
                    <a:pt x="9830" y="38864"/>
                    <a:pt x="-602" y="29313"/>
                    <a:pt x="0" y="19050"/>
                  </a:cubicBezTo>
                  <a:cubicBezTo>
                    <a:pt x="71" y="8241"/>
                    <a:pt x="8755" y="-475"/>
                    <a:pt x="19050" y="0"/>
                  </a:cubicBezTo>
                  <a:cubicBezTo>
                    <a:pt x="30529" y="2953"/>
                    <a:pt x="37016" y="9222"/>
                    <a:pt x="38100" y="19050"/>
                  </a:cubicBezTo>
                  <a:close/>
                </a:path>
                <a:path w="38100" h="38100" stroke="0" extrusionOk="0">
                  <a:moveTo>
                    <a:pt x="38100" y="19050"/>
                  </a:moveTo>
                  <a:cubicBezTo>
                    <a:pt x="39774" y="26900"/>
                    <a:pt x="28299" y="37085"/>
                    <a:pt x="19050" y="38100"/>
                  </a:cubicBezTo>
                  <a:cubicBezTo>
                    <a:pt x="9810" y="38297"/>
                    <a:pt x="-1109" y="32155"/>
                    <a:pt x="0" y="19050"/>
                  </a:cubicBezTo>
                  <a:cubicBezTo>
                    <a:pt x="1618" y="8508"/>
                    <a:pt x="8531" y="231"/>
                    <a:pt x="19050" y="0"/>
                  </a:cubicBezTo>
                  <a:cubicBezTo>
                    <a:pt x="30465" y="-1109"/>
                    <a:pt x="38645" y="8775"/>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801459907">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7" name="Freeform 31"/>
            <p:cNvSpPr/>
            <p:nvPr/>
          </p:nvSpPr>
          <p:spPr>
            <a:xfrm>
              <a:off x="6286500"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7148" y="27866"/>
                    <a:pt x="31150" y="39814"/>
                    <a:pt x="19050" y="38100"/>
                  </a:cubicBezTo>
                  <a:cubicBezTo>
                    <a:pt x="8503" y="40197"/>
                    <a:pt x="446" y="30213"/>
                    <a:pt x="0" y="19050"/>
                  </a:cubicBezTo>
                  <a:cubicBezTo>
                    <a:pt x="2158" y="9554"/>
                    <a:pt x="6247" y="174"/>
                    <a:pt x="19050" y="0"/>
                  </a:cubicBezTo>
                  <a:cubicBezTo>
                    <a:pt x="31189" y="123"/>
                    <a:pt x="40255" y="9425"/>
                    <a:pt x="38100" y="19050"/>
                  </a:cubicBezTo>
                  <a:close/>
                </a:path>
                <a:path w="38100" h="38100" stroke="0" extrusionOk="0">
                  <a:moveTo>
                    <a:pt x="38100" y="19050"/>
                  </a:moveTo>
                  <a:cubicBezTo>
                    <a:pt x="36702" y="28517"/>
                    <a:pt x="30289" y="38205"/>
                    <a:pt x="19050" y="38100"/>
                  </a:cubicBezTo>
                  <a:cubicBezTo>
                    <a:pt x="8050" y="37989"/>
                    <a:pt x="2019" y="31677"/>
                    <a:pt x="0" y="19050"/>
                  </a:cubicBezTo>
                  <a:cubicBezTo>
                    <a:pt x="352" y="9041"/>
                    <a:pt x="7961" y="-1347"/>
                    <a:pt x="19050" y="0"/>
                  </a:cubicBezTo>
                  <a:cubicBezTo>
                    <a:pt x="28406" y="-1785"/>
                    <a:pt x="37107" y="7113"/>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741904289">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8" name="Freeform 32"/>
            <p:cNvSpPr/>
            <p:nvPr/>
          </p:nvSpPr>
          <p:spPr>
            <a:xfrm>
              <a:off x="635317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40484" y="27911"/>
                    <a:pt x="28318" y="38040"/>
                    <a:pt x="19050" y="38100"/>
                  </a:cubicBezTo>
                  <a:cubicBezTo>
                    <a:pt x="6219" y="37740"/>
                    <a:pt x="1168" y="27565"/>
                    <a:pt x="0" y="19050"/>
                  </a:cubicBezTo>
                  <a:cubicBezTo>
                    <a:pt x="-1210" y="9994"/>
                    <a:pt x="10441" y="-1791"/>
                    <a:pt x="19050" y="0"/>
                  </a:cubicBezTo>
                  <a:cubicBezTo>
                    <a:pt x="28904" y="1053"/>
                    <a:pt x="37238" y="6479"/>
                    <a:pt x="38100" y="19050"/>
                  </a:cubicBezTo>
                  <a:close/>
                </a:path>
                <a:path w="38100" h="38100" stroke="0" extrusionOk="0">
                  <a:moveTo>
                    <a:pt x="38100" y="19050"/>
                  </a:moveTo>
                  <a:cubicBezTo>
                    <a:pt x="38795" y="29284"/>
                    <a:pt x="26912" y="37258"/>
                    <a:pt x="19050" y="38100"/>
                  </a:cubicBezTo>
                  <a:cubicBezTo>
                    <a:pt x="10193" y="38587"/>
                    <a:pt x="-2503" y="29971"/>
                    <a:pt x="0" y="19050"/>
                  </a:cubicBezTo>
                  <a:cubicBezTo>
                    <a:pt x="-9" y="8962"/>
                    <a:pt x="9807" y="15"/>
                    <a:pt x="19050" y="0"/>
                  </a:cubicBezTo>
                  <a:cubicBezTo>
                    <a:pt x="29850" y="-183"/>
                    <a:pt x="39296" y="8072"/>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078833563">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grpSp>
      <p:sp>
        <p:nvSpPr>
          <p:cNvPr id="10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Just Finished</a:t>
            </a:r>
          </a:p>
        </p:txBody>
      </p:sp>
      <p:sp>
        <p:nvSpPr>
          <p:cNvPr id="110"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trail-0117</a:t>
            </a:r>
          </a:p>
        </p:txBody>
      </p:sp>
      <p:cxnSp>
        <p:nvCxnSpPr>
          <p:cNvPr id="111"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12"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Avalanche Lake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(trail-0117)</a:t>
            </a:r>
          </a:p>
        </p:txBody>
      </p:sp>
      <p:sp>
        <p:nvSpPr>
          <p:cNvPr id="113"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4" name="Graphic 2" descr="Single gear outline"/>
          <p:cNvGrpSpPr/>
          <p:nvPr/>
        </p:nvGrpSpPr>
        <p:grpSpPr>
          <a:xfrm>
            <a:off x="5738021" y="2728234"/>
            <a:ext cx="648652" cy="647861"/>
            <a:chOff x="5772150" y="3332061"/>
            <a:chExt cx="648652" cy="647861"/>
          </a:xfrm>
          <a:noFill/>
        </p:grpSpPr>
        <p:sp>
          <p:nvSpPr>
            <p:cNvPr id="115"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6"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7"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8"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19"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vector} ×30</a:t>
            </a:r>
          </a:p>
        </p:txBody>
      </p:sp>
      <p:cxnSp>
        <p:nvCxnSpPr>
          <p:cNvPr id="120" name="App-LowRight"/>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21" name="App line 0"/>
          <p:cNvSpPr txBox="1"/>
          <p:nvPr/>
        </p:nvSpPr>
        <p:spPr>
          <a:xfrm>
            <a:off x="4878638" y="3660922"/>
            <a:ext cx="2367419" cy="301752"/>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cosine(v0117, v) ×29</a:t>
            </a:r>
          </a:p>
        </p:txBody>
      </p:sp>
      <p:sp>
        <p:nvSpPr>
          <p:cNvPr id="122" name="App line 1"/>
          <p:cNvSpPr txBox="1"/>
          <p:nvPr/>
        </p:nvSpPr>
        <p:spPr>
          <a:xfrm>
            <a:off x="4878638" y="3962674"/>
            <a:ext cx="2367419" cy="301752"/>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drop trail-0117</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How It Works</a:t>
            </a:r>
          </a:p>
        </p:txBody>
      </p:sp>
      <p:grpSp>
        <p:nvGrpSpPr>
          <p:cNvPr id="101" name="Graphic 24" descr="Web design outline"/>
          <p:cNvGrpSpPr/>
          <p:nvPr/>
        </p:nvGrpSpPr>
        <p:grpSpPr>
          <a:xfrm>
            <a:off x="1356360" y="3360636"/>
            <a:ext cx="762000" cy="590550"/>
            <a:chOff x="5715000" y="3133725"/>
            <a:chExt cx="762000" cy="590550"/>
          </a:xfrm>
          <a:noFill/>
        </p:grpSpPr>
        <p:sp>
          <p:nvSpPr>
            <p:cNvPr id="102" name="Freeform 26"/>
            <p:cNvSpPr/>
            <p:nvPr/>
          </p:nvSpPr>
          <p:spPr>
            <a:xfrm>
              <a:off x="5872981" y="3374640"/>
              <a:ext cx="115452" cy="203968"/>
            </a:xfrm>
            <a:custGeom>
              <a:avLst/>
              <a:gdLst>
                <a:gd name="csX0" fmla="*/ 101984 w 115452"/>
                <a:gd name="csY0" fmla="*/ 0 h 203968"/>
                <a:gd name="csX1" fmla="*/ 0 w 115452"/>
                <a:gd name="csY1" fmla="*/ 101984 h 203968"/>
                <a:gd name="csX2" fmla="*/ 101984 w 115452"/>
                <a:gd name="csY2" fmla="*/ 203968 h 203968"/>
                <a:gd name="csX3" fmla="*/ 115453 w 115452"/>
                <a:gd name="csY3" fmla="*/ 190500 h 203968"/>
                <a:gd name="csX4" fmla="*/ 26937 w 115452"/>
                <a:gd name="csY4" fmla="*/ 101984 h 203968"/>
                <a:gd name="csX5" fmla="*/ 115453 w 115452"/>
                <a:gd name="csY5" fmla="*/ 13468 h 203968"/>
                <a:gd name="csX6" fmla="*/ 101984 w 115452"/>
                <a:gd name="csY6" fmla="*/ 0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101984" y="0"/>
                  </a:moveTo>
                  <a:cubicBezTo>
                    <a:pt x="80469" y="29789"/>
                    <a:pt x="10671" y="68735"/>
                    <a:pt x="0" y="101984"/>
                  </a:cubicBezTo>
                  <a:cubicBezTo>
                    <a:pt x="35097" y="113800"/>
                    <a:pt x="52768" y="168720"/>
                    <a:pt x="101984" y="203968"/>
                  </a:cubicBezTo>
                  <a:cubicBezTo>
                    <a:pt x="106341" y="197468"/>
                    <a:pt x="111754" y="196900"/>
                    <a:pt x="115453" y="190500"/>
                  </a:cubicBezTo>
                  <a:cubicBezTo>
                    <a:pt x="86765" y="171738"/>
                    <a:pt x="72486" y="128597"/>
                    <a:pt x="26937" y="101984"/>
                  </a:cubicBezTo>
                  <a:cubicBezTo>
                    <a:pt x="56095" y="68628"/>
                    <a:pt x="87648" y="43689"/>
                    <a:pt x="115453" y="13468"/>
                  </a:cubicBezTo>
                  <a:cubicBezTo>
                    <a:pt x="110598" y="11500"/>
                    <a:pt x="108028" y="3862"/>
                    <a:pt x="101984" y="0"/>
                  </a:cubicBezTo>
                  <a:close/>
                </a:path>
                <a:path w="115452" h="203968" stroke="0" extrusionOk="0">
                  <a:moveTo>
                    <a:pt x="101984" y="0"/>
                  </a:moveTo>
                  <a:cubicBezTo>
                    <a:pt x="54666" y="49377"/>
                    <a:pt x="14242" y="66077"/>
                    <a:pt x="0" y="101984"/>
                  </a:cubicBezTo>
                  <a:cubicBezTo>
                    <a:pt x="50434" y="132521"/>
                    <a:pt x="69644" y="185088"/>
                    <a:pt x="101984" y="203968"/>
                  </a:cubicBezTo>
                  <a:cubicBezTo>
                    <a:pt x="106139" y="198738"/>
                    <a:pt x="111444" y="196583"/>
                    <a:pt x="115453" y="190500"/>
                  </a:cubicBezTo>
                  <a:cubicBezTo>
                    <a:pt x="76111" y="159672"/>
                    <a:pt x="70051" y="126332"/>
                    <a:pt x="26937" y="101984"/>
                  </a:cubicBezTo>
                  <a:cubicBezTo>
                    <a:pt x="50353" y="60681"/>
                    <a:pt x="104707" y="42634"/>
                    <a:pt x="115453" y="13468"/>
                  </a:cubicBezTo>
                  <a:cubicBezTo>
                    <a:pt x="111636" y="10467"/>
                    <a:pt x="107664" y="2756"/>
                    <a:pt x="101984"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101984 w 115452"/>
                        <a:gd name="connsiteY0" fmla="*/ 0 h 203968"/>
                        <a:gd name="connsiteX1" fmla="*/ 0 w 115452"/>
                        <a:gd name="connsiteY1" fmla="*/ 101984 h 203968"/>
                        <a:gd name="connsiteX2" fmla="*/ 101984 w 115452"/>
                        <a:gd name="connsiteY2" fmla="*/ 203968 h 203968"/>
                        <a:gd name="connsiteX3" fmla="*/ 115453 w 115452"/>
                        <a:gd name="connsiteY3" fmla="*/ 190500 h 203968"/>
                        <a:gd name="connsiteX4" fmla="*/ 26937 w 115452"/>
                        <a:gd name="connsiteY4" fmla="*/ 101984 h 203968"/>
                        <a:gd name="connsiteX5" fmla="*/ 115453 w 115452"/>
                        <a:gd name="connsiteY5" fmla="*/ 13468 h 203968"/>
                        <a:gd name="connsiteX6" fmla="*/ 101984 w 115452"/>
                        <a:gd name="connsiteY6" fmla="*/ 0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101984" y="0"/>
                          </a:moveTo>
                          <a:lnTo>
                            <a:pt x="0" y="101984"/>
                          </a:lnTo>
                          <a:lnTo>
                            <a:pt x="101984" y="203968"/>
                          </a:lnTo>
                          <a:lnTo>
                            <a:pt x="115453" y="190500"/>
                          </a:lnTo>
                          <a:lnTo>
                            <a:pt x="26937" y="101984"/>
                          </a:lnTo>
                          <a:lnTo>
                            <a:pt x="115453" y="13468"/>
                          </a:lnTo>
                          <a:lnTo>
                            <a:pt x="101984" y="0"/>
                          </a:lnTo>
                          <a:close/>
                        </a:path>
                      </a:pathLst>
                    </a:custGeom>
                    <ask:type>
                      <ask:lineSketchScribble/>
                    </ask:type>
                  </ask:lineSketchStyleProps>
                </a:ext>
              </a:extLst>
            </a:ln>
          </p:spPr>
          <p:txBody>
            <a:bodyPr rtlCol="0" anchor="ctr"/>
            <a:lstStyle/>
            <a:p>
              <a:endParaRPr lang="en-US"/>
            </a:p>
          </p:txBody>
        </p:sp>
        <p:sp>
          <p:nvSpPr>
            <p:cNvPr id="103" name="Freeform 27"/>
            <p:cNvSpPr/>
            <p:nvPr/>
          </p:nvSpPr>
          <p:spPr>
            <a:xfrm>
              <a:off x="6203565" y="3374640"/>
              <a:ext cx="115452" cy="203968"/>
            </a:xfrm>
            <a:custGeom>
              <a:avLst/>
              <a:gdLst>
                <a:gd name="csX0" fmla="*/ 0 w 115452"/>
                <a:gd name="csY0" fmla="*/ 13468 h 203968"/>
                <a:gd name="csX1" fmla="*/ 88516 w 115452"/>
                <a:gd name="csY1" fmla="*/ 101984 h 203968"/>
                <a:gd name="csX2" fmla="*/ 0 w 115452"/>
                <a:gd name="csY2" fmla="*/ 190500 h 203968"/>
                <a:gd name="csX3" fmla="*/ 13468 w 115452"/>
                <a:gd name="csY3" fmla="*/ 203968 h 203968"/>
                <a:gd name="csX4" fmla="*/ 115453 w 115452"/>
                <a:gd name="csY4" fmla="*/ 101984 h 203968"/>
                <a:gd name="csX5" fmla="*/ 13468 w 115452"/>
                <a:gd name="csY5" fmla="*/ 0 h 203968"/>
                <a:gd name="csX6" fmla="*/ 0 w 115452"/>
                <a:gd name="csY6" fmla="*/ 13468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0" y="13468"/>
                  </a:moveTo>
                  <a:cubicBezTo>
                    <a:pt x="28195" y="31658"/>
                    <a:pt x="62315" y="85716"/>
                    <a:pt x="88516" y="101984"/>
                  </a:cubicBezTo>
                  <a:cubicBezTo>
                    <a:pt x="58661" y="145296"/>
                    <a:pt x="33019" y="156066"/>
                    <a:pt x="0" y="190500"/>
                  </a:cubicBezTo>
                  <a:cubicBezTo>
                    <a:pt x="5261" y="193987"/>
                    <a:pt x="8997" y="201568"/>
                    <a:pt x="13468" y="203968"/>
                  </a:cubicBezTo>
                  <a:cubicBezTo>
                    <a:pt x="49805" y="148660"/>
                    <a:pt x="76016" y="150703"/>
                    <a:pt x="115453" y="101984"/>
                  </a:cubicBezTo>
                  <a:cubicBezTo>
                    <a:pt x="68851" y="78131"/>
                    <a:pt x="60248" y="25543"/>
                    <a:pt x="13468" y="0"/>
                  </a:cubicBezTo>
                  <a:cubicBezTo>
                    <a:pt x="7612" y="6684"/>
                    <a:pt x="4796" y="5981"/>
                    <a:pt x="0" y="13468"/>
                  </a:cubicBezTo>
                  <a:close/>
                </a:path>
                <a:path w="115452" h="203968" stroke="0" extrusionOk="0">
                  <a:moveTo>
                    <a:pt x="0" y="13468"/>
                  </a:moveTo>
                  <a:cubicBezTo>
                    <a:pt x="35903" y="44056"/>
                    <a:pt x="52973" y="84230"/>
                    <a:pt x="88516" y="101984"/>
                  </a:cubicBezTo>
                  <a:cubicBezTo>
                    <a:pt x="48291" y="147503"/>
                    <a:pt x="38948" y="145206"/>
                    <a:pt x="0" y="190500"/>
                  </a:cubicBezTo>
                  <a:cubicBezTo>
                    <a:pt x="4026" y="193879"/>
                    <a:pt x="5514" y="199242"/>
                    <a:pt x="13468" y="203968"/>
                  </a:cubicBezTo>
                  <a:cubicBezTo>
                    <a:pt x="29831" y="179468"/>
                    <a:pt x="77301" y="146098"/>
                    <a:pt x="115453" y="101984"/>
                  </a:cubicBezTo>
                  <a:cubicBezTo>
                    <a:pt x="80161" y="89125"/>
                    <a:pt x="66590" y="44761"/>
                    <a:pt x="13468" y="0"/>
                  </a:cubicBezTo>
                  <a:cubicBezTo>
                    <a:pt x="9274" y="4825"/>
                    <a:pt x="3783" y="8616"/>
                    <a:pt x="0" y="13468"/>
                  </a:cubicBezTo>
                  <a:close/>
                </a:path>
              </a:pathLst>
            </a:custGeom>
            <a:grpFill/>
            <a:ln w="15875" cap="flat">
              <a:solidFill>
                <a:srgbClr val="1F3A5F"/>
              </a:solidFill>
              <a:prstDash val="solid"/>
              <a:miter/>
              <a:extLst>
                <a:ext uri="{C807C97D-BFC1-408E-A445-0C87EB9F89A2}">
                  <ask:lineSketchStyleProps xmlns:ask="http://schemas.microsoft.com/office/drawing/2018/sketchyshapes" sd="2830084044">
                    <a:custGeom>
                      <a:avLst/>
                      <a:gdLst>
                        <a:gd name="connsiteX0" fmla="*/ 0 w 115452"/>
                        <a:gd name="connsiteY0" fmla="*/ 13468 h 203968"/>
                        <a:gd name="connsiteX1" fmla="*/ 88516 w 115452"/>
                        <a:gd name="connsiteY1" fmla="*/ 101984 h 203968"/>
                        <a:gd name="connsiteX2" fmla="*/ 0 w 115452"/>
                        <a:gd name="connsiteY2" fmla="*/ 190500 h 203968"/>
                        <a:gd name="connsiteX3" fmla="*/ 13468 w 115452"/>
                        <a:gd name="connsiteY3" fmla="*/ 203968 h 203968"/>
                        <a:gd name="connsiteX4" fmla="*/ 115453 w 115452"/>
                        <a:gd name="connsiteY4" fmla="*/ 101984 h 203968"/>
                        <a:gd name="connsiteX5" fmla="*/ 13468 w 115452"/>
                        <a:gd name="connsiteY5" fmla="*/ 0 h 203968"/>
                        <a:gd name="connsiteX6" fmla="*/ 0 w 115452"/>
                        <a:gd name="connsiteY6" fmla="*/ 13468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0" y="13468"/>
                          </a:moveTo>
                          <a:lnTo>
                            <a:pt x="88516" y="101984"/>
                          </a:lnTo>
                          <a:lnTo>
                            <a:pt x="0" y="190500"/>
                          </a:lnTo>
                          <a:lnTo>
                            <a:pt x="13468" y="203968"/>
                          </a:lnTo>
                          <a:lnTo>
                            <a:pt x="115453" y="101984"/>
                          </a:lnTo>
                          <a:lnTo>
                            <a:pt x="13468" y="0"/>
                          </a:lnTo>
                          <a:lnTo>
                            <a:pt x="0" y="13468"/>
                          </a:lnTo>
                          <a:close/>
                        </a:path>
                      </a:pathLst>
                    </a:custGeom>
                    <ask:type>
                      <ask:lineSketchScribble/>
                    </ask:type>
                  </ask:lineSketchStyleProps>
                </a:ext>
              </a:extLst>
            </a:ln>
          </p:spPr>
          <p:txBody>
            <a:bodyPr rtlCol="0" anchor="ctr"/>
            <a:lstStyle/>
            <a:p>
              <a:endParaRPr lang="en-US"/>
            </a:p>
          </p:txBody>
        </p:sp>
        <p:sp>
          <p:nvSpPr>
            <p:cNvPr id="104" name="Freeform 28"/>
            <p:cNvSpPr/>
            <p:nvPr/>
          </p:nvSpPr>
          <p:spPr>
            <a:xfrm rot="-3990120">
              <a:off x="5976555" y="3471860"/>
              <a:ext cx="238886" cy="19049"/>
            </a:xfrm>
            <a:custGeom>
              <a:avLst/>
              <a:gdLst>
                <a:gd name="csX0" fmla="*/ 0 w 238886"/>
                <a:gd name="csY0" fmla="*/ 0 h 19049"/>
                <a:gd name="csX1" fmla="*/ 238887 w 238886"/>
                <a:gd name="csY1" fmla="*/ 0 h 19049"/>
                <a:gd name="csX2" fmla="*/ 238887 w 238886"/>
                <a:gd name="csY2" fmla="*/ 19050 h 19049"/>
                <a:gd name="csX3" fmla="*/ 0 w 238886"/>
                <a:gd name="csY3" fmla="*/ 19050 h 19049"/>
                <a:gd name="csX4" fmla="*/ 0 w 238886"/>
                <a:gd name="csY4" fmla="*/ 0 h 19049"/>
              </a:gdLst>
              <a:ahLst/>
              <a:cxnLst>
                <a:cxn ang="0">
                  <a:pos x="csX0" y="csY0"/>
                </a:cxn>
                <a:cxn ang="0">
                  <a:pos x="csX1" y="csY1"/>
                </a:cxn>
                <a:cxn ang="0">
                  <a:pos x="csX2" y="csY2"/>
                </a:cxn>
                <a:cxn ang="0">
                  <a:pos x="csX3" y="csY3"/>
                </a:cxn>
                <a:cxn ang="0">
                  <a:pos x="csX4" y="csY4"/>
                </a:cxn>
              </a:cxnLst>
              <a:rect l="l" t="t" r="r" b="b"/>
              <a:pathLst>
                <a:path w="238886" h="19049" fill="none" extrusionOk="0">
                  <a:moveTo>
                    <a:pt x="0" y="0"/>
                  </a:moveTo>
                  <a:cubicBezTo>
                    <a:pt x="89439" y="-27312"/>
                    <a:pt x="129399" y="19521"/>
                    <a:pt x="238887" y="0"/>
                  </a:cubicBezTo>
                  <a:cubicBezTo>
                    <a:pt x="240312" y="8611"/>
                    <a:pt x="237794" y="9969"/>
                    <a:pt x="238887" y="19050"/>
                  </a:cubicBezTo>
                  <a:cubicBezTo>
                    <a:pt x="125798" y="22001"/>
                    <a:pt x="48091" y="-5468"/>
                    <a:pt x="0" y="19050"/>
                  </a:cubicBezTo>
                  <a:cubicBezTo>
                    <a:pt x="-332" y="10898"/>
                    <a:pt x="983" y="6475"/>
                    <a:pt x="0" y="0"/>
                  </a:cubicBezTo>
                  <a:close/>
                </a:path>
                <a:path w="238886" h="19049" stroke="0" extrusionOk="0">
                  <a:moveTo>
                    <a:pt x="0" y="0"/>
                  </a:moveTo>
                  <a:cubicBezTo>
                    <a:pt x="81267" y="-25071"/>
                    <a:pt x="137755" y="27943"/>
                    <a:pt x="238887" y="0"/>
                  </a:cubicBezTo>
                  <a:cubicBezTo>
                    <a:pt x="240527" y="4590"/>
                    <a:pt x="237147" y="12697"/>
                    <a:pt x="238887" y="19050"/>
                  </a:cubicBezTo>
                  <a:cubicBezTo>
                    <a:pt x="130063" y="34728"/>
                    <a:pt x="61649" y="-7729"/>
                    <a:pt x="0" y="19050"/>
                  </a:cubicBezTo>
                  <a:cubicBezTo>
                    <a:pt x="-926" y="10149"/>
                    <a:pt x="314" y="6645"/>
                    <a:pt x="0"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658789007">
                    <a:custGeom>
                      <a:avLst/>
                      <a:gdLst>
                        <a:gd name="connsiteX0" fmla="*/ 0 w 238886"/>
                        <a:gd name="connsiteY0" fmla="*/ 0 h 19049"/>
                        <a:gd name="connsiteX1" fmla="*/ 238887 w 238886"/>
                        <a:gd name="connsiteY1" fmla="*/ 0 h 19049"/>
                        <a:gd name="connsiteX2" fmla="*/ 238887 w 238886"/>
                        <a:gd name="connsiteY2" fmla="*/ 19050 h 19049"/>
                        <a:gd name="connsiteX3" fmla="*/ 0 w 238886"/>
                        <a:gd name="connsiteY3" fmla="*/ 19050 h 19049"/>
                      </a:gdLst>
                      <a:ahLst/>
                      <a:cxnLst>
                        <a:cxn ang="0">
                          <a:pos x="connsiteX0" y="connsiteY0"/>
                        </a:cxn>
                        <a:cxn ang="0">
                          <a:pos x="connsiteX1" y="connsiteY1"/>
                        </a:cxn>
                        <a:cxn ang="0">
                          <a:pos x="connsiteX2" y="connsiteY2"/>
                        </a:cxn>
                        <a:cxn ang="0">
                          <a:pos x="connsiteX3" y="connsiteY3"/>
                        </a:cxn>
                      </a:cxnLst>
                      <a:rect l="l" t="t" r="r" b="b"/>
                      <a:pathLst>
                        <a:path w="238886" h="19049">
                          <a:moveTo>
                            <a:pt x="0" y="0"/>
                          </a:moveTo>
                          <a:lnTo>
                            <a:pt x="238887" y="0"/>
                          </a:lnTo>
                          <a:lnTo>
                            <a:pt x="238887" y="19050"/>
                          </a:lnTo>
                          <a:lnTo>
                            <a:pt x="0" y="19050"/>
                          </a:lnTo>
                          <a:close/>
                        </a:path>
                      </a:pathLst>
                    </a:custGeom>
                    <ask:type>
                      <ask:lineSketchScribble/>
                    </ask:type>
                  </ask:lineSketchStyleProps>
                </a:ext>
              </a:extLst>
            </a:ln>
          </p:spPr>
          <p:txBody>
            <a:bodyPr rtlCol="0" anchor="ctr"/>
            <a:lstStyle/>
            <a:p>
              <a:endParaRPr lang="en-US"/>
            </a:p>
          </p:txBody>
        </p:sp>
        <p:sp>
          <p:nvSpPr>
            <p:cNvPr id="105" name="Freeform 29"/>
            <p:cNvSpPr/>
            <p:nvPr/>
          </p:nvSpPr>
          <p:spPr>
            <a:xfrm>
              <a:off x="5715000" y="3133725"/>
              <a:ext cx="762000" cy="590550"/>
            </a:xfrm>
            <a:custGeom>
              <a:avLst/>
              <a:gdLst>
                <a:gd name="csX0" fmla="*/ 0 w 762000"/>
                <a:gd name="csY0" fmla="*/ 590550 h 590550"/>
                <a:gd name="csX1" fmla="*/ 388620 w 762000"/>
                <a:gd name="csY1" fmla="*/ 590550 h 590550"/>
                <a:gd name="csX2" fmla="*/ 762000 w 762000"/>
                <a:gd name="csY2" fmla="*/ 590550 h 590550"/>
                <a:gd name="csX3" fmla="*/ 762000 w 762000"/>
                <a:gd name="csY3" fmla="*/ 0 h 590550"/>
                <a:gd name="csX4" fmla="*/ 403860 w 762000"/>
                <a:gd name="csY4" fmla="*/ 0 h 590550"/>
                <a:gd name="csX5" fmla="*/ 0 w 762000"/>
                <a:gd name="csY5" fmla="*/ 0 h 590550"/>
                <a:gd name="csX6" fmla="*/ 0 w 762000"/>
                <a:gd name="csY6" fmla="*/ 590550 h 590550"/>
                <a:gd name="csX7" fmla="*/ 19050 w 762000"/>
                <a:gd name="csY7" fmla="*/ 571500 h 590550"/>
                <a:gd name="csX8" fmla="*/ 19050 w 762000"/>
                <a:gd name="csY8" fmla="*/ 152400 h 590550"/>
                <a:gd name="csX9" fmla="*/ 359283 w 762000"/>
                <a:gd name="csY9" fmla="*/ 152400 h 590550"/>
                <a:gd name="csX10" fmla="*/ 742950 w 762000"/>
                <a:gd name="csY10" fmla="*/ 152400 h 590550"/>
                <a:gd name="csX11" fmla="*/ 742950 w 762000"/>
                <a:gd name="csY11" fmla="*/ 571500 h 590550"/>
                <a:gd name="csX12" fmla="*/ 388239 w 762000"/>
                <a:gd name="csY12" fmla="*/ 571500 h 590550"/>
                <a:gd name="csX13" fmla="*/ 19050 w 762000"/>
                <a:gd name="csY13" fmla="*/ 571500 h 590550"/>
                <a:gd name="csX14" fmla="*/ 742950 w 762000"/>
                <a:gd name="csY14" fmla="*/ 19050 h 590550"/>
                <a:gd name="csX15" fmla="*/ 742950 w 762000"/>
                <a:gd name="csY15" fmla="*/ 133350 h 590550"/>
                <a:gd name="csX16" fmla="*/ 373761 w 762000"/>
                <a:gd name="csY16" fmla="*/ 133350 h 590550"/>
                <a:gd name="csX17" fmla="*/ 19050 w 762000"/>
                <a:gd name="csY17" fmla="*/ 133350 h 590550"/>
                <a:gd name="csX18" fmla="*/ 19050 w 762000"/>
                <a:gd name="csY18" fmla="*/ 19050 h 590550"/>
                <a:gd name="csX19" fmla="*/ 395478 w 762000"/>
                <a:gd name="csY19" fmla="*/ 19050 h 590550"/>
                <a:gd name="csX20" fmla="*/ 742950 w 762000"/>
                <a:gd name="csY20" fmla="*/ 1905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62000" h="590550" fill="none" extrusionOk="0">
                  <a:moveTo>
                    <a:pt x="0" y="590550"/>
                  </a:moveTo>
                  <a:cubicBezTo>
                    <a:pt x="125280" y="565457"/>
                    <a:pt x="268114" y="600228"/>
                    <a:pt x="388620" y="590550"/>
                  </a:cubicBezTo>
                  <a:cubicBezTo>
                    <a:pt x="509126" y="580872"/>
                    <a:pt x="661997" y="602816"/>
                    <a:pt x="762000" y="590550"/>
                  </a:cubicBezTo>
                  <a:cubicBezTo>
                    <a:pt x="714429" y="454041"/>
                    <a:pt x="801435" y="123443"/>
                    <a:pt x="762000" y="0"/>
                  </a:cubicBezTo>
                  <a:cubicBezTo>
                    <a:pt x="638898" y="20488"/>
                    <a:pt x="581116" y="-29312"/>
                    <a:pt x="403860" y="0"/>
                  </a:cubicBezTo>
                  <a:cubicBezTo>
                    <a:pt x="226604" y="29312"/>
                    <a:pt x="94433" y="-30243"/>
                    <a:pt x="0" y="0"/>
                  </a:cubicBezTo>
                  <a:cubicBezTo>
                    <a:pt x="24103" y="259624"/>
                    <a:pt x="-17973" y="353689"/>
                    <a:pt x="0" y="590550"/>
                  </a:cubicBezTo>
                  <a:close/>
                  <a:moveTo>
                    <a:pt x="19050" y="571500"/>
                  </a:moveTo>
                  <a:cubicBezTo>
                    <a:pt x="17440" y="362395"/>
                    <a:pt x="57177" y="310726"/>
                    <a:pt x="19050" y="152400"/>
                  </a:cubicBezTo>
                  <a:cubicBezTo>
                    <a:pt x="169035" y="132790"/>
                    <a:pt x="221452" y="188570"/>
                    <a:pt x="359283" y="152400"/>
                  </a:cubicBezTo>
                  <a:cubicBezTo>
                    <a:pt x="497114" y="116230"/>
                    <a:pt x="624118" y="154138"/>
                    <a:pt x="742950" y="152400"/>
                  </a:cubicBezTo>
                  <a:cubicBezTo>
                    <a:pt x="778489" y="330828"/>
                    <a:pt x="741863" y="362207"/>
                    <a:pt x="742950" y="571500"/>
                  </a:cubicBezTo>
                  <a:cubicBezTo>
                    <a:pt x="645401" y="608398"/>
                    <a:pt x="517897" y="531493"/>
                    <a:pt x="388239" y="571500"/>
                  </a:cubicBezTo>
                  <a:cubicBezTo>
                    <a:pt x="258581" y="611507"/>
                    <a:pt x="165779" y="567707"/>
                    <a:pt x="19050" y="571500"/>
                  </a:cubicBezTo>
                  <a:close/>
                  <a:moveTo>
                    <a:pt x="742950" y="19050"/>
                  </a:moveTo>
                  <a:cubicBezTo>
                    <a:pt x="744351" y="43220"/>
                    <a:pt x="730953" y="89819"/>
                    <a:pt x="742950" y="133350"/>
                  </a:cubicBezTo>
                  <a:cubicBezTo>
                    <a:pt x="561477" y="148340"/>
                    <a:pt x="543754" y="113442"/>
                    <a:pt x="373761" y="133350"/>
                  </a:cubicBezTo>
                  <a:cubicBezTo>
                    <a:pt x="203768" y="153258"/>
                    <a:pt x="124158" y="118808"/>
                    <a:pt x="19050" y="133350"/>
                  </a:cubicBezTo>
                  <a:cubicBezTo>
                    <a:pt x="14037" y="77712"/>
                    <a:pt x="22118" y="65920"/>
                    <a:pt x="19050" y="19050"/>
                  </a:cubicBezTo>
                  <a:cubicBezTo>
                    <a:pt x="184673" y="16665"/>
                    <a:pt x="246057" y="31289"/>
                    <a:pt x="395478" y="19050"/>
                  </a:cubicBezTo>
                  <a:cubicBezTo>
                    <a:pt x="544899" y="6811"/>
                    <a:pt x="611113" y="58305"/>
                    <a:pt x="742950" y="19050"/>
                  </a:cubicBezTo>
                  <a:close/>
                </a:path>
                <a:path w="762000" h="590550" stroke="0" extrusionOk="0">
                  <a:moveTo>
                    <a:pt x="0" y="590550"/>
                  </a:moveTo>
                  <a:cubicBezTo>
                    <a:pt x="154775" y="558154"/>
                    <a:pt x="220356" y="612445"/>
                    <a:pt x="358140" y="590550"/>
                  </a:cubicBezTo>
                  <a:cubicBezTo>
                    <a:pt x="495924" y="568655"/>
                    <a:pt x="600340" y="604512"/>
                    <a:pt x="762000" y="590550"/>
                  </a:cubicBezTo>
                  <a:cubicBezTo>
                    <a:pt x="738712" y="386816"/>
                    <a:pt x="767145" y="240871"/>
                    <a:pt x="762000" y="0"/>
                  </a:cubicBezTo>
                  <a:cubicBezTo>
                    <a:pt x="585348" y="9617"/>
                    <a:pt x="503224" y="-31931"/>
                    <a:pt x="373380" y="0"/>
                  </a:cubicBezTo>
                  <a:cubicBezTo>
                    <a:pt x="243536" y="31931"/>
                    <a:pt x="75450" y="-13351"/>
                    <a:pt x="0" y="0"/>
                  </a:cubicBezTo>
                  <a:cubicBezTo>
                    <a:pt x="16906" y="120276"/>
                    <a:pt x="-49829" y="349513"/>
                    <a:pt x="0" y="590550"/>
                  </a:cubicBezTo>
                  <a:close/>
                  <a:moveTo>
                    <a:pt x="19050" y="571500"/>
                  </a:moveTo>
                  <a:cubicBezTo>
                    <a:pt x="4292" y="476438"/>
                    <a:pt x="41088" y="274487"/>
                    <a:pt x="19050" y="152400"/>
                  </a:cubicBezTo>
                  <a:cubicBezTo>
                    <a:pt x="168273" y="110561"/>
                    <a:pt x="282548" y="172153"/>
                    <a:pt x="381000" y="152400"/>
                  </a:cubicBezTo>
                  <a:cubicBezTo>
                    <a:pt x="479452" y="132647"/>
                    <a:pt x="616942" y="176757"/>
                    <a:pt x="742950" y="152400"/>
                  </a:cubicBezTo>
                  <a:cubicBezTo>
                    <a:pt x="786562" y="310896"/>
                    <a:pt x="730505" y="463900"/>
                    <a:pt x="742950" y="571500"/>
                  </a:cubicBezTo>
                  <a:cubicBezTo>
                    <a:pt x="661936" y="575281"/>
                    <a:pt x="547873" y="537137"/>
                    <a:pt x="373761" y="571500"/>
                  </a:cubicBezTo>
                  <a:cubicBezTo>
                    <a:pt x="199649" y="605863"/>
                    <a:pt x="135744" y="536574"/>
                    <a:pt x="19050" y="571500"/>
                  </a:cubicBezTo>
                  <a:close/>
                  <a:moveTo>
                    <a:pt x="742950" y="19050"/>
                  </a:moveTo>
                  <a:cubicBezTo>
                    <a:pt x="751566" y="63812"/>
                    <a:pt x="733453" y="96224"/>
                    <a:pt x="742950" y="133350"/>
                  </a:cubicBezTo>
                  <a:cubicBezTo>
                    <a:pt x="628384" y="141133"/>
                    <a:pt x="472624" y="114379"/>
                    <a:pt x="366522" y="133350"/>
                  </a:cubicBezTo>
                  <a:cubicBezTo>
                    <a:pt x="260420" y="152321"/>
                    <a:pt x="95857" y="127960"/>
                    <a:pt x="19050" y="133350"/>
                  </a:cubicBezTo>
                  <a:cubicBezTo>
                    <a:pt x="7134" y="100730"/>
                    <a:pt x="25888" y="52179"/>
                    <a:pt x="19050" y="19050"/>
                  </a:cubicBezTo>
                  <a:cubicBezTo>
                    <a:pt x="174631" y="-17870"/>
                    <a:pt x="304189" y="38168"/>
                    <a:pt x="381000" y="19050"/>
                  </a:cubicBezTo>
                  <a:cubicBezTo>
                    <a:pt x="457811" y="-68"/>
                    <a:pt x="605912" y="48223"/>
                    <a:pt x="74295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2498960035">
                    <a:custGeom>
                      <a:avLst/>
                      <a:gdLst>
                        <a:gd name="connsiteX0" fmla="*/ 0 w 762000"/>
                        <a:gd name="connsiteY0" fmla="*/ 590550 h 590550"/>
                        <a:gd name="connsiteX1" fmla="*/ 762000 w 762000"/>
                        <a:gd name="connsiteY1" fmla="*/ 590550 h 590550"/>
                        <a:gd name="connsiteX2" fmla="*/ 762000 w 762000"/>
                        <a:gd name="connsiteY2" fmla="*/ 0 h 590550"/>
                        <a:gd name="connsiteX3" fmla="*/ 0 w 762000"/>
                        <a:gd name="connsiteY3" fmla="*/ 0 h 590550"/>
                        <a:gd name="connsiteX4" fmla="*/ 19050 w 762000"/>
                        <a:gd name="connsiteY4" fmla="*/ 571500 h 590550"/>
                        <a:gd name="connsiteX5" fmla="*/ 19050 w 762000"/>
                        <a:gd name="connsiteY5" fmla="*/ 152400 h 590550"/>
                        <a:gd name="connsiteX6" fmla="*/ 742950 w 762000"/>
                        <a:gd name="connsiteY6" fmla="*/ 152400 h 590550"/>
                        <a:gd name="connsiteX7" fmla="*/ 742950 w 762000"/>
                        <a:gd name="connsiteY7" fmla="*/ 571500 h 590550"/>
                        <a:gd name="connsiteX8" fmla="*/ 742950 w 762000"/>
                        <a:gd name="connsiteY8" fmla="*/ 19050 h 590550"/>
                        <a:gd name="connsiteX9" fmla="*/ 742950 w 762000"/>
                        <a:gd name="connsiteY9" fmla="*/ 133350 h 590550"/>
                        <a:gd name="connsiteX10" fmla="*/ 19050 w 762000"/>
                        <a:gd name="connsiteY10" fmla="*/ 133350 h 590550"/>
                        <a:gd name="connsiteX11" fmla="*/ 19050 w 762000"/>
                        <a:gd name="connsiteY11" fmla="*/ 1905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62000" h="590550">
                          <a:moveTo>
                            <a:pt x="0" y="590550"/>
                          </a:moveTo>
                          <a:lnTo>
                            <a:pt x="762000" y="590550"/>
                          </a:lnTo>
                          <a:lnTo>
                            <a:pt x="762000" y="0"/>
                          </a:lnTo>
                          <a:lnTo>
                            <a:pt x="0" y="0"/>
                          </a:lnTo>
                          <a:close/>
                          <a:moveTo>
                            <a:pt x="19050" y="571500"/>
                          </a:moveTo>
                          <a:lnTo>
                            <a:pt x="19050" y="152400"/>
                          </a:lnTo>
                          <a:lnTo>
                            <a:pt x="742950" y="152400"/>
                          </a:lnTo>
                          <a:lnTo>
                            <a:pt x="742950" y="571500"/>
                          </a:lnTo>
                          <a:close/>
                          <a:moveTo>
                            <a:pt x="742950" y="19050"/>
                          </a:moveTo>
                          <a:lnTo>
                            <a:pt x="742950" y="133350"/>
                          </a:lnTo>
                          <a:lnTo>
                            <a:pt x="19050" y="133350"/>
                          </a:lnTo>
                          <a:lnTo>
                            <a:pt x="19050" y="19050"/>
                          </a:lnTo>
                          <a:close/>
                        </a:path>
                      </a:pathLst>
                    </a:custGeom>
                    <ask:type>
                      <ask:lineSketchScribble/>
                    </ask:type>
                  </ask:lineSketchStyleProps>
                </a:ext>
              </a:extLst>
            </a:ln>
          </p:spPr>
          <p:txBody>
            <a:bodyPr rtlCol="0" anchor="ctr"/>
            <a:lstStyle/>
            <a:p>
              <a:endParaRPr lang="en-US"/>
            </a:p>
          </p:txBody>
        </p:sp>
        <p:sp>
          <p:nvSpPr>
            <p:cNvPr id="106" name="Freeform 30"/>
            <p:cNvSpPr/>
            <p:nvPr/>
          </p:nvSpPr>
          <p:spPr>
            <a:xfrm>
              <a:off x="621982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6668" y="31495"/>
                    <a:pt x="28642" y="37612"/>
                    <a:pt x="19050" y="38100"/>
                  </a:cubicBezTo>
                  <a:cubicBezTo>
                    <a:pt x="9830" y="38864"/>
                    <a:pt x="-602" y="29313"/>
                    <a:pt x="0" y="19050"/>
                  </a:cubicBezTo>
                  <a:cubicBezTo>
                    <a:pt x="71" y="8241"/>
                    <a:pt x="8755" y="-475"/>
                    <a:pt x="19050" y="0"/>
                  </a:cubicBezTo>
                  <a:cubicBezTo>
                    <a:pt x="30529" y="2953"/>
                    <a:pt x="37016" y="9222"/>
                    <a:pt x="38100" y="19050"/>
                  </a:cubicBezTo>
                  <a:close/>
                </a:path>
                <a:path w="38100" h="38100" stroke="0" extrusionOk="0">
                  <a:moveTo>
                    <a:pt x="38100" y="19050"/>
                  </a:moveTo>
                  <a:cubicBezTo>
                    <a:pt x="39774" y="26900"/>
                    <a:pt x="28299" y="37085"/>
                    <a:pt x="19050" y="38100"/>
                  </a:cubicBezTo>
                  <a:cubicBezTo>
                    <a:pt x="9810" y="38297"/>
                    <a:pt x="-1109" y="32155"/>
                    <a:pt x="0" y="19050"/>
                  </a:cubicBezTo>
                  <a:cubicBezTo>
                    <a:pt x="1618" y="8508"/>
                    <a:pt x="8531" y="231"/>
                    <a:pt x="19050" y="0"/>
                  </a:cubicBezTo>
                  <a:cubicBezTo>
                    <a:pt x="30465" y="-1109"/>
                    <a:pt x="38645" y="8775"/>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801459907">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7" name="Freeform 31"/>
            <p:cNvSpPr/>
            <p:nvPr/>
          </p:nvSpPr>
          <p:spPr>
            <a:xfrm>
              <a:off x="6286500"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7148" y="27866"/>
                    <a:pt x="31150" y="39814"/>
                    <a:pt x="19050" y="38100"/>
                  </a:cubicBezTo>
                  <a:cubicBezTo>
                    <a:pt x="8503" y="40197"/>
                    <a:pt x="446" y="30213"/>
                    <a:pt x="0" y="19050"/>
                  </a:cubicBezTo>
                  <a:cubicBezTo>
                    <a:pt x="2158" y="9554"/>
                    <a:pt x="6247" y="174"/>
                    <a:pt x="19050" y="0"/>
                  </a:cubicBezTo>
                  <a:cubicBezTo>
                    <a:pt x="31189" y="123"/>
                    <a:pt x="40255" y="9425"/>
                    <a:pt x="38100" y="19050"/>
                  </a:cubicBezTo>
                  <a:close/>
                </a:path>
                <a:path w="38100" h="38100" stroke="0" extrusionOk="0">
                  <a:moveTo>
                    <a:pt x="38100" y="19050"/>
                  </a:moveTo>
                  <a:cubicBezTo>
                    <a:pt x="36702" y="28517"/>
                    <a:pt x="30289" y="38205"/>
                    <a:pt x="19050" y="38100"/>
                  </a:cubicBezTo>
                  <a:cubicBezTo>
                    <a:pt x="8050" y="37989"/>
                    <a:pt x="2019" y="31677"/>
                    <a:pt x="0" y="19050"/>
                  </a:cubicBezTo>
                  <a:cubicBezTo>
                    <a:pt x="352" y="9041"/>
                    <a:pt x="7961" y="-1347"/>
                    <a:pt x="19050" y="0"/>
                  </a:cubicBezTo>
                  <a:cubicBezTo>
                    <a:pt x="28406" y="-1785"/>
                    <a:pt x="37107" y="7113"/>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741904289">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8" name="Freeform 32"/>
            <p:cNvSpPr/>
            <p:nvPr/>
          </p:nvSpPr>
          <p:spPr>
            <a:xfrm>
              <a:off x="635317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40484" y="27911"/>
                    <a:pt x="28318" y="38040"/>
                    <a:pt x="19050" y="38100"/>
                  </a:cubicBezTo>
                  <a:cubicBezTo>
                    <a:pt x="6219" y="37740"/>
                    <a:pt x="1168" y="27565"/>
                    <a:pt x="0" y="19050"/>
                  </a:cubicBezTo>
                  <a:cubicBezTo>
                    <a:pt x="-1210" y="9994"/>
                    <a:pt x="10441" y="-1791"/>
                    <a:pt x="19050" y="0"/>
                  </a:cubicBezTo>
                  <a:cubicBezTo>
                    <a:pt x="28904" y="1053"/>
                    <a:pt x="37238" y="6479"/>
                    <a:pt x="38100" y="19050"/>
                  </a:cubicBezTo>
                  <a:close/>
                </a:path>
                <a:path w="38100" h="38100" stroke="0" extrusionOk="0">
                  <a:moveTo>
                    <a:pt x="38100" y="19050"/>
                  </a:moveTo>
                  <a:cubicBezTo>
                    <a:pt x="38795" y="29284"/>
                    <a:pt x="26912" y="37258"/>
                    <a:pt x="19050" y="38100"/>
                  </a:cubicBezTo>
                  <a:cubicBezTo>
                    <a:pt x="10193" y="38587"/>
                    <a:pt x="-2503" y="29971"/>
                    <a:pt x="0" y="19050"/>
                  </a:cubicBezTo>
                  <a:cubicBezTo>
                    <a:pt x="-9" y="8962"/>
                    <a:pt x="9807" y="15"/>
                    <a:pt x="19050" y="0"/>
                  </a:cubicBezTo>
                  <a:cubicBezTo>
                    <a:pt x="29850" y="-183"/>
                    <a:pt x="39296" y="8072"/>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078833563">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grpSp>
      <p:sp>
        <p:nvSpPr>
          <p:cNvPr id="10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Just Finished</a:t>
            </a:r>
          </a:p>
        </p:txBody>
      </p:sp>
      <p:sp>
        <p:nvSpPr>
          <p:cNvPr id="110"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trail-0117</a:t>
            </a:r>
          </a:p>
        </p:txBody>
      </p:sp>
      <p:cxnSp>
        <p:nvCxnSpPr>
          <p:cNvPr id="111"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12"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Avalanche Lake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(trail-0117)</a:t>
            </a:r>
          </a:p>
        </p:txBody>
      </p:sp>
      <p:sp>
        <p:nvSpPr>
          <p:cNvPr id="113"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4" name="Graphic 2" descr="Single gear outline"/>
          <p:cNvGrpSpPr/>
          <p:nvPr/>
        </p:nvGrpSpPr>
        <p:grpSpPr>
          <a:xfrm>
            <a:off x="5738021" y="2728234"/>
            <a:ext cx="648652" cy="647861"/>
            <a:chOff x="5772150" y="3332061"/>
            <a:chExt cx="648652" cy="647861"/>
          </a:xfrm>
          <a:noFill/>
        </p:grpSpPr>
        <p:sp>
          <p:nvSpPr>
            <p:cNvPr id="115"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6"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7"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8"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19"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vector} ×30</a:t>
            </a:r>
          </a:p>
        </p:txBody>
      </p:sp>
      <p:cxnSp>
        <p:nvCxnSpPr>
          <p:cNvPr id="120" name="App-LowRight"/>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21" name="App line 0"/>
          <p:cNvSpPr txBox="1"/>
          <p:nvPr/>
        </p:nvSpPr>
        <p:spPr>
          <a:xfrm>
            <a:off x="4878638" y="3660922"/>
            <a:ext cx="2367419" cy="301752"/>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cosine(v0117, v) ×29</a:t>
            </a:r>
          </a:p>
        </p:txBody>
      </p:sp>
      <p:sp>
        <p:nvSpPr>
          <p:cNvPr id="122" name="App line 1"/>
          <p:cNvSpPr txBox="1"/>
          <p:nvPr/>
        </p:nvSpPr>
        <p:spPr>
          <a:xfrm>
            <a:off x="4878638" y="3962674"/>
            <a:ext cx="2367419" cy="301752"/>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drop trail-0117</a:t>
            </a:r>
          </a:p>
        </p:txBody>
      </p:sp>
      <p:sp>
        <p:nvSpPr>
          <p:cNvPr id="123" name="Left result"/>
          <p:cNvSpPr txBox="1"/>
          <p:nvPr/>
        </p:nvSpPr>
        <p:spPr>
          <a:xfrm>
            <a:off x="2651760" y="3793071"/>
            <a:ext cx="2148840" cy="68580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0.78 Gunsight Lake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0.78 Black Lake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0.77 Piegan Pass</a:t>
            </a:r>
          </a:p>
        </p:txBody>
      </p:sp>
      <p:sp>
        <p:nvSpPr>
          <p:cNvPr id="124" name="No model"/>
          <p:cNvSpPr txBox="1"/>
          <p:nvPr/>
        </p:nvSpPr>
        <p:spPr>
          <a:xfrm>
            <a:off x="4878638" y="4301002"/>
            <a:ext cx="2367419" cy="320040"/>
          </a:xfrm>
          <a:prstGeom prst="rect">
            <a:avLst/>
          </a:prstGeom>
          <a:noFill/>
        </p:spPr>
        <p:txBody>
          <a:bodyPr wrap="square" lIns="0" tIns="0" rIns="0" bIns="0" anchor="t">
            <a:noAutofit/>
          </a:bodyPr>
          <a:lstStyle/>
          <a:p>
            <a:pPr algn="ctr">
              <a:lnSpc>
                <a:spcPct val="90000"/>
              </a:lnSpc>
            </a:pPr>
            <a:r>
              <a:rPr lang="en-US" sz="1600" dirty="0">
                <a:solidFill>
                  <a:srgbClr val="0072C6"/>
                </a:solidFill>
                <a:latin typeface="Ink Free" panose="03080402000500000000" pitchFamily="66" charset="0"/>
              </a:rPr>
              <a:t>no model call</a:t>
            </a:r>
          </a:p>
        </p:txBody>
      </p:sp>
    </p:spTree>
  </p:cSld>
  <p:clrMapOvr>
    <a:masterClrMapping/>
  </p:clrMapOvr>
</p:sld>
</file>

<file path=ppt/theme/theme1.xml><?xml version="1.0" encoding="utf-8"?>
<a:theme xmlns:a="http://schemas.openxmlformats.org/drawingml/2006/main" name="Metropolitan">
  <a:themeElements>
    <a:clrScheme name="Custom 1">
      <a:dk1>
        <a:sysClr val="windowText" lastClr="000000"/>
      </a:dk1>
      <a:lt1>
        <a:sysClr val="window" lastClr="FFFFFF"/>
      </a:lt1>
      <a:dk2>
        <a:srgbClr val="162F33"/>
      </a:dk2>
      <a:lt2>
        <a:srgbClr val="EAF0E0"/>
      </a:lt2>
      <a:accent1>
        <a:srgbClr val="0072C6"/>
      </a:accent1>
      <a:accent2>
        <a:srgbClr val="A8B97F"/>
      </a:accent2>
      <a:accent3>
        <a:srgbClr val="9B9256"/>
      </a:accent3>
      <a:accent4>
        <a:srgbClr val="657689"/>
      </a:accent4>
      <a:accent5>
        <a:srgbClr val="7A855D"/>
      </a:accent5>
      <a:accent6>
        <a:srgbClr val="84AC9D"/>
      </a:accent6>
      <a:hlink>
        <a:srgbClr val="2370CD"/>
      </a:hlink>
      <a:folHlink>
        <a:srgbClr val="877589"/>
      </a:folHlink>
    </a:clrScheme>
    <a:fontScheme name="Metropolitan">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Metropolitan">
      <a:fillStyleLst>
        <a:solidFill>
          <a:schemeClr val="phClr"/>
        </a:solidFill>
        <a:gradFill rotWithShape="1">
          <a:gsLst>
            <a:gs pos="0">
              <a:schemeClr val="phClr">
                <a:tint val="70000"/>
                <a:satMod val="100000"/>
                <a:lumMod val="110000"/>
              </a:schemeClr>
            </a:gs>
            <a:gs pos="50000">
              <a:schemeClr val="phClr">
                <a:tint val="75000"/>
                <a:satMod val="101000"/>
                <a:lumMod val="105000"/>
              </a:schemeClr>
            </a:gs>
            <a:gs pos="100000">
              <a:schemeClr val="phClr">
                <a:tint val="82000"/>
                <a:satMod val="104000"/>
                <a:lumMod val="105000"/>
              </a:schemeClr>
            </a:gs>
          </a:gsLst>
          <a:lin ang="2700000" scaled="0"/>
        </a:gradFill>
        <a:gradFill rotWithShape="1">
          <a:gsLst>
            <a:gs pos="0">
              <a:schemeClr val="phClr">
                <a:tint val="97000"/>
                <a:satMod val="100000"/>
                <a:lumMod val="102000"/>
              </a:schemeClr>
            </a:gs>
            <a:gs pos="50000">
              <a:schemeClr val="phClr">
                <a:shade val="100000"/>
                <a:satMod val="100000"/>
                <a:lumMod val="100000"/>
              </a:schemeClr>
            </a:gs>
            <a:gs pos="100000">
              <a:schemeClr val="phClr">
                <a:shade val="80000"/>
                <a:satMod val="100000"/>
                <a:lumMod val="99000"/>
              </a:schemeClr>
            </a:gs>
          </a:gsLst>
          <a:lin ang="27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solidFill>
          <a:schemeClr val="phClr">
            <a:shade val="95000"/>
            <a:satMod val="170000"/>
          </a:schemeClr>
        </a:solidFill>
      </a:bgFillStyleLst>
    </a:fmtScheme>
  </a:themeElements>
  <a:objectDefaults/>
  <a:extraClrSchemeLst/>
  <a:extLst>
    <a:ext uri="{05A4C25C-085E-4340-85A3-A5531E510DB2}">
      <thm15:themeFamily xmlns:thm15="http://schemas.microsoft.com/office/thememl/2012/main" name="Metropolitan" id="{4C5440D6-04D2-4954-96CF-F251137069B2}" vid="{79CFCA13-9412-4290-BB4B-85112F88857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9FC66F1-1152-1545-A5C1-ABAAA7F2FAF2}">
  <we:reference id="wa200010725" version="1.0.0.1" store="en-US" storeType="OMEX"/>
  <we:alternateReferences>
    <we:reference id="WA200010725" version="1.0.0.1" store="WA200010725" storeType="OMEX"/>
  </we:alternateReferences>
  <we:properties>
    <we:property name="claude.fileId" value="&quot;c9fbb05a-0234-489e-a7de-af156d8ab243&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98644</TotalTime>
  <Words>3094</Words>
  <Application>Microsoft Macintosh PowerPoint</Application>
  <PresentationFormat>Widescreen</PresentationFormat>
  <Paragraphs>271</Paragraphs>
  <Slides>37</Slides>
  <Notes>34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37</vt:i4>
      </vt:variant>
    </vt:vector>
  </HeadingPairs>
  <TitlesOfParts>
    <vt:vector size="43" baseType="lpstr">
      <vt:lpstr>Consolas</vt:lpstr>
      <vt:lpstr>Calibri</vt:lpstr>
      <vt:lpstr>Segoe UI</vt:lpstr>
      <vt:lpstr>Arial</vt:lpstr>
      <vt:lpstr>Calibri Light</vt:lpstr>
      <vt:lpstr>Metropolitan</vt:lpstr>
      <vt:lpstr>Building Pragmatic AI</vt:lpstr>
      <vt:lpstr>This Module</vt:lpstr>
      <vt:lpstr>This Module</vt:lpstr>
      <vt:lpstr>This Module</vt:lpstr>
      <vt:lpstr>F04 · Semantic Search</vt:lpstr>
      <vt:lpstr>PowerPoint Presentation</vt:lpstr>
      <vt:lpstr>F04 · How It Works</vt:lpstr>
      <vt:lpstr>F04 · How It Works</vt:lpstr>
      <vt:lpstr>F04 · How It Works</vt:lpstr>
      <vt:lpstr>F04 · How It Works</vt:lpstr>
      <vt:lpstr>F04 · How It Works</vt:lpstr>
      <vt:lpstr>PowerPoint Presentation</vt:lpstr>
      <vt:lpstr>F04 · Semantic Search · Demo: What to Watch</vt:lpstr>
      <vt:lpstr>F04 · Semantic Search · Leadership Card</vt:lpstr>
      <vt:lpstr>F04 · Semantic Search · Leadership Card</vt:lpstr>
      <vt:lpstr>F04 · Semantic Search · Leadership Card</vt:lpstr>
      <vt:lpstr>F05 · RAG</vt:lpstr>
      <vt:lpstr>PowerPoint Presentation</vt:lpstr>
      <vt:lpstr>F05 · How It Works</vt:lpstr>
      <vt:lpstr>F05 · How It Works</vt:lpstr>
      <vt:lpstr>F05 · How It Works</vt:lpstr>
      <vt:lpstr>F05 · How It Works</vt:lpstr>
      <vt:lpstr>F05 · How It Works</vt:lpstr>
      <vt:lpstr>PowerPoint Presentation</vt:lpstr>
      <vt:lpstr>F05 · RAG · Demo: What to Watch</vt:lpstr>
      <vt:lpstr>F05 · RAG · Leadership Card</vt:lpstr>
      <vt:lpstr>F05 · RAG · Leadership Card</vt:lpstr>
      <vt:lpstr>F05 · RAG · Leadership Card</vt:lpstr>
      <vt:lpstr>F06 · Recommendations</vt:lpstr>
      <vt:lpstr>PowerPoint Presentation</vt:lpstr>
      <vt:lpstr>PowerPoint Presentation</vt:lpstr>
      <vt:lpstr>F06 · Recommendations · Demo: What to Watch</vt:lpstr>
      <vt:lpstr>F06 · Recommendations · Leadership Card</vt:lpstr>
      <vt:lpstr>F06 · Recommendations · Leadership Card</vt:lpstr>
      <vt:lpstr>F06 · Recommendations · Leadership Card</vt:lpstr>
      <vt:lpstr>Lab 2: ~60 Minutes</vt:lpstr>
      <vt:lpstr>Lab 2: Debrief</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NASA's Power of Ten</dc:title>
  <dc:subject/>
  <dc:creator>Jonathan "J." Tower</dc:creator>
  <cp:keywords/>
  <dc:description/>
  <cp:lastModifiedBy>Jonathan "J." Tower</cp:lastModifiedBy>
  <cp:revision>6</cp:revision>
  <dcterms:created xsi:type="dcterms:W3CDTF">2022-03-22T12:15:23Z</dcterms:created>
  <dcterms:modified xsi:type="dcterms:W3CDTF">2026-09-16T14:37:37Z</dcterms:modified>
  <cp:category/>
</cp:coreProperties>
</file>