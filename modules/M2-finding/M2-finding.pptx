
<file path=[Content_Types].xml><?xml version="1.0" encoding="utf-8"?>
<Types xmlns="http://schemas.openxmlformats.org/package/2006/content-types">
  <Default Extension="svg" ContentType="image/svg+xml"/>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38.xml" ContentType="application/vnd.openxmlformats-officedocument.presentationml.slide+xml"/>
  <Override PartName="/ppt/notesSlides/notesSlide35.xml" ContentType="application/vnd.openxmlformats-officedocument.presentationml.notesSlide+xml"/>
  <Override PartName="/ppt/slides/slide39.xml" ContentType="application/vnd.openxmlformats-officedocument.presentationml.slide+xml"/>
  <Override PartName="/ppt/notesSlides/notesSlide36.xml" ContentType="application/vnd.openxmlformats-officedocument.presentationml.notesSlide+xml"/>
  <Override PartName="/ppt/slides/slide40.xml" ContentType="application/vnd.openxmlformats-officedocument.presentationml.slide+xml"/>
  <Override PartName="/ppt/notesSlides/notesSlide37.xml" ContentType="application/vnd.openxmlformats-officedocument.presentationml.notesSlide+xml"/>
  <Override PartName="/ppt/slides/slide41.xml" ContentType="application/vnd.openxmlformats-officedocument.presentationml.slide+xml"/>
  <Override PartName="/ppt/notesSlides/notesSlide38.xml" ContentType="application/vnd.openxmlformats-officedocument.presentationml.notesSlide+xml"/>
  <Override PartName="/ppt/slides/slide42.xml" ContentType="application/vnd.openxmlformats-officedocument.presentationml.slide+xml"/>
  <Override PartName="/ppt/notesSlides/notesSlide39.xml" ContentType="application/vnd.openxmlformats-officedocument.presentationml.notesSlide+xml"/>
  <Override PartName="/ppt/slides/slide43.xml" ContentType="application/vnd.openxmlformats-officedocument.presentationml.slide+xml"/>
  <Override PartName="/ppt/notesSlides/notesSlide40.xml" ContentType="application/vnd.openxmlformats-officedocument.presentationml.notesSlide+xml"/>
  <Override PartName="/ppt/slides/slide44.xml" ContentType="application/vnd.openxmlformats-officedocument.presentationml.slide+xml"/>
  <Override PartName="/ppt/notesSlides/notesSlide41.xml" ContentType="application/vnd.openxmlformats-officedocument.presentationml.notesSlide+xml"/>
  <Override PartName="/ppt/slides/slide45.xml" ContentType="application/vnd.openxmlformats-officedocument.presentationml.slide+xml"/>
  <Override PartName="/ppt/notesSlides/notesSlide42.xml" ContentType="application/vnd.openxmlformats-officedocument.presentationml.notesSlide+xml"/>
  <Override PartName="/ppt/slides/slide46.xml" ContentType="application/vnd.openxmlformats-officedocument.presentationml.slide+xml"/>
  <Override PartName="/ppt/notesSlides/notesSlide43.xml" ContentType="application/vnd.openxmlformats-officedocument.presentationml.notesSlide+xml"/>
  <Override PartName="/ppt/slides/slide47.xml" ContentType="application/vnd.openxmlformats-officedocument.presentationml.slide+xml"/>
  <Override PartName="/ppt/notesSlides/notesSlide44.xml" ContentType="application/vnd.openxmlformats-officedocument.presentationml.notesSlide+xml"/>
  <Override PartName="/ppt/slides/slide48.xml" ContentType="application/vnd.openxmlformats-officedocument.presentationml.slide+xml"/>
  <Override PartName="/ppt/notesSlides/notesSlide4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39"/>
  </p:notesMasterIdLst>
  <p:sldIdLst>
    <p:sldId id="576" r:id="rId2"/>
    <p:sldId id="577" r:id="rId3"/>
    <p:sldId id="578" r:id="rId4"/>
    <p:sldId id="579" r:id="rId5"/>
    <p:sldId id="586" r:id="rId6"/>
    <p:sldId id="587" r:id="rId7"/>
    <p:sldId id="588" r:id="rId8"/>
    <p:sldId id="589" r:id="rId9"/>
    <p:sldId id="590" r:id="rId10"/>
    <p:sldId id="591" r:id="rId11"/>
    <p:sldId id="592" r:id="rId12"/>
    <p:sldId id="619" r:id="rId53"/>
    <p:sldId id="620" r:id="rId54"/>
    <p:sldId id="621" r:id="rId55"/>
    <p:sldId id="622" r:id="rId56"/>
    <p:sldId id="593" r:id="rId13"/>
    <p:sldId id="595" r:id="rId15"/>
    <p:sldId id="596" r:id="rId16"/>
    <p:sldId id="597" r:id="rId17"/>
    <p:sldId id="598" r:id="rId18"/>
    <p:sldId id="599" r:id="rId19"/>
    <p:sldId id="600" r:id="rId20"/>
    <p:sldId id="601" r:id="rId21"/>
    <p:sldId id="602" r:id="rId22"/>
    <p:sldId id="603" r:id="rId23"/>
    <p:sldId id="604" r:id="rId24"/>
    <p:sldId id="623" r:id="rId57"/>
    <p:sldId id="624" r:id="rId58"/>
    <p:sldId id="605" r:id="rId25"/>
    <p:sldId id="607" r:id="rId27"/>
    <p:sldId id="608" r:id="rId28"/>
    <p:sldId id="609" r:id="rId29"/>
    <p:sldId id="610" r:id="rId30"/>
    <p:sldId id="611" r:id="rId31"/>
    <p:sldId id="625" r:id="rId59"/>
    <p:sldId id="626" r:id="rId60"/>
    <p:sldId id="627" r:id="rId61"/>
    <p:sldId id="628" r:id="rId62"/>
    <p:sldId id="629" r:id="rId63"/>
    <p:sldId id="612" r:id="rId32"/>
    <p:sldId id="614" r:id="rId34"/>
    <p:sldId id="615" r:id="rId35"/>
    <p:sldId id="616" r:id="rId36"/>
    <p:sldId id="617" r:id="rId37"/>
    <p:sldId id="618" r:id="rId38"/>
  </p:sldIdLst>
  <p:sldSz cx="12192000" cy="6858000"/>
  <p:notesSz cx="6858000" cy="9144000"/>
  <p:embeddedFontLst>
    <p:embeddedFont>
      <p:font typeface="Consolas" panose="020B0609020204030204" pitchFamily="49" charset="0"/>
      <p:regular r:id="rId40"/>
      <p:bold r:id="rId41"/>
      <p:italic r:id="rId42"/>
      <p:boldItalic r:id="rId43"/>
    </p:embeddedFont>
    <p:embeddedFont>
      <p:font typeface="Segoe UI" panose="020B0502040204020203" pitchFamily="34" charset="0"/>
      <p:regular r:id="rId44"/>
      <p:bold r:id="rId45"/>
      <p:italic r:id="rId46"/>
      <p:boldItalic r:id="rId4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42" autoAdjust="0"/>
    <p:restoredTop sz="66867" autoAdjust="0"/>
  </p:normalViewPr>
  <p:slideViewPr>
    <p:cSldViewPr snapToGrid="0">
      <p:cViewPr varScale="1">
        <p:scale>
          <a:sx n="101" d="100"/>
          <a:sy n="101" d="100"/>
        </p:scale>
        <p:origin x="1576" y="184"/>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8" Type="http://schemas.openxmlformats.org/officeDocument/2006/relationships/slide" Target="slides/slide37.xml"/><Relationship Id="rId46"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modSection">
      <pc:chgData name="J. Tower" userId="9d06de10716639e5" providerId="LiveId" clId="{F8931099-75CA-5660-A155-55881DF68D84}" dt="2026-09-16T14:37:33.956" v="1235" actId="20577"/>
      <pc:docMkLst>
        <pc:docMk/>
      </pc:docMkLst>
      <pc:sldChg chg="modSp mod">
        <pc:chgData name="J. Tower" userId="9d06de10716639e5" providerId="LiveId" clId="{F8931099-75CA-5660-A155-55881DF68D84}" dt="2026-09-16T13:10:21.056" v="1000" actId="27636"/>
        <pc:sldMkLst>
          <pc:docMk/>
          <pc:sldMk cId="0" sldId="576"/>
        </pc:sldMkLst>
        <pc:spChg chg="mod">
          <ac:chgData name="J. Tower" userId="9d06de10716639e5" providerId="LiveId" clId="{F8931099-75CA-5660-A155-55881DF68D84}" dt="2026-09-16T13:10:21.056" v="1000" actId="27636"/>
          <ac:spMkLst>
            <pc:docMk/>
            <pc:sldMk cId="0" sldId="576"/>
            <ac:spMk id="3" creationId="{00000000-0000-0000-0000-000000000000}"/>
          </ac:spMkLst>
        </pc:spChg>
      </pc:sldChg>
      <pc:sldChg chg="modSp mod">
        <pc:chgData name="J. Tower" userId="9d06de10716639e5" providerId="LiveId" clId="{F8931099-75CA-5660-A155-55881DF68D84}" dt="2026-09-16T13:10:16.761" v="993" actId="20577"/>
        <pc:sldMkLst>
          <pc:docMk/>
          <pc:sldMk cId="0" sldId="577"/>
        </pc:sldMkLst>
        <pc:spChg chg="mod">
          <ac:chgData name="J. Tower" userId="9d06de10716639e5" providerId="LiveId" clId="{F8931099-75CA-5660-A155-55881DF68D84}" dt="2026-09-16T13:10:16.761" v="993" actId="20577"/>
          <ac:spMkLst>
            <pc:docMk/>
            <pc:sldMk cId="0" sldId="577"/>
            <ac:spMk id="4" creationId="{00000000-0000-0000-0000-000000000000}"/>
          </ac:spMkLst>
        </pc:spChg>
      </pc:sldChg>
      <pc:sldChg chg="modSp mod">
        <pc:chgData name="J. Tower" userId="9d06de10716639e5" providerId="LiveId" clId="{F8931099-75CA-5660-A155-55881DF68D84}" dt="2026-09-16T13:10:35.148" v="1031" actId="20577"/>
        <pc:sldMkLst>
          <pc:docMk/>
          <pc:sldMk cId="0" sldId="578"/>
        </pc:sldMkLst>
        <pc:spChg chg="mod">
          <ac:chgData name="J. Tower" userId="9d06de10716639e5" providerId="LiveId" clId="{F8931099-75CA-5660-A155-55881DF68D84}" dt="2026-09-16T13:10:20.990" v="994"/>
          <ac:spMkLst>
            <pc:docMk/>
            <pc:sldMk cId="0" sldId="578"/>
            <ac:spMk id="4" creationId="{00000000-0000-0000-0000-000000000000}"/>
          </ac:spMkLst>
        </pc:spChg>
        <pc:spChg chg="mod">
          <ac:chgData name="J. Tower" userId="9d06de10716639e5" providerId="LiveId" clId="{F8931099-75CA-5660-A155-55881DF68D84}" dt="2026-09-16T13:10:35.148" v="1031" actId="20577"/>
          <ac:spMkLst>
            <pc:docMk/>
            <pc:sldMk cId="0" sldId="578"/>
            <ac:spMk id="6" creationId="{00000000-0000-0000-0000-000000000000}"/>
          </ac:spMkLst>
        </pc:spChg>
      </pc:sldChg>
      <pc:sldChg chg="modSp modNotesTx">
        <pc:chgData name="J. Tower" userId="9d06de10716639e5" providerId="LiveId" clId="{F8931099-75CA-5660-A155-55881DF68D84}" dt="2026-09-16T13:10:41.372" v="1032"/>
        <pc:sldMkLst>
          <pc:docMk/>
          <pc:sldMk cId="0" sldId="579"/>
        </pc:sldMkLst>
        <pc:spChg chg="mod">
          <ac:chgData name="J. Tower" userId="9d06de10716639e5" providerId="LiveId" clId="{F8931099-75CA-5660-A155-55881DF68D84}" dt="2026-09-16T13:10:23.919" v="1001"/>
          <ac:spMkLst>
            <pc:docMk/>
            <pc:sldMk cId="0" sldId="579"/>
            <ac:spMk id="4" creationId="{00000000-0000-0000-0000-000000000000}"/>
          </ac:spMkLst>
        </pc:spChg>
        <pc:spChg chg="mod">
          <ac:chgData name="J. Tower" userId="9d06de10716639e5" providerId="LiveId" clId="{F8931099-75CA-5660-A155-55881DF68D84}" dt="2026-09-16T13:10:41.372" v="1032"/>
          <ac:spMkLst>
            <pc:docMk/>
            <pc:sldMk cId="0" sldId="579"/>
            <ac:spMk id="6" creationId="{00000000-0000-0000-0000-000000000000}"/>
          </ac:spMkLst>
        </pc:spChg>
      </pc:sldChg>
      <pc:sldChg chg="del">
        <pc:chgData name="J. Tower" userId="9d06de10716639e5" providerId="LiveId" clId="{F8931099-75CA-5660-A155-55881DF68D84}" dt="2026-09-16T13:11:32.025" v="1036" actId="2696"/>
        <pc:sldMkLst>
          <pc:docMk/>
          <pc:sldMk cId="0" sldId="580"/>
        </pc:sldMkLst>
      </pc:sldChg>
      <pc:sldChg chg="del">
        <pc:chgData name="J. Tower" userId="9d06de10716639e5" providerId="LiveId" clId="{F8931099-75CA-5660-A155-55881DF68D84}" dt="2026-09-16T13:11:32.027" v="1038" actId="2696"/>
        <pc:sldMkLst>
          <pc:docMk/>
          <pc:sldMk cId="0" sldId="581"/>
        </pc:sldMkLst>
      </pc:sldChg>
      <pc:sldChg chg="del">
        <pc:chgData name="J. Tower" userId="9d06de10716639e5" providerId="LiveId" clId="{F8931099-75CA-5660-A155-55881DF68D84}" dt="2026-09-16T13:11:32.023" v="1034" actId="2696"/>
        <pc:sldMkLst>
          <pc:docMk/>
          <pc:sldMk cId="0" sldId="582"/>
        </pc:sldMkLst>
      </pc:sldChg>
      <pc:sldChg chg="del">
        <pc:chgData name="J. Tower" userId="9d06de10716639e5" providerId="LiveId" clId="{F8931099-75CA-5660-A155-55881DF68D84}" dt="2026-09-16T13:11:32.024" v="1035" actId="2696"/>
        <pc:sldMkLst>
          <pc:docMk/>
          <pc:sldMk cId="0" sldId="583"/>
        </pc:sldMkLst>
      </pc:sldChg>
      <pc:sldChg chg="del">
        <pc:chgData name="J. Tower" userId="9d06de10716639e5" providerId="LiveId" clId="{F8931099-75CA-5660-A155-55881DF68D84}" dt="2026-09-16T13:11:32.026" v="1037" actId="2696"/>
        <pc:sldMkLst>
          <pc:docMk/>
          <pc:sldMk cId="0" sldId="584"/>
        </pc:sldMkLst>
      </pc:sldChg>
      <pc:sldChg chg="modSp del mod">
        <pc:chgData name="J. Tower" userId="9d06de10716639e5" providerId="LiveId" clId="{F8931099-75CA-5660-A155-55881DF68D84}" dt="2026-09-16T13:11:32.021" v="1033" actId="2696"/>
        <pc:sldMkLst>
          <pc:docMk/>
          <pc:sldMk cId="0" sldId="585"/>
        </pc:sldMkLst>
        <pc:spChg chg="mod">
          <ac:chgData name="J. Tower" userId="9d06de10716639e5" providerId="LiveId" clId="{F8931099-75CA-5660-A155-55881DF68D84}" dt="2026-09-16T13:10:21.005" v="995" actId="27636"/>
          <ac:spMkLst>
            <pc:docMk/>
            <pc:sldMk cId="0" sldId="585"/>
            <ac:spMk id="3" creationId="{00000000-0000-0000-0000-000000000000}"/>
          </ac:spMkLst>
        </pc:spChg>
      </pc:sldChg>
      <pc:sldChg chg="modSp mod">
        <pc:chgData name="J. Tower" userId="9d06de10716639e5" providerId="LiveId" clId="{F8931099-75CA-5660-A155-55881DF68D84}" dt="2026-09-16T13:10:21.022" v="996" actId="27636"/>
        <pc:sldMkLst>
          <pc:docMk/>
          <pc:sldMk cId="0" sldId="586"/>
        </pc:sldMkLst>
        <pc:spChg chg="mod">
          <ac:chgData name="J. Tower" userId="9d06de10716639e5" providerId="LiveId" clId="{F8931099-75CA-5660-A155-55881DF68D84}" dt="2026-09-16T13:10:21.022" v="996" actId="27636"/>
          <ac:spMkLst>
            <pc:docMk/>
            <pc:sldMk cId="0" sldId="586"/>
            <ac:spMk id="3" creationId="{00000000-0000-0000-0000-000000000000}"/>
          </ac:spMkLst>
        </pc:spChg>
      </pc:sldChg>
      <pc:sldChg chg="modSp mod">
        <pc:chgData name="J. Tower" userId="9d06de10716639e5" providerId="LiveId" clId="{F8931099-75CA-5660-A155-55881DF68D84}" dt="2026-09-03T20:19:44.314" v="981" actId="20577"/>
        <pc:sldMkLst>
          <pc:docMk/>
          <pc:sldMk cId="0" sldId="587"/>
        </pc:sldMkLst>
        <pc:spChg chg="mod">
          <ac:chgData name="J. Tower" userId="9d06de10716639e5" providerId="LiveId" clId="{F8931099-75CA-5660-A155-55881DF68D84}" dt="2026-09-03T20:19:44.314" v="981" actId="20577"/>
          <ac:spMkLst>
            <pc:docMk/>
            <pc:sldMk cId="0" sldId="587"/>
            <ac:spMk id="3" creationId="{00000000-0000-0000-0000-000000000000}"/>
          </ac:spMkLst>
        </pc:spChg>
      </pc:sldChg>
      <pc:sldChg chg="modSp mod">
        <pc:chgData name="J. Tower" userId="9d06de10716639e5" providerId="LiveId" clId="{F8931099-75CA-5660-A155-55881DF68D84}" dt="2026-09-16T13:40:14.566" v="1178" actId="20577"/>
        <pc:sldMkLst>
          <pc:docMk/>
          <pc:sldMk cId="0" sldId="595"/>
        </pc:sldMkLst>
        <pc:spChg chg="mod">
          <ac:chgData name="J. Tower" userId="9d06de10716639e5" providerId="LiveId" clId="{F8931099-75CA-5660-A155-55881DF68D84}" dt="2026-09-16T13:40:14.566" v="1178" actId="20577"/>
          <ac:spMkLst>
            <pc:docMk/>
            <pc:sldMk cId="0" sldId="595"/>
            <ac:spMk id="3" creationId="{00000000-0000-0000-0000-000000000000}"/>
          </ac:spMkLst>
        </pc:spChg>
      </pc:sldChg>
      <pc:sldChg chg="modSp mod">
        <pc:chgData name="J. Tower" userId="9d06de10716639e5" providerId="LiveId" clId="{F8931099-75CA-5660-A155-55881DF68D84}" dt="2026-09-16T13:40:17.877" v="1179" actId="20577"/>
        <pc:sldMkLst>
          <pc:docMk/>
          <pc:sldMk cId="0" sldId="596"/>
        </pc:sldMkLst>
        <pc:spChg chg="mod">
          <ac:chgData name="J. Tower" userId="9d06de10716639e5" providerId="LiveId" clId="{F8931099-75CA-5660-A155-55881DF68D84}" dt="2026-09-16T13:40:17.877" v="1179" actId="20577"/>
          <ac:spMkLst>
            <pc:docMk/>
            <pc:sldMk cId="0" sldId="596"/>
            <ac:spMk id="3" creationId="{00000000-0000-0000-0000-000000000000}"/>
          </ac:spMkLst>
        </pc:spChg>
      </pc:sldChg>
      <pc:sldChg chg="modSp">
        <pc:chgData name="J. Tower" userId="9d06de10716639e5" providerId="LiveId" clId="{F8931099-75CA-5660-A155-55881DF68D84}" dt="2026-09-16T13:40:26.139" v="1180"/>
        <pc:sldMkLst>
          <pc:docMk/>
          <pc:sldMk cId="0" sldId="597"/>
        </pc:sldMkLst>
        <pc:spChg chg="mod">
          <ac:chgData name="J. Tower" userId="9d06de10716639e5" providerId="LiveId" clId="{F8931099-75CA-5660-A155-55881DF68D84}" dt="2026-09-16T13:40:26.139" v="1180"/>
          <ac:spMkLst>
            <pc:docMk/>
            <pc:sldMk cId="0" sldId="597"/>
            <ac:spMk id="3" creationId="{00000000-0000-0000-0000-000000000000}"/>
          </ac:spMkLst>
        </pc:spChg>
      </pc:sldChg>
      <pc:sldChg chg="modSp mod">
        <pc:chgData name="J. Tower" userId="9d06de10716639e5" providerId="LiveId" clId="{F8931099-75CA-5660-A155-55881DF68D84}" dt="2026-09-16T13:10:21.031" v="997" actId="27636"/>
        <pc:sldMkLst>
          <pc:docMk/>
          <pc:sldMk cId="0" sldId="598"/>
        </pc:sldMkLst>
        <pc:spChg chg="mod">
          <ac:chgData name="J. Tower" userId="9d06de10716639e5" providerId="LiveId" clId="{F8931099-75CA-5660-A155-55881DF68D84}" dt="2026-09-16T13:10:21.031" v="997" actId="27636"/>
          <ac:spMkLst>
            <pc:docMk/>
            <pc:sldMk cId="0" sldId="598"/>
            <ac:spMk id="3" creationId="{00000000-0000-0000-0000-000000000000}"/>
          </ac:spMkLst>
        </pc:spChg>
      </pc:sldChg>
      <pc:sldChg chg="modSp mod">
        <pc:chgData name="J. Tower" userId="9d06de10716639e5" providerId="LiveId" clId="{F8931099-75CA-5660-A155-55881DF68D84}" dt="2026-09-16T13:41:30.984" v="1229" actId="20577"/>
        <pc:sldMkLst>
          <pc:docMk/>
          <pc:sldMk cId="0" sldId="599"/>
        </pc:sldMkLst>
        <pc:spChg chg="mod">
          <ac:chgData name="J. Tower" userId="9d06de10716639e5" providerId="LiveId" clId="{F8931099-75CA-5660-A155-55881DF68D84}" dt="2026-09-16T13:41:30.984" v="1229" actId="20577"/>
          <ac:spMkLst>
            <pc:docMk/>
            <pc:sldMk cId="0" sldId="599"/>
            <ac:spMk id="3" creationId="{00000000-0000-0000-0000-000000000000}"/>
          </ac:spMkLst>
        </pc:spChg>
      </pc:sldChg>
      <pc:sldChg chg="modSp mod">
        <pc:chgData name="J. Tower" userId="9d06de10716639e5" providerId="LiveId" clId="{F8931099-75CA-5660-A155-55881DF68D84}" dt="2026-09-16T13:10:21.039" v="998" actId="27636"/>
        <pc:sldMkLst>
          <pc:docMk/>
          <pc:sldMk cId="0" sldId="604"/>
        </pc:sldMkLst>
        <pc:spChg chg="mod">
          <ac:chgData name="J. Tower" userId="9d06de10716639e5" providerId="LiveId" clId="{F8931099-75CA-5660-A155-55881DF68D84}" dt="2026-09-16T13:10:21.039" v="998" actId="27636"/>
          <ac:spMkLst>
            <pc:docMk/>
            <pc:sldMk cId="0" sldId="604"/>
            <ac:spMk id="3" creationId="{00000000-0000-0000-0000-000000000000}"/>
          </ac:spMkLst>
        </pc:spChg>
      </pc:sldChg>
      <pc:sldChg chg="modSp mod">
        <pc:chgData name="J. Tower" userId="9d06de10716639e5" providerId="LiveId" clId="{F8931099-75CA-5660-A155-55881DF68D84}" dt="2026-09-16T13:10:21.046" v="999" actId="27636"/>
        <pc:sldMkLst>
          <pc:docMk/>
          <pc:sldMk cId="0" sldId="610"/>
        </pc:sldMkLst>
        <pc:spChg chg="mod">
          <ac:chgData name="J. Tower" userId="9d06de10716639e5" providerId="LiveId" clId="{F8931099-75CA-5660-A155-55881DF68D84}" dt="2026-09-16T13:10:21.046" v="999" actId="27636"/>
          <ac:spMkLst>
            <pc:docMk/>
            <pc:sldMk cId="0" sldId="610"/>
            <ac:spMk id="3" creationId="{00000000-0000-0000-0000-000000000000}"/>
          </ac:spMkLst>
        </pc:spChg>
      </pc:sldChg>
      <pc:sldChg chg="modSp mod">
        <pc:chgData name="J. Tower" userId="9d06de10716639e5" providerId="LiveId" clId="{F8931099-75CA-5660-A155-55881DF68D84}" dt="2026-09-03T20:20:13.797" v="985" actId="20577"/>
        <pc:sldMkLst>
          <pc:docMk/>
          <pc:sldMk cId="0" sldId="611"/>
        </pc:sldMkLst>
        <pc:spChg chg="mod">
          <ac:chgData name="J. Tower" userId="9d06de10716639e5" providerId="LiveId" clId="{F8931099-75CA-5660-A155-55881DF68D84}" dt="2026-09-03T20:20:13.797" v="985" actId="20577"/>
          <ac:spMkLst>
            <pc:docMk/>
            <pc:sldMk cId="0" sldId="611"/>
            <ac:spMk id="3" creationId="{00000000-0000-0000-0000-000000000000}"/>
          </ac:spMkLst>
        </pc:spChg>
      </pc:sldChg>
      <pc:sldChg chg="modSp mod">
        <pc:chgData name="J. Tower" userId="9d06de10716639e5" providerId="LiveId" clId="{F8931099-75CA-5660-A155-55881DF68D84}" dt="2026-09-16T14:37:06.010" v="1234" actId="20577"/>
        <pc:sldMkLst>
          <pc:docMk/>
          <pc:sldMk cId="0" sldId="616"/>
        </pc:sldMkLst>
        <pc:spChg chg="mod">
          <ac:chgData name="J. Tower" userId="9d06de10716639e5" providerId="LiveId" clId="{F8931099-75CA-5660-A155-55881DF68D84}" dt="2026-09-16T14:37:06.010" v="1234" actId="20577"/>
          <ac:spMkLst>
            <pc:docMk/>
            <pc:sldMk cId="0" sldId="616"/>
            <ac:spMk id="3" creationId="{00000000-0000-0000-0000-000000000000}"/>
          </ac:spMkLst>
        </pc:spChg>
      </pc:sldChg>
      <pc:sldChg chg="modSp mod">
        <pc:chgData name="J. Tower" userId="9d06de10716639e5" providerId="LiveId" clId="{F8931099-75CA-5660-A155-55881DF68D84}" dt="2026-09-16T14:37:33.956" v="1235" actId="20577"/>
        <pc:sldMkLst>
          <pc:docMk/>
          <pc:sldMk cId="0" sldId="618"/>
        </pc:sldMkLst>
        <pc:spChg chg="mod">
          <ac:chgData name="J. Tower" userId="9d06de10716639e5" providerId="LiveId" clId="{F8931099-75CA-5660-A155-55881DF68D84}" dt="2026-09-16T14:37:33.956" v="1235" actId="20577"/>
          <ac:spMkLst>
            <pc:docMk/>
            <pc:sldMk cId="0" sldId="61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Surfacing the right thing, and the point in the day where the work stops being about prompts.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piece of infrastructure, embeddings, and the rhythm again: three demos, then your lab hour.</a:t>
            </a:r>
          </a:p>
          <a:p>
            <a:r>
              <a:t>Embeddings turn text into vectors; distance between vectors means similarity of meaning.</a:t>
            </a:r>
          </a:p>
          <a:p>
            <a:r>
              <a:t>04: a search box that finds what users mean.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 the same retrieval, plus a model that reads what it found and cites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06: the same vectors, with the query swapped for an item. Same math, three products.</a:t>
            </a:r>
          </a:p>
          <a:p>
            <a:r>
              <a:rPr dirty="0"/>
              <a:t>The thread to watch: embeddings capture what text is about, and nothing about whether it's suitable, safe, or current. </a:t>
            </a:r>
            <a:endParaRPr lang="en-US" dirty="0"/>
          </a:p>
          <a:p>
            <a:r>
              <a:rPr dirty="0"/>
              <a:t>Search hands a cliff edge to "quiet, for kids"; recommendations answer the 65-litre pack with the 40-litre pack. </a:t>
            </a:r>
            <a:endParaRPr lang="en-US" dirty="0"/>
          </a:p>
          <a:p>
            <a:r>
              <a:rPr dirty="0"/>
              <a:t>The fix is metadata, filters, thresholds, and how you split documents, not a bigger model.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"dog-friendly waterfall hike, not too steep." The catalog has a dozen matches and keyword search returns almost nothing, because no description says "not too steep"; the best trail says "a gentle grade shaded by cedars." Three bad results and the user goes back to asking strangers on Reddit.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(Wikipedia): search with meaning, as distinguished from lexical search, where the engine looks for literal matches of the query words. Read the slide, let it sit a beat, then the problem.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Two phases. Index, once: thirty trail descriptions from trails-slice.json.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reads the descriptions at startup, not per search.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One model: nomic-embed-text on Ollama. It doesn't write anything; it turns text into numbers.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Thirty descriptions in, thirty vectors out. 768 numbers each, and similar meaning lands close.</a:t>
            </a:r>
          </a:p>
          <a:p>
            <a:r>
              <a:rPr lang="en-US" dirty="0"/>
              <a:t>Show the raw float array once in the demo so the word "vector" stops being magic.</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Keep one vector per trail. In the lab that's a list in memory; pgvector or Azure AI Search is the same math at scale.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to watch: ❌ Keyword baseline: junk · The raw float array · 30 trails embedded in &lt; 2 s · Cosine: one visible method · ✅ Same query, semantic: the right trails, with scores · "Quiet, for kids" → Taft Point. A 3,000-foot drop.</a:t>
            </a:r>
          </a:p>
          <a:p>
            <a:r>
              <a:rPr dirty="0"/>
              <a:t>~5 min · </a:t>
            </a:r>
            <a:r>
              <a:rPr dirty="0">
                <a:latin typeface="Consolas"/>
              </a:rPr>
              <a:t>cd modules/M2-finding/F04-semantic-search/dotnet</a:t>
            </a:r>
          </a:p>
          <a:p>
            <a:r>
              <a:rPr dirty="0"/>
              <a:t>Files: </a:t>
            </a:r>
            <a:r>
              <a:rPr dirty="0">
                <a:latin typeface="Consolas"/>
              </a:rPr>
              <a:t>trails-</a:t>
            </a:r>
            <a:r>
              <a:rPr dirty="0" err="1">
                <a:latin typeface="Consolas"/>
              </a:rPr>
              <a:t>slice.json</a:t>
            </a:r>
            <a:r>
              <a:rPr dirty="0"/>
              <a:t> = 30 trails · </a:t>
            </a:r>
            <a:r>
              <a:rPr dirty="0" err="1">
                <a:latin typeface="Consolas"/>
              </a:rPr>
              <a:t>queries.json</a:t>
            </a:r>
            <a:r>
              <a:rPr dirty="0"/>
              <a:t> = the three demo queries · </a:t>
            </a:r>
            <a:r>
              <a:rPr dirty="0" err="1">
                <a:latin typeface="Consolas"/>
              </a:rPr>
              <a:t>embeddings.json</a:t>
            </a:r>
            <a:r>
              <a:rPr dirty="0"/>
              <a:t> = cache, delete to embed live</a:t>
            </a:r>
          </a:p>
          <a:p>
            <a:r>
              <a:rPr dirty="0" err="1"/>
              <a:t>Args</a:t>
            </a:r>
            <a:r>
              <a:rPr dirty="0"/>
              <a:t>: the query, in plain words; none = "dog-friendly waterfall hike, not too steep"</a:t>
            </a:r>
          </a:p>
          <a:p>
            <a:r>
              <a:rPr dirty="0"/>
              <a:t>1. Before: </a:t>
            </a:r>
            <a:r>
              <a:rPr dirty="0">
                <a:latin typeface="Consolas"/>
              </a:rPr>
              <a:t>cd starter &amp;&amp; dotnet run</a:t>
            </a:r>
            <a:r>
              <a:rPr dirty="0"/>
              <a:t>. Keyword search. Junk.</a:t>
            </a:r>
          </a:p>
          <a:p>
            <a:r>
              <a:rPr dirty="0"/>
              <a:t>2. After: </a:t>
            </a:r>
            <a:r>
              <a:rPr dirty="0">
                <a:latin typeface="Consolas"/>
              </a:rPr>
              <a:t>cd ../complete &amp;&amp; rm -f </a:t>
            </a:r>
            <a:r>
              <a:rPr dirty="0" err="1">
                <a:latin typeface="Consolas"/>
              </a:rPr>
              <a:t>embeddings.json</a:t>
            </a:r>
            <a:r>
              <a:rPr dirty="0">
                <a:latin typeface="Consolas"/>
              </a:rPr>
              <a:t> &amp;&amp; dotnet run</a:t>
            </a:r>
            <a:r>
              <a:rPr dirty="0"/>
              <a:t>. 30 trails embedded in under 2 s, same query. Right trails, scores beside them. Show </a:t>
            </a:r>
            <a:r>
              <a:rPr dirty="0" err="1">
                <a:latin typeface="Consolas"/>
              </a:rPr>
              <a:t>queryVector</a:t>
            </a:r>
            <a:r>
              <a:rPr dirty="0"/>
              <a:t> in </a:t>
            </a:r>
            <a:r>
              <a:rPr dirty="0" err="1">
                <a:latin typeface="Consolas"/>
              </a:rPr>
              <a:t>Program.cs</a:t>
            </a:r>
            <a:r>
              <a:rPr dirty="0"/>
              <a:t>: 768 floats.</a:t>
            </a:r>
          </a:p>
          <a:p>
            <a:r>
              <a:rPr dirty="0"/>
              <a:t>3. Show the cosine method. One screen.</a:t>
            </a:r>
          </a:p>
          <a:p>
            <a:r>
              <a:rPr dirty="0"/>
              <a:t>4. </a:t>
            </a:r>
            <a:r>
              <a:rPr dirty="0">
                <a:latin typeface="Consolas"/>
              </a:rPr>
              <a:t>dotnet run -- somewhere quiet to take my kids</a:t>
            </a:r>
            <a:r>
              <a:rPr dirty="0"/>
              <a:t>: Taft Point, a 3,000-foot drop. Scores top out near 0.49 vs 0.77. Filters and a floor, not a better model.</a:t>
            </a:r>
          </a:p>
          <a:p>
            <a:r>
              <a:rPr dirty="0"/>
              <a:t>Cut: 4.</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Also: any catalog where people describe what they want instead of naming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days to a prototype on an existing catalog; embeddings cheap to free; the work is evaluation and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"Can I have a campfire at Sperry Chalet in September?" The answer exists: paragraph four of a 12-page regulations document nobody will read. Search returns the document, not the answer; a plain chatbot answers fluently and makes it up, and a confidently wrong answer about fire rules is worse than no answer.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(AWS/NVIDIA): retrieval-augmented generation has the model consult an authoritative knowledge source outside its training data before generating, so answers are grounded in your content and can cite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visitor asks: can I have a campfire at Sperry Chalet in September? The answer is paragraph four of a document nobody reads.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takes the question.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park docs were split into 250 chunks and embedded once, before anyone asked: 04's index step, on documents.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Embed the question the same way, with the same model.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Cosine against every chunk, keep the top 3. Retrieval is 04, verbatim.</a:t>
            </a:r>
          </a:p>
          <a:p>
            <a:r>
              <a:rPr lang="en-US" dirty="0"/>
              <a:t>The right chunk wins by 0.05. Ranks 2 and 3 are relevant and wrong: fire rules that say fires are allowed.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to watch: ❌ No context: confident and wrong · Embeddings only: 5 of 8 chunks, wrong park · ✅ Hybrid: "Sperry" starts to count · ✅ Grounded prompt: right answer, cited · Citations are strings: validate the ids · "Drone?" → "The documents don't say." · "Open right now?" needs the date in the prompt · One-line swap to gpt-4.1</a:t>
            </a:r>
          </a:p>
          <a:p>
            <a:r>
              <a:rPr dirty="0"/>
              <a:t>~8 min · </a:t>
            </a:r>
            <a:r>
              <a:rPr dirty="0">
                <a:latin typeface="Consolas"/>
              </a:rPr>
              <a:t>cd modules/M2-finding/F05-rag/dotnet</a:t>
            </a:r>
          </a:p>
          <a:p>
            <a:r>
              <a:rPr dirty="0"/>
              <a:t>Files: </a:t>
            </a:r>
            <a:r>
              <a:rPr dirty="0">
                <a:latin typeface="Consolas"/>
              </a:rPr>
              <a:t>park-docs/</a:t>
            </a:r>
            <a:r>
              <a:rPr dirty="0"/>
              <a:t> = 25 regulation docs · </a:t>
            </a:r>
            <a:r>
              <a:rPr dirty="0" err="1">
                <a:latin typeface="Consolas"/>
              </a:rPr>
              <a:t>chunks.jsonl</a:t>
            </a:r>
            <a:r>
              <a:rPr dirty="0"/>
              <a:t> = 250 chunks · </a:t>
            </a:r>
            <a:r>
              <a:rPr dirty="0">
                <a:latin typeface="Consolas"/>
              </a:rPr>
              <a:t>chunk-</a:t>
            </a:r>
            <a:r>
              <a:rPr dirty="0" err="1">
                <a:latin typeface="Consolas"/>
              </a:rPr>
              <a:t>embeddings.json</a:t>
            </a:r>
            <a:r>
              <a:rPr dirty="0"/>
              <a:t> = their vectors, precomputed · </a:t>
            </a:r>
            <a:r>
              <a:rPr dirty="0" err="1">
                <a:latin typeface="Consolas"/>
              </a:rPr>
              <a:t>questions.json</a:t>
            </a:r>
            <a:r>
              <a:rPr dirty="0"/>
              <a:t> = the four lab questions</a:t>
            </a:r>
          </a:p>
          <a:p>
            <a:r>
              <a:rPr dirty="0"/>
              <a:t>Flags: </a:t>
            </a:r>
            <a:r>
              <a:rPr dirty="0">
                <a:latin typeface="Consolas"/>
              </a:rPr>
              <a:t>--retrieval-only</a:t>
            </a:r>
            <a:r>
              <a:rPr dirty="0"/>
              <a:t> = no answer, just ranks · </a:t>
            </a:r>
            <a:r>
              <a:rPr dirty="0">
                <a:latin typeface="Consolas"/>
              </a:rPr>
              <a:t>--top-k N</a:t>
            </a:r>
            <a:r>
              <a:rPr dirty="0"/>
              <a:t> = chunks retrieved (default 3) · </a:t>
            </a:r>
            <a:r>
              <a:rPr dirty="0">
                <a:latin typeface="Consolas"/>
              </a:rPr>
              <a:t>--alpha</a:t>
            </a:r>
            <a:r>
              <a:rPr dirty="0"/>
              <a:t> = semantic weight, 1.0 = cosine only, default 0.6 · </a:t>
            </a:r>
            <a:r>
              <a:rPr dirty="0">
                <a:latin typeface="Consolas"/>
              </a:rPr>
              <a:t>--no-context</a:t>
            </a:r>
            <a:r>
              <a:rPr dirty="0"/>
              <a:t> = plain chatbot · a quoted question replaces the Sperry default</a:t>
            </a:r>
          </a:p>
          <a:p>
            <a:r>
              <a:rPr dirty="0"/>
              <a:t>1. Before: </a:t>
            </a:r>
            <a:r>
              <a:rPr dirty="0">
                <a:latin typeface="Consolas"/>
              </a:rPr>
              <a:t>cd starter &amp;&amp; dotnet run</a:t>
            </a:r>
            <a:r>
              <a:rPr dirty="0"/>
              <a:t>. The Sperry campfire question, no context. Confident. Wrong.</a:t>
            </a:r>
          </a:p>
          <a:p>
            <a:r>
              <a:rPr dirty="0"/>
              <a:t>2. Open </a:t>
            </a:r>
            <a:r>
              <a:rPr dirty="0">
                <a:latin typeface="Consolas"/>
              </a:rPr>
              <a:t>data/park-docs/glacier-backcountry-camping-</a:t>
            </a:r>
            <a:r>
              <a:rPr dirty="0" err="1">
                <a:latin typeface="Consolas"/>
              </a:rPr>
              <a:t>guide.md</a:t>
            </a:r>
            <a:r>
              <a:rPr dirty="0"/>
              <a:t>, section 4. Read 4.1 then 4.2 aloud. Which one does a model answer from?</a:t>
            </a:r>
          </a:p>
          <a:p>
            <a:r>
              <a:rPr dirty="0"/>
              <a:t>3. </a:t>
            </a:r>
            <a:r>
              <a:rPr dirty="0">
                <a:latin typeface="Consolas"/>
              </a:rPr>
              <a:t>cd ../complete &amp;&amp; dotnet run -- --top-k 8 --alpha 1.0 --retrieval-only</a:t>
            </a:r>
            <a:r>
              <a:rPr dirty="0"/>
              <a:t>: ranks 4 to 8 are Acadia and Yosemite.</a:t>
            </a:r>
          </a:p>
          <a:p>
            <a:r>
              <a:rPr dirty="0"/>
              <a:t>4. </a:t>
            </a:r>
            <a:r>
              <a:rPr dirty="0">
                <a:latin typeface="Consolas"/>
              </a:rPr>
              <a:t>dotnet run -- --top-k 8 --retrieval-only</a:t>
            </a:r>
            <a:r>
              <a:rPr dirty="0"/>
              <a:t>: hybrid. Acadia gone, "</a:t>
            </a:r>
            <a:r>
              <a:rPr dirty="0" err="1"/>
              <a:t>sperry</a:t>
            </a:r>
            <a:r>
              <a:rPr dirty="0"/>
              <a:t>" doing the work.</a:t>
            </a:r>
          </a:p>
          <a:p>
            <a:r>
              <a:rPr dirty="0"/>
              <a:t>5. After: </a:t>
            </a:r>
            <a:r>
              <a:rPr dirty="0">
                <a:latin typeface="Consolas"/>
              </a:rPr>
              <a:t>dotnet run</a:t>
            </a:r>
            <a:r>
              <a:rPr dirty="0"/>
              <a:t>. Right answer, cited by name. Point at the citation check line.</a:t>
            </a:r>
          </a:p>
          <a:p>
            <a:r>
              <a:rPr dirty="0"/>
              <a:t>6. </a:t>
            </a:r>
            <a:r>
              <a:rPr dirty="0">
                <a:latin typeface="Consolas"/>
              </a:rPr>
              <a:t>dotnet run -- "Are there EV charging stations in Glacier National Park?"</a:t>
            </a:r>
            <a:r>
              <a:rPr dirty="0"/>
              <a:t>: "The documents don't say."</a:t>
            </a:r>
          </a:p>
          <a:p>
            <a:r>
              <a:rPr dirty="0"/>
              <a:t>7. </a:t>
            </a:r>
            <a:r>
              <a:rPr dirty="0">
                <a:latin typeface="Consolas"/>
              </a:rPr>
              <a:t>dotnet run -- "Is the Avalanche Lake Trail open right now?"</a:t>
            </a:r>
            <a:r>
              <a:rPr dirty="0"/>
              <a:t>: the date in the prompt. Without it, refused 10 of 18.</a:t>
            </a:r>
          </a:p>
          <a:p>
            <a:r>
              <a:rPr dirty="0"/>
              <a:t>8. Point at the DI line: this was gpt-4.1. Local would be one line.</a:t>
            </a:r>
          </a:p>
          <a:p>
            <a:r>
              <a:rPr dirty="0"/>
              <a:t>Cut: 7, then 6.</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Internal knowledge bases, support and policy docs, product documentation. The production work is chunking, retrieval evaluation, keeping documents current.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The uncomfortable one underneath it: the worst bug was a text-splitting rule, not a model or a prompt. Ask what your evaluation would have caught. Row 5.</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If asked about cost: a day to demo, weeks to production quality.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a hiker just finished Avalanche Lake Trail and loved it, and the app says nothing. "You'd probably like these three" never got built because everyone assumes it needs a data-science team and six months. Same gap in the gear store: buy the Cascade 65, get a random carousel.</a:t>
            </a:r>
          </a:p>
          <a:p>
            <a:r>
              <a:t>No concept slide: the Same First Half diagram already told this story: same vectors, same similarity code, the query swapped for an item, no model call while the user waits.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 recommender system predicts what a user will prefer. Today's shortcut is content-based (similarity of descriptions); the classical version is collaborative filtering over behavior data.</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to watch: Same vectors, still in memory · "More like this" = search, query → item · Lakes cluster, but mostly hard, and one has no lake · Difficulty and park aren't in the description text · Cascade 65 → Cascade 40: substitutes, not complements</a:t>
            </a:r>
          </a:p>
          <a:p>
            <a:r>
              <a:rPr dirty="0"/>
              <a:t>~4 min · </a:t>
            </a:r>
            <a:r>
              <a:rPr dirty="0">
                <a:latin typeface="Consolas"/>
              </a:rPr>
              <a:t>cd modules/M2-finding/F06-recommendations/dotnet</a:t>
            </a:r>
          </a:p>
          <a:p>
            <a:r>
              <a:rPr dirty="0"/>
              <a:t>Files: </a:t>
            </a:r>
            <a:r>
              <a:rPr dirty="0" err="1">
                <a:latin typeface="Consolas"/>
              </a:rPr>
              <a:t>trails.json</a:t>
            </a:r>
            <a:r>
              <a:rPr dirty="0"/>
              <a:t> = 30 trails · </a:t>
            </a:r>
            <a:r>
              <a:rPr dirty="0">
                <a:latin typeface="Consolas"/>
              </a:rPr>
              <a:t>trail-</a:t>
            </a:r>
            <a:r>
              <a:rPr dirty="0" err="1">
                <a:latin typeface="Consolas"/>
              </a:rPr>
              <a:t>embeddings.json</a:t>
            </a:r>
            <a:r>
              <a:rPr dirty="0"/>
              <a:t> = 04's vectors, precomputed · </a:t>
            </a:r>
            <a:r>
              <a:rPr dirty="0">
                <a:latin typeface="Consolas"/>
              </a:rPr>
              <a:t>gear-</a:t>
            </a:r>
            <a:r>
              <a:rPr dirty="0" err="1">
                <a:latin typeface="Consolas"/>
              </a:rPr>
              <a:t>reviews.jsonl</a:t>
            </a:r>
            <a:r>
              <a:rPr dirty="0"/>
              <a:t> = 300 reviews</a:t>
            </a:r>
          </a:p>
          <a:p>
            <a:r>
              <a:rPr dirty="0" err="1"/>
              <a:t>Args</a:t>
            </a:r>
            <a:r>
              <a:rPr dirty="0"/>
              <a:t>: a trail id or name (default trail-0117, Avalanche Lake) · </a:t>
            </a:r>
            <a:r>
              <a:rPr dirty="0">
                <a:latin typeface="Consolas"/>
              </a:rPr>
              <a:t>--gear &lt;product&gt;</a:t>
            </a:r>
            <a:r>
              <a:rPr dirty="0"/>
              <a:t> = same trick over review text</a:t>
            </a:r>
          </a:p>
          <a:p>
            <a:r>
              <a:rPr dirty="0"/>
              <a:t>1. Avalanche Lake Trail page. What belongs at the bottom of this screen?</a:t>
            </a:r>
          </a:p>
          <a:p>
            <a:r>
              <a:rPr dirty="0"/>
              <a:t>2. Before: </a:t>
            </a:r>
            <a:r>
              <a:rPr dirty="0">
                <a:latin typeface="Consolas"/>
              </a:rPr>
              <a:t>cd starter &amp;&amp; dotnet run</a:t>
            </a:r>
            <a:r>
              <a:rPr dirty="0"/>
              <a:t>. Random picks. That is what most apps ship.</a:t>
            </a:r>
          </a:p>
          <a:p>
            <a:r>
              <a:rPr dirty="0"/>
              <a:t>3. After: </a:t>
            </a:r>
            <a:r>
              <a:rPr dirty="0">
                <a:latin typeface="Consolas"/>
              </a:rPr>
              <a:t>cd ../complete &amp;&amp; dotnet run</a:t>
            </a:r>
            <a:r>
              <a:rPr dirty="0"/>
              <a:t>. Same vectors as 04, nothing new embedded. Lakes cluster, but mostly hard, and one has no lake.</a:t>
            </a:r>
          </a:p>
          <a:p>
            <a:r>
              <a:rPr dirty="0"/>
              <a:t>4. Difficulty and park are in the catalog, not the text. Similarity gets candidates; metadata re-ranks.</a:t>
            </a:r>
          </a:p>
          <a:p>
            <a:r>
              <a:rPr dirty="0"/>
              <a:t>5. </a:t>
            </a:r>
            <a:r>
              <a:rPr dirty="0">
                <a:latin typeface="Consolas"/>
              </a:rPr>
              <a:t>dotnet run -- --gear Cascade 65</a:t>
            </a:r>
            <a:r>
              <a:rPr dirty="0"/>
              <a:t>: the Cascade 40. Substitutes, not complements. What people use with it lives in the reviews: the bear canister, in </a:t>
            </a:r>
            <a:r>
              <a:rPr dirty="0">
                <a:latin typeface="Consolas"/>
              </a:rPr>
              <a:t>expected-</a:t>
            </a:r>
            <a:r>
              <a:rPr dirty="0" err="1">
                <a:latin typeface="Consolas"/>
              </a:rPr>
              <a:t>output.md</a:t>
            </a:r>
            <a:r>
              <a:rPr dirty="0"/>
              <a:t>.</a:t>
            </a:r>
          </a:p>
          <a:p>
            <a:r>
              <a:rPr dirty="0"/>
              <a:t>Cut: 5.</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catalog or content library. Collaborative filtering comes later, when behavior data exists.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6.</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nearly free once search exists; days from scratch.</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 embed 30 trails, embed a query, rank by cosine; keyword baseline provided. Two honest routes: if RAG is why you came, go straight to 05 and come back to 04 after. Nobody should leave having never built the thing they came for. 06 is 04's code with the query swapped for an item.</a:t>
            </a:r>
          </a:p>
          <a:p>
            <a:r>
              <a:t>05's step that says run question 1 twenty times matters: a wrong answer one run in five is invisible in a single run and is the only defect here that could hurt somebody.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two people what surprised them.</a:t>
            </a:r>
          </a:p>
          <a:p>
            <a:r>
              <a:t>Prompts if quiet: who got Taft Point for the kids query? Who got the Cascade 40? Rows 4-6 of the framework are done. Then Module 3.</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Search, every query. A user types "dog-friendly waterfall hike, not too steep." No trail description contains those words.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Embed the query the same way, with the same model. The only model call turns text into numbers.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Cosine similarity against every stored vector: ten lines of plain code.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Top results with scores: all four dog-friendly waterfall trails lead, none of which say "dog-friendly" or "steep."</a:t>
            </a:r>
          </a:p>
          <a:p>
            <a:r>
              <a:rPr lang="en-US" dirty="0"/>
              <a:t>Nothing is generated.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Now the chat model: the top 3 chunks plus the question, and a prompt that says answer only from these, cite the chunk, or say the documents don't say.</a:t>
            </a:r>
          </a:p>
          <a:p>
            <a:r>
              <a:rPr lang="en-US" dirty="0"/>
              <a:t>Generation is 01 with reading material. The model reads instead of remembers.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checks every citation against the chunks it sent, then answers: wood fires are prohibited year-round, with the source.</a:t>
            </a:r>
          </a:p>
          <a:p>
            <a:r>
              <a:rPr lang="en-US" dirty="0"/>
              <a:t>Two failure spots: the wrong chunk, or a bad split. Splitting a fire rule from its exception produced "campfires are fine" 4 runs in 20; re-splitting at subsections, 0 in 60. Chunking is a correctness decision.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hiker just finished Avalanche Lake and loved it. The app says nothing. That's the gap.</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knows which trail: trail-0117.</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same kind of vectors 04 built, one per trail, already stored. No new index.</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Look up Avalanche Lake's own vector and score every other trail against it. Leave the target out.</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Top matches: Gunsight Lake, Black Lake, Piegan Pass. Hard lake hikes, like the one they just did.</a:t>
            </a:r>
          </a:p>
          <a:p>
            <a:r>
              <a:rPr lang="en-US" dirty="0"/>
              <a:t>And no model call at request time: no chat model, no prompt. Recommendations are 04's math pointed at an item instead of a query.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7.sv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9.svg"/><Relationship Id="rId4" Type="http://schemas.openxmlformats.org/officeDocument/2006/relationships/image" Target="../media/image10.svg"/><Relationship Id="rIdNotes"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t>Building Pragmatic AI</a:t>
            </a:r>
          </a:p>
        </p:txBody>
      </p:sp>
      <p:sp>
        <p:nvSpPr>
          <p:cNvPr id="3" name="Text Placeholder 2"/>
          <p:cNvSpPr>
            <a:spLocks noGrp="1"/>
          </p:cNvSpPr>
          <p:nvPr>
            <p:ph type="body" idx="1"/>
          </p:nvPr>
        </p:nvSpPr>
        <p:spPr/>
        <p:txBody>
          <a:bodyPr>
            <a:normAutofit lnSpcReduction="10000"/>
          </a:bodyPr>
          <a:lstStyle/>
          <a:p>
            <a:r>
              <a:t>Module 2: Finding</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pic>
        <p:nvPicPr>
          <p:cNvPr id="5" name="Picture 4" descr="banner.png"/>
          <p:cNvPicPr>
            <a:picLocks noChangeAspect="1"/>
          </p:cNvPicPr>
          <p:nvPr/>
        </p:nvPicPr>
        <p:blipFill>
          <a:blip r:embed="rId4"/>
          <a:stretch>
            <a:fillRect/>
          </a:stretch>
        </p:blipFill>
        <p:spPr>
          <a:xfrm>
            <a:off x="0" y="9144"/>
            <a:ext cx="12188952" cy="3182112"/>
          </a:xfrm>
          <a:prstGeom prst="rect">
            <a:avLst/>
          </a:prstGeom>
        </p:spPr>
      </p:pic>
      <p:pic>
        <p:nvPicPr>
          <p:cNvPr id="6" name="Picture 5" descr="image.png"/>
          <p:cNvPicPr>
            <a:picLocks noChangeAspect="1"/>
          </p:cNvPicPr>
          <p:nvPr/>
        </p:nvPicPr>
        <p:blipFill>
          <a:blip r:embed="rId5"/>
          <a:stretch>
            <a:fillRect/>
          </a:stretch>
        </p:blipFill>
        <p:spPr>
          <a:xfrm>
            <a:off x="9272016" y="3657600"/>
            <a:ext cx="2167128" cy="21671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sz="2400" b="1" dirty="0"/>
              <a:t>F04 S</a:t>
            </a:r>
            <a:r>
              <a:rPr lang="en-US" sz="2400" b="1" dirty="0"/>
              <a:t>ematic S</a:t>
            </a:r>
            <a:r>
              <a:rPr sz="2400" b="1" dirty="0"/>
              <a:t>earch</a:t>
            </a:r>
          </a:p>
        </p:txBody>
      </p:sp>
      <p:pic>
        <p:nvPicPr>
          <p:cNvPr id="5" name="Picture 4"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sz="2400" b="1" dirty="0"/>
              <a:t>F05 </a:t>
            </a:r>
            <a:r>
              <a:rPr lang="en-US" sz="2400" b="1" dirty="0"/>
              <a:t>Retrieval-Augmented Generation</a:t>
            </a:r>
            <a:endParaRPr sz="2400" b="1" dirty="0"/>
          </a:p>
        </p:txBody>
      </p:sp>
      <p:pic>
        <p:nvPicPr>
          <p:cNvPr id="7" name="Picture 6" descr="image.png"/>
          <p:cNvPicPr>
            <a:picLocks noChangeAspect="1"/>
          </p:cNvPicPr>
          <p:nvPr/>
        </p:nvPicPr>
        <p:blipFill>
          <a:blip r:embed="rId5"/>
          <a:stretch>
            <a:fillRect/>
          </a:stretch>
        </p:blipFill>
        <p:spPr>
          <a:xfrm>
            <a:off x="9326880" y="5989320"/>
            <a:ext cx="2560320" cy="6400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lang="en-US" sz="2400" b="1" dirty="0"/>
              <a:t>F05 Retrieval-Augmented Generation</a:t>
            </a:r>
          </a:p>
        </p:txBody>
      </p:sp>
      <p:pic>
        <p:nvPicPr>
          <p:cNvPr id="7" name="Picture 6" descr="route.png"/>
          <p:cNvPicPr>
            <a:picLocks noChangeAspect="1"/>
          </p:cNvPicPr>
          <p:nvPr/>
        </p:nvPicPr>
        <p:blipFill>
          <a:blip r:embed="rId5"/>
          <a:stretch>
            <a:fillRect/>
          </a:stretch>
        </p:blipFill>
        <p:spPr>
          <a:xfrm>
            <a:off x="9921240" y="2990088"/>
            <a:ext cx="868680" cy="868680"/>
          </a:xfrm>
          <a:prstGeom prst="rect">
            <a:avLst/>
          </a:prstGeom>
        </p:spPr>
      </p:pic>
      <p:sp>
        <p:nvSpPr>
          <p:cNvPr id="8" name="TextBox 7"/>
          <p:cNvSpPr txBox="1"/>
          <p:nvPr/>
        </p:nvSpPr>
        <p:spPr>
          <a:xfrm>
            <a:off x="9281160" y="4005072"/>
            <a:ext cx="2148840" cy="777240"/>
          </a:xfrm>
          <a:prstGeom prst="rect">
            <a:avLst/>
          </a:prstGeom>
          <a:noFill/>
        </p:spPr>
        <p:txBody>
          <a:bodyPr wrap="square">
            <a:spAutoFit/>
          </a:bodyPr>
          <a:lstStyle/>
          <a:p>
            <a:pPr algn="ctr"/>
            <a:r>
              <a:rPr sz="2400" b="1"/>
              <a:t>F06 Recommend</a:t>
            </a:r>
          </a:p>
        </p:txBody>
      </p:sp>
      <p:pic>
        <p:nvPicPr>
          <p:cNvPr id="9" name="Picture 8" descr="image.png"/>
          <p:cNvPicPr>
            <a:picLocks noChangeAspect="1"/>
          </p:cNvPicPr>
          <p:nvPr/>
        </p:nvPicPr>
        <p:blipFill>
          <a:blip r:embed="rId6"/>
          <a:stretch>
            <a:fillRect/>
          </a:stretch>
        </p:blipFill>
        <p:spPr>
          <a:xfrm>
            <a:off x="9326880" y="5989320"/>
            <a:ext cx="2560320" cy="6400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F04 · Semantic Search</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earch.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Search by what words </a:t>
            </a:r>
            <a:r>
              <a:rPr sz="4000" b="1" dirty="0">
                <a:solidFill>
                  <a:srgbClr val="017AB4"/>
                </a:solidFill>
              </a:rPr>
              <a:t>mean</a:t>
            </a:r>
            <a:r>
              <a:rPr sz="4000" dirty="0"/>
              <a:t>, </a:t>
            </a:r>
            <a:endParaRPr lang="en-US" sz="4000" dirty="0"/>
          </a:p>
          <a:p>
            <a:pPr algn="ctr"/>
            <a:r>
              <a:rPr sz="4000" dirty="0"/>
              <a:t>not by which words appear.</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30 descriptions</a:t>
            </a:r>
          </a:p>
        </p:txBody>
      </p:sp>
      <p:sp>
        <p:nvSpPr>
          <p:cNvPr id="122" name="Reply"/>
          <p:cNvSpPr txBox="1"/>
          <p:nvPr/>
        </p:nvSpPr>
        <p:spPr>
          <a:xfrm>
            <a:off x="7388352" y="3154680"/>
            <a:ext cx="1737360" cy="5029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[0.0611, -0.0001,</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-0.2007, …]</a:t>
            </a:r>
          </a:p>
        </p:txBody>
      </p:sp>
      <p:sp>
        <p:nvSpPr>
          <p:cNvPr id="123" name="Dims"/>
          <p:cNvSpPr txBox="1"/>
          <p:nvPr/>
        </p:nvSpPr>
        <p:spPr>
          <a:xfrm>
            <a:off x="7388352" y="3520440"/>
            <a:ext cx="1645920" cy="320040"/>
          </a:xfrm>
          <a:prstGeom prst="rect">
            <a:avLst/>
          </a:prstGeom>
          <a:noFill/>
        </p:spPr>
        <p:txBody>
          <a:bodyPr wrap="square" lIns="0" tIns="0" rIns="0" bIns="0" anchor="t">
            <a:noAutofit/>
          </a:bodyPr>
          <a:lstStyle/>
          <a:p>
            <a:pPr algn="ctr">
              <a:lnSpc>
                <a:spcPct val="90000"/>
              </a:lnSpc>
            </a:pPr>
            <a:r>
              <a:rPr lang="en-US" sz="1400" dirty="0">
                <a:solidFill>
                  <a:srgbClr val="000000"/>
                </a:solidFill>
                <a:latin typeface="Ink Free" panose="03080402000500000000" pitchFamily="66" charset="0"/>
              </a:rPr>
              <a:t>768 numbers each</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30 descriptions</a:t>
            </a:r>
          </a:p>
        </p:txBody>
      </p:sp>
      <p:sp>
        <p:nvSpPr>
          <p:cNvPr id="122" name="Reply"/>
          <p:cNvSpPr txBox="1"/>
          <p:nvPr/>
        </p:nvSpPr>
        <p:spPr>
          <a:xfrm>
            <a:off x="7388352" y="3154680"/>
            <a:ext cx="1737360" cy="5029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[0.0611, -0.0001,</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-0.2007, …]</a:t>
            </a:r>
          </a:p>
        </p:txBody>
      </p:sp>
      <p:sp>
        <p:nvSpPr>
          <p:cNvPr id="123" name="Dims"/>
          <p:cNvSpPr txBox="1"/>
          <p:nvPr/>
        </p:nvSpPr>
        <p:spPr>
          <a:xfrm>
            <a:off x="7388352" y="3520440"/>
            <a:ext cx="1645920" cy="320040"/>
          </a:xfrm>
          <a:prstGeom prst="rect">
            <a:avLst/>
          </a:prstGeom>
          <a:noFill/>
        </p:spPr>
        <p:txBody>
          <a:bodyPr wrap="square" lIns="0" tIns="0" rIns="0" bIns="0" anchor="t">
            <a:noAutofit/>
          </a:bodyPr>
          <a:lstStyle/>
          <a:p>
            <a:pPr algn="ctr">
              <a:lnSpc>
                <a:spcPct val="90000"/>
              </a:lnSpc>
            </a:pPr>
            <a:r>
              <a:rPr lang="en-US" sz="1400" dirty="0">
                <a:solidFill>
                  <a:srgbClr val="000000"/>
                </a:solidFill>
                <a:latin typeface="Ink Free" panose="03080402000500000000" pitchFamily="66" charset="0"/>
              </a:rPr>
              <a:t>768 numbers each</a:t>
            </a:r>
          </a:p>
        </p:txBody>
      </p:sp>
      <p:cxnSp>
        <p:nvCxnSpPr>
          <p:cNvPr id="12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26" name="Stored"/>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name, vector} ×30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F04 Semantic Search</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A </a:t>
            </a:r>
            <a:r>
              <a:rPr lang="en-US" sz="2800" dirty="0"/>
              <a:t>previously useless search box now allows them to</a:t>
            </a:r>
            <a:r>
              <a:rPr sz="2800" dirty="0"/>
              <a:t> describe what they want</a:t>
            </a:r>
            <a:r>
              <a:rPr lang="en-US" sz="2800" dirty="0"/>
              <a:t> and</a:t>
            </a:r>
            <a:r>
              <a:rPr sz="2800" dirty="0"/>
              <a:t> it </a:t>
            </a:r>
            <a:r>
              <a:rPr lang="en-US" sz="2800" dirty="0"/>
              <a:t>finds the most conceptually related things</a:t>
            </a:r>
            <a:r>
              <a:rPr sz="2800" dirty="0"/>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F05 · RAG</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ocument.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Look </a:t>
            </a:r>
            <a:r>
              <a:rPr lang="en-US" sz="4000" dirty="0"/>
              <a:t>in your </a:t>
            </a:r>
            <a:r>
              <a:rPr sz="4000" dirty="0"/>
              <a:t>documents </a:t>
            </a:r>
            <a:r>
              <a:rPr lang="en-US" sz="4000" dirty="0"/>
              <a:t>as the source</a:t>
            </a:r>
            <a:r>
              <a:rPr sz="4000" dirty="0"/>
              <a:t>; the </a:t>
            </a:r>
            <a:endParaRPr lang="en-US" sz="4000" dirty="0"/>
          </a:p>
          <a:p>
            <a:pPr algn="ctr"/>
            <a:r>
              <a:rPr sz="4000" dirty="0"/>
              <a:t>model </a:t>
            </a:r>
            <a:r>
              <a:rPr lang="en-US" sz="4000" b="1" dirty="0">
                <a:solidFill>
                  <a:srgbClr val="017AB4"/>
                </a:solidFill>
              </a:rPr>
              <a:t>composes an a</a:t>
            </a:r>
            <a:r>
              <a:rPr sz="4000" b="1" dirty="0">
                <a:solidFill>
                  <a:srgbClr val="017AB4"/>
                </a:solidFill>
              </a:rPr>
              <a:t>nswer from what it finds</a:t>
            </a:r>
            <a:r>
              <a:rPr sz="4000" dirty="0"/>
              <a:t>.</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F05 RAG</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a:p>
            <a:pPr>
              <a:spcAft>
                <a:spcPts val="1400"/>
              </a:spcAft>
            </a:pPr>
            <a:endParaRPr sz="2800"/>
          </a:p>
          <a:p>
            <a:pPr>
              <a:spcAft>
                <a:spcPts val="1400"/>
              </a:spcAft>
            </a:pPr>
            <a:r>
              <a:rPr sz="2800" b="1"/>
              <a:t>Difficulty:</a:t>
            </a:r>
            <a:r>
              <a:rPr sz="2800"/>
              <a:t> </a:t>
            </a:r>
          </a:p>
        </p:txBody>
      </p:sp>
      <p:sp>
        <p:nvSpPr>
          <p:cNvPr id="4" name="Rounded Rectangle 3"/>
          <p:cNvSpPr/>
          <p:nvPr/>
        </p:nvSpPr>
        <p:spPr>
          <a:xfrm>
            <a:off x="2807208" y="4809744"/>
            <a:ext cx="256032" cy="256032"/>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Hard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F06 · Recommendations</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oute.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a:t>Suggest the </a:t>
            </a:r>
            <a:r>
              <a:rPr sz="4000" b="1">
                <a:solidFill>
                  <a:srgbClr val="017AB4"/>
                </a:solidFill>
              </a:rPr>
              <a:t>next thing</a:t>
            </a:r>
            <a:r>
              <a:rPr sz="4000"/>
              <a:t> a user will want, </a:t>
            </a:r>
            <a:endParaRPr lang="en-US" sz="4000"/>
          </a:p>
          <a:p>
            <a:pPr algn="ctr"/>
            <a:r>
              <a:rPr sz="4000"/>
              <a:t>from what they liked already.</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F06 Recommendations</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a:p>
            <a:pPr>
              <a:spcAft>
                <a:spcPts val="1400"/>
              </a:spcAft>
            </a:pPr>
            <a:r>
              <a:rPr sz="2800" b="1"/>
              <a:t>Think:</a:t>
            </a:r>
            <a:r>
              <a:rPr sz="2800"/>
              <a:t> "The same vectors that power our search give us 'more like this' for free."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Users finish one thing and the product offers no next step.</a:t>
            </a:r>
          </a:p>
          <a:p>
            <a:pPr>
              <a:spcAft>
                <a:spcPts val="1400"/>
              </a:spcAft>
            </a:pPr>
            <a:r>
              <a:rPr sz="2800" b="1" dirty="0"/>
              <a:t>Think:</a:t>
            </a:r>
            <a:r>
              <a:rPr sz="2800" dirty="0"/>
              <a:t> "The same vectors that power our search give </a:t>
            </a:r>
            <a:r>
              <a:rPr lang="en-US" sz="2800" dirty="0"/>
              <a:t>us</a:t>
            </a:r>
            <a:r>
              <a:rPr sz="2800" dirty="0"/>
              <a:t> 'more like this' for free."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2: ~35 Minutes</a:t>
            </a:r>
          </a:p>
        </p:txBody>
      </p:sp>
      <p:sp>
        <p:nvSpPr>
          <p:cNvPr id="3" name="Content Placeholder 2"/>
          <p:cNvSpPr>
            <a:spLocks noGrp="1"/>
          </p:cNvSpPr>
          <p:nvPr>
            <p:ph idx="1"/>
          </p:nvPr>
        </p:nvSpPr>
        <p:spPr>
          <a:xfrm>
            <a:off x="612648" y="1920240"/>
            <a:ext cx="10966704" cy="4617720"/>
          </a:xfrm>
        </p:spPr>
        <p:txBody>
          <a:bodyPr wrap="square"/>
          <a:lstStyle/>
          <a:p>
            <a:pPr marL="0" indent="0">
              <a:buNone/>
            </a:pPr>
            <a:r>
              <a:rPr sz="3600" dirty="0"/>
              <a:t>⭐ Recommended: </a:t>
            </a:r>
            <a:endParaRPr lang="en-US" sz="3600" dirty="0"/>
          </a:p>
          <a:p>
            <a:pPr marL="0" indent="0">
              <a:buNone/>
            </a:pPr>
            <a:r>
              <a:rPr sz="3600" b="1" dirty="0"/>
              <a:t>F04 Semantic Search</a:t>
            </a:r>
            <a:endParaRPr lang="en-US" sz="3600" b="1" dirty="0"/>
          </a:p>
          <a:p>
            <a:pPr marL="0" indent="0">
              <a:buNone/>
            </a:pPr>
            <a:endParaRPr sz="3600" b="1" dirty="0"/>
          </a:p>
          <a:p>
            <a:pPr marL="0" indent="0">
              <a:buNone/>
            </a:pPr>
            <a:r>
              <a:rPr sz="3600" dirty="0"/>
              <a:t>⛰️ Challenge: </a:t>
            </a:r>
            <a:endParaRPr lang="en-US" sz="3600" dirty="0"/>
          </a:p>
          <a:p>
            <a:pPr marL="0" indent="0">
              <a:buNone/>
            </a:pPr>
            <a:r>
              <a:rPr sz="3600" b="1" dirty="0"/>
              <a:t>F05 RAG</a:t>
            </a:r>
            <a:r>
              <a:rPr sz="3600" dirty="0"/>
              <a:t> (☁️ room key) · </a:t>
            </a:r>
            <a:r>
              <a:rPr sz="3600" b="1" dirty="0"/>
              <a:t>F06 Recommendations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879C7D46-B427-B1BB-7A1F-392BCB232898}"/>
              </a:ext>
            </a:extLst>
          </p:cNvPr>
          <p:cNvSpPr>
            <a:spLocks noGrp="1"/>
          </p:cNvSpPr>
          <p:nvPr>
            <p:ph type="title"/>
          </p:nvPr>
        </p:nvSpPr>
        <p:spPr>
          <a:xfrm>
            <a:off x="1103309" y="2776166"/>
            <a:ext cx="10772775" cy="1658198"/>
          </a:xfrm>
        </p:spPr>
        <p:txBody>
          <a:bodyPr/>
          <a:lstStyle/>
          <a:p>
            <a:r>
              <a:rPr lang="en-US" sz="4400" dirty="0">
                <a:solidFill>
                  <a:schemeClr val="tx1"/>
                </a:solidFill>
              </a:rPr>
              <a:t>Jonathan "J." Tower</a:t>
            </a:r>
            <a:endParaRPr lang="en-US" dirty="0">
              <a:solidFill>
                <a:schemeClr val="tx1"/>
              </a:solidFill>
            </a:endParaRPr>
          </a:p>
        </p:txBody>
      </p:sp>
      <p:sp>
        <p:nvSpPr>
          <p:cNvPr id="3" name="Content Placeholder 2"/>
          <p:cNvSpPr>
            <a:spLocks noGrp="1"/>
          </p:cNvSpPr>
          <p:nvPr>
            <p:ph idx="1"/>
          </p:nvPr>
        </p:nvSpPr>
        <p:spPr>
          <a:xfrm>
            <a:off x="1043180" y="4005394"/>
            <a:ext cx="4981194" cy="456600"/>
          </a:xfrm>
        </p:spPr>
        <p:txBody>
          <a:bodyPr>
            <a:normAutofit/>
          </a:bodyPr>
          <a:lstStyle/>
          <a:p>
            <a:pPr>
              <a:spcBef>
                <a:spcPts val="600"/>
              </a:spcBef>
            </a:pPr>
            <a:r>
              <a:rPr lang="en-US" sz="1800" dirty="0"/>
              <a:t>Founding Partner</a:t>
            </a:r>
          </a:p>
        </p:txBody>
      </p:sp>
      <p:sp>
        <p:nvSpPr>
          <p:cNvPr id="2" name="Content Placeholder 2">
            <a:extLst>
              <a:ext uri="{FF2B5EF4-FFF2-40B4-BE49-F238E27FC236}">
                <a16:creationId xmlns:a16="http://schemas.microsoft.com/office/drawing/2014/main" id="{E5422206-0EEA-0ED9-B408-CC3FB282F987}"/>
              </a:ext>
            </a:extLst>
          </p:cNvPr>
          <p:cNvSpPr txBox="1">
            <a:spLocks/>
          </p:cNvSpPr>
          <p:nvPr/>
        </p:nvSpPr>
        <p:spPr>
          <a:xfrm>
            <a:off x="1505728" y="4419847"/>
            <a:ext cx="3444002" cy="1251800"/>
          </a:xfrm>
          <a:prstGeom prst="rect">
            <a:avLst/>
          </a:prstGeom>
        </p:spPr>
        <p:txBody>
          <a:bodyPr vert="horz" lIns="68580" tIns="34290" rIns="68580" bIns="34290" rtlCol="0">
            <a:normAutofit/>
          </a:bodyPr>
          <a:lst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a:lstStyle>
          <a:p>
            <a:pPr marL="3429" lvl="1" indent="0" defTabSz="685800">
              <a:spcBef>
                <a:spcPts val="975"/>
              </a:spcBef>
              <a:buNone/>
              <a:tabLst>
                <a:tab pos="175022" algn="ctr"/>
                <a:tab pos="342900" algn="l"/>
              </a:tabLst>
            </a:pPr>
            <a:r>
              <a:rPr lang="en-US" sz="1500" dirty="0">
                <a:solidFill>
                  <a:prstClr val="black">
                    <a:lumMod val="85000"/>
                    <a:lumOff val="15000"/>
                  </a:prstClr>
                </a:solidFill>
              </a:rPr>
              <a:t>13x Microsoft MVP in .NET &amp; AI</a:t>
            </a:r>
          </a:p>
          <a:p>
            <a:pPr marL="3429" lvl="1" indent="0" defTabSz="685800">
              <a:spcBef>
                <a:spcPts val="975"/>
              </a:spcBef>
              <a:buNone/>
              <a:tabLst>
                <a:tab pos="175022" algn="ctr"/>
                <a:tab pos="342900" algn="l"/>
              </a:tabLst>
            </a:pPr>
            <a:r>
              <a:rPr lang="en-US" sz="1500" dirty="0">
                <a:solidFill>
                  <a:prstClr val="black">
                    <a:lumMod val="85000"/>
                    <a:lumOff val="15000"/>
                  </a:prstClr>
                </a:solidFill>
              </a:rPr>
              <a:t>VP of .NET Foundation</a:t>
            </a:r>
          </a:p>
          <a:p>
            <a:pPr marL="0" indent="0" defTabSz="685800">
              <a:spcBef>
                <a:spcPts val="975"/>
              </a:spcBef>
              <a:buNone/>
              <a:tabLst>
                <a:tab pos="175022" algn="ctr"/>
                <a:tab pos="342900" algn="l"/>
              </a:tabLst>
            </a:pPr>
            <a:r>
              <a:rPr lang="en-US" sz="1500" dirty="0">
                <a:solidFill>
                  <a:prstClr val="black">
                    <a:lumMod val="85000"/>
                    <a:lumOff val="15000"/>
                  </a:prstClr>
                </a:solidFill>
              </a:rPr>
              <a:t>Blue Blazes podcast host</a:t>
            </a:r>
          </a:p>
        </p:txBody>
      </p:sp>
      <p:pic>
        <p:nvPicPr>
          <p:cNvPr id="5" name="Graphic 4">
            <a:extLst>
              <a:ext uri="{FF2B5EF4-FFF2-40B4-BE49-F238E27FC236}">
                <a16:creationId xmlns:a16="http://schemas.microsoft.com/office/drawing/2014/main" id="{5C7CF00E-0AEA-5733-E1CC-FB07798EAE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42806" y="4429345"/>
            <a:ext cx="229751" cy="204223"/>
          </a:xfrm>
          <a:prstGeom prst="rect">
            <a:avLst/>
          </a:prstGeom>
        </p:spPr>
      </p:pic>
      <p:pic>
        <p:nvPicPr>
          <p:cNvPr id="13" name="Graphic 12">
            <a:extLst>
              <a:ext uri="{FF2B5EF4-FFF2-40B4-BE49-F238E27FC236}">
                <a16:creationId xmlns:a16="http://schemas.microsoft.com/office/drawing/2014/main" id="{90FDDDAC-FE53-8DB3-53AD-52C0E1F47D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55718">
            <a:off x="1281096" y="5031795"/>
            <a:ext cx="153168" cy="204223"/>
          </a:xfrm>
          <a:prstGeom prst="rect">
            <a:avLst/>
          </a:prstGeom>
        </p:spPr>
      </p:pic>
      <p:pic>
        <p:nvPicPr>
          <p:cNvPr id="19" name="Graphic 18" descr="Board Of Directors with solid fill">
            <a:extLst>
              <a:ext uri="{FF2B5EF4-FFF2-40B4-BE49-F238E27FC236}">
                <a16:creationId xmlns:a16="http://schemas.microsoft.com/office/drawing/2014/main" id="{A3D1BE89-6E9F-C651-0148-6A603AE633F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255570" y="4727557"/>
            <a:ext cx="204223" cy="204223"/>
          </a:xfrm>
          <a:prstGeom prst="rect">
            <a:avLst/>
          </a:prstGeom>
        </p:spPr>
      </p:pic>
      <p:pic>
        <p:nvPicPr>
          <p:cNvPr id="9" name="Picture 8">
            <a:extLst>
              <a:ext uri="{FF2B5EF4-FFF2-40B4-BE49-F238E27FC236}">
                <a16:creationId xmlns:a16="http://schemas.microsoft.com/office/drawing/2014/main" id="{11F84612-AE50-D33D-355E-6155EE7C1ABD}"/>
              </a:ext>
            </a:extLst>
          </p:cNvPr>
          <p:cNvPicPr>
            <a:picLocks noChangeAspect="1"/>
          </p:cNvPicPr>
          <p:nvPr/>
        </p:nvPicPr>
        <p:blipFill>
          <a:blip r:embed="rId6"/>
          <a:stretch>
            <a:fillRect/>
          </a:stretch>
        </p:blipFill>
        <p:spPr>
          <a:xfrm>
            <a:off x="6834348" y="1134602"/>
            <a:ext cx="4588796" cy="4588796"/>
          </a:xfrm>
          <a:prstGeom prst="rect">
            <a:avLst/>
          </a:prstGeom>
        </p:spPr>
      </p:pic>
      <p:sp>
        <p:nvSpPr>
          <p:cNvPr id="6" name="Title 9">
            <a:extLst>
              <a:ext uri="{FF2B5EF4-FFF2-40B4-BE49-F238E27FC236}">
                <a16:creationId xmlns:a16="http://schemas.microsoft.com/office/drawing/2014/main" id="{AE6963CF-EE52-0F1E-6DE8-AAD1013F2522}"/>
              </a:ext>
            </a:extLst>
          </p:cNvPr>
          <p:cNvSpPr txBox="1">
            <a:spLocks/>
          </p:cNvSpPr>
          <p:nvPr/>
        </p:nvSpPr>
        <p:spPr>
          <a:xfrm>
            <a:off x="1103309" y="499533"/>
            <a:ext cx="10772775" cy="1658198"/>
          </a:xfrm>
          <a:prstGeom prst="rect">
            <a:avLst/>
          </a:prstGeom>
        </p:spPr>
        <p:txBody>
          <a:bodyPr vert="horz" lIns="91440" tIns="45720" rIns="91440" bIns="45720" rtlCol="0" anchor="ctr">
            <a:normAutofit/>
          </a:bodyPr>
          <a:lst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a:lstStyle>
          <a:p>
            <a:r>
              <a:rPr lang="en-US" sz="4400" dirty="0">
                <a:solidFill>
                  <a:srgbClr val="017AB4"/>
                </a:solidFill>
              </a:rPr>
              <a:t>Lab 2: Debrief</a:t>
            </a:r>
            <a:endParaRPr lang="en-US" dirty="0">
              <a:solidFill>
                <a:srgbClr val="017AB4"/>
              </a:solidFill>
            </a:endParaRPr>
          </a:p>
        </p:txBody>
      </p:sp>
    </p:spTree>
    <p:extLst>
      <p:ext uri="{BB962C8B-B14F-4D97-AF65-F5344CB8AC3E}">
        <p14:creationId xmlns:p14="http://schemas.microsoft.com/office/powerpoint/2010/main" val="25881516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
        <p:nvSpPr>
          <p:cNvPr id="124" name="Cosine"/>
          <p:cNvSpPr txBox="1"/>
          <p:nvPr/>
        </p:nvSpPr>
        <p:spPr>
          <a:xfrm>
            <a:off x="4878638" y="4072402"/>
            <a:ext cx="2367419" cy="320040"/>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cosine(q, v) ×30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
        <p:nvSpPr>
          <p:cNvPr id="124" name="Cosine"/>
          <p:cNvSpPr txBox="1"/>
          <p:nvPr/>
        </p:nvSpPr>
        <p:spPr>
          <a:xfrm>
            <a:off x="4878638" y="4072402"/>
            <a:ext cx="2367419" cy="320040"/>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cosine(q, v) ×30</a:t>
            </a:r>
          </a:p>
        </p:txBody>
      </p:sp>
      <p:sp>
        <p:nvSpPr>
          <p:cNvPr id="125" name="Results"/>
          <p:cNvSpPr txBox="1"/>
          <p:nvPr/>
        </p:nvSpPr>
        <p:spPr>
          <a:xfrm>
            <a:off x="2651760" y="3793071"/>
            <a:ext cx="2148840" cy="6400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0.77 Carlon Falls</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0.73 Copeland Falls</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0.73 Grotto Falls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grpSp>
        <p:nvGrpSpPr>
          <p:cNvPr id="126" name="Graphic 62" descr="Artificial Intelligence outline"/>
          <p:cNvGrpSpPr/>
          <p:nvPr/>
        </p:nvGrpSpPr>
        <p:grpSpPr>
          <a:xfrm>
            <a:off x="1413462" y="1783080"/>
            <a:ext cx="647797" cy="768143"/>
            <a:chOff x="6096473" y="4106117"/>
            <a:chExt cx="647797" cy="768143"/>
          </a:xfrm>
          <a:noFill/>
        </p:grpSpPr>
        <p:sp>
          <p:nvSpPr>
            <p:cNvPr id="127"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28"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29"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30"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31" name="LLM label"/>
          <p:cNvSpPr txBox="1"/>
          <p:nvPr/>
        </p:nvSpPr>
        <p:spPr>
          <a:xfrm>
            <a:off x="868680" y="2569511"/>
            <a:ext cx="1737360" cy="54864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Ollama llama3.2</a:t>
            </a:r>
          </a:p>
        </p:txBody>
      </p:sp>
      <p:cxnSp>
        <p:nvCxnSpPr>
          <p:cNvPr id="132" name="App-LLM"/>
          <p:cNvCxnSpPr/>
          <p:nvPr/>
        </p:nvCxnSpPr>
        <p:spPr>
          <a:xfrm flipH="1" flipV="1">
            <a:off x="2170987" y="2240280"/>
            <a:ext cx="2597923" cy="506242"/>
          </a:xfrm>
          <a:prstGeom prst="straightConnector1">
            <a:avLst/>
          </a:prstGeom>
          <a:ln w="28575">
            <a:solidFill>
              <a:srgbClr val="000000"/>
            </a:solidFill>
            <a:headEnd type="triangle"/>
            <a:tailEnd type="triangle"/>
          </a:ln>
        </p:spPr>
      </p:cxnSp>
      <p:sp>
        <p:nvSpPr>
          <p:cNvPr id="133" name="LLM request"/>
          <p:cNvSpPr txBox="1"/>
          <p:nvPr/>
        </p:nvSpPr>
        <p:spPr>
          <a:xfrm>
            <a:off x="2514600" y="1847088"/>
            <a:ext cx="22860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top 3 chunks + question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grpSp>
        <p:nvGrpSpPr>
          <p:cNvPr id="126" name="Graphic 62" descr="Artificial Intelligence outline"/>
          <p:cNvGrpSpPr/>
          <p:nvPr/>
        </p:nvGrpSpPr>
        <p:grpSpPr>
          <a:xfrm>
            <a:off x="1413462" y="1783080"/>
            <a:ext cx="647797" cy="768143"/>
            <a:chOff x="6096473" y="4106117"/>
            <a:chExt cx="647797" cy="768143"/>
          </a:xfrm>
          <a:noFill/>
        </p:grpSpPr>
        <p:sp>
          <p:nvSpPr>
            <p:cNvPr id="127"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28"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29"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30"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31" name="LLM label"/>
          <p:cNvSpPr txBox="1"/>
          <p:nvPr/>
        </p:nvSpPr>
        <p:spPr>
          <a:xfrm>
            <a:off x="868680" y="2569511"/>
            <a:ext cx="1737360" cy="54864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Ollama llama3.2</a:t>
            </a:r>
          </a:p>
        </p:txBody>
      </p:sp>
      <p:cxnSp>
        <p:nvCxnSpPr>
          <p:cNvPr id="132" name="App-LLM"/>
          <p:cNvCxnSpPr/>
          <p:nvPr/>
        </p:nvCxnSpPr>
        <p:spPr>
          <a:xfrm flipH="1" flipV="1">
            <a:off x="2170987" y="2240280"/>
            <a:ext cx="2597923" cy="506242"/>
          </a:xfrm>
          <a:prstGeom prst="straightConnector1">
            <a:avLst/>
          </a:prstGeom>
          <a:ln w="28575">
            <a:solidFill>
              <a:srgbClr val="000000"/>
            </a:solidFill>
            <a:headEnd type="triangle"/>
            <a:tailEnd type="triangle"/>
          </a:ln>
        </p:spPr>
      </p:cxnSp>
      <p:sp>
        <p:nvSpPr>
          <p:cNvPr id="133" name="LLM request"/>
          <p:cNvSpPr txBox="1"/>
          <p:nvPr/>
        </p:nvSpPr>
        <p:spPr>
          <a:xfrm>
            <a:off x="2514600" y="1847088"/>
            <a:ext cx="22860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top 3 chunks + question</a:t>
            </a:r>
          </a:p>
        </p:txBody>
      </p:sp>
      <p:sp>
        <p:nvSpPr>
          <p:cNvPr id="134"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2E7D32"/>
                </a:solidFill>
                <a:latin typeface="Consolas" panose="020B0609020204030204" pitchFamily="49" charset="0"/>
                <a:cs typeface="Consolas" panose="020B0609020204030204" pitchFamily="49" charset="0"/>
              </a:rPr>
              <a:t>check citations ✓</a:t>
            </a:r>
          </a:p>
        </p:txBody>
      </p:sp>
      <p:sp>
        <p:nvSpPr>
          <p:cNvPr id="135" name="Left result"/>
          <p:cNvSpPr txBox="1"/>
          <p:nvPr/>
        </p:nvSpPr>
        <p:spPr>
          <a:xfrm>
            <a:off x="2651760" y="3793071"/>
            <a:ext cx="2148840" cy="68580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Wood fires prohibited</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year-round at Sperry.</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[camping-guide:04.2]</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cxnSp>
        <p:nvCxnSpPr>
          <p:cNvPr id="120"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1"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cosine(v0117, v) ×29</a:t>
            </a:r>
          </a:p>
        </p:txBody>
      </p:sp>
      <p:sp>
        <p:nvSpPr>
          <p:cNvPr id="122"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drop trail-0117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cxnSp>
        <p:nvCxnSpPr>
          <p:cNvPr id="120"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1"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cosine(v0117, v) ×29</a:t>
            </a:r>
          </a:p>
        </p:txBody>
      </p:sp>
      <p:sp>
        <p:nvSpPr>
          <p:cNvPr id="122"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drop trail-0117</a:t>
            </a:r>
          </a:p>
        </p:txBody>
      </p:sp>
      <p:sp>
        <p:nvSpPr>
          <p:cNvPr id="123" name="Left result"/>
          <p:cNvSpPr txBox="1"/>
          <p:nvPr/>
        </p:nvSpPr>
        <p:spPr>
          <a:xfrm>
            <a:off x="2651760" y="3793071"/>
            <a:ext cx="2148840" cy="68580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0.78 Gunsight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0.78 Black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0.77 Piegan Pass</a:t>
            </a:r>
          </a:p>
        </p:txBody>
      </p:sp>
      <p:sp>
        <p:nvSpPr>
          <p:cNvPr id="124" name="No model"/>
          <p:cNvSpPr txBox="1"/>
          <p:nvPr/>
        </p:nvSpPr>
        <p:spPr>
          <a:xfrm>
            <a:off x="4878638" y="4301002"/>
            <a:ext cx="2367419" cy="320040"/>
          </a:xfrm>
          <a:prstGeom prst="rect">
            <a:avLst/>
          </a:prstGeom>
          <a:noFill/>
        </p:spPr>
        <p:txBody>
          <a:bodyPr wrap="square" lIns="0" tIns="0" rIns="0" bIns="0" anchor="t">
            <a:noAutofit/>
          </a:bodyPr>
          <a:lstStyle/>
          <a:p>
            <a:pPr algn="ctr">
              <a:lnSpc>
                <a:spcPct val="90000"/>
              </a:lnSpc>
            </a:pPr>
            <a:r>
              <a:rPr lang="en-US" sz="1600" dirty="0">
                <a:solidFill>
                  <a:srgbClr val="0072C6"/>
                </a:solidFill>
                <a:latin typeface="Ink Free" panose="03080402000500000000" pitchFamily="66" charset="0"/>
              </a:rPr>
              <a:t>no model call</a:t>
            </a:r>
          </a:p>
        </p:txBody>
      </p:sp>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98644</TotalTime>
  <Words>3094</Words>
  <Application>Microsoft Macintosh PowerPoint</Application>
  <PresentationFormat>Widescreen</PresentationFormat>
  <Paragraphs>271</Paragraphs>
  <Slides>37</Slides>
  <Notes>34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Consolas</vt:lpstr>
      <vt:lpstr>Calibri</vt:lpstr>
      <vt:lpstr>Segoe UI</vt:lpstr>
      <vt:lpstr>Arial</vt:lpstr>
      <vt:lpstr>Calibri Light</vt:lpstr>
      <vt:lpstr>Metropolitan</vt:lpstr>
      <vt:lpstr>Building Pragmatic AI</vt:lpstr>
      <vt:lpstr>This Module</vt:lpstr>
      <vt:lpstr>This Module</vt:lpstr>
      <vt:lpstr>This Module</vt:lpstr>
      <vt:lpstr>F04 · Semantic Search</vt:lpstr>
      <vt:lpstr>PowerPoint Presentation</vt:lpstr>
      <vt:lpstr>F04 · How It Works</vt:lpstr>
      <vt:lpstr>F04 · How It Works</vt:lpstr>
      <vt:lpstr>F04 · How It Works</vt:lpstr>
      <vt:lpstr>F04 · How It Works</vt:lpstr>
      <vt:lpstr>F04 · How It Works</vt:lpstr>
      <vt:lpstr>PowerPoint Presentation</vt:lpstr>
      <vt:lpstr>F04 · Semantic Search · Demo: What to Watch</vt:lpstr>
      <vt:lpstr>F04 · Semantic Search · Leadership Card</vt:lpstr>
      <vt:lpstr>F04 · Semantic Search · Leadership Card</vt:lpstr>
      <vt:lpstr>F04 · Semantic Search · Leadership Card</vt:lpstr>
      <vt:lpstr>F05 · RAG</vt:lpstr>
      <vt:lpstr>PowerPoint Presentation</vt:lpstr>
      <vt:lpstr>F05 · How It Works</vt:lpstr>
      <vt:lpstr>F05 · How It Works</vt:lpstr>
      <vt:lpstr>F05 · How It Works</vt:lpstr>
      <vt:lpstr>F05 · How It Works</vt:lpstr>
      <vt:lpstr>F05 · How It Works</vt:lpstr>
      <vt:lpstr>PowerPoint Presentation</vt:lpstr>
      <vt:lpstr>F05 · RAG · Demo: What to Watch</vt:lpstr>
      <vt:lpstr>F05 · RAG · Leadership Card</vt:lpstr>
      <vt:lpstr>F05 · RAG · Leadership Card</vt:lpstr>
      <vt:lpstr>F05 · RAG · Leadership Card</vt:lpstr>
      <vt:lpstr>F06 · Recommendations</vt:lpstr>
      <vt:lpstr>PowerPoint Presentation</vt:lpstr>
      <vt:lpstr>PowerPoint Presentation</vt:lpstr>
      <vt:lpstr>F06 · Recommendations · Demo: What to Watch</vt:lpstr>
      <vt:lpstr>F06 · Recommendations · Leadership Card</vt:lpstr>
      <vt:lpstr>F06 · Recommendations · Leadership Card</vt:lpstr>
      <vt:lpstr>F06 · Recommendations · Leadership Card</vt:lpstr>
      <vt:lpstr>Lab 2: ~60 Minutes</vt:lpstr>
      <vt:lpstr>Lab 2: Debrief</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2026-09-16T14:37:37Z</dcterms:modified>
  <cp:category/>
</cp:coreProperties>
</file>