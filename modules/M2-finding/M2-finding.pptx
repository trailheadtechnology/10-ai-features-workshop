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1"/>
  </p:sldMasterIdLst>
  <p:notesMasterIdLst>
    <p:notesMasterId r:id="rId39"/>
  </p:notesMasterIdLst>
  <p:sldIdLst>
    <p:sldId id="576" r:id="rId2"/>
    <p:sldId id="577" r:id="rId3"/>
    <p:sldId id="578" r:id="rId4"/>
    <p:sldId id="579" r:id="rId5"/>
    <p:sldId id="586" r:id="rId6"/>
    <p:sldId id="587" r:id="rId7"/>
    <p:sldId id="588" r:id="rId8"/>
    <p:sldId id="589" r:id="rId9"/>
    <p:sldId id="590" r:id="rId10"/>
    <p:sldId id="591" r:id="rId11"/>
    <p:sldId id="592" r:id="rId12"/>
    <p:sldId id="593" r:id="rId13"/>
    <p:sldId id="594" r:id="rId14"/>
    <p:sldId id="595" r:id="rId15"/>
    <p:sldId id="596" r:id="rId16"/>
    <p:sldId id="597" r:id="rId17"/>
    <p:sldId id="598" r:id="rId18"/>
    <p:sldId id="599" r:id="rId19"/>
    <p:sldId id="600" r:id="rId20"/>
    <p:sldId id="601" r:id="rId21"/>
    <p:sldId id="602" r:id="rId22"/>
    <p:sldId id="603" r:id="rId23"/>
    <p:sldId id="604" r:id="rId24"/>
    <p:sldId id="605" r:id="rId25"/>
    <p:sldId id="606" r:id="rId26"/>
    <p:sldId id="607" r:id="rId27"/>
    <p:sldId id="608" r:id="rId28"/>
    <p:sldId id="609" r:id="rId29"/>
    <p:sldId id="610" r:id="rId30"/>
    <p:sldId id="611" r:id="rId31"/>
    <p:sldId id="612" r:id="rId32"/>
    <p:sldId id="613" r:id="rId33"/>
    <p:sldId id="614" r:id="rId34"/>
    <p:sldId id="615" r:id="rId35"/>
    <p:sldId id="616" r:id="rId36"/>
    <p:sldId id="617" r:id="rId37"/>
    <p:sldId id="618" r:id="rId38"/>
  </p:sldIdLst>
  <p:sldSz cx="12192000" cy="6858000"/>
  <p:notesSz cx="6858000" cy="9144000"/>
  <p:embeddedFontLst>
    <p:embeddedFont>
      <p:font typeface="Consolas" panose="020B0609020204030204" pitchFamily="49" charset="0"/>
      <p:regular r:id="rId40"/>
      <p:bold r:id="rId41"/>
      <p:italic r:id="rId42"/>
      <p:boldItalic r:id="rId43"/>
    </p:embeddedFont>
    <p:embeddedFont>
      <p:font typeface="Segoe UI" panose="020B0502040204020203" pitchFamily="34" charset="0"/>
      <p:regular r:id="rId44"/>
      <p:bold r:id="rId45"/>
      <p:italic r:id="rId46"/>
      <p:boldItalic r:id="rId4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17AB4"/>
    <a:srgbClr val="0079B4"/>
    <a:srgbClr val="00A700"/>
    <a:srgbClr val="D31616"/>
    <a:srgbClr val="FFFFFF"/>
    <a:srgbClr val="E88500"/>
    <a:srgbClr val="FFD800"/>
    <a:srgbClr val="007AB5"/>
    <a:srgbClr val="000000"/>
    <a:srgbClr val="502AD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42" autoAdjust="0"/>
    <p:restoredTop sz="66867" autoAdjust="0"/>
  </p:normalViewPr>
  <p:slideViewPr>
    <p:cSldViewPr snapToGrid="0">
      <p:cViewPr varScale="1">
        <p:scale>
          <a:sx n="101" d="100"/>
          <a:sy n="101" d="100"/>
        </p:scale>
        <p:origin x="1576" y="184"/>
      </p:cViewPr>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 Tower" userId="9d06de10716639e5" providerId="LiveId" clId="{F8931099-75CA-5660-A155-55881DF68D84}"/>
    <pc:docChg chg="undo redo custSel addSld delSld modSld sldOrd modSection">
      <pc:chgData name="J. Tower" userId="9d06de10716639e5" providerId="LiveId" clId="{F8931099-75CA-5660-A155-55881DF68D84}" dt="2026-09-16T14:37:33.956" v="1235" actId="20577"/>
      <pc:docMkLst>
        <pc:docMk/>
      </pc:docMkLst>
      <pc:sldChg chg="modSp mod">
        <pc:chgData name="J. Tower" userId="9d06de10716639e5" providerId="LiveId" clId="{F8931099-75CA-5660-A155-55881DF68D84}" dt="2026-09-16T13:10:21.056" v="1000" actId="27636"/>
        <pc:sldMkLst>
          <pc:docMk/>
          <pc:sldMk cId="0" sldId="576"/>
        </pc:sldMkLst>
        <pc:spChg chg="mod">
          <ac:chgData name="J. Tower" userId="9d06de10716639e5" providerId="LiveId" clId="{F8931099-75CA-5660-A155-55881DF68D84}" dt="2026-09-16T13:10:21.056" v="1000" actId="27636"/>
          <ac:spMkLst>
            <pc:docMk/>
            <pc:sldMk cId="0" sldId="576"/>
            <ac:spMk id="3" creationId="{00000000-0000-0000-0000-000000000000}"/>
          </ac:spMkLst>
        </pc:spChg>
      </pc:sldChg>
      <pc:sldChg chg="modSp mod">
        <pc:chgData name="J. Tower" userId="9d06de10716639e5" providerId="LiveId" clId="{F8931099-75CA-5660-A155-55881DF68D84}" dt="2026-09-16T13:10:16.761" v="993" actId="20577"/>
        <pc:sldMkLst>
          <pc:docMk/>
          <pc:sldMk cId="0" sldId="577"/>
        </pc:sldMkLst>
        <pc:spChg chg="mod">
          <ac:chgData name="J. Tower" userId="9d06de10716639e5" providerId="LiveId" clId="{F8931099-75CA-5660-A155-55881DF68D84}" dt="2026-09-16T13:10:16.761" v="993" actId="20577"/>
          <ac:spMkLst>
            <pc:docMk/>
            <pc:sldMk cId="0" sldId="577"/>
            <ac:spMk id="4" creationId="{00000000-0000-0000-0000-000000000000}"/>
          </ac:spMkLst>
        </pc:spChg>
      </pc:sldChg>
      <pc:sldChg chg="modSp mod">
        <pc:chgData name="J. Tower" userId="9d06de10716639e5" providerId="LiveId" clId="{F8931099-75CA-5660-A155-55881DF68D84}" dt="2026-09-16T13:10:35.148" v="1031" actId="20577"/>
        <pc:sldMkLst>
          <pc:docMk/>
          <pc:sldMk cId="0" sldId="578"/>
        </pc:sldMkLst>
        <pc:spChg chg="mod">
          <ac:chgData name="J. Tower" userId="9d06de10716639e5" providerId="LiveId" clId="{F8931099-75CA-5660-A155-55881DF68D84}" dt="2026-09-16T13:10:20.990" v="994"/>
          <ac:spMkLst>
            <pc:docMk/>
            <pc:sldMk cId="0" sldId="578"/>
            <ac:spMk id="4" creationId="{00000000-0000-0000-0000-000000000000}"/>
          </ac:spMkLst>
        </pc:spChg>
        <pc:spChg chg="mod">
          <ac:chgData name="J. Tower" userId="9d06de10716639e5" providerId="LiveId" clId="{F8931099-75CA-5660-A155-55881DF68D84}" dt="2026-09-16T13:10:35.148" v="1031" actId="20577"/>
          <ac:spMkLst>
            <pc:docMk/>
            <pc:sldMk cId="0" sldId="578"/>
            <ac:spMk id="6" creationId="{00000000-0000-0000-0000-000000000000}"/>
          </ac:spMkLst>
        </pc:spChg>
      </pc:sldChg>
      <pc:sldChg chg="modSp modNotesTx">
        <pc:chgData name="J. Tower" userId="9d06de10716639e5" providerId="LiveId" clId="{F8931099-75CA-5660-A155-55881DF68D84}" dt="2026-09-16T13:10:41.372" v="1032"/>
        <pc:sldMkLst>
          <pc:docMk/>
          <pc:sldMk cId="0" sldId="579"/>
        </pc:sldMkLst>
        <pc:spChg chg="mod">
          <ac:chgData name="J. Tower" userId="9d06de10716639e5" providerId="LiveId" clId="{F8931099-75CA-5660-A155-55881DF68D84}" dt="2026-09-16T13:10:23.919" v="1001"/>
          <ac:spMkLst>
            <pc:docMk/>
            <pc:sldMk cId="0" sldId="579"/>
            <ac:spMk id="4" creationId="{00000000-0000-0000-0000-000000000000}"/>
          </ac:spMkLst>
        </pc:spChg>
        <pc:spChg chg="mod">
          <ac:chgData name="J. Tower" userId="9d06de10716639e5" providerId="LiveId" clId="{F8931099-75CA-5660-A155-55881DF68D84}" dt="2026-09-16T13:10:41.372" v="1032"/>
          <ac:spMkLst>
            <pc:docMk/>
            <pc:sldMk cId="0" sldId="579"/>
            <ac:spMk id="6" creationId="{00000000-0000-0000-0000-000000000000}"/>
          </ac:spMkLst>
        </pc:spChg>
      </pc:sldChg>
      <pc:sldChg chg="del">
        <pc:chgData name="J. Tower" userId="9d06de10716639e5" providerId="LiveId" clId="{F8931099-75CA-5660-A155-55881DF68D84}" dt="2026-09-16T13:11:32.025" v="1036" actId="2696"/>
        <pc:sldMkLst>
          <pc:docMk/>
          <pc:sldMk cId="0" sldId="580"/>
        </pc:sldMkLst>
      </pc:sldChg>
      <pc:sldChg chg="del">
        <pc:chgData name="J. Tower" userId="9d06de10716639e5" providerId="LiveId" clId="{F8931099-75CA-5660-A155-55881DF68D84}" dt="2026-09-16T13:11:32.027" v="1038" actId="2696"/>
        <pc:sldMkLst>
          <pc:docMk/>
          <pc:sldMk cId="0" sldId="581"/>
        </pc:sldMkLst>
      </pc:sldChg>
      <pc:sldChg chg="del">
        <pc:chgData name="J. Tower" userId="9d06de10716639e5" providerId="LiveId" clId="{F8931099-75CA-5660-A155-55881DF68D84}" dt="2026-09-16T13:11:32.023" v="1034" actId="2696"/>
        <pc:sldMkLst>
          <pc:docMk/>
          <pc:sldMk cId="0" sldId="582"/>
        </pc:sldMkLst>
      </pc:sldChg>
      <pc:sldChg chg="del">
        <pc:chgData name="J. Tower" userId="9d06de10716639e5" providerId="LiveId" clId="{F8931099-75CA-5660-A155-55881DF68D84}" dt="2026-09-16T13:11:32.024" v="1035" actId="2696"/>
        <pc:sldMkLst>
          <pc:docMk/>
          <pc:sldMk cId="0" sldId="583"/>
        </pc:sldMkLst>
      </pc:sldChg>
      <pc:sldChg chg="del">
        <pc:chgData name="J. Tower" userId="9d06de10716639e5" providerId="LiveId" clId="{F8931099-75CA-5660-A155-55881DF68D84}" dt="2026-09-16T13:11:32.026" v="1037" actId="2696"/>
        <pc:sldMkLst>
          <pc:docMk/>
          <pc:sldMk cId="0" sldId="584"/>
        </pc:sldMkLst>
      </pc:sldChg>
      <pc:sldChg chg="modSp del mod">
        <pc:chgData name="J. Tower" userId="9d06de10716639e5" providerId="LiveId" clId="{F8931099-75CA-5660-A155-55881DF68D84}" dt="2026-09-16T13:11:32.021" v="1033" actId="2696"/>
        <pc:sldMkLst>
          <pc:docMk/>
          <pc:sldMk cId="0" sldId="585"/>
        </pc:sldMkLst>
        <pc:spChg chg="mod">
          <ac:chgData name="J. Tower" userId="9d06de10716639e5" providerId="LiveId" clId="{F8931099-75CA-5660-A155-55881DF68D84}" dt="2026-09-16T13:10:21.005" v="995" actId="27636"/>
          <ac:spMkLst>
            <pc:docMk/>
            <pc:sldMk cId="0" sldId="585"/>
            <ac:spMk id="3" creationId="{00000000-0000-0000-0000-000000000000}"/>
          </ac:spMkLst>
        </pc:spChg>
      </pc:sldChg>
      <pc:sldChg chg="modSp mod">
        <pc:chgData name="J. Tower" userId="9d06de10716639e5" providerId="LiveId" clId="{F8931099-75CA-5660-A155-55881DF68D84}" dt="2026-09-16T13:10:21.022" v="996" actId="27636"/>
        <pc:sldMkLst>
          <pc:docMk/>
          <pc:sldMk cId="0" sldId="586"/>
        </pc:sldMkLst>
        <pc:spChg chg="mod">
          <ac:chgData name="J. Tower" userId="9d06de10716639e5" providerId="LiveId" clId="{F8931099-75CA-5660-A155-55881DF68D84}" dt="2026-09-16T13:10:21.022" v="996" actId="27636"/>
          <ac:spMkLst>
            <pc:docMk/>
            <pc:sldMk cId="0" sldId="586"/>
            <ac:spMk id="3" creationId="{00000000-0000-0000-0000-000000000000}"/>
          </ac:spMkLst>
        </pc:spChg>
      </pc:sldChg>
      <pc:sldChg chg="modSp mod">
        <pc:chgData name="J. Tower" userId="9d06de10716639e5" providerId="LiveId" clId="{F8931099-75CA-5660-A155-55881DF68D84}" dt="2026-09-03T20:19:44.314" v="981" actId="20577"/>
        <pc:sldMkLst>
          <pc:docMk/>
          <pc:sldMk cId="0" sldId="587"/>
        </pc:sldMkLst>
        <pc:spChg chg="mod">
          <ac:chgData name="J. Tower" userId="9d06de10716639e5" providerId="LiveId" clId="{F8931099-75CA-5660-A155-55881DF68D84}" dt="2026-09-03T20:19:44.314" v="981" actId="20577"/>
          <ac:spMkLst>
            <pc:docMk/>
            <pc:sldMk cId="0" sldId="587"/>
            <ac:spMk id="3" creationId="{00000000-0000-0000-0000-000000000000}"/>
          </ac:spMkLst>
        </pc:spChg>
      </pc:sldChg>
      <pc:sldChg chg="modSp mod">
        <pc:chgData name="J. Tower" userId="9d06de10716639e5" providerId="LiveId" clId="{F8931099-75CA-5660-A155-55881DF68D84}" dt="2026-09-16T13:40:14.566" v="1178" actId="20577"/>
        <pc:sldMkLst>
          <pc:docMk/>
          <pc:sldMk cId="0" sldId="595"/>
        </pc:sldMkLst>
        <pc:spChg chg="mod">
          <ac:chgData name="J. Tower" userId="9d06de10716639e5" providerId="LiveId" clId="{F8931099-75CA-5660-A155-55881DF68D84}" dt="2026-09-16T13:40:14.566" v="1178" actId="20577"/>
          <ac:spMkLst>
            <pc:docMk/>
            <pc:sldMk cId="0" sldId="595"/>
            <ac:spMk id="3" creationId="{00000000-0000-0000-0000-000000000000}"/>
          </ac:spMkLst>
        </pc:spChg>
      </pc:sldChg>
      <pc:sldChg chg="modSp mod">
        <pc:chgData name="J. Tower" userId="9d06de10716639e5" providerId="LiveId" clId="{F8931099-75CA-5660-A155-55881DF68D84}" dt="2026-09-16T13:40:17.877" v="1179" actId="20577"/>
        <pc:sldMkLst>
          <pc:docMk/>
          <pc:sldMk cId="0" sldId="596"/>
        </pc:sldMkLst>
        <pc:spChg chg="mod">
          <ac:chgData name="J. Tower" userId="9d06de10716639e5" providerId="LiveId" clId="{F8931099-75CA-5660-A155-55881DF68D84}" dt="2026-09-16T13:40:17.877" v="1179" actId="20577"/>
          <ac:spMkLst>
            <pc:docMk/>
            <pc:sldMk cId="0" sldId="596"/>
            <ac:spMk id="3" creationId="{00000000-0000-0000-0000-000000000000}"/>
          </ac:spMkLst>
        </pc:spChg>
      </pc:sldChg>
      <pc:sldChg chg="modSp">
        <pc:chgData name="J. Tower" userId="9d06de10716639e5" providerId="LiveId" clId="{F8931099-75CA-5660-A155-55881DF68D84}" dt="2026-09-16T13:40:26.139" v="1180"/>
        <pc:sldMkLst>
          <pc:docMk/>
          <pc:sldMk cId="0" sldId="597"/>
        </pc:sldMkLst>
        <pc:spChg chg="mod">
          <ac:chgData name="J. Tower" userId="9d06de10716639e5" providerId="LiveId" clId="{F8931099-75CA-5660-A155-55881DF68D84}" dt="2026-09-16T13:40:26.139" v="1180"/>
          <ac:spMkLst>
            <pc:docMk/>
            <pc:sldMk cId="0" sldId="597"/>
            <ac:spMk id="3" creationId="{00000000-0000-0000-0000-000000000000}"/>
          </ac:spMkLst>
        </pc:spChg>
      </pc:sldChg>
      <pc:sldChg chg="modSp mod">
        <pc:chgData name="J. Tower" userId="9d06de10716639e5" providerId="LiveId" clId="{F8931099-75CA-5660-A155-55881DF68D84}" dt="2026-09-16T13:10:21.031" v="997" actId="27636"/>
        <pc:sldMkLst>
          <pc:docMk/>
          <pc:sldMk cId="0" sldId="598"/>
        </pc:sldMkLst>
        <pc:spChg chg="mod">
          <ac:chgData name="J. Tower" userId="9d06de10716639e5" providerId="LiveId" clId="{F8931099-75CA-5660-A155-55881DF68D84}" dt="2026-09-16T13:10:21.031" v="997" actId="27636"/>
          <ac:spMkLst>
            <pc:docMk/>
            <pc:sldMk cId="0" sldId="598"/>
            <ac:spMk id="3" creationId="{00000000-0000-0000-0000-000000000000}"/>
          </ac:spMkLst>
        </pc:spChg>
      </pc:sldChg>
      <pc:sldChg chg="modSp mod">
        <pc:chgData name="J. Tower" userId="9d06de10716639e5" providerId="LiveId" clId="{F8931099-75CA-5660-A155-55881DF68D84}" dt="2026-09-16T13:41:30.984" v="1229" actId="20577"/>
        <pc:sldMkLst>
          <pc:docMk/>
          <pc:sldMk cId="0" sldId="599"/>
        </pc:sldMkLst>
        <pc:spChg chg="mod">
          <ac:chgData name="J. Tower" userId="9d06de10716639e5" providerId="LiveId" clId="{F8931099-75CA-5660-A155-55881DF68D84}" dt="2026-09-16T13:41:30.984" v="1229" actId="20577"/>
          <ac:spMkLst>
            <pc:docMk/>
            <pc:sldMk cId="0" sldId="599"/>
            <ac:spMk id="3" creationId="{00000000-0000-0000-0000-000000000000}"/>
          </ac:spMkLst>
        </pc:spChg>
      </pc:sldChg>
      <pc:sldChg chg="modSp mod">
        <pc:chgData name="J. Tower" userId="9d06de10716639e5" providerId="LiveId" clId="{F8931099-75CA-5660-A155-55881DF68D84}" dt="2026-09-16T13:10:21.039" v="998" actId="27636"/>
        <pc:sldMkLst>
          <pc:docMk/>
          <pc:sldMk cId="0" sldId="604"/>
        </pc:sldMkLst>
        <pc:spChg chg="mod">
          <ac:chgData name="J. Tower" userId="9d06de10716639e5" providerId="LiveId" clId="{F8931099-75CA-5660-A155-55881DF68D84}" dt="2026-09-16T13:10:21.039" v="998" actId="27636"/>
          <ac:spMkLst>
            <pc:docMk/>
            <pc:sldMk cId="0" sldId="604"/>
            <ac:spMk id="3" creationId="{00000000-0000-0000-0000-000000000000}"/>
          </ac:spMkLst>
        </pc:spChg>
      </pc:sldChg>
      <pc:sldChg chg="modSp mod">
        <pc:chgData name="J. Tower" userId="9d06de10716639e5" providerId="LiveId" clId="{F8931099-75CA-5660-A155-55881DF68D84}" dt="2026-09-16T13:10:21.046" v="999" actId="27636"/>
        <pc:sldMkLst>
          <pc:docMk/>
          <pc:sldMk cId="0" sldId="610"/>
        </pc:sldMkLst>
        <pc:spChg chg="mod">
          <ac:chgData name="J. Tower" userId="9d06de10716639e5" providerId="LiveId" clId="{F8931099-75CA-5660-A155-55881DF68D84}" dt="2026-09-16T13:10:21.046" v="999" actId="27636"/>
          <ac:spMkLst>
            <pc:docMk/>
            <pc:sldMk cId="0" sldId="610"/>
            <ac:spMk id="3" creationId="{00000000-0000-0000-0000-000000000000}"/>
          </ac:spMkLst>
        </pc:spChg>
      </pc:sldChg>
      <pc:sldChg chg="modSp mod">
        <pc:chgData name="J. Tower" userId="9d06de10716639e5" providerId="LiveId" clId="{F8931099-75CA-5660-A155-55881DF68D84}" dt="2026-09-03T20:20:13.797" v="985" actId="20577"/>
        <pc:sldMkLst>
          <pc:docMk/>
          <pc:sldMk cId="0" sldId="611"/>
        </pc:sldMkLst>
        <pc:spChg chg="mod">
          <ac:chgData name="J. Tower" userId="9d06de10716639e5" providerId="LiveId" clId="{F8931099-75CA-5660-A155-55881DF68D84}" dt="2026-09-03T20:20:13.797" v="985" actId="20577"/>
          <ac:spMkLst>
            <pc:docMk/>
            <pc:sldMk cId="0" sldId="611"/>
            <ac:spMk id="3" creationId="{00000000-0000-0000-0000-000000000000}"/>
          </ac:spMkLst>
        </pc:spChg>
      </pc:sldChg>
      <pc:sldChg chg="modSp mod">
        <pc:chgData name="J. Tower" userId="9d06de10716639e5" providerId="LiveId" clId="{F8931099-75CA-5660-A155-55881DF68D84}" dt="2026-09-16T14:37:06.010" v="1234" actId="20577"/>
        <pc:sldMkLst>
          <pc:docMk/>
          <pc:sldMk cId="0" sldId="616"/>
        </pc:sldMkLst>
        <pc:spChg chg="mod">
          <ac:chgData name="J. Tower" userId="9d06de10716639e5" providerId="LiveId" clId="{F8931099-75CA-5660-A155-55881DF68D84}" dt="2026-09-16T14:37:06.010" v="1234" actId="20577"/>
          <ac:spMkLst>
            <pc:docMk/>
            <pc:sldMk cId="0" sldId="616"/>
            <ac:spMk id="3" creationId="{00000000-0000-0000-0000-000000000000}"/>
          </ac:spMkLst>
        </pc:spChg>
      </pc:sldChg>
      <pc:sldChg chg="modSp mod">
        <pc:chgData name="J. Tower" userId="9d06de10716639e5" providerId="LiveId" clId="{F8931099-75CA-5660-A155-55881DF68D84}" dt="2026-09-16T14:37:33.956" v="1235" actId="20577"/>
        <pc:sldMkLst>
          <pc:docMk/>
          <pc:sldMk cId="0" sldId="618"/>
        </pc:sldMkLst>
        <pc:spChg chg="mod">
          <ac:chgData name="J. Tower" userId="9d06de10716639e5" providerId="LiveId" clId="{F8931099-75CA-5660-A155-55881DF68D84}" dt="2026-09-16T14:37:33.956" v="1235" actId="20577"/>
          <ac:spMkLst>
            <pc:docMk/>
            <pc:sldMk cId="0" sldId="618"/>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18B0EE-4D36-4F22-9622-021322CFFE3A}" type="datetimeFigureOut">
              <a:rPr lang="en-US" smtClean="0"/>
              <a:t>9/16/26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FD6E22-9A40-4B73-8B1F-06CEEFE4CFDF}" type="slidenum">
              <a:rPr lang="en-US" smtClean="0"/>
              <a:t>‹#›</a:t>
            </a:fld>
            <a:endParaRPr lang="en-US"/>
          </a:p>
        </p:txBody>
      </p:sp>
    </p:spTree>
    <p:extLst>
      <p:ext uri="{BB962C8B-B14F-4D97-AF65-F5344CB8AC3E}">
        <p14:creationId xmlns:p14="http://schemas.microsoft.com/office/powerpoint/2010/main" val="1889959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Surfacing the right thing, and the point in the day where the work stops being about prompts.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One piece of infrastructure, embeddings, and the rhythm again: three demos, then your lab hour.</a:t>
            </a:r>
          </a:p>
          <a:p>
            <a:r>
              <a:t>Embeddings turn text into vectors; distance between vectors means similarity of meaning.</a:t>
            </a:r>
          </a:p>
          <a:p>
            <a:r>
              <a:t>04: a search box that finds what users mean.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05: the same retrieval, plus a model that reads what it found and cites it.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06: the same vectors, with the query swapped for an item. Same math, three products.</a:t>
            </a:r>
          </a:p>
          <a:p>
            <a:r>
              <a:rPr dirty="0"/>
              <a:t>The thread to watch: embeddings capture what text is about, and nothing about whether it's suitable, safe, or current. </a:t>
            </a:r>
            <a:endParaRPr lang="en-US" dirty="0"/>
          </a:p>
          <a:p>
            <a:r>
              <a:rPr dirty="0"/>
              <a:t>Search hands a cliff edge to "quiet, for kids"; recommendations answer the 65-litre pack with the 40-litre pack. </a:t>
            </a:r>
            <a:endParaRPr lang="en-US" dirty="0"/>
          </a:p>
          <a:p>
            <a:r>
              <a:rPr dirty="0"/>
              <a:t>The fix is metadata, filters, thresholds, and how you split documents, not a bigger model.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user problem, spoken, 60 seconds: "dog-friendly waterfall hike, not too steep." The catalog has a dozen matches and keyword search returns almost nothing, because no description says "not too steep"; the best trail says "a gentle grade shaded by cedars." Three bad results and the user goes back to asking strangers on Reddit.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textbook version (Wikipedia): search with meaning, as distinguished from lexical search, where the engine looks for literal matches of the query words. Read the slide, let it sit a beat, then the problem.</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Index, once: thirty trail descriptions through nomic-embed-text, one vector per trail, kept in memory. That happens at startup, not per search.</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Search, each query: embed the query the same way, cosine similarity against every stored vector, top five with scores. The only model call turns text into numbers.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768 numbers per text, and similar meaning lands close. Show the raw float array once in the demo so the word "vector" stops being magic.</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Nothing is generated. Cosine similarity is a few lines of code, and the search box stays a search box.</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pgvector or Azure AI Search is the same math at scale. Foundation for the rest of the day: 05, 06, and 08 reuse the idea, and 06 and 08 reuse the actual vectors.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~8 min · </a:t>
            </a:r>
            <a:r>
              <a:rPr dirty="0">
                <a:latin typeface="Consolas"/>
              </a:rPr>
              <a:t>cd modules/M2-finding/F04-semantic-search/dotnet</a:t>
            </a:r>
          </a:p>
          <a:p>
            <a:r>
              <a:rPr dirty="0"/>
              <a:t>Files: </a:t>
            </a:r>
            <a:r>
              <a:rPr dirty="0">
                <a:latin typeface="Consolas"/>
              </a:rPr>
              <a:t>trails-</a:t>
            </a:r>
            <a:r>
              <a:rPr dirty="0" err="1">
                <a:latin typeface="Consolas"/>
              </a:rPr>
              <a:t>slice.json</a:t>
            </a:r>
            <a:r>
              <a:rPr dirty="0"/>
              <a:t> = 30 trails · </a:t>
            </a:r>
            <a:r>
              <a:rPr dirty="0" err="1">
                <a:latin typeface="Consolas"/>
              </a:rPr>
              <a:t>queries.json</a:t>
            </a:r>
            <a:r>
              <a:rPr dirty="0"/>
              <a:t> = the three demo queries · </a:t>
            </a:r>
            <a:r>
              <a:rPr dirty="0" err="1">
                <a:latin typeface="Consolas"/>
              </a:rPr>
              <a:t>embeddings.json</a:t>
            </a:r>
            <a:r>
              <a:rPr dirty="0"/>
              <a:t> = cache, delete to embed live</a:t>
            </a:r>
          </a:p>
          <a:p>
            <a:r>
              <a:rPr dirty="0" err="1"/>
              <a:t>Args</a:t>
            </a:r>
            <a:r>
              <a:rPr dirty="0"/>
              <a:t>: the query, in plain words; none = "dog-friendly waterfall hike, not too steep"</a:t>
            </a:r>
          </a:p>
          <a:p>
            <a:r>
              <a:rPr dirty="0"/>
              <a:t>1. Before: </a:t>
            </a:r>
            <a:r>
              <a:rPr dirty="0">
                <a:latin typeface="Consolas"/>
              </a:rPr>
              <a:t>cd starter &amp;&amp; dotnet run</a:t>
            </a:r>
            <a:r>
              <a:rPr dirty="0"/>
              <a:t>. Keyword search. Junk.</a:t>
            </a:r>
          </a:p>
          <a:p>
            <a:r>
              <a:rPr dirty="0"/>
              <a:t>2. After: </a:t>
            </a:r>
            <a:r>
              <a:rPr dirty="0">
                <a:latin typeface="Consolas"/>
              </a:rPr>
              <a:t>cd ../complete &amp;&amp; rm -f </a:t>
            </a:r>
            <a:r>
              <a:rPr dirty="0" err="1">
                <a:latin typeface="Consolas"/>
              </a:rPr>
              <a:t>embeddings.json</a:t>
            </a:r>
            <a:r>
              <a:rPr dirty="0">
                <a:latin typeface="Consolas"/>
              </a:rPr>
              <a:t> &amp;&amp; dotnet run</a:t>
            </a:r>
            <a:r>
              <a:rPr dirty="0"/>
              <a:t>. 30 trails embedded in under 2 s, same query. Right trails, scores beside them. Show </a:t>
            </a:r>
            <a:r>
              <a:rPr dirty="0" err="1">
                <a:latin typeface="Consolas"/>
              </a:rPr>
              <a:t>queryVector</a:t>
            </a:r>
            <a:r>
              <a:rPr dirty="0"/>
              <a:t> in </a:t>
            </a:r>
            <a:r>
              <a:rPr dirty="0" err="1">
                <a:latin typeface="Consolas"/>
              </a:rPr>
              <a:t>Program.cs</a:t>
            </a:r>
            <a:r>
              <a:rPr dirty="0"/>
              <a:t>: 768 floats.</a:t>
            </a:r>
          </a:p>
          <a:p>
            <a:r>
              <a:rPr dirty="0"/>
              <a:t>3. Show the cosine method. One screen.</a:t>
            </a:r>
          </a:p>
          <a:p>
            <a:r>
              <a:rPr dirty="0"/>
              <a:t>4. </a:t>
            </a:r>
            <a:r>
              <a:rPr dirty="0">
                <a:latin typeface="Consolas"/>
              </a:rPr>
              <a:t>dotnet run -- somewhere quiet to take my kids</a:t>
            </a:r>
            <a:r>
              <a:rPr dirty="0"/>
              <a:t>: Taft Point, a 3,000-foot drop. Scores top out near 0.49 vs 0.77. Filters and a floor, not a better model.</a:t>
            </a:r>
          </a:p>
          <a:p>
            <a:r>
              <a:rPr dirty="0"/>
              <a:t>Cut: 4.</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Also: any catalog where people describe what they want instead of naming it.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line for your boss. Row 4.</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Easy. If asked about cost: days to a prototype on an existing catalog; embeddings cheap to free; the work is evaluation and tuning.</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user problem, spoken, 60 seconds: "Can I have a campfire at Sperry Chalet in September?" The answer exists: paragraph four of a 12-page regulations document nobody will read. Search returns the document, not the answer; a plain chatbot answers fluently and makes it up, and a confidently wrong answer about fire rules is worse than no answer.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textbook version (AWS/NVIDIA): retrieval-augmented generation has the model consult an authoritative knowledge source outside its training data before generating, so answers are grounded in your content and can cite it.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Index, once: split the park docs into chunks, embed each chunk, store the vector with its text and a source id. Say "the top row happened before anyone asked."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 each question: embed the question, retrieve the top chunks by vector and keyword, build a prompt that says "answer only from these, cite, or say you don't know," and check the citations in code.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Retrieval is 04; generation is 01 with reading material.</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model reads instead of remembers. That is why the answer can be current and can be cited.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failure spots: the wrong chunk, or a bad split. The bad-split lesson gets its numbers in the demo: a chunk-per-section put a conditional fire rule and its overriding exception together and answered right; splitting them apart produced "campfires are fine" 4 runs in 20; re-splitting at subsection boundaries, 0 in 60, while every retrieval metric said the system was working. Chunking is a correctness decision, upstream of model choice.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~12 min · </a:t>
            </a:r>
            <a:r>
              <a:rPr dirty="0">
                <a:latin typeface="Consolas"/>
              </a:rPr>
              <a:t>cd modules/M2-finding/F05-rag/dotnet</a:t>
            </a:r>
          </a:p>
          <a:p>
            <a:r>
              <a:rPr dirty="0"/>
              <a:t>Files: </a:t>
            </a:r>
            <a:r>
              <a:rPr dirty="0">
                <a:latin typeface="Consolas"/>
              </a:rPr>
              <a:t>park-docs/</a:t>
            </a:r>
            <a:r>
              <a:rPr dirty="0"/>
              <a:t> = 25 regulation docs · </a:t>
            </a:r>
            <a:r>
              <a:rPr dirty="0" err="1">
                <a:latin typeface="Consolas"/>
              </a:rPr>
              <a:t>chunks.jsonl</a:t>
            </a:r>
            <a:r>
              <a:rPr dirty="0"/>
              <a:t> = 250 chunks · </a:t>
            </a:r>
            <a:r>
              <a:rPr dirty="0">
                <a:latin typeface="Consolas"/>
              </a:rPr>
              <a:t>chunk-</a:t>
            </a:r>
            <a:r>
              <a:rPr dirty="0" err="1">
                <a:latin typeface="Consolas"/>
              </a:rPr>
              <a:t>embeddings.json</a:t>
            </a:r>
            <a:r>
              <a:rPr dirty="0"/>
              <a:t> = their vectors, precomputed · </a:t>
            </a:r>
            <a:r>
              <a:rPr dirty="0" err="1">
                <a:latin typeface="Consolas"/>
              </a:rPr>
              <a:t>questions.json</a:t>
            </a:r>
            <a:r>
              <a:rPr dirty="0"/>
              <a:t> = the four lab questions</a:t>
            </a:r>
          </a:p>
          <a:p>
            <a:r>
              <a:rPr dirty="0"/>
              <a:t>Flags: </a:t>
            </a:r>
            <a:r>
              <a:rPr dirty="0">
                <a:latin typeface="Consolas"/>
              </a:rPr>
              <a:t>--retrieval-only</a:t>
            </a:r>
            <a:r>
              <a:rPr dirty="0"/>
              <a:t> = no answer, just ranks · </a:t>
            </a:r>
            <a:r>
              <a:rPr dirty="0">
                <a:latin typeface="Consolas"/>
              </a:rPr>
              <a:t>--top-k N</a:t>
            </a:r>
            <a:r>
              <a:rPr dirty="0"/>
              <a:t> = chunks retrieved (default 3) · </a:t>
            </a:r>
            <a:r>
              <a:rPr dirty="0">
                <a:latin typeface="Consolas"/>
              </a:rPr>
              <a:t>--alpha</a:t>
            </a:r>
            <a:r>
              <a:rPr dirty="0"/>
              <a:t> = semantic weight, 1.0 = cosine only, default 0.6 · </a:t>
            </a:r>
            <a:r>
              <a:rPr dirty="0">
                <a:latin typeface="Consolas"/>
              </a:rPr>
              <a:t>--no-context</a:t>
            </a:r>
            <a:r>
              <a:rPr dirty="0"/>
              <a:t> = plain chatbot · a quoted question replaces the Sperry default</a:t>
            </a:r>
          </a:p>
          <a:p>
            <a:r>
              <a:rPr dirty="0"/>
              <a:t>1. Before: </a:t>
            </a:r>
            <a:r>
              <a:rPr dirty="0">
                <a:latin typeface="Consolas"/>
              </a:rPr>
              <a:t>cd starter &amp;&amp; dotnet run</a:t>
            </a:r>
            <a:r>
              <a:rPr dirty="0"/>
              <a:t>. The Sperry campfire question, no context. Confident. Wrong.</a:t>
            </a:r>
          </a:p>
          <a:p>
            <a:r>
              <a:rPr dirty="0"/>
              <a:t>2. Open </a:t>
            </a:r>
            <a:r>
              <a:rPr dirty="0">
                <a:latin typeface="Consolas"/>
              </a:rPr>
              <a:t>data/park-docs/glacier-backcountry-camping-</a:t>
            </a:r>
            <a:r>
              <a:rPr dirty="0" err="1">
                <a:latin typeface="Consolas"/>
              </a:rPr>
              <a:t>guide.md</a:t>
            </a:r>
            <a:r>
              <a:rPr dirty="0"/>
              <a:t>, section 4. Read 4.1 then 4.2 aloud. Which one does a model answer from?</a:t>
            </a:r>
          </a:p>
          <a:p>
            <a:r>
              <a:rPr dirty="0"/>
              <a:t>3. </a:t>
            </a:r>
            <a:r>
              <a:rPr dirty="0">
                <a:latin typeface="Consolas"/>
              </a:rPr>
              <a:t>cd ../complete &amp;&amp; dotnet run -- --top-k 8 --alpha 1.0 --retrieval-only</a:t>
            </a:r>
            <a:r>
              <a:rPr dirty="0"/>
              <a:t>: ranks 4 to 8 are Acadia and Yosemite.</a:t>
            </a:r>
          </a:p>
          <a:p>
            <a:r>
              <a:rPr dirty="0"/>
              <a:t>4. </a:t>
            </a:r>
            <a:r>
              <a:rPr dirty="0">
                <a:latin typeface="Consolas"/>
              </a:rPr>
              <a:t>dotnet run -- --top-k 8 --retrieval-only</a:t>
            </a:r>
            <a:r>
              <a:rPr dirty="0"/>
              <a:t>: hybrid. Acadia gone, "</a:t>
            </a:r>
            <a:r>
              <a:rPr dirty="0" err="1"/>
              <a:t>sperry</a:t>
            </a:r>
            <a:r>
              <a:rPr dirty="0"/>
              <a:t>" doing the work.</a:t>
            </a:r>
          </a:p>
          <a:p>
            <a:r>
              <a:rPr dirty="0"/>
              <a:t>5. After: </a:t>
            </a:r>
            <a:r>
              <a:rPr dirty="0">
                <a:latin typeface="Consolas"/>
              </a:rPr>
              <a:t>dotnet run</a:t>
            </a:r>
            <a:r>
              <a:rPr dirty="0"/>
              <a:t>. Right answer, cited by name. Point at the citation check line.</a:t>
            </a:r>
          </a:p>
          <a:p>
            <a:r>
              <a:rPr dirty="0"/>
              <a:t>6. </a:t>
            </a:r>
            <a:r>
              <a:rPr dirty="0">
                <a:latin typeface="Consolas"/>
              </a:rPr>
              <a:t>dotnet run -- "Are there EV charging stations in Glacier National Park?"</a:t>
            </a:r>
            <a:r>
              <a:rPr dirty="0"/>
              <a:t>: "The documents don't say."</a:t>
            </a:r>
          </a:p>
          <a:p>
            <a:r>
              <a:rPr dirty="0"/>
              <a:t>7. </a:t>
            </a:r>
            <a:r>
              <a:rPr dirty="0">
                <a:latin typeface="Consolas"/>
              </a:rPr>
              <a:t>dotnet run -- "Is the Avalanche Lake Trail open right now?"</a:t>
            </a:r>
            <a:r>
              <a:rPr dirty="0"/>
              <a:t>: the date in the prompt. Without it, refused 10 of 18.</a:t>
            </a:r>
          </a:p>
          <a:p>
            <a:r>
              <a:rPr dirty="0"/>
              <a:t>8. Point at the DI line: this was gpt-4.1. Local would be one line.</a:t>
            </a:r>
          </a:p>
          <a:p>
            <a:r>
              <a:rPr dirty="0"/>
              <a:t>Cut: 7, then 6.</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Internal knowledge bases, support and policy docs, product documentation. The production work is chunking, retrieval evaluation, keeping documents current.</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line for your boss. The uncomfortable one underneath it: the worst bug was a text-splitting rule, not a model or a prompt. Ask what your evaluation would have caught. Row 5.</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Hard. If asked about cost: a day to demo, weeks to production quality.</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user problem, spoken, 60 seconds: a hiker just finished Avalanche Lake Trail and loved it, and the app says nothing. "You'd probably like these three" never got built because everyone assumes it needs a data-science team and six months. Same gap in the gear store: buy the Cascade 65, get a random carousel.</a:t>
            </a:r>
          </a:p>
          <a:p>
            <a:r>
              <a:t>No concept slide: the Same First Half diagram already told this story: same vectors, same similarity code, the query swapped for an item, no model call while the user waits.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textbook version: a recommender system predicts what a user will prefer. Today's shortcut is content-based (similarity of descriptions); the classical version is collaborative filtering over behavior data.</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~6 min · </a:t>
            </a:r>
            <a:r>
              <a:rPr dirty="0">
                <a:latin typeface="Consolas"/>
              </a:rPr>
              <a:t>cd modules/M2-finding/F06-recommendations/dotnet</a:t>
            </a:r>
          </a:p>
          <a:p>
            <a:r>
              <a:rPr dirty="0"/>
              <a:t>Files: </a:t>
            </a:r>
            <a:r>
              <a:rPr dirty="0" err="1">
                <a:latin typeface="Consolas"/>
              </a:rPr>
              <a:t>trails.json</a:t>
            </a:r>
            <a:r>
              <a:rPr dirty="0"/>
              <a:t> = 30 trails · </a:t>
            </a:r>
            <a:r>
              <a:rPr dirty="0">
                <a:latin typeface="Consolas"/>
              </a:rPr>
              <a:t>trail-</a:t>
            </a:r>
            <a:r>
              <a:rPr dirty="0" err="1">
                <a:latin typeface="Consolas"/>
              </a:rPr>
              <a:t>embeddings.json</a:t>
            </a:r>
            <a:r>
              <a:rPr dirty="0"/>
              <a:t> = 04's vectors, precomputed · </a:t>
            </a:r>
            <a:r>
              <a:rPr dirty="0">
                <a:latin typeface="Consolas"/>
              </a:rPr>
              <a:t>gear-</a:t>
            </a:r>
            <a:r>
              <a:rPr dirty="0" err="1">
                <a:latin typeface="Consolas"/>
              </a:rPr>
              <a:t>reviews.jsonl</a:t>
            </a:r>
            <a:r>
              <a:rPr dirty="0"/>
              <a:t> = 300 reviews</a:t>
            </a:r>
          </a:p>
          <a:p>
            <a:r>
              <a:rPr dirty="0" err="1"/>
              <a:t>Args</a:t>
            </a:r>
            <a:r>
              <a:rPr dirty="0"/>
              <a:t>: a trail id or name (default trail-0117, Avalanche Lake) · </a:t>
            </a:r>
            <a:r>
              <a:rPr dirty="0">
                <a:latin typeface="Consolas"/>
              </a:rPr>
              <a:t>--gear &lt;product&gt;</a:t>
            </a:r>
            <a:r>
              <a:rPr dirty="0"/>
              <a:t> = same trick over review text</a:t>
            </a:r>
          </a:p>
          <a:p>
            <a:r>
              <a:rPr dirty="0"/>
              <a:t>1. Avalanche Lake Trail page. What belongs at the bottom of this screen?</a:t>
            </a:r>
          </a:p>
          <a:p>
            <a:r>
              <a:rPr dirty="0"/>
              <a:t>2. Before: </a:t>
            </a:r>
            <a:r>
              <a:rPr dirty="0">
                <a:latin typeface="Consolas"/>
              </a:rPr>
              <a:t>cd starter &amp;&amp; dotnet run</a:t>
            </a:r>
            <a:r>
              <a:rPr dirty="0"/>
              <a:t>. Random picks. That is what most apps ship.</a:t>
            </a:r>
          </a:p>
          <a:p>
            <a:r>
              <a:rPr dirty="0"/>
              <a:t>3. After: </a:t>
            </a:r>
            <a:r>
              <a:rPr dirty="0">
                <a:latin typeface="Consolas"/>
              </a:rPr>
              <a:t>cd ../complete &amp;&amp; dotnet run</a:t>
            </a:r>
            <a:r>
              <a:rPr dirty="0"/>
              <a:t>. Same vectors as 04, nothing new embedded. Lakes cluster, but mostly hard, and one has no lake.</a:t>
            </a:r>
          </a:p>
          <a:p>
            <a:r>
              <a:rPr dirty="0"/>
              <a:t>4. Difficulty and park are in the catalog, not the text. Similarity gets candidates; metadata re-ranks.</a:t>
            </a:r>
          </a:p>
          <a:p>
            <a:r>
              <a:rPr dirty="0"/>
              <a:t>5. </a:t>
            </a:r>
            <a:r>
              <a:rPr dirty="0">
                <a:latin typeface="Consolas"/>
              </a:rPr>
              <a:t>dotnet run -- --gear Cascade 65</a:t>
            </a:r>
            <a:r>
              <a:rPr dirty="0"/>
              <a:t>: the Cascade 40. Substitutes, not complements. What people use with it lives in the reviews: the bear canister, in </a:t>
            </a:r>
            <a:r>
              <a:rPr dirty="0">
                <a:latin typeface="Consolas"/>
              </a:rPr>
              <a:t>expected-</a:t>
            </a:r>
            <a:r>
              <a:rPr dirty="0" err="1">
                <a:latin typeface="Consolas"/>
              </a:rPr>
              <a:t>output.md</a:t>
            </a:r>
            <a:r>
              <a:rPr dirty="0"/>
              <a:t>.</a:t>
            </a:r>
          </a:p>
          <a:p>
            <a:r>
              <a:rPr dirty="0"/>
              <a:t>Cut: 5.</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Any catalog or content library. Collaborative filtering comes later, when behavior data exists.</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line for your boss. Row 6.</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Easy. If asked about cost: nearly free once search exists; days from scratch.</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 embed 30 trails, embed a query, rank by cosine; keyword baseline provided. Two honest routes: if RAG is why you came, go straight to 05 and come back to 04 after. Nobody should leave having never built the thing they came for. 06 is 04's code with the query swapped for an item.</a:t>
            </a:r>
          </a:p>
          <a:p>
            <a:r>
              <a:t>05's step that says run question 1 twenty times matters: a wrong answer one run in five is invisible in a single run and is the only defect here that could hurt somebody.</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Ask two people what surprised them.</a:t>
            </a:r>
          </a:p>
          <a:p>
            <a:r>
              <a:t>Prompts if quiet: who got Taft Point for the kids query? Who got the Cascade 40? Rows 4-6 of the framework are done. Lunch, then Module 3.</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5" y="770467"/>
            <a:ext cx="10782300" cy="3352800"/>
          </a:xfrm>
        </p:spPr>
        <p:txBody>
          <a:bodyPr anchor="b">
            <a:noAutofit/>
          </a:bodyPr>
          <a:lstStyle>
            <a:lvl1pPr algn="l">
              <a:lnSpc>
                <a:spcPct val="80000"/>
              </a:lnSpc>
              <a:defRPr sz="6600" spc="-90" baseline="0">
                <a:solidFill>
                  <a:srgbClr val="FFFFFF"/>
                </a:solidFill>
              </a:defRPr>
            </a:lvl1pPr>
          </a:lstStyle>
          <a:p>
            <a:r>
              <a:rPr lang="en-US"/>
              <a:t>Click to edit Master title style</a:t>
            </a:r>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pPr defTabSz="342900"/>
            <a:fld id="{FDB08721-E45B-4A66-93A6-531BE00DB2CF}" type="datetimeFigureOut">
              <a:rPr lang="en-US" smtClean="0"/>
              <a:pPr defTabSz="342900"/>
              <a:t>9/16/26</a:t>
            </a:fld>
            <a:endParaRPr lang="en-US"/>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pPr defTabSz="342900"/>
            <a:endParaRPr lang="en-US"/>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pPr defTabSz="342900"/>
            <a:fld id="{78C739BE-451B-478D-B9BF-5E72F79512D5}" type="slidenum">
              <a:rPr lang="en-US" smtClean="0"/>
              <a:pPr defTabSz="342900"/>
              <a:t>‹#›</a:t>
            </a:fld>
            <a:endParaRPr lang="en-US"/>
          </a:p>
        </p:txBody>
      </p:sp>
      <p:sp>
        <p:nvSpPr>
          <p:cNvPr id="10" name="Rectangle 9"/>
          <p:cNvSpPr/>
          <p:nvPr userDrawn="1"/>
        </p:nvSpPr>
        <p:spPr>
          <a:xfrm>
            <a:off x="0" y="4160704"/>
            <a:ext cx="12192000" cy="8691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429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Light" panose="020F0302020204030204"/>
              <a:ea typeface="+mn-ea"/>
              <a:cs typeface="+mn-cs"/>
            </a:endParaRPr>
          </a:p>
        </p:txBody>
      </p:sp>
      <p:sp>
        <p:nvSpPr>
          <p:cNvPr id="3" name="Subtitle 2"/>
          <p:cNvSpPr>
            <a:spLocks noGrp="1"/>
          </p:cNvSpPr>
          <p:nvPr>
            <p:ph type="subTitle" idx="1"/>
          </p:nvPr>
        </p:nvSpPr>
        <p:spPr>
          <a:xfrm>
            <a:off x="667513" y="4284569"/>
            <a:ext cx="9228201" cy="1587279"/>
          </a:xfrm>
        </p:spPr>
        <p:txBody>
          <a:bodyPr>
            <a:normAutofit/>
          </a:bodyPr>
          <a:lstStyle>
            <a:lvl1pPr marL="0" indent="0" algn="l">
              <a:buNone/>
              <a:defRPr sz="2400">
                <a:solidFill>
                  <a:srgbClr val="0072C6"/>
                </a:solidFill>
                <a:latin typeface="+mj-lt"/>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endParaRPr lang="en-US"/>
          </a:p>
        </p:txBody>
      </p:sp>
    </p:spTree>
    <p:extLst>
      <p:ext uri="{BB962C8B-B14F-4D97-AF65-F5344CB8AC3E}">
        <p14:creationId xmlns:p14="http://schemas.microsoft.com/office/powerpoint/2010/main" val="1032225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342900"/>
            <a:fld id="{FDB08721-E45B-4A66-93A6-531BE00DB2CF}" type="datetimeFigureOut">
              <a:rPr lang="en-US" smtClean="0">
                <a:solidFill>
                  <a:prstClr val="black">
                    <a:alpha val="80000"/>
                  </a:prstClr>
                </a:solidFill>
              </a:rPr>
              <a:pPr defTabSz="342900"/>
              <a:t>9/16/26</a:t>
            </a:fld>
            <a:endParaRPr lang="en-US">
              <a:solidFill>
                <a:prstClr val="black">
                  <a:alpha val="80000"/>
                </a:prstClr>
              </a:solidFill>
            </a:endParaRPr>
          </a:p>
        </p:txBody>
      </p:sp>
      <p:sp>
        <p:nvSpPr>
          <p:cNvPr id="5" name="Footer Placeholder 4"/>
          <p:cNvSpPr>
            <a:spLocks noGrp="1"/>
          </p:cNvSpPr>
          <p:nvPr>
            <p:ph type="ftr" sz="quarter" idx="11"/>
          </p:nvPr>
        </p:nvSpPr>
        <p:spPr/>
        <p:txBody>
          <a:bodyPr/>
          <a:lstStyle/>
          <a:p>
            <a:pPr defTabSz="342900"/>
            <a:endParaRPr lang="en-US">
              <a:solidFill>
                <a:prstClr val="black">
                  <a:alpha val="80000"/>
                </a:prstClr>
              </a:solidFill>
            </a:endParaRPr>
          </a:p>
        </p:txBody>
      </p:sp>
      <p:sp>
        <p:nvSpPr>
          <p:cNvPr id="6" name="Slide Number Placeholder 5"/>
          <p:cNvSpPr>
            <a:spLocks noGrp="1"/>
          </p:cNvSpPr>
          <p:nvPr>
            <p:ph type="sldNum" sz="quarter" idx="12"/>
          </p:nvPr>
        </p:nvSpPr>
        <p:spPr/>
        <p:txBody>
          <a:bodyPr/>
          <a:lstStyle/>
          <a:p>
            <a:pPr defTabSz="342900"/>
            <a:fld id="{78C739BE-451B-478D-B9BF-5E72F79512D5}" type="slidenum">
              <a:rPr lang="en-US" smtClean="0">
                <a:solidFill>
                  <a:srgbClr val="0072C6">
                    <a:alpha val="25000"/>
                  </a:srgbClr>
                </a:solidFill>
              </a:rPr>
              <a:pPr defTabSz="342900"/>
              <a:t>‹#›</a:t>
            </a:fld>
            <a:endParaRPr lang="en-US">
              <a:solidFill>
                <a:srgbClr val="0072C6">
                  <a:alpha val="25000"/>
                </a:srgbClr>
              </a:solidFill>
            </a:endParaRPr>
          </a:p>
        </p:txBody>
      </p:sp>
    </p:spTree>
    <p:extLst>
      <p:ext uri="{BB962C8B-B14F-4D97-AF65-F5344CB8AC3E}">
        <p14:creationId xmlns:p14="http://schemas.microsoft.com/office/powerpoint/2010/main" val="15997958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4558624"/>
          </a:xfrm>
        </p:spPr>
        <p:txBody>
          <a:bodyPr anchor="b">
            <a:normAutofit/>
          </a:bodyPr>
          <a:lstStyle>
            <a:lvl1pPr>
              <a:lnSpc>
                <a:spcPct val="80000"/>
              </a:lnSpc>
              <a:defRPr sz="6600" b="0" baseline="0">
                <a:solidFill>
                  <a:schemeClr val="accent1"/>
                </a:solidFill>
              </a:defRPr>
            </a:lvl1pPr>
          </a:lstStyle>
          <a:p>
            <a:r>
              <a:rPr lang="en-US" dirty="0"/>
              <a:t>Click to edit Master title style</a:t>
            </a:r>
          </a:p>
        </p:txBody>
      </p:sp>
      <p:sp>
        <p:nvSpPr>
          <p:cNvPr id="3" name="Text Placeholder 2"/>
          <p:cNvSpPr>
            <a:spLocks noGrp="1"/>
          </p:cNvSpPr>
          <p:nvPr>
            <p:ph type="body" idx="1"/>
          </p:nvPr>
        </p:nvSpPr>
        <p:spPr>
          <a:xfrm>
            <a:off x="667512" y="5468293"/>
            <a:ext cx="9226296" cy="381836"/>
          </a:xfrm>
        </p:spPr>
        <p:txBody>
          <a:bodyPr anchor="t">
            <a:normAutofit/>
          </a:bodyPr>
          <a:lstStyle>
            <a:lvl1pPr marL="0" indent="0">
              <a:buNone/>
              <a:defRPr sz="2400">
                <a:solidFill>
                  <a:schemeClr val="tx1"/>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dirty="0"/>
              <a:t>Edit Master text styles</a:t>
            </a:r>
          </a:p>
        </p:txBody>
      </p:sp>
      <p:sp>
        <p:nvSpPr>
          <p:cNvPr id="4" name="Date Placeholder 3"/>
          <p:cNvSpPr>
            <a:spLocks noGrp="1"/>
          </p:cNvSpPr>
          <p:nvPr>
            <p:ph type="dt" sz="half" idx="10"/>
          </p:nvPr>
        </p:nvSpPr>
        <p:spPr/>
        <p:txBody>
          <a:bodyPr/>
          <a:lstStyle/>
          <a:p>
            <a:pPr defTabSz="342900"/>
            <a:fld id="{FDB08721-E45B-4A66-93A6-531BE00DB2CF}" type="datetimeFigureOut">
              <a:rPr lang="en-US" smtClean="0">
                <a:solidFill>
                  <a:prstClr val="black">
                    <a:alpha val="80000"/>
                  </a:prstClr>
                </a:solidFill>
              </a:rPr>
              <a:pPr defTabSz="342900"/>
              <a:t>9/16/26</a:t>
            </a:fld>
            <a:endParaRPr lang="en-US">
              <a:solidFill>
                <a:prstClr val="black">
                  <a:alpha val="80000"/>
                </a:prstClr>
              </a:solidFill>
            </a:endParaRPr>
          </a:p>
        </p:txBody>
      </p:sp>
      <p:sp>
        <p:nvSpPr>
          <p:cNvPr id="5" name="Footer Placeholder 4"/>
          <p:cNvSpPr>
            <a:spLocks noGrp="1"/>
          </p:cNvSpPr>
          <p:nvPr>
            <p:ph type="ftr" sz="quarter" idx="11"/>
          </p:nvPr>
        </p:nvSpPr>
        <p:spPr/>
        <p:txBody>
          <a:bodyPr/>
          <a:lstStyle/>
          <a:p>
            <a:pPr defTabSz="342900"/>
            <a:endParaRPr lang="en-US">
              <a:solidFill>
                <a:prstClr val="black">
                  <a:alpha val="80000"/>
                </a:prstClr>
              </a:solidFill>
            </a:endParaRPr>
          </a:p>
        </p:txBody>
      </p:sp>
      <p:sp>
        <p:nvSpPr>
          <p:cNvPr id="6" name="Slide Number Placeholder 5"/>
          <p:cNvSpPr>
            <a:spLocks noGrp="1"/>
          </p:cNvSpPr>
          <p:nvPr>
            <p:ph type="sldNum" sz="quarter" idx="12"/>
          </p:nvPr>
        </p:nvSpPr>
        <p:spPr/>
        <p:txBody>
          <a:bodyPr/>
          <a:lstStyle/>
          <a:p>
            <a:pPr defTabSz="342900"/>
            <a:fld id="{78C739BE-451B-478D-B9BF-5E72F79512D5}" type="slidenum">
              <a:rPr lang="en-US" smtClean="0">
                <a:solidFill>
                  <a:srgbClr val="0072C6">
                    <a:alpha val="25000"/>
                  </a:srgbClr>
                </a:solidFill>
              </a:rPr>
              <a:pPr defTabSz="342900"/>
              <a:t>‹#›</a:t>
            </a:fld>
            <a:endParaRPr lang="en-US">
              <a:solidFill>
                <a:srgbClr val="0072C6">
                  <a:alpha val="25000"/>
                </a:srgbClr>
              </a:solidFill>
            </a:endParaRPr>
          </a:p>
        </p:txBody>
      </p:sp>
    </p:spTree>
    <p:extLst>
      <p:ext uri="{BB962C8B-B14F-4D97-AF65-F5344CB8AC3E}">
        <p14:creationId xmlns:p14="http://schemas.microsoft.com/office/powerpoint/2010/main" val="3844836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6656" y="1998134"/>
            <a:ext cx="4663440" cy="376732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11331" y="1998134"/>
            <a:ext cx="4663440" cy="376732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defTabSz="342900"/>
            <a:fld id="{FDB08721-E45B-4A66-93A6-531BE00DB2CF}" type="datetimeFigureOut">
              <a:rPr lang="en-US" smtClean="0">
                <a:solidFill>
                  <a:prstClr val="black">
                    <a:alpha val="80000"/>
                  </a:prstClr>
                </a:solidFill>
              </a:rPr>
              <a:pPr defTabSz="342900"/>
              <a:t>9/16/26</a:t>
            </a:fld>
            <a:endParaRPr lang="en-US">
              <a:solidFill>
                <a:prstClr val="black">
                  <a:alpha val="80000"/>
                </a:prstClr>
              </a:solidFill>
            </a:endParaRPr>
          </a:p>
        </p:txBody>
      </p:sp>
      <p:sp>
        <p:nvSpPr>
          <p:cNvPr id="6" name="Footer Placeholder 5"/>
          <p:cNvSpPr>
            <a:spLocks noGrp="1"/>
          </p:cNvSpPr>
          <p:nvPr>
            <p:ph type="ftr" sz="quarter" idx="11"/>
          </p:nvPr>
        </p:nvSpPr>
        <p:spPr/>
        <p:txBody>
          <a:bodyPr/>
          <a:lstStyle/>
          <a:p>
            <a:pPr defTabSz="342900"/>
            <a:endParaRPr lang="en-US">
              <a:solidFill>
                <a:prstClr val="black">
                  <a:alpha val="80000"/>
                </a:prstClr>
              </a:solidFill>
            </a:endParaRPr>
          </a:p>
        </p:txBody>
      </p:sp>
      <p:sp>
        <p:nvSpPr>
          <p:cNvPr id="7" name="Slide Number Placeholder 6"/>
          <p:cNvSpPr>
            <a:spLocks noGrp="1"/>
          </p:cNvSpPr>
          <p:nvPr>
            <p:ph type="sldNum" sz="quarter" idx="12"/>
          </p:nvPr>
        </p:nvSpPr>
        <p:spPr/>
        <p:txBody>
          <a:bodyPr/>
          <a:lstStyle/>
          <a:p>
            <a:pPr defTabSz="342900"/>
            <a:fld id="{78C739BE-451B-478D-B9BF-5E72F79512D5}" type="slidenum">
              <a:rPr lang="en-US" smtClean="0">
                <a:solidFill>
                  <a:srgbClr val="0072C6">
                    <a:alpha val="25000"/>
                  </a:srgbClr>
                </a:solidFill>
              </a:rPr>
              <a:pPr defTabSz="342900"/>
              <a:t>‹#›</a:t>
            </a:fld>
            <a:endParaRPr lang="en-US">
              <a:solidFill>
                <a:srgbClr val="0072C6">
                  <a:alpha val="25000"/>
                </a:srgbClr>
              </a:solidFill>
            </a:endParaRPr>
          </a:p>
        </p:txBody>
      </p:sp>
    </p:spTree>
    <p:extLst>
      <p:ext uri="{BB962C8B-B14F-4D97-AF65-F5344CB8AC3E}">
        <p14:creationId xmlns:p14="http://schemas.microsoft.com/office/powerpoint/2010/main" val="1524121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1650" b="0" cap="all" baseline="0">
                <a:solidFill>
                  <a:schemeClr val="tx1">
                    <a:lumMod val="85000"/>
                    <a:lumOff val="15000"/>
                  </a:schemeClr>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76656" y="2753084"/>
            <a:ext cx="4663440" cy="3200400"/>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1650" b="0" cap="all" baseline="0">
                <a:solidFill>
                  <a:schemeClr val="tx1">
                    <a:lumMod val="85000"/>
                    <a:lumOff val="15000"/>
                  </a:schemeClr>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defTabSz="342900"/>
            <a:fld id="{FDB08721-E45B-4A66-93A6-531BE00DB2CF}" type="datetimeFigureOut">
              <a:rPr lang="en-US" smtClean="0">
                <a:solidFill>
                  <a:prstClr val="black">
                    <a:alpha val="80000"/>
                  </a:prstClr>
                </a:solidFill>
              </a:rPr>
              <a:pPr defTabSz="342900"/>
              <a:t>9/16/26</a:t>
            </a:fld>
            <a:endParaRPr lang="en-US">
              <a:solidFill>
                <a:prstClr val="black">
                  <a:alpha val="80000"/>
                </a:prstClr>
              </a:solidFill>
            </a:endParaRPr>
          </a:p>
        </p:txBody>
      </p:sp>
      <p:sp>
        <p:nvSpPr>
          <p:cNvPr id="8" name="Footer Placeholder 7"/>
          <p:cNvSpPr>
            <a:spLocks noGrp="1"/>
          </p:cNvSpPr>
          <p:nvPr>
            <p:ph type="ftr" sz="quarter" idx="11"/>
          </p:nvPr>
        </p:nvSpPr>
        <p:spPr/>
        <p:txBody>
          <a:bodyPr/>
          <a:lstStyle/>
          <a:p>
            <a:pPr defTabSz="342900"/>
            <a:endParaRPr lang="en-US">
              <a:solidFill>
                <a:prstClr val="black">
                  <a:alpha val="80000"/>
                </a:prstClr>
              </a:solidFill>
            </a:endParaRPr>
          </a:p>
        </p:txBody>
      </p:sp>
      <p:sp>
        <p:nvSpPr>
          <p:cNvPr id="9" name="Slide Number Placeholder 8"/>
          <p:cNvSpPr>
            <a:spLocks noGrp="1"/>
          </p:cNvSpPr>
          <p:nvPr>
            <p:ph type="sldNum" sz="quarter" idx="12"/>
          </p:nvPr>
        </p:nvSpPr>
        <p:spPr/>
        <p:txBody>
          <a:bodyPr/>
          <a:lstStyle/>
          <a:p>
            <a:pPr defTabSz="342900"/>
            <a:fld id="{78C739BE-451B-478D-B9BF-5E72F79512D5}" type="slidenum">
              <a:rPr lang="en-US" smtClean="0">
                <a:solidFill>
                  <a:srgbClr val="0072C6">
                    <a:alpha val="25000"/>
                  </a:srgbClr>
                </a:solidFill>
              </a:rPr>
              <a:pPr defTabSz="342900"/>
              <a:t>‹#›</a:t>
            </a:fld>
            <a:endParaRPr lang="en-US">
              <a:solidFill>
                <a:srgbClr val="0072C6">
                  <a:alpha val="25000"/>
                </a:srgbClr>
              </a:solidFill>
            </a:endParaRPr>
          </a:p>
        </p:txBody>
      </p:sp>
    </p:spTree>
    <p:extLst>
      <p:ext uri="{BB962C8B-B14F-4D97-AF65-F5344CB8AC3E}">
        <p14:creationId xmlns:p14="http://schemas.microsoft.com/office/powerpoint/2010/main" val="2095259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defTabSz="342900"/>
            <a:fld id="{FDB08721-E45B-4A66-93A6-531BE00DB2CF}" type="datetimeFigureOut">
              <a:rPr lang="en-US" smtClean="0">
                <a:solidFill>
                  <a:prstClr val="black">
                    <a:alpha val="80000"/>
                  </a:prstClr>
                </a:solidFill>
              </a:rPr>
              <a:pPr defTabSz="342900"/>
              <a:t>9/16/26</a:t>
            </a:fld>
            <a:endParaRPr lang="en-US">
              <a:solidFill>
                <a:prstClr val="black">
                  <a:alpha val="80000"/>
                </a:prstClr>
              </a:solidFill>
            </a:endParaRPr>
          </a:p>
        </p:txBody>
      </p:sp>
      <p:sp>
        <p:nvSpPr>
          <p:cNvPr id="4" name="Footer Placeholder 3"/>
          <p:cNvSpPr>
            <a:spLocks noGrp="1"/>
          </p:cNvSpPr>
          <p:nvPr>
            <p:ph type="ftr" sz="quarter" idx="11"/>
          </p:nvPr>
        </p:nvSpPr>
        <p:spPr/>
        <p:txBody>
          <a:bodyPr/>
          <a:lstStyle/>
          <a:p>
            <a:pPr defTabSz="342900"/>
            <a:endParaRPr lang="en-US">
              <a:solidFill>
                <a:prstClr val="black">
                  <a:alpha val="80000"/>
                </a:prstClr>
              </a:solidFill>
            </a:endParaRPr>
          </a:p>
        </p:txBody>
      </p:sp>
      <p:sp>
        <p:nvSpPr>
          <p:cNvPr id="5" name="Slide Number Placeholder 4"/>
          <p:cNvSpPr>
            <a:spLocks noGrp="1"/>
          </p:cNvSpPr>
          <p:nvPr>
            <p:ph type="sldNum" sz="quarter" idx="12"/>
          </p:nvPr>
        </p:nvSpPr>
        <p:spPr/>
        <p:txBody>
          <a:bodyPr/>
          <a:lstStyle/>
          <a:p>
            <a:pPr defTabSz="342900"/>
            <a:fld id="{78C739BE-451B-478D-B9BF-5E72F79512D5}" type="slidenum">
              <a:rPr lang="en-US" smtClean="0">
                <a:solidFill>
                  <a:srgbClr val="0072C6">
                    <a:alpha val="25000"/>
                  </a:srgbClr>
                </a:solidFill>
              </a:rPr>
              <a:pPr defTabSz="342900"/>
              <a:t>‹#›</a:t>
            </a:fld>
            <a:endParaRPr lang="en-US">
              <a:solidFill>
                <a:srgbClr val="0072C6">
                  <a:alpha val="25000"/>
                </a:srgbClr>
              </a:solidFill>
            </a:endParaRPr>
          </a:p>
        </p:txBody>
      </p:sp>
    </p:spTree>
    <p:extLst>
      <p:ext uri="{BB962C8B-B14F-4D97-AF65-F5344CB8AC3E}">
        <p14:creationId xmlns:p14="http://schemas.microsoft.com/office/powerpoint/2010/main" val="4237501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342900"/>
            <a:fld id="{FDB08721-E45B-4A66-93A6-531BE00DB2CF}" type="datetimeFigureOut">
              <a:rPr lang="en-US" smtClean="0">
                <a:solidFill>
                  <a:prstClr val="black">
                    <a:alpha val="80000"/>
                  </a:prstClr>
                </a:solidFill>
              </a:rPr>
              <a:pPr defTabSz="342900"/>
              <a:t>9/16/26</a:t>
            </a:fld>
            <a:endParaRPr lang="en-US">
              <a:solidFill>
                <a:prstClr val="black">
                  <a:alpha val="80000"/>
                </a:prstClr>
              </a:solidFill>
            </a:endParaRPr>
          </a:p>
        </p:txBody>
      </p:sp>
      <p:sp>
        <p:nvSpPr>
          <p:cNvPr id="3" name="Footer Placeholder 2"/>
          <p:cNvSpPr>
            <a:spLocks noGrp="1"/>
          </p:cNvSpPr>
          <p:nvPr>
            <p:ph type="ftr" sz="quarter" idx="11"/>
          </p:nvPr>
        </p:nvSpPr>
        <p:spPr/>
        <p:txBody>
          <a:bodyPr/>
          <a:lstStyle/>
          <a:p>
            <a:pPr defTabSz="342900"/>
            <a:endParaRPr lang="en-US">
              <a:solidFill>
                <a:prstClr val="black">
                  <a:alpha val="80000"/>
                </a:prstClr>
              </a:solidFill>
            </a:endParaRPr>
          </a:p>
        </p:txBody>
      </p:sp>
      <p:sp>
        <p:nvSpPr>
          <p:cNvPr id="4" name="Slide Number Placeholder 3"/>
          <p:cNvSpPr>
            <a:spLocks noGrp="1"/>
          </p:cNvSpPr>
          <p:nvPr>
            <p:ph type="sldNum" sz="quarter" idx="12"/>
          </p:nvPr>
        </p:nvSpPr>
        <p:spPr/>
        <p:txBody>
          <a:bodyPr/>
          <a:lstStyle/>
          <a:p>
            <a:pPr defTabSz="342900"/>
            <a:fld id="{78C739BE-451B-478D-B9BF-5E72F79512D5}" type="slidenum">
              <a:rPr lang="en-US" smtClean="0">
                <a:solidFill>
                  <a:srgbClr val="0072C6">
                    <a:alpha val="25000"/>
                  </a:srgbClr>
                </a:solidFill>
              </a:rPr>
              <a:pPr defTabSz="342900"/>
              <a:t>‹#›</a:t>
            </a:fld>
            <a:endParaRPr lang="en-US">
              <a:solidFill>
                <a:srgbClr val="0072C6">
                  <a:alpha val="25000"/>
                </a:srgbClr>
              </a:solidFill>
            </a:endParaRPr>
          </a:p>
        </p:txBody>
      </p:sp>
    </p:spTree>
    <p:extLst>
      <p:ext uri="{BB962C8B-B14F-4D97-AF65-F5344CB8AC3E}">
        <p14:creationId xmlns:p14="http://schemas.microsoft.com/office/powerpoint/2010/main" val="7956549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3000">
                <a:solidFill>
                  <a:srgbClr val="FFFFFF"/>
                </a:solidFill>
              </a:defRPr>
            </a:lvl1pPr>
          </a:lstStyle>
          <a:p>
            <a:r>
              <a:rPr lang="en-US"/>
              <a:t>Click to edit Master title style</a:t>
            </a:r>
          </a:p>
        </p:txBody>
      </p:sp>
      <p:sp>
        <p:nvSpPr>
          <p:cNvPr id="3" name="Content Placeholder 2"/>
          <p:cNvSpPr>
            <a:spLocks noGrp="1"/>
          </p:cNvSpPr>
          <p:nvPr>
            <p:ph idx="1"/>
          </p:nvPr>
        </p:nvSpPr>
        <p:spPr>
          <a:xfrm>
            <a:off x="762000" y="762000"/>
            <a:ext cx="6096000" cy="45720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275983" y="2511813"/>
            <a:ext cx="3398520" cy="3126987"/>
          </a:xfrm>
        </p:spPr>
        <p:txBody>
          <a:bodyPr>
            <a:normAutofit/>
          </a:bodyPr>
          <a:lstStyle>
            <a:lvl1pPr marL="0" marR="0" indent="0" algn="l" defTabSz="685800" rtl="0" eaLnBrk="1" fontAlgn="auto" latinLnBrk="0" hangingPunct="1">
              <a:lnSpc>
                <a:spcPct val="100000"/>
              </a:lnSpc>
              <a:spcBef>
                <a:spcPts val="900"/>
              </a:spcBef>
              <a:spcAft>
                <a:spcPts val="0"/>
              </a:spcAft>
              <a:buClrTx/>
              <a:buSzTx/>
              <a:buFontTx/>
              <a:buNone/>
              <a:tabLst/>
              <a:defRPr sz="1350">
                <a:solidFill>
                  <a:srgbClr val="262626"/>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marL="0" marR="0" lvl="0" indent="0" algn="l" defTabSz="685800" rtl="0" eaLnBrk="1" fontAlgn="auto" latinLnBrk="0" hangingPunct="1">
              <a:lnSpc>
                <a:spcPct val="100000"/>
              </a:lnSpc>
              <a:spcBef>
                <a:spcPts val="1050"/>
              </a:spcBef>
              <a:spcAft>
                <a:spcPts val="0"/>
              </a:spcAft>
              <a:buClrTx/>
              <a:buSzTx/>
              <a:buFontTx/>
              <a:buNone/>
              <a:tabLst/>
              <a:defRPr/>
            </a:pPr>
            <a:r>
              <a:rPr lang="en-US"/>
              <a:t>Edit Master text styles</a:t>
            </a:r>
          </a:p>
        </p:txBody>
      </p:sp>
      <p:sp>
        <p:nvSpPr>
          <p:cNvPr id="5" name="Date Placeholder 4"/>
          <p:cNvSpPr>
            <a:spLocks noGrp="1"/>
          </p:cNvSpPr>
          <p:nvPr>
            <p:ph type="dt" sz="half" idx="10"/>
          </p:nvPr>
        </p:nvSpPr>
        <p:spPr/>
        <p:txBody>
          <a:bodyPr/>
          <a:lstStyle/>
          <a:p>
            <a:pPr defTabSz="342900"/>
            <a:fld id="{FDB08721-E45B-4A66-93A6-531BE00DB2CF}" type="datetimeFigureOut">
              <a:rPr lang="en-US" smtClean="0">
                <a:solidFill>
                  <a:prstClr val="black">
                    <a:alpha val="80000"/>
                  </a:prstClr>
                </a:solidFill>
              </a:rPr>
              <a:pPr defTabSz="342900"/>
              <a:t>9/16/26</a:t>
            </a:fld>
            <a:endParaRPr lang="en-US">
              <a:solidFill>
                <a:prstClr val="black">
                  <a:alpha val="80000"/>
                </a:prstClr>
              </a:solidFill>
            </a:endParaRPr>
          </a:p>
        </p:txBody>
      </p:sp>
      <p:sp>
        <p:nvSpPr>
          <p:cNvPr id="6" name="Footer Placeholder 5"/>
          <p:cNvSpPr>
            <a:spLocks noGrp="1"/>
          </p:cNvSpPr>
          <p:nvPr>
            <p:ph type="ftr" sz="quarter" idx="11"/>
          </p:nvPr>
        </p:nvSpPr>
        <p:spPr/>
        <p:txBody>
          <a:bodyPr/>
          <a:lstStyle/>
          <a:p>
            <a:pPr defTabSz="342900"/>
            <a:endParaRPr lang="en-US">
              <a:solidFill>
                <a:prstClr val="black">
                  <a:alpha val="80000"/>
                </a:prstClr>
              </a:solidFill>
            </a:endParaRPr>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pPr defTabSz="342900"/>
            <a:fld id="{78C739BE-451B-478D-B9BF-5E72F79512D5}" type="slidenum">
              <a:rPr lang="en-US" smtClean="0"/>
              <a:pPr defTabSz="342900"/>
              <a:t>‹#›</a:t>
            </a:fld>
            <a:endParaRPr lang="en-US"/>
          </a:p>
        </p:txBody>
      </p:sp>
    </p:spTree>
    <p:extLst>
      <p:ext uri="{BB962C8B-B14F-4D97-AF65-F5344CB8AC3E}">
        <p14:creationId xmlns:p14="http://schemas.microsoft.com/office/powerpoint/2010/main" val="24072032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9"/>
            <a:ext cx="10780776" cy="613283"/>
          </a:xfrm>
        </p:spPr>
        <p:txBody>
          <a:bodyPr anchor="b">
            <a:normAutofit/>
          </a:bodyPr>
          <a:lstStyle>
            <a:lvl1pPr>
              <a:defRPr sz="2400" b="0">
                <a:solidFill>
                  <a:srgbClr val="FFFFFF"/>
                </a:solidFill>
              </a:defRPr>
            </a:lvl1pPr>
          </a:lstStyle>
          <a:p>
            <a:r>
              <a:rPr lang="en-US"/>
              <a:t>Click to edit Master title style</a:t>
            </a:r>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600"/>
              </a:spcBef>
              <a:buNone/>
              <a:defRPr sz="2400">
                <a:solidFill>
                  <a:schemeClr val="tx1">
                    <a:lumMod val="75000"/>
                    <a:lumOff val="25000"/>
                  </a:schemeClr>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050">
                <a:solidFill>
                  <a:srgbClr val="262626"/>
                </a:solidFill>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pPr defTabSz="342900"/>
            <a:fld id="{FDB08721-E45B-4A66-93A6-531BE00DB2CF}" type="datetimeFigureOut">
              <a:rPr lang="en-US" smtClean="0"/>
              <a:pPr defTabSz="342900"/>
              <a:t>9/16/26</a:t>
            </a:fld>
            <a:endParaRPr lang="en-US"/>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pPr defTabSz="342900"/>
            <a:endParaRPr lang="en-US"/>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pPr defTabSz="342900"/>
            <a:fld id="{78C739BE-451B-478D-B9BF-5E72F79512D5}" type="slidenum">
              <a:rPr lang="en-US" smtClean="0"/>
              <a:pPr defTabSz="342900"/>
              <a:t>‹#›</a:t>
            </a:fld>
            <a:endParaRPr lang="en-US"/>
          </a:p>
        </p:txBody>
      </p:sp>
    </p:spTree>
    <p:extLst>
      <p:ext uri="{BB962C8B-B14F-4D97-AF65-F5344CB8AC3E}">
        <p14:creationId xmlns:p14="http://schemas.microsoft.com/office/powerpoint/2010/main" val="1795388696"/>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342900"/>
            <a:fld id="{FDB08721-E45B-4A66-93A6-531BE00DB2CF}" type="datetimeFigureOut">
              <a:rPr lang="en-US" smtClean="0">
                <a:solidFill>
                  <a:prstClr val="black">
                    <a:alpha val="80000"/>
                  </a:prstClr>
                </a:solidFill>
              </a:rPr>
              <a:pPr defTabSz="342900"/>
              <a:t>9/16/26</a:t>
            </a:fld>
            <a:endParaRPr lang="en-US">
              <a:solidFill>
                <a:prstClr val="black">
                  <a:alpha val="80000"/>
                </a:prstClr>
              </a:solidFill>
            </a:endParaRPr>
          </a:p>
        </p:txBody>
      </p:sp>
      <p:sp>
        <p:nvSpPr>
          <p:cNvPr id="5" name="Footer Placeholder 4"/>
          <p:cNvSpPr>
            <a:spLocks noGrp="1"/>
          </p:cNvSpPr>
          <p:nvPr>
            <p:ph type="ftr" sz="quarter" idx="11"/>
          </p:nvPr>
        </p:nvSpPr>
        <p:spPr/>
        <p:txBody>
          <a:bodyPr/>
          <a:lstStyle/>
          <a:p>
            <a:pPr defTabSz="342900"/>
            <a:endParaRPr lang="en-US">
              <a:solidFill>
                <a:prstClr val="black">
                  <a:alpha val="80000"/>
                </a:prstClr>
              </a:solidFill>
            </a:endParaRPr>
          </a:p>
        </p:txBody>
      </p:sp>
      <p:sp>
        <p:nvSpPr>
          <p:cNvPr id="6" name="Slide Number Placeholder 5"/>
          <p:cNvSpPr>
            <a:spLocks noGrp="1"/>
          </p:cNvSpPr>
          <p:nvPr>
            <p:ph type="sldNum" sz="quarter" idx="12"/>
          </p:nvPr>
        </p:nvSpPr>
        <p:spPr/>
        <p:txBody>
          <a:bodyPr/>
          <a:lstStyle/>
          <a:p>
            <a:pPr defTabSz="342900"/>
            <a:fld id="{78C739BE-451B-478D-B9BF-5E72F79512D5}" type="slidenum">
              <a:rPr lang="en-US" smtClean="0">
                <a:solidFill>
                  <a:srgbClr val="0072C6">
                    <a:alpha val="25000"/>
                  </a:srgbClr>
                </a:solidFill>
              </a:rPr>
              <a:pPr defTabSz="342900"/>
              <a:t>‹#›</a:t>
            </a:fld>
            <a:endParaRPr lang="en-US">
              <a:solidFill>
                <a:srgbClr val="0072C6">
                  <a:alpha val="25000"/>
                </a:srgbClr>
              </a:solidFill>
            </a:endParaRPr>
          </a:p>
        </p:txBody>
      </p:sp>
    </p:spTree>
    <p:extLst>
      <p:ext uri="{BB962C8B-B14F-4D97-AF65-F5344CB8AC3E}">
        <p14:creationId xmlns:p14="http://schemas.microsoft.com/office/powerpoint/2010/main" val="1649926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1" y="695325"/>
            <a:ext cx="2628900" cy="48006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71526" y="714377"/>
            <a:ext cx="7734300" cy="54006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defTabSz="342900"/>
            <a:fld id="{FDB08721-E45B-4A66-93A6-531BE00DB2CF}" type="datetimeFigureOut">
              <a:rPr lang="en-US" smtClean="0">
                <a:solidFill>
                  <a:prstClr val="black">
                    <a:alpha val="80000"/>
                  </a:prstClr>
                </a:solidFill>
              </a:rPr>
              <a:pPr defTabSz="342900"/>
              <a:t>9/16/26</a:t>
            </a:fld>
            <a:endParaRPr lang="en-US">
              <a:solidFill>
                <a:prstClr val="black">
                  <a:alpha val="80000"/>
                </a:prstClr>
              </a:solidFill>
            </a:endParaRPr>
          </a:p>
        </p:txBody>
      </p:sp>
      <p:sp>
        <p:nvSpPr>
          <p:cNvPr id="5" name="Footer Placeholder 4"/>
          <p:cNvSpPr>
            <a:spLocks noGrp="1"/>
          </p:cNvSpPr>
          <p:nvPr>
            <p:ph type="ftr" sz="quarter" idx="11"/>
          </p:nvPr>
        </p:nvSpPr>
        <p:spPr/>
        <p:txBody>
          <a:bodyPr/>
          <a:lstStyle/>
          <a:p>
            <a:pPr defTabSz="342900"/>
            <a:endParaRPr lang="en-US">
              <a:solidFill>
                <a:prstClr val="black">
                  <a:alpha val="80000"/>
                </a:prstClr>
              </a:solidFill>
            </a:endParaRPr>
          </a:p>
        </p:txBody>
      </p:sp>
      <p:sp>
        <p:nvSpPr>
          <p:cNvPr id="6" name="Slide Number Placeholder 5"/>
          <p:cNvSpPr>
            <a:spLocks noGrp="1"/>
          </p:cNvSpPr>
          <p:nvPr>
            <p:ph type="sldNum" sz="quarter" idx="12"/>
          </p:nvPr>
        </p:nvSpPr>
        <p:spPr/>
        <p:txBody>
          <a:bodyPr/>
          <a:lstStyle/>
          <a:p>
            <a:pPr defTabSz="342900"/>
            <a:fld id="{78C739BE-451B-478D-B9BF-5E72F79512D5}" type="slidenum">
              <a:rPr lang="en-US" smtClean="0">
                <a:solidFill>
                  <a:srgbClr val="0072C6">
                    <a:alpha val="25000"/>
                  </a:srgbClr>
                </a:solidFill>
              </a:rPr>
              <a:pPr defTabSz="342900"/>
              <a:t>‹#›</a:t>
            </a:fld>
            <a:endParaRPr lang="en-US">
              <a:solidFill>
                <a:srgbClr val="0072C6">
                  <a:alpha val="25000"/>
                </a:srgbClr>
              </a:solidFill>
            </a:endParaRPr>
          </a:p>
        </p:txBody>
      </p:sp>
    </p:spTree>
    <p:extLst>
      <p:ext uri="{BB962C8B-B14F-4D97-AF65-F5344CB8AC3E}">
        <p14:creationId xmlns:p14="http://schemas.microsoft.com/office/powerpoint/2010/main" val="350723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6" y="499533"/>
            <a:ext cx="10772775" cy="1658198"/>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713">
                <a:solidFill>
                  <a:schemeClr val="tx1">
                    <a:alpha val="80000"/>
                  </a:schemeClr>
                </a:solidFill>
                <a:latin typeface="Segoe UI" panose="020B0502040204020203" pitchFamily="34" charset="0"/>
                <a:cs typeface="Segoe UI" panose="020B0502040204020203" pitchFamily="34" charset="0"/>
              </a:defRPr>
            </a:lvl1pPr>
          </a:lstStyle>
          <a:p>
            <a:pPr defTabSz="342900"/>
            <a:fld id="{FDB08721-E45B-4A66-93A6-531BE00DB2CF}" type="datetimeFigureOut">
              <a:rPr lang="en-US" smtClean="0">
                <a:solidFill>
                  <a:prstClr val="black">
                    <a:alpha val="80000"/>
                  </a:prstClr>
                </a:solidFill>
              </a:rPr>
              <a:pPr defTabSz="342900"/>
              <a:t>9/16/26</a:t>
            </a:fld>
            <a:endParaRPr lang="en-US">
              <a:solidFill>
                <a:prstClr val="black">
                  <a:alpha val="80000"/>
                </a:prstClr>
              </a:solidFill>
            </a:endParaRPr>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713" cap="all" baseline="0">
                <a:solidFill>
                  <a:schemeClr val="tx1">
                    <a:alpha val="80000"/>
                  </a:schemeClr>
                </a:solidFill>
                <a:latin typeface="Segoe UI" panose="020B0502040204020203" pitchFamily="34" charset="0"/>
                <a:cs typeface="Segoe UI" panose="020B0502040204020203" pitchFamily="34" charset="0"/>
              </a:defRPr>
            </a:lvl1pPr>
          </a:lstStyle>
          <a:p>
            <a:pPr defTabSz="342900"/>
            <a:endParaRPr lang="en-US">
              <a:solidFill>
                <a:prstClr val="black">
                  <a:alpha val="80000"/>
                </a:prstClr>
              </a:solidFill>
            </a:endParaRPr>
          </a:p>
        </p:txBody>
      </p:sp>
      <p:sp>
        <p:nvSpPr>
          <p:cNvPr id="6" name="Slide Number Placeholder 5"/>
          <p:cNvSpPr>
            <a:spLocks noGrp="1"/>
          </p:cNvSpPr>
          <p:nvPr>
            <p:ph type="sldNum" sz="quarter" idx="4"/>
          </p:nvPr>
        </p:nvSpPr>
        <p:spPr>
          <a:xfrm>
            <a:off x="8763927" y="5876414"/>
            <a:ext cx="2926080" cy="1397039"/>
          </a:xfrm>
          <a:prstGeom prst="rect">
            <a:avLst/>
          </a:prstGeom>
        </p:spPr>
        <p:txBody>
          <a:bodyPr vert="horz" lIns="91440" tIns="45720" rIns="91440" bIns="45720" rtlCol="0" anchor="b"/>
          <a:lstStyle>
            <a:lvl1pPr algn="r">
              <a:defRPr sz="7725" b="0">
                <a:ln>
                  <a:noFill/>
                </a:ln>
                <a:solidFill>
                  <a:schemeClr val="accent1">
                    <a:alpha val="25000"/>
                  </a:schemeClr>
                </a:solidFill>
                <a:latin typeface="Segoe UI" panose="020B0502040204020203" pitchFamily="34" charset="0"/>
                <a:cs typeface="Segoe UI" panose="020B0502040204020203" pitchFamily="34" charset="0"/>
              </a:defRPr>
            </a:lvl1pPr>
          </a:lstStyle>
          <a:p>
            <a:pPr defTabSz="342900"/>
            <a:fld id="{78C739BE-451B-478D-B9BF-5E72F79512D5}" type="slidenum">
              <a:rPr lang="en-US" smtClean="0">
                <a:solidFill>
                  <a:srgbClr val="0072C6">
                    <a:alpha val="25000"/>
                  </a:srgbClr>
                </a:solidFill>
              </a:rPr>
              <a:pPr defTabSz="342900"/>
              <a:t>‹#›</a:t>
            </a:fld>
            <a:endParaRPr lang="en-US">
              <a:solidFill>
                <a:srgbClr val="0072C6">
                  <a:alpha val="25000"/>
                </a:srgbClr>
              </a:solidFill>
            </a:endParaRPr>
          </a:p>
        </p:txBody>
      </p:sp>
    </p:spTree>
    <p:extLst>
      <p:ext uri="{BB962C8B-B14F-4D97-AF65-F5344CB8AC3E}">
        <p14:creationId xmlns:p14="http://schemas.microsoft.com/office/powerpoint/2010/main" val="404898969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85000"/>
        </a:lnSpc>
        <a:spcBef>
          <a:spcPct val="0"/>
        </a:spcBef>
        <a:buNone/>
        <a:defRPr sz="4050" kern="1200" spc="-90" baseline="0">
          <a:solidFill>
            <a:srgbClr val="0070C0"/>
          </a:solidFill>
          <a:latin typeface="Segoe UI" panose="020B0502040204020203" pitchFamily="34" charset="0"/>
          <a:ea typeface="+mj-ea"/>
          <a:cs typeface="Segoe UI" panose="020B0502040204020203" pitchFamily="34" charset="0"/>
        </a:defRPr>
      </a:lvl1pPr>
    </p:titleStyle>
    <p:bodyStyle>
      <a:lvl1pPr marL="68580" indent="-68580" algn="l" defTabSz="685800" rtl="0" eaLnBrk="1" latinLnBrk="0" hangingPunct="1">
        <a:lnSpc>
          <a:spcPct val="85000"/>
        </a:lnSpc>
        <a:spcBef>
          <a:spcPts val="975"/>
        </a:spcBef>
        <a:buFont typeface="Arial" pitchFamily="34" charset="0"/>
        <a:buChar char=" "/>
        <a:defRPr sz="1800" kern="1200">
          <a:solidFill>
            <a:schemeClr val="tx1">
              <a:lumMod val="85000"/>
              <a:lumOff val="15000"/>
            </a:schemeClr>
          </a:solidFill>
          <a:latin typeface="Segoe UI" panose="020B0502040204020203" pitchFamily="34" charset="0"/>
          <a:ea typeface="+mn-ea"/>
          <a:cs typeface="Segoe UI" panose="020B0502040204020203" pitchFamily="34" charset="0"/>
        </a:defRPr>
      </a:lvl1pPr>
      <a:lvl2pPr marL="260604" indent="-257175" algn="l" defTabSz="685800" rtl="0" eaLnBrk="1" latinLnBrk="0" hangingPunct="1">
        <a:lnSpc>
          <a:spcPct val="85000"/>
        </a:lnSpc>
        <a:spcBef>
          <a:spcPts val="450"/>
        </a:spcBef>
        <a:buFont typeface="Arial" pitchFamily="34" charset="0"/>
        <a:buChar char=" "/>
        <a:defRPr sz="1800" kern="1200">
          <a:solidFill>
            <a:schemeClr val="tx1">
              <a:lumMod val="85000"/>
              <a:lumOff val="15000"/>
            </a:schemeClr>
          </a:solidFill>
          <a:latin typeface="Segoe UI" panose="020B0502040204020203" pitchFamily="34" charset="0"/>
          <a:ea typeface="+mn-ea"/>
          <a:cs typeface="Segoe UI" panose="020B0502040204020203" pitchFamily="34" charset="0"/>
        </a:defRPr>
      </a:lvl2pPr>
      <a:lvl3pPr marL="411480" indent="-411480" algn="l" defTabSz="685800" rtl="0" eaLnBrk="1" latinLnBrk="0" hangingPunct="1">
        <a:lnSpc>
          <a:spcPct val="85000"/>
        </a:lnSpc>
        <a:spcBef>
          <a:spcPts val="450"/>
        </a:spcBef>
        <a:buFont typeface="Arial" pitchFamily="34" charset="0"/>
        <a:buChar char=" "/>
        <a:defRPr sz="1500" i="1" kern="1200">
          <a:solidFill>
            <a:schemeClr val="tx1">
              <a:lumMod val="85000"/>
              <a:lumOff val="15000"/>
            </a:schemeClr>
          </a:solidFill>
          <a:latin typeface="Segoe UI" panose="020B0502040204020203" pitchFamily="34" charset="0"/>
          <a:ea typeface="+mn-ea"/>
          <a:cs typeface="Segoe UI" panose="020B0502040204020203" pitchFamily="34" charset="0"/>
        </a:defRPr>
      </a:lvl3pPr>
      <a:lvl4pPr marL="617220" indent="-61722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Segoe UI" panose="020B0502040204020203" pitchFamily="34" charset="0"/>
          <a:ea typeface="+mn-ea"/>
          <a:cs typeface="Segoe UI" panose="020B0502040204020203" pitchFamily="34" charset="0"/>
        </a:defRPr>
      </a:lvl4pPr>
      <a:lvl5pPr marL="822960" indent="-82296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Segoe UI" panose="020B0502040204020203" pitchFamily="34" charset="0"/>
          <a:ea typeface="+mn-ea"/>
          <a:cs typeface="Segoe UI" panose="020B0502040204020203" pitchFamily="34" charset="0"/>
        </a:defRPr>
      </a:lvl5pPr>
      <a:lvl6pPr marL="900000" indent="-17145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6pPr>
      <a:lvl7pPr marL="1050000" indent="-17145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7pPr>
      <a:lvl8pPr marL="1200000" indent="-17145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8pPr>
      <a:lvl9pPr marL="1350000" indent="-171450" algn="l" defTabSz="685800" rtl="0" eaLnBrk="1" latinLnBrk="0" hangingPunct="1">
        <a:lnSpc>
          <a:spcPct val="85000"/>
        </a:lnSpc>
        <a:spcBef>
          <a:spcPts val="450"/>
        </a:spcBef>
        <a:buFont typeface="Arial" pitchFamily="34" charset="0"/>
        <a:buChar char=" "/>
        <a:defRPr sz="1350" kern="1200">
          <a:solidFill>
            <a:schemeClr val="tx1">
              <a:lumMod val="85000"/>
              <a:lumOff val="1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b="1"/>
              <a:t>Building Pragmatic AI</a:t>
            </a:r>
          </a:p>
        </p:txBody>
      </p:sp>
      <p:sp>
        <p:nvSpPr>
          <p:cNvPr id="3" name="Text Placeholder 2"/>
          <p:cNvSpPr>
            <a:spLocks noGrp="1"/>
          </p:cNvSpPr>
          <p:nvPr>
            <p:ph type="body" idx="1"/>
          </p:nvPr>
        </p:nvSpPr>
        <p:spPr/>
        <p:txBody>
          <a:bodyPr>
            <a:normAutofit lnSpcReduction="10000"/>
          </a:bodyPr>
          <a:lstStyle/>
          <a:p>
            <a:r>
              <a:t>Module 2: Finding</a:t>
            </a:r>
          </a:p>
        </p:txBody>
      </p:sp>
      <p:pic>
        <p:nvPicPr>
          <p:cNvPr id="4" name="Picture 3" descr="image.png"/>
          <p:cNvPicPr>
            <a:picLocks noChangeAspect="1"/>
          </p:cNvPicPr>
          <p:nvPr/>
        </p:nvPicPr>
        <p:blipFill>
          <a:blip r:embed="rId3"/>
          <a:stretch>
            <a:fillRect/>
          </a:stretch>
        </p:blipFill>
        <p:spPr>
          <a:xfrm>
            <a:off x="9326880" y="5989320"/>
            <a:ext cx="2560320" cy="640080"/>
          </a:xfrm>
          <a:prstGeom prst="rect">
            <a:avLst/>
          </a:prstGeom>
        </p:spPr>
      </p:pic>
      <p:pic>
        <p:nvPicPr>
          <p:cNvPr id="5" name="Picture 4" descr="banner.png"/>
          <p:cNvPicPr>
            <a:picLocks noChangeAspect="1"/>
          </p:cNvPicPr>
          <p:nvPr/>
        </p:nvPicPr>
        <p:blipFill>
          <a:blip r:embed="rId4"/>
          <a:stretch>
            <a:fillRect/>
          </a:stretch>
        </p:blipFill>
        <p:spPr>
          <a:xfrm>
            <a:off x="0" y="9144"/>
            <a:ext cx="12188952" cy="3182112"/>
          </a:xfrm>
          <a:prstGeom prst="rect">
            <a:avLst/>
          </a:prstGeom>
        </p:spPr>
      </p:pic>
      <p:pic>
        <p:nvPicPr>
          <p:cNvPr id="6" name="Picture 5" descr="image.png"/>
          <p:cNvPicPr>
            <a:picLocks noChangeAspect="1"/>
          </p:cNvPicPr>
          <p:nvPr/>
        </p:nvPicPr>
        <p:blipFill>
          <a:blip r:embed="rId5"/>
          <a:stretch>
            <a:fillRect/>
          </a:stretch>
        </p:blipFill>
        <p:spPr>
          <a:xfrm>
            <a:off x="9272016" y="3657600"/>
            <a:ext cx="2167128" cy="21671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This Module</a:t>
            </a:r>
          </a:p>
        </p:txBody>
      </p:sp>
      <p:pic>
        <p:nvPicPr>
          <p:cNvPr id="3" name="Picture 2" descr="search.png"/>
          <p:cNvPicPr>
            <a:picLocks noChangeAspect="1"/>
          </p:cNvPicPr>
          <p:nvPr/>
        </p:nvPicPr>
        <p:blipFill>
          <a:blip r:embed="rId3"/>
          <a:stretch>
            <a:fillRect/>
          </a:stretch>
        </p:blipFill>
        <p:spPr>
          <a:xfrm>
            <a:off x="1600200" y="2990088"/>
            <a:ext cx="868680" cy="868680"/>
          </a:xfrm>
          <a:prstGeom prst="rect">
            <a:avLst/>
          </a:prstGeom>
        </p:spPr>
      </p:pic>
      <p:sp>
        <p:nvSpPr>
          <p:cNvPr id="4" name="TextBox 3"/>
          <p:cNvSpPr txBox="1"/>
          <p:nvPr/>
        </p:nvSpPr>
        <p:spPr>
          <a:xfrm>
            <a:off x="960120" y="4005072"/>
            <a:ext cx="2148840" cy="830997"/>
          </a:xfrm>
          <a:prstGeom prst="rect">
            <a:avLst/>
          </a:prstGeom>
          <a:noFill/>
        </p:spPr>
        <p:txBody>
          <a:bodyPr wrap="square">
            <a:spAutoFit/>
          </a:bodyPr>
          <a:lstStyle/>
          <a:p>
            <a:pPr algn="ctr"/>
            <a:r>
              <a:rPr sz="2400" b="1" dirty="0"/>
              <a:t>F04 S</a:t>
            </a:r>
            <a:r>
              <a:rPr lang="en-US" sz="2400" b="1" dirty="0"/>
              <a:t>ematic S</a:t>
            </a:r>
            <a:r>
              <a:rPr sz="2400" b="1" dirty="0"/>
              <a:t>earch</a:t>
            </a:r>
          </a:p>
        </p:txBody>
      </p:sp>
      <p:pic>
        <p:nvPicPr>
          <p:cNvPr id="5" name="Picture 4" descr="image.png"/>
          <p:cNvPicPr>
            <a:picLocks noChangeAspect="1"/>
          </p:cNvPicPr>
          <p:nvPr/>
        </p:nvPicPr>
        <p:blipFill>
          <a:blip r:embed="rId4"/>
          <a:stretch>
            <a:fillRect/>
          </a:stretch>
        </p:blipFill>
        <p:spPr>
          <a:xfrm>
            <a:off x="9326880" y="5989320"/>
            <a:ext cx="2560320" cy="6400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This Module</a:t>
            </a:r>
          </a:p>
        </p:txBody>
      </p:sp>
      <p:pic>
        <p:nvPicPr>
          <p:cNvPr id="3" name="Picture 2" descr="search.png"/>
          <p:cNvPicPr>
            <a:picLocks noChangeAspect="1"/>
          </p:cNvPicPr>
          <p:nvPr/>
        </p:nvPicPr>
        <p:blipFill>
          <a:blip r:embed="rId3"/>
          <a:stretch>
            <a:fillRect/>
          </a:stretch>
        </p:blipFill>
        <p:spPr>
          <a:xfrm>
            <a:off x="1600200" y="2990088"/>
            <a:ext cx="868680" cy="868680"/>
          </a:xfrm>
          <a:prstGeom prst="rect">
            <a:avLst/>
          </a:prstGeom>
        </p:spPr>
      </p:pic>
      <p:sp>
        <p:nvSpPr>
          <p:cNvPr id="4" name="TextBox 3"/>
          <p:cNvSpPr txBox="1"/>
          <p:nvPr/>
        </p:nvSpPr>
        <p:spPr>
          <a:xfrm>
            <a:off x="960120" y="4005072"/>
            <a:ext cx="2148840" cy="830997"/>
          </a:xfrm>
          <a:prstGeom prst="rect">
            <a:avLst/>
          </a:prstGeom>
          <a:noFill/>
        </p:spPr>
        <p:txBody>
          <a:bodyPr wrap="square">
            <a:spAutoFit/>
          </a:bodyPr>
          <a:lstStyle/>
          <a:p>
            <a:pPr algn="ctr"/>
            <a:r>
              <a:rPr lang="en-US" sz="2400" b="1" dirty="0"/>
              <a:t>F04 Sematic Search</a:t>
            </a:r>
          </a:p>
        </p:txBody>
      </p:sp>
      <p:pic>
        <p:nvPicPr>
          <p:cNvPr id="5" name="Picture 4" descr="document.png"/>
          <p:cNvPicPr>
            <a:picLocks noChangeAspect="1"/>
          </p:cNvPicPr>
          <p:nvPr/>
        </p:nvPicPr>
        <p:blipFill>
          <a:blip r:embed="rId4"/>
          <a:stretch>
            <a:fillRect/>
          </a:stretch>
        </p:blipFill>
        <p:spPr>
          <a:xfrm>
            <a:off x="5760720" y="2990088"/>
            <a:ext cx="868680" cy="868680"/>
          </a:xfrm>
          <a:prstGeom prst="rect">
            <a:avLst/>
          </a:prstGeom>
        </p:spPr>
      </p:pic>
      <p:sp>
        <p:nvSpPr>
          <p:cNvPr id="6" name="TextBox 5"/>
          <p:cNvSpPr txBox="1"/>
          <p:nvPr/>
        </p:nvSpPr>
        <p:spPr>
          <a:xfrm>
            <a:off x="5120640" y="4005072"/>
            <a:ext cx="2148840" cy="1200329"/>
          </a:xfrm>
          <a:prstGeom prst="rect">
            <a:avLst/>
          </a:prstGeom>
          <a:noFill/>
        </p:spPr>
        <p:txBody>
          <a:bodyPr wrap="square">
            <a:spAutoFit/>
          </a:bodyPr>
          <a:lstStyle/>
          <a:p>
            <a:pPr algn="ctr"/>
            <a:r>
              <a:rPr sz="2400" b="1" dirty="0"/>
              <a:t>F05 </a:t>
            </a:r>
            <a:r>
              <a:rPr lang="en-US" sz="2400" b="1" dirty="0"/>
              <a:t>Retrieval-Augmented Generation</a:t>
            </a:r>
            <a:endParaRPr sz="2400" b="1" dirty="0"/>
          </a:p>
        </p:txBody>
      </p:sp>
      <p:pic>
        <p:nvPicPr>
          <p:cNvPr id="7" name="Picture 6" descr="image.png"/>
          <p:cNvPicPr>
            <a:picLocks noChangeAspect="1"/>
          </p:cNvPicPr>
          <p:nvPr/>
        </p:nvPicPr>
        <p:blipFill>
          <a:blip r:embed="rId5"/>
          <a:stretch>
            <a:fillRect/>
          </a:stretch>
        </p:blipFill>
        <p:spPr>
          <a:xfrm>
            <a:off x="9326880" y="5989320"/>
            <a:ext cx="2560320" cy="64008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This Module</a:t>
            </a:r>
          </a:p>
        </p:txBody>
      </p:sp>
      <p:pic>
        <p:nvPicPr>
          <p:cNvPr id="3" name="Picture 2" descr="search.png"/>
          <p:cNvPicPr>
            <a:picLocks noChangeAspect="1"/>
          </p:cNvPicPr>
          <p:nvPr/>
        </p:nvPicPr>
        <p:blipFill>
          <a:blip r:embed="rId3"/>
          <a:stretch>
            <a:fillRect/>
          </a:stretch>
        </p:blipFill>
        <p:spPr>
          <a:xfrm>
            <a:off x="1600200" y="2990088"/>
            <a:ext cx="868680" cy="868680"/>
          </a:xfrm>
          <a:prstGeom prst="rect">
            <a:avLst/>
          </a:prstGeom>
        </p:spPr>
      </p:pic>
      <p:sp>
        <p:nvSpPr>
          <p:cNvPr id="4" name="TextBox 3"/>
          <p:cNvSpPr txBox="1"/>
          <p:nvPr/>
        </p:nvSpPr>
        <p:spPr>
          <a:xfrm>
            <a:off x="960120" y="4005072"/>
            <a:ext cx="2148840" cy="830997"/>
          </a:xfrm>
          <a:prstGeom prst="rect">
            <a:avLst/>
          </a:prstGeom>
          <a:noFill/>
        </p:spPr>
        <p:txBody>
          <a:bodyPr wrap="square">
            <a:spAutoFit/>
          </a:bodyPr>
          <a:lstStyle/>
          <a:p>
            <a:pPr algn="ctr"/>
            <a:r>
              <a:rPr lang="en-US" sz="2400" b="1" dirty="0"/>
              <a:t>F04 Sematic Search</a:t>
            </a:r>
          </a:p>
        </p:txBody>
      </p:sp>
      <p:pic>
        <p:nvPicPr>
          <p:cNvPr id="5" name="Picture 4" descr="document.png"/>
          <p:cNvPicPr>
            <a:picLocks noChangeAspect="1"/>
          </p:cNvPicPr>
          <p:nvPr/>
        </p:nvPicPr>
        <p:blipFill>
          <a:blip r:embed="rId4"/>
          <a:stretch>
            <a:fillRect/>
          </a:stretch>
        </p:blipFill>
        <p:spPr>
          <a:xfrm>
            <a:off x="5760720" y="2990088"/>
            <a:ext cx="868680" cy="868680"/>
          </a:xfrm>
          <a:prstGeom prst="rect">
            <a:avLst/>
          </a:prstGeom>
        </p:spPr>
      </p:pic>
      <p:sp>
        <p:nvSpPr>
          <p:cNvPr id="6" name="TextBox 5"/>
          <p:cNvSpPr txBox="1"/>
          <p:nvPr/>
        </p:nvSpPr>
        <p:spPr>
          <a:xfrm>
            <a:off x="5120640" y="4005072"/>
            <a:ext cx="2148840" cy="1200329"/>
          </a:xfrm>
          <a:prstGeom prst="rect">
            <a:avLst/>
          </a:prstGeom>
          <a:noFill/>
        </p:spPr>
        <p:txBody>
          <a:bodyPr wrap="square">
            <a:spAutoFit/>
          </a:bodyPr>
          <a:lstStyle/>
          <a:p>
            <a:pPr algn="ctr"/>
            <a:r>
              <a:rPr lang="en-US" sz="2400" b="1" dirty="0"/>
              <a:t>F05 Retrieval-Augmented Generation</a:t>
            </a:r>
          </a:p>
        </p:txBody>
      </p:sp>
      <p:pic>
        <p:nvPicPr>
          <p:cNvPr id="7" name="Picture 6" descr="route.png"/>
          <p:cNvPicPr>
            <a:picLocks noChangeAspect="1"/>
          </p:cNvPicPr>
          <p:nvPr/>
        </p:nvPicPr>
        <p:blipFill>
          <a:blip r:embed="rId5"/>
          <a:stretch>
            <a:fillRect/>
          </a:stretch>
        </p:blipFill>
        <p:spPr>
          <a:xfrm>
            <a:off x="9921240" y="2990088"/>
            <a:ext cx="868680" cy="868680"/>
          </a:xfrm>
          <a:prstGeom prst="rect">
            <a:avLst/>
          </a:prstGeom>
        </p:spPr>
      </p:pic>
      <p:sp>
        <p:nvSpPr>
          <p:cNvPr id="8" name="TextBox 7"/>
          <p:cNvSpPr txBox="1"/>
          <p:nvPr/>
        </p:nvSpPr>
        <p:spPr>
          <a:xfrm>
            <a:off x="9281160" y="4005072"/>
            <a:ext cx="2148840" cy="777240"/>
          </a:xfrm>
          <a:prstGeom prst="rect">
            <a:avLst/>
          </a:prstGeom>
          <a:noFill/>
        </p:spPr>
        <p:txBody>
          <a:bodyPr wrap="square">
            <a:spAutoFit/>
          </a:bodyPr>
          <a:lstStyle/>
          <a:p>
            <a:pPr algn="ctr"/>
            <a:r>
              <a:rPr sz="2400" b="1"/>
              <a:t>F06 Recommend</a:t>
            </a:r>
          </a:p>
        </p:txBody>
      </p:sp>
      <p:pic>
        <p:nvPicPr>
          <p:cNvPr id="9" name="Picture 8" descr="image.png"/>
          <p:cNvPicPr>
            <a:picLocks noChangeAspect="1"/>
          </p:cNvPicPr>
          <p:nvPr/>
        </p:nvPicPr>
        <p:blipFill>
          <a:blip r:embed="rId6"/>
          <a:stretch>
            <a:fillRect/>
          </a:stretch>
        </p:blipFill>
        <p:spPr>
          <a:xfrm>
            <a:off x="9326880" y="5989320"/>
            <a:ext cx="2560320" cy="6400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b="1">
                <a:solidFill>
                  <a:srgbClr val="017AB4"/>
                </a:solidFill>
              </a:rPr>
              <a:t>F04 · Semantic Search</a:t>
            </a:r>
          </a:p>
        </p:txBody>
      </p:sp>
      <p:sp>
        <p:nvSpPr>
          <p:cNvPr id="3" name="Text Placeholder 2"/>
          <p:cNvSpPr>
            <a:spLocks noGrp="1"/>
          </p:cNvSpPr>
          <p:nvPr>
            <p:ph type="body" idx="1"/>
          </p:nvPr>
        </p:nvSpPr>
        <p:spPr/>
        <p:txBody>
          <a:bodyPr>
            <a:normAutofit lnSpcReduction="10000"/>
          </a:bodyPr>
          <a:lstStyle/>
          <a:p>
            <a:endParaRPr/>
          </a:p>
        </p:txBody>
      </p:sp>
      <p:pic>
        <p:nvPicPr>
          <p:cNvPr id="4" name="Picture 3" descr="image.png"/>
          <p:cNvPicPr>
            <a:picLocks noChangeAspect="1"/>
          </p:cNvPicPr>
          <p:nvPr/>
        </p:nvPicPr>
        <p:blipFill>
          <a:blip r:embed="rId3"/>
          <a:stretch>
            <a:fillRect/>
          </a:stretch>
        </p:blipFill>
        <p:spPr>
          <a:xfrm>
            <a:off x="9326880" y="5989320"/>
            <a:ext cx="2560320" cy="6400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earch.png"/>
          <p:cNvPicPr>
            <a:picLocks noChangeAspect="1"/>
          </p:cNvPicPr>
          <p:nvPr/>
        </p:nvPicPr>
        <p:blipFill>
          <a:blip r:embed="rId3"/>
          <a:stretch>
            <a:fillRect/>
          </a:stretch>
        </p:blipFill>
        <p:spPr>
          <a:xfrm>
            <a:off x="5638800" y="1371600"/>
            <a:ext cx="914400" cy="914400"/>
          </a:xfrm>
          <a:prstGeom prst="rect">
            <a:avLst/>
          </a:prstGeom>
        </p:spPr>
      </p:pic>
      <p:sp>
        <p:nvSpPr>
          <p:cNvPr id="3" name="TextBox 2"/>
          <p:cNvSpPr txBox="1"/>
          <p:nvPr/>
        </p:nvSpPr>
        <p:spPr>
          <a:xfrm>
            <a:off x="914400" y="3178760"/>
            <a:ext cx="10332720" cy="1323439"/>
          </a:xfrm>
          <a:prstGeom prst="rect">
            <a:avLst/>
          </a:prstGeom>
          <a:noFill/>
        </p:spPr>
        <p:txBody>
          <a:bodyPr wrap="square" anchor="ctr">
            <a:spAutoFit/>
          </a:bodyPr>
          <a:lstStyle/>
          <a:p>
            <a:pPr algn="ctr"/>
            <a:r>
              <a:rPr sz="4000" dirty="0"/>
              <a:t>Search by what words </a:t>
            </a:r>
            <a:r>
              <a:rPr sz="4000" b="1" dirty="0">
                <a:solidFill>
                  <a:srgbClr val="017AB4"/>
                </a:solidFill>
              </a:rPr>
              <a:t>mean</a:t>
            </a:r>
            <a:r>
              <a:rPr sz="4000" dirty="0"/>
              <a:t>, </a:t>
            </a:r>
            <a:endParaRPr lang="en-US" sz="4000" dirty="0"/>
          </a:p>
          <a:p>
            <a:pPr algn="ctr"/>
            <a:r>
              <a:rPr sz="4000" dirty="0"/>
              <a:t>not by which words appear.</a:t>
            </a:r>
          </a:p>
        </p:txBody>
      </p:sp>
      <p:pic>
        <p:nvPicPr>
          <p:cNvPr id="4" name="Picture 3" descr="image.png"/>
          <p:cNvPicPr>
            <a:picLocks noChangeAspect="1"/>
          </p:cNvPicPr>
          <p:nvPr/>
        </p:nvPicPr>
        <p:blipFill>
          <a:blip r:embed="rId4"/>
          <a:stretch>
            <a:fillRect/>
          </a:stretch>
        </p:blipFill>
        <p:spPr>
          <a:xfrm>
            <a:off x="9326880" y="5989320"/>
            <a:ext cx="2560320" cy="6400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F04 · How It Works</a:t>
            </a:r>
          </a:p>
        </p:txBody>
      </p:sp>
      <p:sp>
        <p:nvSpPr>
          <p:cNvPr id="3" name="Content Placeholder 2"/>
          <p:cNvSpPr>
            <a:spLocks noGrp="1"/>
          </p:cNvSpPr>
          <p:nvPr>
            <p:ph idx="1"/>
          </p:nvPr>
        </p:nvSpPr>
        <p:spPr>
          <a:xfrm>
            <a:off x="612648" y="2788920"/>
            <a:ext cx="10966704" cy="3749040"/>
          </a:xfrm>
        </p:spPr>
        <p:txBody>
          <a:bodyPr wrap="square"/>
          <a:lstStyle/>
          <a:p>
            <a:endParaRPr/>
          </a:p>
        </p:txBody>
      </p:sp>
      <p:sp>
        <p:nvSpPr>
          <p:cNvPr id="4" name="TextBox 3"/>
          <p:cNvSpPr txBox="1"/>
          <p:nvPr/>
        </p:nvSpPr>
        <p:spPr>
          <a:xfrm>
            <a:off x="612648" y="1737360"/>
            <a:ext cx="1371600" cy="822960"/>
          </a:xfrm>
          <a:prstGeom prst="rect">
            <a:avLst/>
          </a:prstGeom>
          <a:noFill/>
        </p:spPr>
        <p:txBody>
          <a:bodyPr wrap="square" anchor="ctr">
            <a:spAutoFit/>
          </a:bodyPr>
          <a:lstStyle/>
          <a:p>
            <a:r>
              <a:rPr sz="1400" i="1"/>
              <a:t>Index, once</a:t>
            </a:r>
          </a:p>
        </p:txBody>
      </p:sp>
      <p:sp>
        <p:nvSpPr>
          <p:cNvPr id="5" name="Rounded Rectangle 4"/>
          <p:cNvSpPr/>
          <p:nvPr/>
        </p:nvSpPr>
        <p:spPr>
          <a:xfrm>
            <a:off x="2075688" y="1737360"/>
            <a:ext cx="2893568"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30 trail descriptions</a:t>
            </a:r>
          </a:p>
        </p:txBody>
      </p:sp>
      <p:sp>
        <p:nvSpPr>
          <p:cNvPr id="6" name="Right Arrow 5"/>
          <p:cNvSpPr/>
          <p:nvPr/>
        </p:nvSpPr>
        <p:spPr>
          <a:xfrm>
            <a:off x="5024120"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380736" y="1737360"/>
            <a:ext cx="2893568"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nomic-embed-text</a:t>
            </a:r>
          </a:p>
        </p:txBody>
      </p:sp>
      <p:sp>
        <p:nvSpPr>
          <p:cNvPr id="8" name="Right Arrow 7"/>
          <p:cNvSpPr/>
          <p:nvPr/>
        </p:nvSpPr>
        <p:spPr>
          <a:xfrm>
            <a:off x="8329168"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85784" y="1737360"/>
            <a:ext cx="2893568"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One vector per trail, kept in memory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F04 · How It Works</a:t>
            </a:r>
          </a:p>
        </p:txBody>
      </p:sp>
      <p:sp>
        <p:nvSpPr>
          <p:cNvPr id="3" name="Content Placeholder 2"/>
          <p:cNvSpPr>
            <a:spLocks noGrp="1"/>
          </p:cNvSpPr>
          <p:nvPr>
            <p:ph idx="1"/>
          </p:nvPr>
        </p:nvSpPr>
        <p:spPr>
          <a:xfrm>
            <a:off x="612648" y="4096511"/>
            <a:ext cx="10966704" cy="2441449"/>
          </a:xfrm>
        </p:spPr>
        <p:txBody>
          <a:bodyPr wrap="square"/>
          <a:lstStyle/>
          <a:p>
            <a:endParaRPr/>
          </a:p>
        </p:txBody>
      </p:sp>
      <p:sp>
        <p:nvSpPr>
          <p:cNvPr id="4" name="TextBox 3"/>
          <p:cNvSpPr txBox="1"/>
          <p:nvPr/>
        </p:nvSpPr>
        <p:spPr>
          <a:xfrm>
            <a:off x="612648" y="1737360"/>
            <a:ext cx="1371600" cy="822960"/>
          </a:xfrm>
          <a:prstGeom prst="rect">
            <a:avLst/>
          </a:prstGeom>
          <a:noFill/>
        </p:spPr>
        <p:txBody>
          <a:bodyPr wrap="square" anchor="ctr">
            <a:spAutoFit/>
          </a:bodyPr>
          <a:lstStyle/>
          <a:p>
            <a:r>
              <a:rPr sz="1400" i="1"/>
              <a:t>Index, once</a:t>
            </a:r>
          </a:p>
        </p:txBody>
      </p:sp>
      <p:sp>
        <p:nvSpPr>
          <p:cNvPr id="5" name="Rounded Rectangle 4"/>
          <p:cNvSpPr/>
          <p:nvPr/>
        </p:nvSpPr>
        <p:spPr>
          <a:xfrm>
            <a:off x="2075688" y="1737360"/>
            <a:ext cx="2893568"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30 trail descriptions</a:t>
            </a:r>
          </a:p>
        </p:txBody>
      </p:sp>
      <p:sp>
        <p:nvSpPr>
          <p:cNvPr id="6" name="Right Arrow 5"/>
          <p:cNvSpPr/>
          <p:nvPr/>
        </p:nvSpPr>
        <p:spPr>
          <a:xfrm>
            <a:off x="5024120"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380736" y="1737360"/>
            <a:ext cx="2893568"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nomic-embed-text</a:t>
            </a:r>
          </a:p>
        </p:txBody>
      </p:sp>
      <p:sp>
        <p:nvSpPr>
          <p:cNvPr id="8" name="Right Arrow 7"/>
          <p:cNvSpPr/>
          <p:nvPr/>
        </p:nvSpPr>
        <p:spPr>
          <a:xfrm>
            <a:off x="8329168"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85784" y="1737360"/>
            <a:ext cx="2893568"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One vector per trail, kept in memory</a:t>
            </a:r>
          </a:p>
        </p:txBody>
      </p:sp>
      <p:sp>
        <p:nvSpPr>
          <p:cNvPr id="10" name="TextBox 9"/>
          <p:cNvSpPr txBox="1"/>
          <p:nvPr/>
        </p:nvSpPr>
        <p:spPr>
          <a:xfrm>
            <a:off x="612648" y="2834640"/>
            <a:ext cx="1371600" cy="1033271"/>
          </a:xfrm>
          <a:prstGeom prst="rect">
            <a:avLst/>
          </a:prstGeom>
          <a:noFill/>
        </p:spPr>
        <p:txBody>
          <a:bodyPr wrap="square" anchor="ctr">
            <a:spAutoFit/>
          </a:bodyPr>
          <a:lstStyle/>
          <a:p>
            <a:r>
              <a:rPr sz="1400" i="1"/>
              <a:t>Search, each query</a:t>
            </a:r>
          </a:p>
        </p:txBody>
      </p:sp>
      <p:sp>
        <p:nvSpPr>
          <p:cNvPr id="11" name="Rounded Rectangle 10"/>
          <p:cNvSpPr/>
          <p:nvPr/>
        </p:nvSpPr>
        <p:spPr>
          <a:xfrm>
            <a:off x="2075688" y="2834640"/>
            <a:ext cx="2067306" cy="1033271"/>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"quiet waterfall hike for kids"</a:t>
            </a:r>
          </a:p>
        </p:txBody>
      </p:sp>
      <p:sp>
        <p:nvSpPr>
          <p:cNvPr id="12" name="Right Arrow 11"/>
          <p:cNvSpPr/>
          <p:nvPr/>
        </p:nvSpPr>
        <p:spPr>
          <a:xfrm>
            <a:off x="4197858" y="3204971"/>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54474" y="2834640"/>
            <a:ext cx="2067306" cy="1033271"/>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nomic-embed-text</a:t>
            </a:r>
          </a:p>
        </p:txBody>
      </p:sp>
      <p:sp>
        <p:nvSpPr>
          <p:cNvPr id="14" name="Right Arrow 13"/>
          <p:cNvSpPr/>
          <p:nvPr/>
        </p:nvSpPr>
        <p:spPr>
          <a:xfrm>
            <a:off x="6676644" y="3204971"/>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033260" y="2834640"/>
            <a:ext cx="2067306" cy="1033271"/>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Cosine similarity against every stored vector</a:t>
            </a:r>
          </a:p>
        </p:txBody>
      </p:sp>
      <p:sp>
        <p:nvSpPr>
          <p:cNvPr id="16" name="Right Arrow 15"/>
          <p:cNvSpPr/>
          <p:nvPr/>
        </p:nvSpPr>
        <p:spPr>
          <a:xfrm>
            <a:off x="9155430" y="3204971"/>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512046" y="2834640"/>
            <a:ext cx="2067306" cy="1033271"/>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Top 5, with scores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F04 · How It Works</a:t>
            </a:r>
          </a:p>
        </p:txBody>
      </p:sp>
      <p:sp>
        <p:nvSpPr>
          <p:cNvPr id="3" name="Content Placeholder 2"/>
          <p:cNvSpPr>
            <a:spLocks noGrp="1"/>
          </p:cNvSpPr>
          <p:nvPr>
            <p:ph idx="1"/>
          </p:nvPr>
        </p:nvSpPr>
        <p:spPr>
          <a:xfrm>
            <a:off x="612648" y="4096511"/>
            <a:ext cx="10966704" cy="2441449"/>
          </a:xfrm>
        </p:spPr>
        <p:txBody>
          <a:bodyPr wrap="square"/>
          <a:lstStyle/>
          <a:p>
            <a:r>
              <a:rPr sz="2800"/>
              <a:t>~768 numbers · similar meaning lands close</a:t>
            </a:r>
          </a:p>
        </p:txBody>
      </p:sp>
      <p:sp>
        <p:nvSpPr>
          <p:cNvPr id="4" name="TextBox 3"/>
          <p:cNvSpPr txBox="1"/>
          <p:nvPr/>
        </p:nvSpPr>
        <p:spPr>
          <a:xfrm>
            <a:off x="612648" y="1737360"/>
            <a:ext cx="1371600" cy="822960"/>
          </a:xfrm>
          <a:prstGeom prst="rect">
            <a:avLst/>
          </a:prstGeom>
          <a:noFill/>
        </p:spPr>
        <p:txBody>
          <a:bodyPr wrap="square" anchor="ctr">
            <a:spAutoFit/>
          </a:bodyPr>
          <a:lstStyle/>
          <a:p>
            <a:r>
              <a:rPr sz="1400" i="1"/>
              <a:t>Index, once</a:t>
            </a:r>
          </a:p>
        </p:txBody>
      </p:sp>
      <p:sp>
        <p:nvSpPr>
          <p:cNvPr id="5" name="Rounded Rectangle 4"/>
          <p:cNvSpPr/>
          <p:nvPr/>
        </p:nvSpPr>
        <p:spPr>
          <a:xfrm>
            <a:off x="2075688" y="1737360"/>
            <a:ext cx="2893568"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30 trail descriptions</a:t>
            </a:r>
          </a:p>
        </p:txBody>
      </p:sp>
      <p:sp>
        <p:nvSpPr>
          <p:cNvPr id="6" name="Right Arrow 5"/>
          <p:cNvSpPr/>
          <p:nvPr/>
        </p:nvSpPr>
        <p:spPr>
          <a:xfrm>
            <a:off x="5024120"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380736" y="1737360"/>
            <a:ext cx="2893568"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nomic-embed-text</a:t>
            </a:r>
          </a:p>
        </p:txBody>
      </p:sp>
      <p:sp>
        <p:nvSpPr>
          <p:cNvPr id="8" name="Right Arrow 7"/>
          <p:cNvSpPr/>
          <p:nvPr/>
        </p:nvSpPr>
        <p:spPr>
          <a:xfrm>
            <a:off x="8329168"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85784" y="1737360"/>
            <a:ext cx="2893568"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One vector per trail, kept in memory</a:t>
            </a:r>
          </a:p>
        </p:txBody>
      </p:sp>
      <p:sp>
        <p:nvSpPr>
          <p:cNvPr id="10" name="TextBox 9"/>
          <p:cNvSpPr txBox="1"/>
          <p:nvPr/>
        </p:nvSpPr>
        <p:spPr>
          <a:xfrm>
            <a:off x="612648" y="2834640"/>
            <a:ext cx="1371600" cy="1033271"/>
          </a:xfrm>
          <a:prstGeom prst="rect">
            <a:avLst/>
          </a:prstGeom>
          <a:noFill/>
        </p:spPr>
        <p:txBody>
          <a:bodyPr wrap="square" anchor="ctr">
            <a:spAutoFit/>
          </a:bodyPr>
          <a:lstStyle/>
          <a:p>
            <a:r>
              <a:rPr sz="1400" i="1"/>
              <a:t>Search, each query</a:t>
            </a:r>
          </a:p>
        </p:txBody>
      </p:sp>
      <p:sp>
        <p:nvSpPr>
          <p:cNvPr id="11" name="Rounded Rectangle 10"/>
          <p:cNvSpPr/>
          <p:nvPr/>
        </p:nvSpPr>
        <p:spPr>
          <a:xfrm>
            <a:off x="2075688" y="2834640"/>
            <a:ext cx="2067306" cy="1033271"/>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"quiet waterfall hike for kids"</a:t>
            </a:r>
          </a:p>
        </p:txBody>
      </p:sp>
      <p:sp>
        <p:nvSpPr>
          <p:cNvPr id="12" name="Right Arrow 11"/>
          <p:cNvSpPr/>
          <p:nvPr/>
        </p:nvSpPr>
        <p:spPr>
          <a:xfrm>
            <a:off x="4197858" y="3204971"/>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54474" y="2834640"/>
            <a:ext cx="2067306" cy="1033271"/>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nomic-embed-text</a:t>
            </a:r>
          </a:p>
        </p:txBody>
      </p:sp>
      <p:sp>
        <p:nvSpPr>
          <p:cNvPr id="14" name="Right Arrow 13"/>
          <p:cNvSpPr/>
          <p:nvPr/>
        </p:nvSpPr>
        <p:spPr>
          <a:xfrm>
            <a:off x="6676644" y="3204971"/>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033260" y="2834640"/>
            <a:ext cx="2067306" cy="1033271"/>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Cosine similarity against every stored vector</a:t>
            </a:r>
          </a:p>
        </p:txBody>
      </p:sp>
      <p:sp>
        <p:nvSpPr>
          <p:cNvPr id="16" name="Right Arrow 15"/>
          <p:cNvSpPr/>
          <p:nvPr/>
        </p:nvSpPr>
        <p:spPr>
          <a:xfrm>
            <a:off x="9155430" y="3204971"/>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512046" y="2834640"/>
            <a:ext cx="2067306" cy="1033271"/>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Top 5, with scores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F04 · How It Works</a:t>
            </a:r>
          </a:p>
        </p:txBody>
      </p:sp>
      <p:sp>
        <p:nvSpPr>
          <p:cNvPr id="3" name="Content Placeholder 2"/>
          <p:cNvSpPr>
            <a:spLocks noGrp="1"/>
          </p:cNvSpPr>
          <p:nvPr>
            <p:ph idx="1"/>
          </p:nvPr>
        </p:nvSpPr>
        <p:spPr>
          <a:xfrm>
            <a:off x="612648" y="4096511"/>
            <a:ext cx="10966704" cy="2441449"/>
          </a:xfrm>
        </p:spPr>
        <p:txBody>
          <a:bodyPr wrap="square"/>
          <a:lstStyle/>
          <a:p>
            <a:r>
              <a:rPr sz="2800"/>
              <a:t>~768 numbers · similar meaning lands close</a:t>
            </a:r>
          </a:p>
          <a:p>
            <a:r>
              <a:rPr sz="2800"/>
              <a:t>Nothing is generated</a:t>
            </a:r>
          </a:p>
        </p:txBody>
      </p:sp>
      <p:sp>
        <p:nvSpPr>
          <p:cNvPr id="4" name="TextBox 3"/>
          <p:cNvSpPr txBox="1"/>
          <p:nvPr/>
        </p:nvSpPr>
        <p:spPr>
          <a:xfrm>
            <a:off x="612648" y="1737360"/>
            <a:ext cx="1371600" cy="822960"/>
          </a:xfrm>
          <a:prstGeom prst="rect">
            <a:avLst/>
          </a:prstGeom>
          <a:noFill/>
        </p:spPr>
        <p:txBody>
          <a:bodyPr wrap="square" anchor="ctr">
            <a:spAutoFit/>
          </a:bodyPr>
          <a:lstStyle/>
          <a:p>
            <a:r>
              <a:rPr sz="1400" i="1"/>
              <a:t>Index, once</a:t>
            </a:r>
          </a:p>
        </p:txBody>
      </p:sp>
      <p:sp>
        <p:nvSpPr>
          <p:cNvPr id="5" name="Rounded Rectangle 4"/>
          <p:cNvSpPr/>
          <p:nvPr/>
        </p:nvSpPr>
        <p:spPr>
          <a:xfrm>
            <a:off x="2075688" y="1737360"/>
            <a:ext cx="2893568"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30 trail descriptions</a:t>
            </a:r>
          </a:p>
        </p:txBody>
      </p:sp>
      <p:sp>
        <p:nvSpPr>
          <p:cNvPr id="6" name="Right Arrow 5"/>
          <p:cNvSpPr/>
          <p:nvPr/>
        </p:nvSpPr>
        <p:spPr>
          <a:xfrm>
            <a:off x="5024120"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380736" y="1737360"/>
            <a:ext cx="2893568"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nomic-embed-text</a:t>
            </a:r>
          </a:p>
        </p:txBody>
      </p:sp>
      <p:sp>
        <p:nvSpPr>
          <p:cNvPr id="8" name="Right Arrow 7"/>
          <p:cNvSpPr/>
          <p:nvPr/>
        </p:nvSpPr>
        <p:spPr>
          <a:xfrm>
            <a:off x="8329168"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85784" y="1737360"/>
            <a:ext cx="2893568"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One vector per trail, kept in memory</a:t>
            </a:r>
          </a:p>
        </p:txBody>
      </p:sp>
      <p:sp>
        <p:nvSpPr>
          <p:cNvPr id="10" name="TextBox 9"/>
          <p:cNvSpPr txBox="1"/>
          <p:nvPr/>
        </p:nvSpPr>
        <p:spPr>
          <a:xfrm>
            <a:off x="612648" y="2834640"/>
            <a:ext cx="1371600" cy="1033271"/>
          </a:xfrm>
          <a:prstGeom prst="rect">
            <a:avLst/>
          </a:prstGeom>
          <a:noFill/>
        </p:spPr>
        <p:txBody>
          <a:bodyPr wrap="square" anchor="ctr">
            <a:spAutoFit/>
          </a:bodyPr>
          <a:lstStyle/>
          <a:p>
            <a:r>
              <a:rPr sz="1400" i="1"/>
              <a:t>Search, each query</a:t>
            </a:r>
          </a:p>
        </p:txBody>
      </p:sp>
      <p:sp>
        <p:nvSpPr>
          <p:cNvPr id="11" name="Rounded Rectangle 10"/>
          <p:cNvSpPr/>
          <p:nvPr/>
        </p:nvSpPr>
        <p:spPr>
          <a:xfrm>
            <a:off x="2075688" y="2834640"/>
            <a:ext cx="2067306" cy="1033271"/>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"quiet waterfall hike for kids"</a:t>
            </a:r>
          </a:p>
        </p:txBody>
      </p:sp>
      <p:sp>
        <p:nvSpPr>
          <p:cNvPr id="12" name="Right Arrow 11"/>
          <p:cNvSpPr/>
          <p:nvPr/>
        </p:nvSpPr>
        <p:spPr>
          <a:xfrm>
            <a:off x="4197858" y="3204971"/>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54474" y="2834640"/>
            <a:ext cx="2067306" cy="1033271"/>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nomic-embed-text</a:t>
            </a:r>
          </a:p>
        </p:txBody>
      </p:sp>
      <p:sp>
        <p:nvSpPr>
          <p:cNvPr id="14" name="Right Arrow 13"/>
          <p:cNvSpPr/>
          <p:nvPr/>
        </p:nvSpPr>
        <p:spPr>
          <a:xfrm>
            <a:off x="6676644" y="3204971"/>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033260" y="2834640"/>
            <a:ext cx="2067306" cy="1033271"/>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Cosine similarity against every stored vector</a:t>
            </a:r>
          </a:p>
        </p:txBody>
      </p:sp>
      <p:sp>
        <p:nvSpPr>
          <p:cNvPr id="16" name="Right Arrow 15"/>
          <p:cNvSpPr/>
          <p:nvPr/>
        </p:nvSpPr>
        <p:spPr>
          <a:xfrm>
            <a:off x="9155430" y="3204971"/>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512046" y="2834640"/>
            <a:ext cx="2067306" cy="1033271"/>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Top 5, with scores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F04 · How It Works</a:t>
            </a:r>
          </a:p>
        </p:txBody>
      </p:sp>
      <p:sp>
        <p:nvSpPr>
          <p:cNvPr id="3" name="Content Placeholder 2"/>
          <p:cNvSpPr>
            <a:spLocks noGrp="1"/>
          </p:cNvSpPr>
          <p:nvPr>
            <p:ph idx="1"/>
          </p:nvPr>
        </p:nvSpPr>
        <p:spPr>
          <a:xfrm>
            <a:off x="612648" y="4096511"/>
            <a:ext cx="10966704" cy="2441449"/>
          </a:xfrm>
        </p:spPr>
        <p:txBody>
          <a:bodyPr wrap="square"/>
          <a:lstStyle/>
          <a:p>
            <a:r>
              <a:rPr sz="2800"/>
              <a:t>~768 numbers · similar meaning lands close</a:t>
            </a:r>
          </a:p>
          <a:p>
            <a:r>
              <a:rPr sz="2800"/>
              <a:t>Nothing is generated</a:t>
            </a:r>
          </a:p>
          <a:p>
            <a:r>
              <a:rPr sz="2800"/>
              <a:t>pgvector / Azure AI Search: same math at scale</a:t>
            </a:r>
          </a:p>
        </p:txBody>
      </p:sp>
      <p:sp>
        <p:nvSpPr>
          <p:cNvPr id="4" name="TextBox 3"/>
          <p:cNvSpPr txBox="1"/>
          <p:nvPr/>
        </p:nvSpPr>
        <p:spPr>
          <a:xfrm>
            <a:off x="612648" y="1737360"/>
            <a:ext cx="1371600" cy="822960"/>
          </a:xfrm>
          <a:prstGeom prst="rect">
            <a:avLst/>
          </a:prstGeom>
          <a:noFill/>
        </p:spPr>
        <p:txBody>
          <a:bodyPr wrap="square" anchor="ctr">
            <a:spAutoFit/>
          </a:bodyPr>
          <a:lstStyle/>
          <a:p>
            <a:r>
              <a:rPr sz="1400" i="1"/>
              <a:t>Index, once</a:t>
            </a:r>
          </a:p>
        </p:txBody>
      </p:sp>
      <p:sp>
        <p:nvSpPr>
          <p:cNvPr id="5" name="Rounded Rectangle 4"/>
          <p:cNvSpPr/>
          <p:nvPr/>
        </p:nvSpPr>
        <p:spPr>
          <a:xfrm>
            <a:off x="2075688" y="1737360"/>
            <a:ext cx="2893568"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30 trail descriptions</a:t>
            </a:r>
          </a:p>
        </p:txBody>
      </p:sp>
      <p:sp>
        <p:nvSpPr>
          <p:cNvPr id="6" name="Right Arrow 5"/>
          <p:cNvSpPr/>
          <p:nvPr/>
        </p:nvSpPr>
        <p:spPr>
          <a:xfrm>
            <a:off x="5024120"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380736" y="1737360"/>
            <a:ext cx="2893568"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nomic-embed-text</a:t>
            </a:r>
          </a:p>
        </p:txBody>
      </p:sp>
      <p:sp>
        <p:nvSpPr>
          <p:cNvPr id="8" name="Right Arrow 7"/>
          <p:cNvSpPr/>
          <p:nvPr/>
        </p:nvSpPr>
        <p:spPr>
          <a:xfrm>
            <a:off x="8329168"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685784" y="1737360"/>
            <a:ext cx="2893568"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One vector per trail, kept in memory</a:t>
            </a:r>
          </a:p>
        </p:txBody>
      </p:sp>
      <p:sp>
        <p:nvSpPr>
          <p:cNvPr id="10" name="TextBox 9"/>
          <p:cNvSpPr txBox="1"/>
          <p:nvPr/>
        </p:nvSpPr>
        <p:spPr>
          <a:xfrm>
            <a:off x="612648" y="2834640"/>
            <a:ext cx="1371600" cy="1033271"/>
          </a:xfrm>
          <a:prstGeom prst="rect">
            <a:avLst/>
          </a:prstGeom>
          <a:noFill/>
        </p:spPr>
        <p:txBody>
          <a:bodyPr wrap="square" anchor="ctr">
            <a:spAutoFit/>
          </a:bodyPr>
          <a:lstStyle/>
          <a:p>
            <a:r>
              <a:rPr sz="1400" i="1"/>
              <a:t>Search, each query</a:t>
            </a:r>
          </a:p>
        </p:txBody>
      </p:sp>
      <p:sp>
        <p:nvSpPr>
          <p:cNvPr id="11" name="Rounded Rectangle 10"/>
          <p:cNvSpPr/>
          <p:nvPr/>
        </p:nvSpPr>
        <p:spPr>
          <a:xfrm>
            <a:off x="2075688" y="2834640"/>
            <a:ext cx="2067306" cy="1033271"/>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"quiet waterfall hike for kids"</a:t>
            </a:r>
          </a:p>
        </p:txBody>
      </p:sp>
      <p:sp>
        <p:nvSpPr>
          <p:cNvPr id="12" name="Right Arrow 11"/>
          <p:cNvSpPr/>
          <p:nvPr/>
        </p:nvSpPr>
        <p:spPr>
          <a:xfrm>
            <a:off x="4197858" y="3204971"/>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4554474" y="2834640"/>
            <a:ext cx="2067306" cy="1033271"/>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nomic-embed-text</a:t>
            </a:r>
          </a:p>
        </p:txBody>
      </p:sp>
      <p:sp>
        <p:nvSpPr>
          <p:cNvPr id="14" name="Right Arrow 13"/>
          <p:cNvSpPr/>
          <p:nvPr/>
        </p:nvSpPr>
        <p:spPr>
          <a:xfrm>
            <a:off x="6676644" y="3204971"/>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033260" y="2834640"/>
            <a:ext cx="2067306" cy="1033271"/>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Cosine similarity against every stored vector</a:t>
            </a:r>
          </a:p>
        </p:txBody>
      </p:sp>
      <p:sp>
        <p:nvSpPr>
          <p:cNvPr id="16" name="Right Arrow 15"/>
          <p:cNvSpPr/>
          <p:nvPr/>
        </p:nvSpPr>
        <p:spPr>
          <a:xfrm>
            <a:off x="9155430" y="3204971"/>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512046" y="2834640"/>
            <a:ext cx="2067306" cy="1033271"/>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Top 5, with scores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916936"/>
            <a:ext cx="10332720" cy="1014984"/>
          </a:xfrm>
          <a:prstGeom prst="rect">
            <a:avLst/>
          </a:prstGeom>
          <a:noFill/>
        </p:spPr>
        <p:txBody>
          <a:bodyPr wrap="square" anchor="ctr">
            <a:spAutoFit/>
          </a:bodyPr>
          <a:lstStyle/>
          <a:p>
            <a:pPr algn="ctr"/>
            <a:r>
              <a:rPr sz="6000" b="1">
                <a:solidFill>
                  <a:srgbClr val="FFFFFF"/>
                </a:solidFill>
              </a:rPr>
              <a:t>DEMO</a:t>
            </a:r>
            <a:r>
              <a:rPr sz="6000">
                <a:solidFill>
                  <a:srgbClr val="FFFFFF"/>
                </a:solidFill>
              </a:rPr>
              <a:t> · F04 Semantic Search</a:t>
            </a:r>
          </a:p>
        </p:txBody>
      </p:sp>
      <p:pic>
        <p:nvPicPr>
          <p:cNvPr id="4" name="Picture 3" descr="image.png"/>
          <p:cNvPicPr>
            <a:picLocks noChangeAspect="1"/>
          </p:cNvPicPr>
          <p:nvPr/>
        </p:nvPicPr>
        <p:blipFill>
          <a:blip r:embed="rId2"/>
          <a:stretch>
            <a:fillRect/>
          </a:stretch>
        </p:blipFill>
        <p:spPr>
          <a:xfrm>
            <a:off x="9326880" y="5989320"/>
            <a:ext cx="2560320" cy="640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F04 · Semantic Search · Demo: What to Watch</a:t>
            </a:r>
          </a:p>
        </p:txBody>
      </p:sp>
      <p:sp>
        <p:nvSpPr>
          <p:cNvPr id="3" name="Content Placeholder 2"/>
          <p:cNvSpPr>
            <a:spLocks noGrp="1"/>
          </p:cNvSpPr>
          <p:nvPr>
            <p:ph idx="1"/>
          </p:nvPr>
        </p:nvSpPr>
        <p:spPr>
          <a:xfrm>
            <a:off x="612648" y="1920240"/>
            <a:ext cx="10966704" cy="4617720"/>
          </a:xfrm>
        </p:spPr>
        <p:txBody>
          <a:bodyPr wrap="square"/>
          <a:lstStyle/>
          <a:p>
            <a:r>
              <a:rPr sz="2800"/>
              <a:t>❌ Keyword baseline: junk</a:t>
            </a:r>
          </a:p>
          <a:p>
            <a:r>
              <a:rPr sz="2800"/>
              <a:t>The raw float array</a:t>
            </a:r>
          </a:p>
          <a:p>
            <a:r>
              <a:rPr sz="2800"/>
              <a:t>30 trails embedded in &lt; 2 s</a:t>
            </a:r>
          </a:p>
          <a:p>
            <a:r>
              <a:rPr sz="2800"/>
              <a:t>Cosine: one visible method</a:t>
            </a:r>
          </a:p>
          <a:p>
            <a:r>
              <a:rPr sz="2800"/>
              <a:t>✅ Same query, semantic: the right trails, with scores</a:t>
            </a:r>
          </a:p>
          <a:p>
            <a:r>
              <a:rPr sz="2800"/>
              <a:t>"Quiet, for kids" → Taft Point. A 3,000-foot drop.</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F04 · Semantic Search · Leadership Card</a:t>
            </a:r>
          </a:p>
        </p:txBody>
      </p:sp>
      <p:sp>
        <p:nvSpPr>
          <p:cNvPr id="3" name="Content Placeholder 2"/>
          <p:cNvSpPr>
            <a:spLocks noGrp="1"/>
          </p:cNvSpPr>
          <p:nvPr>
            <p:ph idx="1"/>
          </p:nvPr>
        </p:nvSpPr>
        <p:spPr>
          <a:xfrm>
            <a:off x="612648" y="1920240"/>
            <a:ext cx="10966704" cy="4617720"/>
          </a:xfrm>
        </p:spPr>
        <p:txBody>
          <a:bodyPr wrap="square"/>
          <a:lstStyle/>
          <a:p>
            <a:pPr>
              <a:spcAft>
                <a:spcPts val="1400"/>
              </a:spcAft>
            </a:pPr>
            <a:r>
              <a:rPr sz="2800" b="1" dirty="0"/>
              <a:t>When:</a:t>
            </a:r>
            <a:r>
              <a:rPr sz="2800" dirty="0"/>
              <a:t> A </a:t>
            </a:r>
            <a:r>
              <a:rPr lang="en-US" sz="2800" dirty="0"/>
              <a:t>previously useless search box now allows them to</a:t>
            </a:r>
            <a:r>
              <a:rPr sz="2800" dirty="0"/>
              <a:t> describe what they want</a:t>
            </a:r>
            <a:r>
              <a:rPr lang="en-US" sz="2800" dirty="0"/>
              <a:t> and</a:t>
            </a:r>
            <a:r>
              <a:rPr sz="2800" dirty="0"/>
              <a:t> it </a:t>
            </a:r>
            <a:r>
              <a:rPr lang="en-US" sz="2800" dirty="0"/>
              <a:t>finds the most conceptually related things</a:t>
            </a:r>
            <a:r>
              <a:rPr sz="2800"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F04 · Semantic Search · Leadership Card</a:t>
            </a:r>
          </a:p>
        </p:txBody>
      </p:sp>
      <p:sp>
        <p:nvSpPr>
          <p:cNvPr id="3" name="Content Placeholder 2"/>
          <p:cNvSpPr>
            <a:spLocks noGrp="1"/>
          </p:cNvSpPr>
          <p:nvPr>
            <p:ph idx="1"/>
          </p:nvPr>
        </p:nvSpPr>
        <p:spPr>
          <a:xfrm>
            <a:off x="612648" y="1920240"/>
            <a:ext cx="10966704" cy="4617720"/>
          </a:xfrm>
        </p:spPr>
        <p:txBody>
          <a:bodyPr wrap="square"/>
          <a:lstStyle/>
          <a:p>
            <a:pPr>
              <a:spcAft>
                <a:spcPts val="1400"/>
              </a:spcAft>
            </a:pPr>
            <a:r>
              <a:rPr lang="en-US" sz="2800" b="1" dirty="0"/>
              <a:t>When:</a:t>
            </a:r>
            <a:r>
              <a:rPr lang="en-US" sz="2800" dirty="0"/>
              <a:t> A previously useless search box now allows them to describe what they want and it finds the most conceptually related things.</a:t>
            </a:r>
          </a:p>
          <a:p>
            <a:pPr>
              <a:spcAft>
                <a:spcPts val="1400"/>
              </a:spcAft>
            </a:pPr>
            <a:r>
              <a:rPr sz="2800" b="1" dirty="0"/>
              <a:t>Think:</a:t>
            </a:r>
            <a:r>
              <a:rPr sz="2800" dirty="0"/>
              <a:t> "Our search finds what users mean, not just what they type."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F04 · Semantic Search · Leadership Card</a:t>
            </a:r>
          </a:p>
        </p:txBody>
      </p:sp>
      <p:sp>
        <p:nvSpPr>
          <p:cNvPr id="3" name="Content Placeholder 2"/>
          <p:cNvSpPr>
            <a:spLocks noGrp="1"/>
          </p:cNvSpPr>
          <p:nvPr>
            <p:ph idx="1"/>
          </p:nvPr>
        </p:nvSpPr>
        <p:spPr>
          <a:xfrm>
            <a:off x="612648" y="1920240"/>
            <a:ext cx="10966704" cy="4617720"/>
          </a:xfrm>
        </p:spPr>
        <p:txBody>
          <a:bodyPr wrap="square"/>
          <a:lstStyle/>
          <a:p>
            <a:pPr>
              <a:spcAft>
                <a:spcPts val="1400"/>
              </a:spcAft>
            </a:pPr>
            <a:r>
              <a:rPr lang="en-US" sz="2800" b="1" dirty="0"/>
              <a:t>When:</a:t>
            </a:r>
            <a:r>
              <a:rPr lang="en-US" sz="2800" dirty="0"/>
              <a:t> A previously useless search box now allows them to describe what they want and it finds the most conceptually related things.</a:t>
            </a:r>
          </a:p>
          <a:p>
            <a:pPr>
              <a:spcAft>
                <a:spcPts val="1400"/>
              </a:spcAft>
            </a:pPr>
            <a:r>
              <a:rPr sz="2800" b="1" dirty="0"/>
              <a:t>Think:</a:t>
            </a:r>
            <a:r>
              <a:rPr sz="2800" dirty="0"/>
              <a:t> "Our search finds what users mean, not just what they type."</a:t>
            </a:r>
          </a:p>
          <a:p>
            <a:pPr>
              <a:spcAft>
                <a:spcPts val="1400"/>
              </a:spcAft>
            </a:pPr>
            <a:endParaRPr sz="2800" dirty="0"/>
          </a:p>
          <a:p>
            <a:pPr>
              <a:spcAft>
                <a:spcPts val="1400"/>
              </a:spcAft>
            </a:pPr>
            <a:r>
              <a:rPr sz="2800" b="1" dirty="0"/>
              <a:t>Difficulty:</a:t>
            </a:r>
            <a:r>
              <a:rPr sz="2800" dirty="0"/>
              <a:t> </a:t>
            </a:r>
          </a:p>
        </p:txBody>
      </p:sp>
      <p:sp>
        <p:nvSpPr>
          <p:cNvPr id="4" name="Rounded Rectangle 3"/>
          <p:cNvSpPr/>
          <p:nvPr/>
        </p:nvSpPr>
        <p:spPr>
          <a:xfrm>
            <a:off x="2807208" y="4809744"/>
            <a:ext cx="256032" cy="256032"/>
          </a:xfrm>
          <a:prstGeom prst="roundRect">
            <a:avLst>
              <a:gd name="adj" fmla="val 25000"/>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154680" y="4608576"/>
            <a:ext cx="256032" cy="457200"/>
          </a:xfrm>
          <a:prstGeom prst="roundRect">
            <a:avLst>
              <a:gd name="adj" fmla="val 25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502152" y="4407408"/>
            <a:ext cx="256032" cy="658368"/>
          </a:xfrm>
          <a:prstGeom prst="roundRect">
            <a:avLst>
              <a:gd name="adj" fmla="val 25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32888" y="5120640"/>
            <a:ext cx="1499616" cy="320040"/>
          </a:xfrm>
          <a:prstGeom prst="rect">
            <a:avLst/>
          </a:prstGeom>
          <a:noFill/>
        </p:spPr>
        <p:txBody>
          <a:bodyPr wrap="none">
            <a:spAutoFit/>
          </a:bodyPr>
          <a:lstStyle/>
          <a:p>
            <a:pPr algn="ctr"/>
            <a:r>
              <a:rPr sz="1400" b="1"/>
              <a:t>Easy</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b="1">
                <a:solidFill>
                  <a:srgbClr val="017AB4"/>
                </a:solidFill>
              </a:rPr>
              <a:t>F05 · RAG</a:t>
            </a:r>
          </a:p>
        </p:txBody>
      </p:sp>
      <p:sp>
        <p:nvSpPr>
          <p:cNvPr id="3" name="Text Placeholder 2"/>
          <p:cNvSpPr>
            <a:spLocks noGrp="1"/>
          </p:cNvSpPr>
          <p:nvPr>
            <p:ph type="body" idx="1"/>
          </p:nvPr>
        </p:nvSpPr>
        <p:spPr/>
        <p:txBody>
          <a:bodyPr>
            <a:normAutofit lnSpcReduction="10000"/>
          </a:bodyPr>
          <a:lstStyle/>
          <a:p>
            <a:endParaRPr/>
          </a:p>
        </p:txBody>
      </p:sp>
      <p:pic>
        <p:nvPicPr>
          <p:cNvPr id="4" name="Picture 3" descr="image.png"/>
          <p:cNvPicPr>
            <a:picLocks noChangeAspect="1"/>
          </p:cNvPicPr>
          <p:nvPr/>
        </p:nvPicPr>
        <p:blipFill>
          <a:blip r:embed="rId3"/>
          <a:stretch>
            <a:fillRect/>
          </a:stretch>
        </p:blipFill>
        <p:spPr>
          <a:xfrm>
            <a:off x="9326880" y="5989320"/>
            <a:ext cx="2560320" cy="6400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cument.png"/>
          <p:cNvPicPr>
            <a:picLocks noChangeAspect="1"/>
          </p:cNvPicPr>
          <p:nvPr/>
        </p:nvPicPr>
        <p:blipFill>
          <a:blip r:embed="rId3"/>
          <a:stretch>
            <a:fillRect/>
          </a:stretch>
        </p:blipFill>
        <p:spPr>
          <a:xfrm>
            <a:off x="5638800" y="1371600"/>
            <a:ext cx="914400" cy="914400"/>
          </a:xfrm>
          <a:prstGeom prst="rect">
            <a:avLst/>
          </a:prstGeom>
        </p:spPr>
      </p:pic>
      <p:sp>
        <p:nvSpPr>
          <p:cNvPr id="3" name="TextBox 2"/>
          <p:cNvSpPr txBox="1"/>
          <p:nvPr/>
        </p:nvSpPr>
        <p:spPr>
          <a:xfrm>
            <a:off x="914400" y="3178760"/>
            <a:ext cx="10332720" cy="1323439"/>
          </a:xfrm>
          <a:prstGeom prst="rect">
            <a:avLst/>
          </a:prstGeom>
          <a:noFill/>
        </p:spPr>
        <p:txBody>
          <a:bodyPr wrap="square" anchor="ctr">
            <a:spAutoFit/>
          </a:bodyPr>
          <a:lstStyle/>
          <a:p>
            <a:pPr algn="ctr"/>
            <a:r>
              <a:rPr sz="4000" dirty="0"/>
              <a:t>Look </a:t>
            </a:r>
            <a:r>
              <a:rPr lang="en-US" sz="4000" dirty="0"/>
              <a:t>in your </a:t>
            </a:r>
            <a:r>
              <a:rPr sz="4000" dirty="0"/>
              <a:t>documents </a:t>
            </a:r>
            <a:r>
              <a:rPr lang="en-US" sz="4000" dirty="0"/>
              <a:t>as the source</a:t>
            </a:r>
            <a:r>
              <a:rPr sz="4000" dirty="0"/>
              <a:t>; the </a:t>
            </a:r>
            <a:endParaRPr lang="en-US" sz="4000" dirty="0"/>
          </a:p>
          <a:p>
            <a:pPr algn="ctr"/>
            <a:r>
              <a:rPr sz="4000" dirty="0"/>
              <a:t>model </a:t>
            </a:r>
            <a:r>
              <a:rPr lang="en-US" sz="4000" b="1" dirty="0">
                <a:solidFill>
                  <a:srgbClr val="017AB4"/>
                </a:solidFill>
              </a:rPr>
              <a:t>composes an a</a:t>
            </a:r>
            <a:r>
              <a:rPr sz="4000" b="1" dirty="0">
                <a:solidFill>
                  <a:srgbClr val="017AB4"/>
                </a:solidFill>
              </a:rPr>
              <a:t>nswer from what it finds</a:t>
            </a:r>
            <a:r>
              <a:rPr sz="4000" dirty="0"/>
              <a:t>.</a:t>
            </a:r>
          </a:p>
        </p:txBody>
      </p:sp>
      <p:pic>
        <p:nvPicPr>
          <p:cNvPr id="4" name="Picture 3" descr="image.png"/>
          <p:cNvPicPr>
            <a:picLocks noChangeAspect="1"/>
          </p:cNvPicPr>
          <p:nvPr/>
        </p:nvPicPr>
        <p:blipFill>
          <a:blip r:embed="rId4"/>
          <a:stretch>
            <a:fillRect/>
          </a:stretch>
        </p:blipFill>
        <p:spPr>
          <a:xfrm>
            <a:off x="9326880" y="5989320"/>
            <a:ext cx="2560320" cy="6400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F05 · How It Works</a:t>
            </a:r>
          </a:p>
        </p:txBody>
      </p:sp>
      <p:sp>
        <p:nvSpPr>
          <p:cNvPr id="3" name="Content Placeholder 2"/>
          <p:cNvSpPr>
            <a:spLocks noGrp="1"/>
          </p:cNvSpPr>
          <p:nvPr>
            <p:ph idx="1"/>
          </p:nvPr>
        </p:nvSpPr>
        <p:spPr>
          <a:xfrm>
            <a:off x="612648" y="2788920"/>
            <a:ext cx="10966704" cy="3749040"/>
          </a:xfrm>
        </p:spPr>
        <p:txBody>
          <a:bodyPr wrap="square"/>
          <a:lstStyle/>
          <a:p>
            <a:endParaRPr/>
          </a:p>
        </p:txBody>
      </p:sp>
      <p:sp>
        <p:nvSpPr>
          <p:cNvPr id="4" name="TextBox 3"/>
          <p:cNvSpPr txBox="1"/>
          <p:nvPr/>
        </p:nvSpPr>
        <p:spPr>
          <a:xfrm>
            <a:off x="612648" y="1737360"/>
            <a:ext cx="1371600" cy="822960"/>
          </a:xfrm>
          <a:prstGeom prst="rect">
            <a:avLst/>
          </a:prstGeom>
          <a:noFill/>
        </p:spPr>
        <p:txBody>
          <a:bodyPr wrap="square" anchor="ctr">
            <a:spAutoFit/>
          </a:bodyPr>
          <a:lstStyle/>
          <a:p>
            <a:r>
              <a:rPr sz="1400" i="1"/>
              <a:t>Index, once</a:t>
            </a:r>
          </a:p>
        </p:txBody>
      </p:sp>
      <p:sp>
        <p:nvSpPr>
          <p:cNvPr id="5" name="Rounded Rectangle 4"/>
          <p:cNvSpPr/>
          <p:nvPr/>
        </p:nvSpPr>
        <p:spPr>
          <a:xfrm>
            <a:off x="2075688" y="1737360"/>
            <a:ext cx="2067306"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Park docs</a:t>
            </a:r>
          </a:p>
        </p:txBody>
      </p:sp>
      <p:sp>
        <p:nvSpPr>
          <p:cNvPr id="6" name="Right Arrow 5"/>
          <p:cNvSpPr/>
          <p:nvPr/>
        </p:nvSpPr>
        <p:spPr>
          <a:xfrm>
            <a:off x="4197858"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54474" y="1737360"/>
            <a:ext cx="2067306"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Split into chunks</a:t>
            </a:r>
          </a:p>
        </p:txBody>
      </p:sp>
      <p:sp>
        <p:nvSpPr>
          <p:cNvPr id="8" name="Right Arrow 7"/>
          <p:cNvSpPr/>
          <p:nvPr/>
        </p:nvSpPr>
        <p:spPr>
          <a:xfrm>
            <a:off x="6676644"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033260" y="1737360"/>
            <a:ext cx="2067306"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Embed each chunk</a:t>
            </a:r>
          </a:p>
        </p:txBody>
      </p:sp>
      <p:sp>
        <p:nvSpPr>
          <p:cNvPr id="10" name="Right Arrow 9"/>
          <p:cNvSpPr/>
          <p:nvPr/>
        </p:nvSpPr>
        <p:spPr>
          <a:xfrm>
            <a:off x="9155430"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512046" y="1737360"/>
            <a:ext cx="2067306"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Store vector + text + source id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F05 · How It Works</a:t>
            </a:r>
          </a:p>
        </p:txBody>
      </p:sp>
      <p:sp>
        <p:nvSpPr>
          <p:cNvPr id="3" name="Content Placeholder 2"/>
          <p:cNvSpPr>
            <a:spLocks noGrp="1"/>
          </p:cNvSpPr>
          <p:nvPr>
            <p:ph idx="1"/>
          </p:nvPr>
        </p:nvSpPr>
        <p:spPr>
          <a:xfrm>
            <a:off x="612648" y="5522976"/>
            <a:ext cx="10966704" cy="1014984"/>
          </a:xfrm>
        </p:spPr>
        <p:txBody>
          <a:bodyPr wrap="square"/>
          <a:lstStyle/>
          <a:p>
            <a:endParaRPr/>
          </a:p>
        </p:txBody>
      </p:sp>
      <p:sp>
        <p:nvSpPr>
          <p:cNvPr id="4" name="TextBox 3"/>
          <p:cNvSpPr txBox="1"/>
          <p:nvPr/>
        </p:nvSpPr>
        <p:spPr>
          <a:xfrm>
            <a:off x="612648" y="1737360"/>
            <a:ext cx="1371600" cy="822960"/>
          </a:xfrm>
          <a:prstGeom prst="rect">
            <a:avLst/>
          </a:prstGeom>
          <a:noFill/>
        </p:spPr>
        <p:txBody>
          <a:bodyPr wrap="square" anchor="ctr">
            <a:spAutoFit/>
          </a:bodyPr>
          <a:lstStyle/>
          <a:p>
            <a:r>
              <a:rPr sz="1400" i="1"/>
              <a:t>Index, once</a:t>
            </a:r>
          </a:p>
        </p:txBody>
      </p:sp>
      <p:sp>
        <p:nvSpPr>
          <p:cNvPr id="5" name="Rounded Rectangle 4"/>
          <p:cNvSpPr/>
          <p:nvPr/>
        </p:nvSpPr>
        <p:spPr>
          <a:xfrm>
            <a:off x="2075688" y="1737360"/>
            <a:ext cx="2067306"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Park docs</a:t>
            </a:r>
          </a:p>
        </p:txBody>
      </p:sp>
      <p:sp>
        <p:nvSpPr>
          <p:cNvPr id="6" name="Right Arrow 5"/>
          <p:cNvSpPr/>
          <p:nvPr/>
        </p:nvSpPr>
        <p:spPr>
          <a:xfrm>
            <a:off x="4197858"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54474" y="1737360"/>
            <a:ext cx="2067306"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Split into chunks</a:t>
            </a:r>
          </a:p>
        </p:txBody>
      </p:sp>
      <p:sp>
        <p:nvSpPr>
          <p:cNvPr id="8" name="Right Arrow 7"/>
          <p:cNvSpPr/>
          <p:nvPr/>
        </p:nvSpPr>
        <p:spPr>
          <a:xfrm>
            <a:off x="6676644"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033260" y="1737360"/>
            <a:ext cx="2067306"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Embed each chunk</a:t>
            </a:r>
          </a:p>
        </p:txBody>
      </p:sp>
      <p:sp>
        <p:nvSpPr>
          <p:cNvPr id="10" name="Right Arrow 9"/>
          <p:cNvSpPr/>
          <p:nvPr/>
        </p:nvSpPr>
        <p:spPr>
          <a:xfrm>
            <a:off x="9155430"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512046" y="1737360"/>
            <a:ext cx="2067306"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Store vector + text + source id</a:t>
            </a:r>
          </a:p>
        </p:txBody>
      </p:sp>
      <p:sp>
        <p:nvSpPr>
          <p:cNvPr id="12" name="TextBox 11"/>
          <p:cNvSpPr txBox="1"/>
          <p:nvPr/>
        </p:nvSpPr>
        <p:spPr>
          <a:xfrm>
            <a:off x="612648" y="2834640"/>
            <a:ext cx="1371600" cy="2459736"/>
          </a:xfrm>
          <a:prstGeom prst="rect">
            <a:avLst/>
          </a:prstGeom>
          <a:noFill/>
        </p:spPr>
        <p:txBody>
          <a:bodyPr wrap="square" anchor="ctr">
            <a:spAutoFit/>
          </a:bodyPr>
          <a:lstStyle/>
          <a:p>
            <a:r>
              <a:rPr sz="1400" i="1"/>
              <a:t>Answer, each question</a:t>
            </a:r>
          </a:p>
        </p:txBody>
      </p:sp>
      <p:sp>
        <p:nvSpPr>
          <p:cNvPr id="13" name="Rounded Rectangle 12"/>
          <p:cNvSpPr/>
          <p:nvPr/>
        </p:nvSpPr>
        <p:spPr>
          <a:xfrm>
            <a:off x="2075688"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Question</a:t>
            </a:r>
          </a:p>
        </p:txBody>
      </p:sp>
      <p:sp>
        <p:nvSpPr>
          <p:cNvPr id="14" name="Right Arrow 13"/>
          <p:cNvSpPr/>
          <p:nvPr/>
        </p:nvSpPr>
        <p:spPr>
          <a:xfrm>
            <a:off x="3371596" y="3918204"/>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728212"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Embed</a:t>
            </a:r>
          </a:p>
        </p:txBody>
      </p:sp>
      <p:sp>
        <p:nvSpPr>
          <p:cNvPr id="16" name="Right Arrow 15"/>
          <p:cNvSpPr/>
          <p:nvPr/>
        </p:nvSpPr>
        <p:spPr>
          <a:xfrm>
            <a:off x="5024120" y="3918204"/>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380736"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Retrieve top chunks (vector + keyword)</a:t>
            </a:r>
          </a:p>
        </p:txBody>
      </p:sp>
      <p:sp>
        <p:nvSpPr>
          <p:cNvPr id="18" name="Right Arrow 17"/>
          <p:cNvSpPr/>
          <p:nvPr/>
        </p:nvSpPr>
        <p:spPr>
          <a:xfrm>
            <a:off x="6676644" y="3918204"/>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033260"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Prompt: chunks + question + "answer only from these, cite, or say you don't know"</a:t>
            </a:r>
          </a:p>
        </p:txBody>
      </p:sp>
      <p:sp>
        <p:nvSpPr>
          <p:cNvPr id="20" name="Right Arrow 19"/>
          <p:cNvSpPr/>
          <p:nvPr/>
        </p:nvSpPr>
        <p:spPr>
          <a:xfrm>
            <a:off x="8329168" y="3918204"/>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685784"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gpt-4.1</a:t>
            </a:r>
          </a:p>
        </p:txBody>
      </p:sp>
      <p:sp>
        <p:nvSpPr>
          <p:cNvPr id="22" name="Right Arrow 21"/>
          <p:cNvSpPr/>
          <p:nvPr/>
        </p:nvSpPr>
        <p:spPr>
          <a:xfrm>
            <a:off x="9981692" y="3918204"/>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338308"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Answer with citations your code checks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F05 · How It Works</a:t>
            </a:r>
          </a:p>
        </p:txBody>
      </p:sp>
      <p:sp>
        <p:nvSpPr>
          <p:cNvPr id="3" name="Content Placeholder 2"/>
          <p:cNvSpPr>
            <a:spLocks noGrp="1"/>
          </p:cNvSpPr>
          <p:nvPr>
            <p:ph idx="1"/>
          </p:nvPr>
        </p:nvSpPr>
        <p:spPr>
          <a:xfrm>
            <a:off x="612648" y="5522976"/>
            <a:ext cx="10966704" cy="1014984"/>
          </a:xfrm>
        </p:spPr>
        <p:txBody>
          <a:bodyPr wrap="square"/>
          <a:lstStyle/>
          <a:p>
            <a:r>
              <a:rPr sz="2800"/>
              <a:t>Retrieval = 04 · generation = 01, with reading material</a:t>
            </a:r>
          </a:p>
        </p:txBody>
      </p:sp>
      <p:sp>
        <p:nvSpPr>
          <p:cNvPr id="4" name="TextBox 3"/>
          <p:cNvSpPr txBox="1"/>
          <p:nvPr/>
        </p:nvSpPr>
        <p:spPr>
          <a:xfrm>
            <a:off x="612648" y="1737360"/>
            <a:ext cx="1371600" cy="822960"/>
          </a:xfrm>
          <a:prstGeom prst="rect">
            <a:avLst/>
          </a:prstGeom>
          <a:noFill/>
        </p:spPr>
        <p:txBody>
          <a:bodyPr wrap="square" anchor="ctr">
            <a:spAutoFit/>
          </a:bodyPr>
          <a:lstStyle/>
          <a:p>
            <a:r>
              <a:rPr sz="1400" i="1"/>
              <a:t>Index, once</a:t>
            </a:r>
          </a:p>
        </p:txBody>
      </p:sp>
      <p:sp>
        <p:nvSpPr>
          <p:cNvPr id="5" name="Rounded Rectangle 4"/>
          <p:cNvSpPr/>
          <p:nvPr/>
        </p:nvSpPr>
        <p:spPr>
          <a:xfrm>
            <a:off x="2075688" y="1737360"/>
            <a:ext cx="2067306"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Park docs</a:t>
            </a:r>
          </a:p>
        </p:txBody>
      </p:sp>
      <p:sp>
        <p:nvSpPr>
          <p:cNvPr id="6" name="Right Arrow 5"/>
          <p:cNvSpPr/>
          <p:nvPr/>
        </p:nvSpPr>
        <p:spPr>
          <a:xfrm>
            <a:off x="4197858"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54474" y="1737360"/>
            <a:ext cx="2067306"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Split into chunks</a:t>
            </a:r>
          </a:p>
        </p:txBody>
      </p:sp>
      <p:sp>
        <p:nvSpPr>
          <p:cNvPr id="8" name="Right Arrow 7"/>
          <p:cNvSpPr/>
          <p:nvPr/>
        </p:nvSpPr>
        <p:spPr>
          <a:xfrm>
            <a:off x="6676644"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033260" y="1737360"/>
            <a:ext cx="2067306"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Embed each chunk</a:t>
            </a:r>
          </a:p>
        </p:txBody>
      </p:sp>
      <p:sp>
        <p:nvSpPr>
          <p:cNvPr id="10" name="Right Arrow 9"/>
          <p:cNvSpPr/>
          <p:nvPr/>
        </p:nvSpPr>
        <p:spPr>
          <a:xfrm>
            <a:off x="9155430"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512046" y="1737360"/>
            <a:ext cx="2067306"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Store vector + text + source id</a:t>
            </a:r>
          </a:p>
        </p:txBody>
      </p:sp>
      <p:sp>
        <p:nvSpPr>
          <p:cNvPr id="12" name="TextBox 11"/>
          <p:cNvSpPr txBox="1"/>
          <p:nvPr/>
        </p:nvSpPr>
        <p:spPr>
          <a:xfrm>
            <a:off x="612648" y="2834640"/>
            <a:ext cx="1371600" cy="2459736"/>
          </a:xfrm>
          <a:prstGeom prst="rect">
            <a:avLst/>
          </a:prstGeom>
          <a:noFill/>
        </p:spPr>
        <p:txBody>
          <a:bodyPr wrap="square" anchor="ctr">
            <a:spAutoFit/>
          </a:bodyPr>
          <a:lstStyle/>
          <a:p>
            <a:r>
              <a:rPr sz="1400" i="1"/>
              <a:t>Answer, each question</a:t>
            </a:r>
          </a:p>
        </p:txBody>
      </p:sp>
      <p:sp>
        <p:nvSpPr>
          <p:cNvPr id="13" name="Rounded Rectangle 12"/>
          <p:cNvSpPr/>
          <p:nvPr/>
        </p:nvSpPr>
        <p:spPr>
          <a:xfrm>
            <a:off x="2075688"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Question</a:t>
            </a:r>
          </a:p>
        </p:txBody>
      </p:sp>
      <p:sp>
        <p:nvSpPr>
          <p:cNvPr id="14" name="Right Arrow 13"/>
          <p:cNvSpPr/>
          <p:nvPr/>
        </p:nvSpPr>
        <p:spPr>
          <a:xfrm>
            <a:off x="3371596" y="3918204"/>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728212"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Embed</a:t>
            </a:r>
          </a:p>
        </p:txBody>
      </p:sp>
      <p:sp>
        <p:nvSpPr>
          <p:cNvPr id="16" name="Right Arrow 15"/>
          <p:cNvSpPr/>
          <p:nvPr/>
        </p:nvSpPr>
        <p:spPr>
          <a:xfrm>
            <a:off x="5024120" y="3918204"/>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380736"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Retrieve top chunks (vector + keyword)</a:t>
            </a:r>
          </a:p>
        </p:txBody>
      </p:sp>
      <p:sp>
        <p:nvSpPr>
          <p:cNvPr id="18" name="Right Arrow 17"/>
          <p:cNvSpPr/>
          <p:nvPr/>
        </p:nvSpPr>
        <p:spPr>
          <a:xfrm>
            <a:off x="6676644" y="3918204"/>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033260"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Prompt: chunks + question + "answer only from these, cite, or say you don't know"</a:t>
            </a:r>
          </a:p>
        </p:txBody>
      </p:sp>
      <p:sp>
        <p:nvSpPr>
          <p:cNvPr id="20" name="Right Arrow 19"/>
          <p:cNvSpPr/>
          <p:nvPr/>
        </p:nvSpPr>
        <p:spPr>
          <a:xfrm>
            <a:off x="8329168" y="3918204"/>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685784"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gpt-4.1</a:t>
            </a:r>
          </a:p>
        </p:txBody>
      </p:sp>
      <p:sp>
        <p:nvSpPr>
          <p:cNvPr id="22" name="Right Arrow 21"/>
          <p:cNvSpPr/>
          <p:nvPr/>
        </p:nvSpPr>
        <p:spPr>
          <a:xfrm>
            <a:off x="9981692" y="3918204"/>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338308"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Answer with citations your code checks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F05 · How It Works</a:t>
            </a:r>
          </a:p>
        </p:txBody>
      </p:sp>
      <p:sp>
        <p:nvSpPr>
          <p:cNvPr id="3" name="Content Placeholder 2"/>
          <p:cNvSpPr>
            <a:spLocks noGrp="1"/>
          </p:cNvSpPr>
          <p:nvPr>
            <p:ph idx="1"/>
          </p:nvPr>
        </p:nvSpPr>
        <p:spPr>
          <a:xfrm>
            <a:off x="612648" y="5522976"/>
            <a:ext cx="10966704" cy="1014984"/>
          </a:xfrm>
        </p:spPr>
        <p:txBody>
          <a:bodyPr wrap="square"/>
          <a:lstStyle/>
          <a:p>
            <a:r>
              <a:rPr sz="2800"/>
              <a:t>Retrieval = 04 · generation = 01, with reading material</a:t>
            </a:r>
          </a:p>
          <a:p>
            <a:r>
              <a:rPr sz="2800"/>
              <a:t>The model reads instead of remembers</a:t>
            </a:r>
          </a:p>
        </p:txBody>
      </p:sp>
      <p:sp>
        <p:nvSpPr>
          <p:cNvPr id="4" name="TextBox 3"/>
          <p:cNvSpPr txBox="1"/>
          <p:nvPr/>
        </p:nvSpPr>
        <p:spPr>
          <a:xfrm>
            <a:off x="612648" y="1737360"/>
            <a:ext cx="1371600" cy="822960"/>
          </a:xfrm>
          <a:prstGeom prst="rect">
            <a:avLst/>
          </a:prstGeom>
          <a:noFill/>
        </p:spPr>
        <p:txBody>
          <a:bodyPr wrap="square" anchor="ctr">
            <a:spAutoFit/>
          </a:bodyPr>
          <a:lstStyle/>
          <a:p>
            <a:r>
              <a:rPr sz="1400" i="1"/>
              <a:t>Index, once</a:t>
            </a:r>
          </a:p>
        </p:txBody>
      </p:sp>
      <p:sp>
        <p:nvSpPr>
          <p:cNvPr id="5" name="Rounded Rectangle 4"/>
          <p:cNvSpPr/>
          <p:nvPr/>
        </p:nvSpPr>
        <p:spPr>
          <a:xfrm>
            <a:off x="2075688" y="1737360"/>
            <a:ext cx="2067306"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Park docs</a:t>
            </a:r>
          </a:p>
        </p:txBody>
      </p:sp>
      <p:sp>
        <p:nvSpPr>
          <p:cNvPr id="6" name="Right Arrow 5"/>
          <p:cNvSpPr/>
          <p:nvPr/>
        </p:nvSpPr>
        <p:spPr>
          <a:xfrm>
            <a:off x="4197858"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54474" y="1737360"/>
            <a:ext cx="2067306"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Split into chunks</a:t>
            </a:r>
          </a:p>
        </p:txBody>
      </p:sp>
      <p:sp>
        <p:nvSpPr>
          <p:cNvPr id="8" name="Right Arrow 7"/>
          <p:cNvSpPr/>
          <p:nvPr/>
        </p:nvSpPr>
        <p:spPr>
          <a:xfrm>
            <a:off x="6676644"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033260" y="1737360"/>
            <a:ext cx="2067306"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Embed each chunk</a:t>
            </a:r>
          </a:p>
        </p:txBody>
      </p:sp>
      <p:sp>
        <p:nvSpPr>
          <p:cNvPr id="10" name="Right Arrow 9"/>
          <p:cNvSpPr/>
          <p:nvPr/>
        </p:nvSpPr>
        <p:spPr>
          <a:xfrm>
            <a:off x="9155430"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512046" y="1737360"/>
            <a:ext cx="2067306"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Store vector + text + source id</a:t>
            </a:r>
          </a:p>
        </p:txBody>
      </p:sp>
      <p:sp>
        <p:nvSpPr>
          <p:cNvPr id="12" name="TextBox 11"/>
          <p:cNvSpPr txBox="1"/>
          <p:nvPr/>
        </p:nvSpPr>
        <p:spPr>
          <a:xfrm>
            <a:off x="612648" y="2834640"/>
            <a:ext cx="1371600" cy="2459736"/>
          </a:xfrm>
          <a:prstGeom prst="rect">
            <a:avLst/>
          </a:prstGeom>
          <a:noFill/>
        </p:spPr>
        <p:txBody>
          <a:bodyPr wrap="square" anchor="ctr">
            <a:spAutoFit/>
          </a:bodyPr>
          <a:lstStyle/>
          <a:p>
            <a:r>
              <a:rPr sz="1400" i="1"/>
              <a:t>Answer, each question</a:t>
            </a:r>
          </a:p>
        </p:txBody>
      </p:sp>
      <p:sp>
        <p:nvSpPr>
          <p:cNvPr id="13" name="Rounded Rectangle 12"/>
          <p:cNvSpPr/>
          <p:nvPr/>
        </p:nvSpPr>
        <p:spPr>
          <a:xfrm>
            <a:off x="2075688"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Question</a:t>
            </a:r>
          </a:p>
        </p:txBody>
      </p:sp>
      <p:sp>
        <p:nvSpPr>
          <p:cNvPr id="14" name="Right Arrow 13"/>
          <p:cNvSpPr/>
          <p:nvPr/>
        </p:nvSpPr>
        <p:spPr>
          <a:xfrm>
            <a:off x="3371596" y="3918204"/>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728212"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Embed</a:t>
            </a:r>
          </a:p>
        </p:txBody>
      </p:sp>
      <p:sp>
        <p:nvSpPr>
          <p:cNvPr id="16" name="Right Arrow 15"/>
          <p:cNvSpPr/>
          <p:nvPr/>
        </p:nvSpPr>
        <p:spPr>
          <a:xfrm>
            <a:off x="5024120" y="3918204"/>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380736"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Retrieve top chunks (vector + keyword)</a:t>
            </a:r>
          </a:p>
        </p:txBody>
      </p:sp>
      <p:sp>
        <p:nvSpPr>
          <p:cNvPr id="18" name="Right Arrow 17"/>
          <p:cNvSpPr/>
          <p:nvPr/>
        </p:nvSpPr>
        <p:spPr>
          <a:xfrm>
            <a:off x="6676644" y="3918204"/>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033260"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Prompt: chunks + question + "answer only from these, cite, or say you don't know"</a:t>
            </a:r>
          </a:p>
        </p:txBody>
      </p:sp>
      <p:sp>
        <p:nvSpPr>
          <p:cNvPr id="20" name="Right Arrow 19"/>
          <p:cNvSpPr/>
          <p:nvPr/>
        </p:nvSpPr>
        <p:spPr>
          <a:xfrm>
            <a:off x="8329168" y="3918204"/>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685784"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gpt-4.1</a:t>
            </a:r>
          </a:p>
        </p:txBody>
      </p:sp>
      <p:sp>
        <p:nvSpPr>
          <p:cNvPr id="22" name="Right Arrow 21"/>
          <p:cNvSpPr/>
          <p:nvPr/>
        </p:nvSpPr>
        <p:spPr>
          <a:xfrm>
            <a:off x="9981692" y="3918204"/>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338308"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Answer with citations your code checks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F05 · How It Works</a:t>
            </a:r>
          </a:p>
        </p:txBody>
      </p:sp>
      <p:sp>
        <p:nvSpPr>
          <p:cNvPr id="3" name="Content Placeholder 2"/>
          <p:cNvSpPr>
            <a:spLocks noGrp="1"/>
          </p:cNvSpPr>
          <p:nvPr>
            <p:ph idx="1"/>
          </p:nvPr>
        </p:nvSpPr>
        <p:spPr>
          <a:xfrm>
            <a:off x="612648" y="5522976"/>
            <a:ext cx="10966704" cy="1014984"/>
          </a:xfrm>
        </p:spPr>
        <p:txBody>
          <a:bodyPr wrap="square">
            <a:normAutofit fontScale="77500" lnSpcReduction="20000"/>
          </a:bodyPr>
          <a:lstStyle/>
          <a:p>
            <a:r>
              <a:rPr sz="2800"/>
              <a:t>Retrieval = 04 · generation = 01, with reading material</a:t>
            </a:r>
          </a:p>
          <a:p>
            <a:r>
              <a:rPr sz="2800"/>
              <a:t>The model reads instead of remembers</a:t>
            </a:r>
          </a:p>
          <a:p>
            <a:r>
              <a:rPr sz="2800"/>
              <a:t>Two failure spots: the wrong chunk, or a bad split</a:t>
            </a:r>
          </a:p>
        </p:txBody>
      </p:sp>
      <p:sp>
        <p:nvSpPr>
          <p:cNvPr id="4" name="TextBox 3"/>
          <p:cNvSpPr txBox="1"/>
          <p:nvPr/>
        </p:nvSpPr>
        <p:spPr>
          <a:xfrm>
            <a:off x="612648" y="1737360"/>
            <a:ext cx="1371600" cy="822960"/>
          </a:xfrm>
          <a:prstGeom prst="rect">
            <a:avLst/>
          </a:prstGeom>
          <a:noFill/>
        </p:spPr>
        <p:txBody>
          <a:bodyPr wrap="square" anchor="ctr">
            <a:spAutoFit/>
          </a:bodyPr>
          <a:lstStyle/>
          <a:p>
            <a:r>
              <a:rPr sz="1400" i="1"/>
              <a:t>Index, once</a:t>
            </a:r>
          </a:p>
        </p:txBody>
      </p:sp>
      <p:sp>
        <p:nvSpPr>
          <p:cNvPr id="5" name="Rounded Rectangle 4"/>
          <p:cNvSpPr/>
          <p:nvPr/>
        </p:nvSpPr>
        <p:spPr>
          <a:xfrm>
            <a:off x="2075688" y="1737360"/>
            <a:ext cx="2067306"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Park docs</a:t>
            </a:r>
          </a:p>
        </p:txBody>
      </p:sp>
      <p:sp>
        <p:nvSpPr>
          <p:cNvPr id="6" name="Right Arrow 5"/>
          <p:cNvSpPr/>
          <p:nvPr/>
        </p:nvSpPr>
        <p:spPr>
          <a:xfrm>
            <a:off x="4197858"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554474" y="1737360"/>
            <a:ext cx="2067306"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Split into chunks</a:t>
            </a:r>
          </a:p>
        </p:txBody>
      </p:sp>
      <p:sp>
        <p:nvSpPr>
          <p:cNvPr id="8" name="Right Arrow 7"/>
          <p:cNvSpPr/>
          <p:nvPr/>
        </p:nvSpPr>
        <p:spPr>
          <a:xfrm>
            <a:off x="6676644"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033260" y="1737360"/>
            <a:ext cx="2067306"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Embed each chunk</a:t>
            </a:r>
          </a:p>
        </p:txBody>
      </p:sp>
      <p:sp>
        <p:nvSpPr>
          <p:cNvPr id="10" name="Right Arrow 9"/>
          <p:cNvSpPr/>
          <p:nvPr/>
        </p:nvSpPr>
        <p:spPr>
          <a:xfrm>
            <a:off x="9155430" y="2002536"/>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512046" y="1737360"/>
            <a:ext cx="2067306" cy="822960"/>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500">
                <a:solidFill>
                  <a:srgbClr val="000000"/>
                </a:solidFill>
              </a:rPr>
              <a:t>Store vector + text + source id</a:t>
            </a:r>
          </a:p>
        </p:txBody>
      </p:sp>
      <p:sp>
        <p:nvSpPr>
          <p:cNvPr id="12" name="TextBox 11"/>
          <p:cNvSpPr txBox="1"/>
          <p:nvPr/>
        </p:nvSpPr>
        <p:spPr>
          <a:xfrm>
            <a:off x="612648" y="2834640"/>
            <a:ext cx="1371600" cy="2459736"/>
          </a:xfrm>
          <a:prstGeom prst="rect">
            <a:avLst/>
          </a:prstGeom>
          <a:noFill/>
        </p:spPr>
        <p:txBody>
          <a:bodyPr wrap="square" anchor="ctr">
            <a:spAutoFit/>
          </a:bodyPr>
          <a:lstStyle/>
          <a:p>
            <a:r>
              <a:rPr sz="1400" i="1"/>
              <a:t>Answer, each question</a:t>
            </a:r>
          </a:p>
        </p:txBody>
      </p:sp>
      <p:sp>
        <p:nvSpPr>
          <p:cNvPr id="13" name="Rounded Rectangle 12"/>
          <p:cNvSpPr/>
          <p:nvPr/>
        </p:nvSpPr>
        <p:spPr>
          <a:xfrm>
            <a:off x="2075688"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Question</a:t>
            </a:r>
          </a:p>
        </p:txBody>
      </p:sp>
      <p:sp>
        <p:nvSpPr>
          <p:cNvPr id="14" name="Right Arrow 13"/>
          <p:cNvSpPr/>
          <p:nvPr/>
        </p:nvSpPr>
        <p:spPr>
          <a:xfrm>
            <a:off x="3371596" y="3918204"/>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728212"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Embed</a:t>
            </a:r>
          </a:p>
        </p:txBody>
      </p:sp>
      <p:sp>
        <p:nvSpPr>
          <p:cNvPr id="16" name="Right Arrow 15"/>
          <p:cNvSpPr/>
          <p:nvPr/>
        </p:nvSpPr>
        <p:spPr>
          <a:xfrm>
            <a:off x="5024120" y="3918204"/>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5380736"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Retrieve top chunks (vector + keyword)</a:t>
            </a:r>
          </a:p>
        </p:txBody>
      </p:sp>
      <p:sp>
        <p:nvSpPr>
          <p:cNvPr id="18" name="Right Arrow 17"/>
          <p:cNvSpPr/>
          <p:nvPr/>
        </p:nvSpPr>
        <p:spPr>
          <a:xfrm>
            <a:off x="6676644" y="3918204"/>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7033260"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Prompt: chunks + question + "answer only from these, cite, or say you don't know"</a:t>
            </a:r>
          </a:p>
        </p:txBody>
      </p:sp>
      <p:sp>
        <p:nvSpPr>
          <p:cNvPr id="20" name="Right Arrow 19"/>
          <p:cNvSpPr/>
          <p:nvPr/>
        </p:nvSpPr>
        <p:spPr>
          <a:xfrm>
            <a:off x="8329168" y="3918204"/>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8685784"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gpt-4.1</a:t>
            </a:r>
          </a:p>
        </p:txBody>
      </p:sp>
      <p:sp>
        <p:nvSpPr>
          <p:cNvPr id="22" name="Right Arrow 21"/>
          <p:cNvSpPr/>
          <p:nvPr/>
        </p:nvSpPr>
        <p:spPr>
          <a:xfrm>
            <a:off x="9981692" y="3918204"/>
            <a:ext cx="301752" cy="292608"/>
          </a:xfrm>
          <a:prstGeom prst="rightArrow">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10338308" y="2834640"/>
            <a:ext cx="1241044" cy="2459736"/>
          </a:xfrm>
          <a:prstGeom prst="roundRect">
            <a:avLst/>
          </a:prstGeom>
          <a:noFill/>
          <a:ln w="22225">
            <a:solidFill>
              <a:srgbClr val="017AB4"/>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300">
                <a:solidFill>
                  <a:srgbClr val="000000"/>
                </a:solidFill>
              </a:rPr>
              <a:t>Answer with citations your code checks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916936"/>
            <a:ext cx="10332720" cy="1014984"/>
          </a:xfrm>
          <a:prstGeom prst="rect">
            <a:avLst/>
          </a:prstGeom>
          <a:noFill/>
        </p:spPr>
        <p:txBody>
          <a:bodyPr wrap="square" anchor="ctr">
            <a:spAutoFit/>
          </a:bodyPr>
          <a:lstStyle/>
          <a:p>
            <a:pPr algn="ctr"/>
            <a:r>
              <a:rPr sz="6000" b="1">
                <a:solidFill>
                  <a:srgbClr val="FFFFFF"/>
                </a:solidFill>
              </a:rPr>
              <a:t>DEMO</a:t>
            </a:r>
            <a:r>
              <a:rPr sz="6000">
                <a:solidFill>
                  <a:srgbClr val="FFFFFF"/>
                </a:solidFill>
              </a:rPr>
              <a:t> · F05 RAG</a:t>
            </a:r>
          </a:p>
        </p:txBody>
      </p:sp>
      <p:pic>
        <p:nvPicPr>
          <p:cNvPr id="4" name="Picture 3" descr="image.png"/>
          <p:cNvPicPr>
            <a:picLocks noChangeAspect="1"/>
          </p:cNvPicPr>
          <p:nvPr/>
        </p:nvPicPr>
        <p:blipFill>
          <a:blip r:embed="rId2"/>
          <a:stretch>
            <a:fillRect/>
          </a:stretch>
        </p:blipFill>
        <p:spPr>
          <a:xfrm>
            <a:off x="9326880" y="5989320"/>
            <a:ext cx="2560320" cy="64008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F05 · RAG · Demo: What to Watch</a:t>
            </a:r>
          </a:p>
        </p:txBody>
      </p:sp>
      <p:sp>
        <p:nvSpPr>
          <p:cNvPr id="3" name="Content Placeholder 2"/>
          <p:cNvSpPr>
            <a:spLocks noGrp="1"/>
          </p:cNvSpPr>
          <p:nvPr>
            <p:ph idx="1"/>
          </p:nvPr>
        </p:nvSpPr>
        <p:spPr>
          <a:xfrm>
            <a:off x="612648" y="1920240"/>
            <a:ext cx="10966704" cy="4617720"/>
          </a:xfrm>
        </p:spPr>
        <p:txBody>
          <a:bodyPr wrap="square"/>
          <a:lstStyle/>
          <a:p>
            <a:r>
              <a:rPr sz="2400"/>
              <a:t>❌ No context: confident and wrong</a:t>
            </a:r>
          </a:p>
          <a:p>
            <a:r>
              <a:rPr sz="2400"/>
              <a:t>Embeddings only: 5 of 8 chunks, wrong park</a:t>
            </a:r>
          </a:p>
          <a:p>
            <a:r>
              <a:rPr sz="2400"/>
              <a:t>✅ Hybrid: "Sperry" starts to count</a:t>
            </a:r>
          </a:p>
          <a:p>
            <a:r>
              <a:rPr sz="2400"/>
              <a:t>✅ Grounded prompt: right answer, cited</a:t>
            </a:r>
          </a:p>
          <a:p>
            <a:r>
              <a:rPr sz="2400"/>
              <a:t>Citations are strings: validate the ids</a:t>
            </a:r>
          </a:p>
          <a:p>
            <a:r>
              <a:rPr sz="2400"/>
              <a:t>"Drone?" → "The documents don't say."</a:t>
            </a:r>
          </a:p>
          <a:p>
            <a:r>
              <a:rPr sz="2400"/>
              <a:t>"Open right now?" needs the date in the prompt</a:t>
            </a:r>
          </a:p>
          <a:p>
            <a:r>
              <a:rPr sz="2400"/>
              <a:t>One-line swap to </a:t>
            </a:r>
            <a:r>
              <a:rPr sz="2400">
                <a:latin typeface="Consolas"/>
              </a:rPr>
              <a:t>gpt-4.1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F05 · RAG · Leadership Card</a:t>
            </a:r>
          </a:p>
        </p:txBody>
      </p:sp>
      <p:sp>
        <p:nvSpPr>
          <p:cNvPr id="3" name="Content Placeholder 2"/>
          <p:cNvSpPr>
            <a:spLocks noGrp="1"/>
          </p:cNvSpPr>
          <p:nvPr>
            <p:ph idx="1"/>
          </p:nvPr>
        </p:nvSpPr>
        <p:spPr>
          <a:xfrm>
            <a:off x="612648" y="1920240"/>
            <a:ext cx="10966704" cy="4617720"/>
          </a:xfrm>
        </p:spPr>
        <p:txBody>
          <a:bodyPr wrap="square"/>
          <a:lstStyle/>
          <a:p>
            <a:pPr>
              <a:spcAft>
                <a:spcPts val="1400"/>
              </a:spcAft>
            </a:pPr>
            <a:r>
              <a:rPr sz="2800" b="1"/>
              <a:t>When:</a:t>
            </a:r>
            <a:r>
              <a:rPr sz="2800"/>
              <a:t> The org already wrote the answer down, and people still ask humans.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F05 · RAG · Leadership Card</a:t>
            </a:r>
          </a:p>
        </p:txBody>
      </p:sp>
      <p:sp>
        <p:nvSpPr>
          <p:cNvPr id="3" name="Content Placeholder 2"/>
          <p:cNvSpPr>
            <a:spLocks noGrp="1"/>
          </p:cNvSpPr>
          <p:nvPr>
            <p:ph idx="1"/>
          </p:nvPr>
        </p:nvSpPr>
        <p:spPr>
          <a:xfrm>
            <a:off x="612648" y="1920240"/>
            <a:ext cx="10966704" cy="4617720"/>
          </a:xfrm>
        </p:spPr>
        <p:txBody>
          <a:bodyPr wrap="square"/>
          <a:lstStyle/>
          <a:p>
            <a:pPr>
              <a:spcAft>
                <a:spcPts val="1400"/>
              </a:spcAft>
            </a:pPr>
            <a:r>
              <a:rPr sz="2800" b="1"/>
              <a:t>When:</a:t>
            </a:r>
            <a:r>
              <a:rPr sz="2800"/>
              <a:t> The org already wrote the answer down, and people still ask humans.</a:t>
            </a:r>
          </a:p>
          <a:p>
            <a:pPr>
              <a:spcAft>
                <a:spcPts val="1400"/>
              </a:spcAft>
            </a:pPr>
            <a:r>
              <a:rPr sz="2800" b="1"/>
              <a:t>Think:</a:t>
            </a:r>
            <a:r>
              <a:rPr sz="2800"/>
              <a:t> "Our documents already answer these questions. This makes them answer directly, with receipts."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F05 · RAG · Leadership Card</a:t>
            </a:r>
          </a:p>
        </p:txBody>
      </p:sp>
      <p:sp>
        <p:nvSpPr>
          <p:cNvPr id="3" name="Content Placeholder 2"/>
          <p:cNvSpPr>
            <a:spLocks noGrp="1"/>
          </p:cNvSpPr>
          <p:nvPr>
            <p:ph idx="1"/>
          </p:nvPr>
        </p:nvSpPr>
        <p:spPr>
          <a:xfrm>
            <a:off x="612648" y="1920240"/>
            <a:ext cx="10966704" cy="4617720"/>
          </a:xfrm>
        </p:spPr>
        <p:txBody>
          <a:bodyPr wrap="square"/>
          <a:lstStyle/>
          <a:p>
            <a:pPr>
              <a:spcAft>
                <a:spcPts val="1400"/>
              </a:spcAft>
            </a:pPr>
            <a:r>
              <a:rPr sz="2800" b="1"/>
              <a:t>When:</a:t>
            </a:r>
            <a:r>
              <a:rPr sz="2800"/>
              <a:t> The org already wrote the answer down, and people still ask humans.</a:t>
            </a:r>
          </a:p>
          <a:p>
            <a:pPr>
              <a:spcAft>
                <a:spcPts val="1400"/>
              </a:spcAft>
            </a:pPr>
            <a:r>
              <a:rPr sz="2800" b="1"/>
              <a:t>Think:</a:t>
            </a:r>
            <a:r>
              <a:rPr sz="2800"/>
              <a:t> "Our documents already answer these questions. This makes them answer directly, with receipts."</a:t>
            </a:r>
          </a:p>
          <a:p>
            <a:pPr>
              <a:spcAft>
                <a:spcPts val="1400"/>
              </a:spcAft>
            </a:pPr>
            <a:endParaRPr sz="2800"/>
          </a:p>
          <a:p>
            <a:pPr>
              <a:spcAft>
                <a:spcPts val="1400"/>
              </a:spcAft>
            </a:pPr>
            <a:r>
              <a:rPr sz="2800" b="1"/>
              <a:t>Difficulty:</a:t>
            </a:r>
            <a:r>
              <a:rPr sz="2800"/>
              <a:t> </a:t>
            </a:r>
          </a:p>
        </p:txBody>
      </p:sp>
      <p:sp>
        <p:nvSpPr>
          <p:cNvPr id="4" name="Rounded Rectangle 3"/>
          <p:cNvSpPr/>
          <p:nvPr/>
        </p:nvSpPr>
        <p:spPr>
          <a:xfrm>
            <a:off x="2807208" y="4809744"/>
            <a:ext cx="256032" cy="256032"/>
          </a:xfrm>
          <a:prstGeom prst="roundRect">
            <a:avLst>
              <a:gd name="adj" fmla="val 25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154680" y="4608576"/>
            <a:ext cx="256032" cy="457200"/>
          </a:xfrm>
          <a:prstGeom prst="roundRect">
            <a:avLst>
              <a:gd name="adj" fmla="val 25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502152" y="4407408"/>
            <a:ext cx="256032" cy="658368"/>
          </a:xfrm>
          <a:prstGeom prst="roundRect">
            <a:avLst>
              <a:gd name="adj" fmla="val 25000"/>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32888" y="5120640"/>
            <a:ext cx="1499616" cy="320040"/>
          </a:xfrm>
          <a:prstGeom prst="rect">
            <a:avLst/>
          </a:prstGeom>
          <a:noFill/>
        </p:spPr>
        <p:txBody>
          <a:bodyPr wrap="none">
            <a:spAutoFit/>
          </a:bodyPr>
          <a:lstStyle/>
          <a:p>
            <a:pPr algn="ctr"/>
            <a:r>
              <a:rPr sz="1400" b="1"/>
              <a:t>Hard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sz="4000" b="1">
                <a:solidFill>
                  <a:srgbClr val="017AB4"/>
                </a:solidFill>
              </a:rPr>
              <a:t>F06 · Recommendations</a:t>
            </a:r>
          </a:p>
        </p:txBody>
      </p:sp>
      <p:sp>
        <p:nvSpPr>
          <p:cNvPr id="3" name="Text Placeholder 2"/>
          <p:cNvSpPr>
            <a:spLocks noGrp="1"/>
          </p:cNvSpPr>
          <p:nvPr>
            <p:ph type="body" idx="1"/>
          </p:nvPr>
        </p:nvSpPr>
        <p:spPr/>
        <p:txBody>
          <a:bodyPr>
            <a:normAutofit lnSpcReduction="10000"/>
          </a:bodyPr>
          <a:lstStyle/>
          <a:p>
            <a:endParaRPr/>
          </a:p>
        </p:txBody>
      </p:sp>
      <p:pic>
        <p:nvPicPr>
          <p:cNvPr id="4" name="Picture 3" descr="image.png"/>
          <p:cNvPicPr>
            <a:picLocks noChangeAspect="1"/>
          </p:cNvPicPr>
          <p:nvPr/>
        </p:nvPicPr>
        <p:blipFill>
          <a:blip r:embed="rId3"/>
          <a:stretch>
            <a:fillRect/>
          </a:stretch>
        </p:blipFill>
        <p:spPr>
          <a:xfrm>
            <a:off x="9326880" y="5989320"/>
            <a:ext cx="2560320" cy="64008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route.png"/>
          <p:cNvPicPr>
            <a:picLocks noChangeAspect="1"/>
          </p:cNvPicPr>
          <p:nvPr/>
        </p:nvPicPr>
        <p:blipFill>
          <a:blip r:embed="rId3"/>
          <a:stretch>
            <a:fillRect/>
          </a:stretch>
        </p:blipFill>
        <p:spPr>
          <a:xfrm>
            <a:off x="5638800" y="1371600"/>
            <a:ext cx="914400" cy="914400"/>
          </a:xfrm>
          <a:prstGeom prst="rect">
            <a:avLst/>
          </a:prstGeom>
        </p:spPr>
      </p:pic>
      <p:sp>
        <p:nvSpPr>
          <p:cNvPr id="3" name="TextBox 2"/>
          <p:cNvSpPr txBox="1"/>
          <p:nvPr/>
        </p:nvSpPr>
        <p:spPr>
          <a:xfrm>
            <a:off x="914400" y="3178760"/>
            <a:ext cx="10332720" cy="1323439"/>
          </a:xfrm>
          <a:prstGeom prst="rect">
            <a:avLst/>
          </a:prstGeom>
          <a:noFill/>
        </p:spPr>
        <p:txBody>
          <a:bodyPr wrap="square" anchor="ctr">
            <a:spAutoFit/>
          </a:bodyPr>
          <a:lstStyle/>
          <a:p>
            <a:pPr algn="ctr"/>
            <a:r>
              <a:rPr sz="4000"/>
              <a:t>Suggest the </a:t>
            </a:r>
            <a:r>
              <a:rPr sz="4000" b="1">
                <a:solidFill>
                  <a:srgbClr val="017AB4"/>
                </a:solidFill>
              </a:rPr>
              <a:t>next thing</a:t>
            </a:r>
            <a:r>
              <a:rPr sz="4000"/>
              <a:t> a user will want, </a:t>
            </a:r>
            <a:endParaRPr lang="en-US" sz="4000"/>
          </a:p>
          <a:p>
            <a:pPr algn="ctr"/>
            <a:r>
              <a:rPr sz="4000"/>
              <a:t>from what they liked already.</a:t>
            </a:r>
          </a:p>
        </p:txBody>
      </p:sp>
      <p:pic>
        <p:nvPicPr>
          <p:cNvPr id="4" name="Picture 3" descr="image.png"/>
          <p:cNvPicPr>
            <a:picLocks noChangeAspect="1"/>
          </p:cNvPicPr>
          <p:nvPr/>
        </p:nvPicPr>
        <p:blipFill>
          <a:blip r:embed="rId4"/>
          <a:stretch>
            <a:fillRect/>
          </a:stretch>
        </p:blipFill>
        <p:spPr>
          <a:xfrm>
            <a:off x="9326880" y="5989320"/>
            <a:ext cx="2560320" cy="64008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2916936"/>
            <a:ext cx="10332720" cy="1014984"/>
          </a:xfrm>
          <a:prstGeom prst="rect">
            <a:avLst/>
          </a:prstGeom>
          <a:noFill/>
        </p:spPr>
        <p:txBody>
          <a:bodyPr wrap="square" anchor="ctr">
            <a:spAutoFit/>
          </a:bodyPr>
          <a:lstStyle/>
          <a:p>
            <a:pPr algn="ctr"/>
            <a:r>
              <a:rPr sz="6000" b="1">
                <a:solidFill>
                  <a:srgbClr val="FFFFFF"/>
                </a:solidFill>
              </a:rPr>
              <a:t>DEMO</a:t>
            </a:r>
            <a:r>
              <a:rPr sz="6000">
                <a:solidFill>
                  <a:srgbClr val="FFFFFF"/>
                </a:solidFill>
              </a:rPr>
              <a:t> · F06 Recommendations</a:t>
            </a:r>
          </a:p>
        </p:txBody>
      </p:sp>
      <p:pic>
        <p:nvPicPr>
          <p:cNvPr id="4" name="Picture 3" descr="image.png"/>
          <p:cNvPicPr>
            <a:picLocks noChangeAspect="1"/>
          </p:cNvPicPr>
          <p:nvPr/>
        </p:nvPicPr>
        <p:blipFill>
          <a:blip r:embed="rId2"/>
          <a:stretch>
            <a:fillRect/>
          </a:stretch>
        </p:blipFill>
        <p:spPr>
          <a:xfrm>
            <a:off x="9326880" y="5989320"/>
            <a:ext cx="2560320" cy="64008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F06 · Recommendations · Demo: What to Watch</a:t>
            </a:r>
          </a:p>
        </p:txBody>
      </p:sp>
      <p:sp>
        <p:nvSpPr>
          <p:cNvPr id="3" name="Content Placeholder 2"/>
          <p:cNvSpPr>
            <a:spLocks noGrp="1"/>
          </p:cNvSpPr>
          <p:nvPr>
            <p:ph idx="1"/>
          </p:nvPr>
        </p:nvSpPr>
        <p:spPr>
          <a:xfrm>
            <a:off x="612648" y="1920240"/>
            <a:ext cx="10966704" cy="4617720"/>
          </a:xfrm>
        </p:spPr>
        <p:txBody>
          <a:bodyPr wrap="square"/>
          <a:lstStyle/>
          <a:p>
            <a:r>
              <a:rPr sz="2800"/>
              <a:t>Same vectors, still in memory</a:t>
            </a:r>
          </a:p>
          <a:p>
            <a:r>
              <a:rPr sz="2800"/>
              <a:t>"More like this" = search, query → item</a:t>
            </a:r>
          </a:p>
          <a:p>
            <a:r>
              <a:rPr sz="2800"/>
              <a:t>Lakes cluster, but mostly hard, and one has no lake</a:t>
            </a:r>
          </a:p>
          <a:p>
            <a:r>
              <a:rPr sz="2800"/>
              <a:t>Difficulty and park aren't in the description text</a:t>
            </a:r>
          </a:p>
          <a:p>
            <a:r>
              <a:rPr sz="2800"/>
              <a:t>Cascade 65 → Cascade 40: substitutes, not complements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F06 · Recommendations · Leadership Card</a:t>
            </a:r>
          </a:p>
        </p:txBody>
      </p:sp>
      <p:sp>
        <p:nvSpPr>
          <p:cNvPr id="3" name="Content Placeholder 2"/>
          <p:cNvSpPr>
            <a:spLocks noGrp="1"/>
          </p:cNvSpPr>
          <p:nvPr>
            <p:ph idx="1"/>
          </p:nvPr>
        </p:nvSpPr>
        <p:spPr>
          <a:xfrm>
            <a:off x="612648" y="1920240"/>
            <a:ext cx="10966704" cy="4617720"/>
          </a:xfrm>
        </p:spPr>
        <p:txBody>
          <a:bodyPr wrap="square"/>
          <a:lstStyle/>
          <a:p>
            <a:pPr>
              <a:spcAft>
                <a:spcPts val="1400"/>
              </a:spcAft>
            </a:pPr>
            <a:r>
              <a:rPr sz="2800" b="1"/>
              <a:t>When:</a:t>
            </a:r>
            <a:r>
              <a:rPr sz="2800"/>
              <a:t> Users finish one thing and the product offers no next step.</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F06 · Recommendations · Leadership Card</a:t>
            </a:r>
          </a:p>
        </p:txBody>
      </p:sp>
      <p:sp>
        <p:nvSpPr>
          <p:cNvPr id="3" name="Content Placeholder 2"/>
          <p:cNvSpPr>
            <a:spLocks noGrp="1"/>
          </p:cNvSpPr>
          <p:nvPr>
            <p:ph idx="1"/>
          </p:nvPr>
        </p:nvSpPr>
        <p:spPr>
          <a:xfrm>
            <a:off x="612648" y="1920240"/>
            <a:ext cx="10966704" cy="4617720"/>
          </a:xfrm>
        </p:spPr>
        <p:txBody>
          <a:bodyPr wrap="square"/>
          <a:lstStyle/>
          <a:p>
            <a:pPr>
              <a:spcAft>
                <a:spcPts val="1400"/>
              </a:spcAft>
            </a:pPr>
            <a:r>
              <a:rPr sz="2800" b="1"/>
              <a:t>When:</a:t>
            </a:r>
            <a:r>
              <a:rPr sz="2800"/>
              <a:t> Users finish one thing and the product offers no next step.</a:t>
            </a:r>
          </a:p>
          <a:p>
            <a:pPr>
              <a:spcAft>
                <a:spcPts val="1400"/>
              </a:spcAft>
            </a:pPr>
            <a:r>
              <a:rPr sz="2800" b="1"/>
              <a:t>Think:</a:t>
            </a:r>
            <a:r>
              <a:rPr sz="2800"/>
              <a:t> "The same vectors that power our search give us 'more like this' for free."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F06 · Recommendations · Leadership Card</a:t>
            </a:r>
          </a:p>
        </p:txBody>
      </p:sp>
      <p:sp>
        <p:nvSpPr>
          <p:cNvPr id="3" name="Content Placeholder 2"/>
          <p:cNvSpPr>
            <a:spLocks noGrp="1"/>
          </p:cNvSpPr>
          <p:nvPr>
            <p:ph idx="1"/>
          </p:nvPr>
        </p:nvSpPr>
        <p:spPr>
          <a:xfrm>
            <a:off x="612648" y="1920240"/>
            <a:ext cx="10966704" cy="4617720"/>
          </a:xfrm>
        </p:spPr>
        <p:txBody>
          <a:bodyPr wrap="square"/>
          <a:lstStyle/>
          <a:p>
            <a:pPr>
              <a:spcAft>
                <a:spcPts val="1400"/>
              </a:spcAft>
            </a:pPr>
            <a:r>
              <a:rPr sz="2800" b="1" dirty="0"/>
              <a:t>When:</a:t>
            </a:r>
            <a:r>
              <a:rPr sz="2800" dirty="0"/>
              <a:t> Users finish one thing and the product offers no next step.</a:t>
            </a:r>
          </a:p>
          <a:p>
            <a:pPr>
              <a:spcAft>
                <a:spcPts val="1400"/>
              </a:spcAft>
            </a:pPr>
            <a:r>
              <a:rPr sz="2800" b="1" dirty="0"/>
              <a:t>Think:</a:t>
            </a:r>
            <a:r>
              <a:rPr sz="2800" dirty="0"/>
              <a:t> "The same vectors that power our search give </a:t>
            </a:r>
            <a:r>
              <a:rPr lang="en-US" sz="2800" dirty="0"/>
              <a:t>us</a:t>
            </a:r>
            <a:r>
              <a:rPr sz="2800" dirty="0"/>
              <a:t> 'more like this' for free."</a:t>
            </a:r>
          </a:p>
          <a:p>
            <a:pPr>
              <a:spcAft>
                <a:spcPts val="1400"/>
              </a:spcAft>
            </a:pPr>
            <a:endParaRPr sz="2800" dirty="0"/>
          </a:p>
          <a:p>
            <a:pPr>
              <a:spcAft>
                <a:spcPts val="1400"/>
              </a:spcAft>
            </a:pPr>
            <a:r>
              <a:rPr sz="2800" b="1" dirty="0"/>
              <a:t>Difficulty:</a:t>
            </a:r>
            <a:r>
              <a:rPr sz="2800" dirty="0"/>
              <a:t> </a:t>
            </a:r>
          </a:p>
        </p:txBody>
      </p:sp>
      <p:sp>
        <p:nvSpPr>
          <p:cNvPr id="4" name="Rounded Rectangle 3"/>
          <p:cNvSpPr/>
          <p:nvPr/>
        </p:nvSpPr>
        <p:spPr>
          <a:xfrm>
            <a:off x="2807208" y="4809744"/>
            <a:ext cx="256032" cy="256032"/>
          </a:xfrm>
          <a:prstGeom prst="roundRect">
            <a:avLst>
              <a:gd name="adj" fmla="val 25000"/>
            </a:avLst>
          </a:prstGeom>
          <a:solidFill>
            <a:srgbClr val="017A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154680" y="4608576"/>
            <a:ext cx="256032" cy="457200"/>
          </a:xfrm>
          <a:prstGeom prst="roundRect">
            <a:avLst>
              <a:gd name="adj" fmla="val 25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502152" y="4407408"/>
            <a:ext cx="256032" cy="658368"/>
          </a:xfrm>
          <a:prstGeom prst="roundRect">
            <a:avLst>
              <a:gd name="adj" fmla="val 25000"/>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532888" y="5120640"/>
            <a:ext cx="1499616" cy="320040"/>
          </a:xfrm>
          <a:prstGeom prst="rect">
            <a:avLst/>
          </a:prstGeom>
          <a:noFill/>
        </p:spPr>
        <p:txBody>
          <a:bodyPr wrap="none">
            <a:spAutoFit/>
          </a:bodyPr>
          <a:lstStyle/>
          <a:p>
            <a:pPr algn="ctr"/>
            <a:r>
              <a:rPr sz="1400" b="1"/>
              <a:t>Easy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Lab 2: ~50 Minutes</a:t>
            </a:r>
          </a:p>
        </p:txBody>
      </p:sp>
      <p:sp>
        <p:nvSpPr>
          <p:cNvPr id="3" name="Content Placeholder 2"/>
          <p:cNvSpPr>
            <a:spLocks noGrp="1"/>
          </p:cNvSpPr>
          <p:nvPr>
            <p:ph idx="1"/>
          </p:nvPr>
        </p:nvSpPr>
        <p:spPr>
          <a:xfrm>
            <a:off x="612648" y="1920240"/>
            <a:ext cx="10966704" cy="4617720"/>
          </a:xfrm>
        </p:spPr>
        <p:txBody>
          <a:bodyPr wrap="square"/>
          <a:lstStyle/>
          <a:p>
            <a:pPr marL="0" indent="0">
              <a:buNone/>
            </a:pPr>
            <a:r>
              <a:rPr sz="3600" dirty="0"/>
              <a:t>⭐ Recommended: </a:t>
            </a:r>
            <a:endParaRPr lang="en-US" sz="3600" dirty="0"/>
          </a:p>
          <a:p>
            <a:pPr marL="0" indent="0">
              <a:buNone/>
            </a:pPr>
            <a:r>
              <a:rPr sz="3600" b="1" dirty="0"/>
              <a:t>F04 Semantic Search</a:t>
            </a:r>
            <a:endParaRPr lang="en-US" sz="3600" b="1" dirty="0"/>
          </a:p>
          <a:p>
            <a:pPr marL="0" indent="0">
              <a:buNone/>
            </a:pPr>
            <a:endParaRPr sz="3600" b="1" dirty="0"/>
          </a:p>
          <a:p>
            <a:pPr marL="0" indent="0">
              <a:buNone/>
            </a:pPr>
            <a:r>
              <a:rPr sz="3600" dirty="0"/>
              <a:t>⛰️ Challenge: </a:t>
            </a:r>
            <a:endParaRPr lang="en-US" sz="3600" dirty="0"/>
          </a:p>
          <a:p>
            <a:pPr marL="0" indent="0">
              <a:buNone/>
            </a:pPr>
            <a:r>
              <a:rPr sz="3600" b="1" dirty="0"/>
              <a:t>F05 RAG</a:t>
            </a:r>
            <a:r>
              <a:rPr sz="3600" dirty="0"/>
              <a:t> (☁️ room key) · </a:t>
            </a:r>
            <a:r>
              <a:rPr sz="3600" b="1" dirty="0"/>
              <a:t>F06 Recommendations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Lab 2: Debrief</a:t>
            </a:r>
          </a:p>
        </p:txBody>
      </p:sp>
      <p:sp>
        <p:nvSpPr>
          <p:cNvPr id="3" name="Content Placeholder 2"/>
          <p:cNvSpPr>
            <a:spLocks noGrp="1"/>
          </p:cNvSpPr>
          <p:nvPr>
            <p:ph idx="1"/>
          </p:nvPr>
        </p:nvSpPr>
        <p:spPr>
          <a:xfrm>
            <a:off x="612648" y="1920240"/>
            <a:ext cx="10966704" cy="4617720"/>
          </a:xfrm>
        </p:spPr>
        <p:txBody>
          <a:bodyPr wrap="square"/>
          <a:lstStyle/>
          <a:p>
            <a:endParaRPr dirty="0"/>
          </a:p>
          <a:p>
            <a:r>
              <a:rPr sz="2800" dirty="0"/>
              <a:t>How'd it go?			  Observations?			        Questions?</a:t>
            </a:r>
          </a:p>
        </p:txBody>
      </p:sp>
    </p:spTree>
  </p:cSld>
  <p:clrMapOvr>
    <a:masterClrMapping/>
  </p:clrMapOvr>
</p:sld>
</file>

<file path=ppt/theme/theme1.xml><?xml version="1.0" encoding="utf-8"?>
<a:theme xmlns:a="http://schemas.openxmlformats.org/drawingml/2006/main" name="Metropolitan">
  <a:themeElements>
    <a:clrScheme name="Custom 1">
      <a:dk1>
        <a:sysClr val="windowText" lastClr="000000"/>
      </a:dk1>
      <a:lt1>
        <a:sysClr val="window" lastClr="FFFFFF"/>
      </a:lt1>
      <a:dk2>
        <a:srgbClr val="162F33"/>
      </a:dk2>
      <a:lt2>
        <a:srgbClr val="EAF0E0"/>
      </a:lt2>
      <a:accent1>
        <a:srgbClr val="0072C6"/>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9FC66F1-1152-1545-A5C1-ABAAA7F2FAF2}">
  <we:reference id="wa200010725" version="1.0.0.1" store="en-US" storeType="OMEX"/>
  <we:alternateReferences>
    <we:reference id="WA200010725" version="1.0.0.1" store="WA200010725" storeType="OMEX"/>
  </we:alternateReferences>
  <we:properties>
    <we:property name="claude.fileId" value="&quot;c9fbb05a-0234-489e-a7de-af156d8ab243&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98644</TotalTime>
  <Words>3094</Words>
  <Application>Microsoft Macintosh PowerPoint</Application>
  <PresentationFormat>Widescreen</PresentationFormat>
  <Paragraphs>271</Paragraphs>
  <Slides>37</Slides>
  <Notes>34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Consolas</vt:lpstr>
      <vt:lpstr>Calibri</vt:lpstr>
      <vt:lpstr>Segoe UI</vt:lpstr>
      <vt:lpstr>Arial</vt:lpstr>
      <vt:lpstr>Calibri Light</vt:lpstr>
      <vt:lpstr>Metropolitan</vt:lpstr>
      <vt:lpstr>Building Pragmatic AI</vt:lpstr>
      <vt:lpstr>This Module</vt:lpstr>
      <vt:lpstr>This Module</vt:lpstr>
      <vt:lpstr>This Module</vt:lpstr>
      <vt:lpstr>F04 · Semantic Search</vt:lpstr>
      <vt:lpstr>PowerPoint Presentation</vt:lpstr>
      <vt:lpstr>F04 · How It Works</vt:lpstr>
      <vt:lpstr>F04 · How It Works</vt:lpstr>
      <vt:lpstr>F04 · How It Works</vt:lpstr>
      <vt:lpstr>F04 · How It Works</vt:lpstr>
      <vt:lpstr>F04 · How It Works</vt:lpstr>
      <vt:lpstr>PowerPoint Presentation</vt:lpstr>
      <vt:lpstr>F04 · Semantic Search · Demo: What to Watch</vt:lpstr>
      <vt:lpstr>F04 · Semantic Search · Leadership Card</vt:lpstr>
      <vt:lpstr>F04 · Semantic Search · Leadership Card</vt:lpstr>
      <vt:lpstr>F04 · Semantic Search · Leadership Card</vt:lpstr>
      <vt:lpstr>F05 · RAG</vt:lpstr>
      <vt:lpstr>PowerPoint Presentation</vt:lpstr>
      <vt:lpstr>F05 · How It Works</vt:lpstr>
      <vt:lpstr>F05 · How It Works</vt:lpstr>
      <vt:lpstr>F05 · How It Works</vt:lpstr>
      <vt:lpstr>F05 · How It Works</vt:lpstr>
      <vt:lpstr>F05 · How It Works</vt:lpstr>
      <vt:lpstr>PowerPoint Presentation</vt:lpstr>
      <vt:lpstr>F05 · RAG · Demo: What to Watch</vt:lpstr>
      <vt:lpstr>F05 · RAG · Leadership Card</vt:lpstr>
      <vt:lpstr>F05 · RAG · Leadership Card</vt:lpstr>
      <vt:lpstr>F05 · RAG · Leadership Card</vt:lpstr>
      <vt:lpstr>F06 · Recommendations</vt:lpstr>
      <vt:lpstr>PowerPoint Presentation</vt:lpstr>
      <vt:lpstr>PowerPoint Presentation</vt:lpstr>
      <vt:lpstr>F06 · Recommendations · Demo: What to Watch</vt:lpstr>
      <vt:lpstr>F06 · Recommendations · Leadership Card</vt:lpstr>
      <vt:lpstr>F06 · Recommendations · Leadership Card</vt:lpstr>
      <vt:lpstr>F06 · Recommendations · Leadership Card</vt:lpstr>
      <vt:lpstr>Lab 2: ~60 Minutes</vt:lpstr>
      <vt:lpstr>Lab 2: Debrief</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NASA's Power of Ten</dc:title>
  <dc:subject/>
  <dc:creator>Jonathan "J." Tower</dc:creator>
  <cp:keywords/>
  <dc:description/>
  <cp:lastModifiedBy>Jonathan "J." Tower</cp:lastModifiedBy>
  <cp:revision>6</cp:revision>
  <dcterms:created xsi:type="dcterms:W3CDTF">2022-03-22T12:15:23Z</dcterms:created>
  <dcterms:modified xsi:type="dcterms:W3CDTF">2026-09-16T14:37:37Z</dcterms:modified>
  <cp:category/>
</cp:coreProperties>
</file>