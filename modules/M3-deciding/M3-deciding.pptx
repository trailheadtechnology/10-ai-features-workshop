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52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07" r:id="rId33"/>
    <p:sldId id="608" r:id="rId34"/>
    <p:sldId id="609" r:id="rId35"/>
    <p:sldId id="610" r:id="rId36"/>
    <p:sldId id="611" r:id="rId37"/>
    <p:sldId id="612" r:id="rId38"/>
    <p:sldId id="613" r:id="rId39"/>
    <p:sldId id="614" r:id="rId40"/>
    <p:sldId id="615" r:id="rId41"/>
    <p:sldId id="616" r:id="rId42"/>
    <p:sldId id="617" r:id="rId43"/>
    <p:sldId id="618" r:id="rId44"/>
    <p:sldId id="619" r:id="rId45"/>
    <p:sldId id="620" r:id="rId46"/>
    <p:sldId id="621" r:id="rId47"/>
    <p:sldId id="622" r:id="rId48"/>
    <p:sldId id="623" r:id="rId49"/>
    <p:sldId id="624" r:id="rId50"/>
    <p:sldId id="625" r:id="rId51"/>
  </p:sldIdLst>
  <p:sldSz cx="12192000" cy="6858000"/>
  <p:notesSz cx="6858000" cy="9144000"/>
  <p:embeddedFontLst>
    <p:embeddedFont>
      <p:font typeface="Consolas" panose="020B0609020204030204" pitchFamily="49" charset="0"/>
      <p:regular r:id="rId53"/>
      <p:bold r:id="rId54"/>
      <p:italic r:id="rId55"/>
      <p:boldItalic r:id="rId56"/>
    </p:embeddedFont>
    <p:embeddedFont>
      <p:font typeface="Segoe UI" panose="020B0502040204020203" pitchFamily="34" charset="0"/>
      <p:regular r:id="rId57"/>
      <p:bold r:id="rId58"/>
      <p:italic r:id="rId59"/>
      <p:boldItalic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6T15:06:37.627" v="1010" actId="20577"/>
      <pc:docMkLst>
        <pc:docMk/>
      </pc:docMkLst>
      <pc:sldChg chg="modSp mod">
        <pc:chgData name="J. Tower" userId="9d06de10716639e5" providerId="LiveId" clId="{F8931099-75CA-5660-A155-55881DF68D84}" dt="2026-09-16T15:03:37.416" v="99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5:03:37.416" v="99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26" v="992" actId="2763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6T15:03:37.426" v="992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34" v="993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5:03:37.434" v="993" actId="27636"/>
          <ac:spMkLst>
            <pc:docMk/>
            <pc:sldMk cId="0" sldId="586"/>
            <ac:spMk id="3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16T15:03:41.981" v="1009" actId="20577"/>
        <pc:sldMkLst>
          <pc:docMk/>
          <pc:sldMk cId="0" sldId="589"/>
        </pc:sldMkLst>
      </pc:sldChg>
      <pc:sldChg chg="modSp mod">
        <pc:chgData name="J. Tower" userId="9d06de10716639e5" providerId="LiveId" clId="{F8931099-75CA-5660-A155-55881DF68D84}" dt="2026-09-16T15:03:37.385" v="989" actId="27636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16T15:03:37.385" v="989" actId="27636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6:37.627" v="1010" actId="20577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16T15:06:37.627" v="1010" actId="20577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00" v="990" actId="27636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6T15:03:37.400" v="990" actId="27636"/>
          <ac:spMkLst>
            <pc:docMk/>
            <pc:sldMk cId="0" sldId="60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product: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row per advance. Say which box in each row is the decision.</a:t>
            </a:r>
          </a:p>
          <a:p>
            <a:r>
              <a:t>07 classify: the model picks one label from your list, and the label picks the queue. The decision is the model's.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detect: embed, measure distance from "normal," apply a threshold rule. The decision is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approve: the model drafts, a human approves, edits, or rejects, then send and log. The decision is a person's.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label, a "this is unusual," a signature. Three different kinds of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Only 07 and 09 ask a model to decide anything; 08 asks it only for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wraps the other two: the routing policy says which decisions a model may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every message to Trailhead lands in one inbox: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thing,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modules/M3-deciding/F07-classification-routing/dotnet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 = the full inbox, 100 · </a:t>
            </a:r>
            <a:r>
              <a:rPr dirty="0">
                <a:latin typeface="Consolas"/>
              </a:rPr>
              <a:t>inquiries-</a:t>
            </a:r>
            <a:r>
              <a:rPr dirty="0" err="1">
                <a:latin typeface="Consolas"/>
              </a:rPr>
              <a:t>slice.jsonl</a:t>
            </a:r>
            <a:r>
              <a:rPr dirty="0"/>
              <a:t> = the 20 the demo scores · </a:t>
            </a:r>
            <a:r>
              <a:rPr dirty="0">
                <a:latin typeface="Consolas"/>
              </a:rPr>
              <a:t>reference-</a:t>
            </a:r>
            <a:r>
              <a:rPr dirty="0" err="1">
                <a:latin typeface="Consolas"/>
              </a:rPr>
              <a:t>labels.json</a:t>
            </a:r>
            <a:r>
              <a:rPr dirty="0"/>
              <a:t> = hand labels</a:t>
            </a:r>
          </a:p>
          <a:p>
            <a:r>
              <a:rPr dirty="0" err="1"/>
              <a:t>Args</a:t>
            </a:r>
            <a:r>
              <a:rPr dirty="0"/>
              <a:t>: an inquiry id; starter default inq-0005, complete with none = all 20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1. Open </a:t>
            </a:r>
            <a:r>
              <a:rPr dirty="0">
                <a:latin typeface="Consolas"/>
              </a:rPr>
              <a:t>data/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, scroll. Let the room find the emergenc</a:t>
            </a:r>
            <a:r>
              <a:rPr lang="en-US" dirty="0"/>
              <a:t>ies (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inq-0013 and inq-0041)</a:t>
            </a:r>
            <a:r>
              <a:rPr dirty="0"/>
              <a:t>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One label, free text. Nothing stops a label that does not exist.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All 20 routed and scored, </a:t>
            </a:r>
            <a:r>
              <a:rPr dirty="0" err="1"/>
              <a:t>enum</a:t>
            </a:r>
            <a:r>
              <a:rPr dirty="0"/>
              <a:t>-constrained. The emergency at the top of its own queue.</a:t>
            </a:r>
          </a:p>
          <a:p>
            <a:r>
              <a:rPr dirty="0"/>
              <a:t>4. inq-0030 is wrong. Edit its category description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, not the code: add "and asking whether an activity such as commercial photography needs a special use permit" to the end of the permit line. </a:t>
            </a:r>
            <a:r>
              <a:rPr dirty="0">
                <a:latin typeface="Consolas"/>
              </a:rPr>
              <a:t>dotnet run</a:t>
            </a:r>
            <a:r>
              <a:rPr dirty="0"/>
              <a:t> again: inq-0030 moves to permit, 18/20.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inq-0035</a:t>
            </a:r>
            <a:r>
              <a:rPr dirty="0"/>
              <a:t>: </a:t>
            </a:r>
            <a:r>
              <a:rPr dirty="0">
                <a:latin typeface="Consolas"/>
              </a:rPr>
              <a:t>unsure</a:t>
            </a:r>
            <a:r>
              <a:rPr dirty="0"/>
              <a:t>, correctly. The description forbids anything dangerous landing here.</a:t>
            </a:r>
          </a:p>
          <a:p>
            <a:r>
              <a:rPr dirty="0"/>
              <a:t>6. 17/20, 2/2 emergencies. Which number matters.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over,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Barely an AI feature: embeddings plus arithmetic. Start with one trail's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nomic-embed-text, with the classification: prefix. The prefix is in the model card, and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Average the vectors. That point is the centroid of "normal."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Measure each new report's distance from it. "Bridge washed out" sits farther from the mud cluster than mud reports sit from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Beyond the threshold, and two or more in fourteen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Alert. Every box after the embedding is subtraction and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only makes vectors. It never decides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alert rule is the feature: one flagged report is noise, two in fourteen days is a washout.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04's code plus one task prefix. 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modules/M3-deciding/F08-anomaly-detection/dotnet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reports-0117.jsonl</a:t>
            </a:r>
            <a:r>
              <a:rPr dirty="0"/>
              <a:t> = 40 reports, the washout trail · </a:t>
            </a:r>
            <a:r>
              <a:rPr dirty="0">
                <a:latin typeface="Consolas"/>
              </a:rPr>
              <a:t>reports-0042.jsonl</a:t>
            </a:r>
            <a:r>
              <a:rPr dirty="0"/>
              <a:t> = 25 reports, the bear trail · </a:t>
            </a:r>
            <a:r>
              <a:rPr dirty="0">
                <a:latin typeface="Consolas"/>
              </a:rPr>
              <a:t>embeddings-0117.json</a:t>
            </a:r>
            <a:r>
              <a:rPr dirty="0"/>
              <a:t> = precomputed vectors, the starter runs offline on them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--raw</a:t>
            </a:r>
            <a:r>
              <a:rPr dirty="0"/>
              <a:t> = no task prefix · </a:t>
            </a:r>
            <a:r>
              <a:rPr dirty="0">
                <a:latin typeface="Consolas"/>
              </a:rPr>
              <a:t>--trail 0042</a:t>
            </a:r>
            <a:r>
              <a:rPr dirty="0"/>
              <a:t> = the other trail · </a:t>
            </a:r>
            <a:r>
              <a:rPr dirty="0">
                <a:latin typeface="Consolas"/>
              </a:rPr>
              <a:t>--sigma</a:t>
            </a:r>
            <a:r>
              <a:rPr dirty="0"/>
              <a:t> = threshold (default mean + 1 </a:t>
            </a:r>
            <a:r>
              <a:rPr dirty="0" err="1"/>
              <a:t>sd</a:t>
            </a:r>
            <a:r>
              <a:rPr dirty="0"/>
              <a:t>) · </a:t>
            </a:r>
            <a:r>
              <a:rPr dirty="0">
                <a:latin typeface="Consolas"/>
              </a:rPr>
              <a:t>--window</a:t>
            </a:r>
            <a:r>
              <a:rPr dirty="0"/>
              <a:t> = days (default 14)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data/reports-0117.jsonl</a:t>
            </a:r>
            <a:r>
              <a:rPr dirty="0"/>
              <a:t>, scroll. Boring on purpose. Find the problem. Nobody can.</a:t>
            </a:r>
          </a:p>
          <a:p>
            <a:r>
              <a:rPr dirty="0"/>
              <a:t>2. Centroid: average the vectors, the center of normal.</a:t>
            </a:r>
          </a:p>
          <a:p>
            <a:r>
              <a:rPr dirty="0"/>
              <a:t>3. Before: </a:t>
            </a:r>
            <a:r>
              <a:rPr dirty="0">
                <a:latin typeface="Consolas"/>
              </a:rPr>
              <a:t>cd complete &amp;&amp; dotnet run -- --raw</a:t>
            </a:r>
            <a:r>
              <a:rPr dirty="0"/>
              <a:t>. Washouts lost mid-list.</a:t>
            </a:r>
          </a:p>
          <a:p>
            <a:r>
              <a:rPr dirty="0"/>
              <a:t>4.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</a:t>
            </a:r>
            <a:r>
              <a:rPr dirty="0">
                <a:latin typeface="Consolas"/>
              </a:rPr>
              <a:t>classification:</a:t>
            </a:r>
            <a:r>
              <a:rPr dirty="0"/>
              <a:t> prefix. A washout jumps to rank 2. Read the model card.</a:t>
            </a:r>
          </a:p>
          <a:p>
            <a:r>
              <a:rPr dirty="0"/>
              <a:t>5. Same output, the alert block: 1 alert, 3 real reports, 0 false.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--trail 0042</a:t>
            </a:r>
            <a:r>
              <a:rPr dirty="0"/>
              <a:t>: the bear spike, cleaner still.</a:t>
            </a:r>
          </a:p>
          <a:p>
            <a:r>
              <a:rPr dirty="0"/>
              <a:t>7. Model calls: embeddings only. The rest was subtraction.</a:t>
            </a:r>
          </a:p>
          <a:p>
            <a:r>
              <a:rPr dirty="0"/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note,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product pattern, not a model feature: the difference between AI features that ship and ones killed in legal review. It starts with a routed inquiry from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Retrieve the park docs, the way 05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drafts a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human approves, edits, or rejects. This box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Send, and log the draft, the decision, and the final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policy table sits in front of this line. Three lanes by error cost and reversibility: auto-send, draft-for-approval, human-only. The emergency row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Today's edits are tomorrow's prompt.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~5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unsupervised.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7-9 of the framework are done. Break, then Module 4, and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>
            <a:normAutofit lnSpcReduction="10000"/>
          </a:bodyPr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  <a:p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sz="4000" b="1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sz="4000" b="1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room finds the emergency in the raw inbox</a:t>
            </a:r>
          </a:p>
          <a:p>
            <a:r>
              <a:rPr sz="2800"/>
              <a:t>One method · plain-language taxonomy · one label</a:t>
            </a:r>
          </a:p>
          <a:p>
            <a:r>
              <a:rPr sz="2800"/>
              <a:t>The pile → tidy queues, in seconds</a:t>
            </a:r>
          </a:p>
          <a:p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Spot the item in a stream </a:t>
            </a:r>
            <a:br>
              <a:rPr lang="en-US" sz="4000" dirty="0"/>
            </a:br>
            <a:r>
              <a:rPr sz="4000" dirty="0"/>
              <a:t>that </a:t>
            </a:r>
            <a:r>
              <a:rPr sz="4000" b="1" dirty="0">
                <a:solidFill>
                  <a:srgbClr val="017AB4"/>
                </a:solidFill>
              </a:rPr>
              <a:t>doesn't look like the rest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  <a:p>
            <a:r>
              <a:rPr sz="2800"/>
              <a:t>The alert rule is the feature: 1 is noise · 2 in 14 days is a washout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  <a:p>
            <a:r>
              <a:rPr sz="2800"/>
              <a:t>The alert rule is the feature: 1 is noise · 2 in 14 days is a washout</a:t>
            </a:r>
          </a:p>
          <a:p>
            <a:r>
              <a:rPr sz="2800"/>
              <a:t>04's code + one task prefix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/>
              <a:t>The stream is boring on purpose</a:t>
            </a:r>
          </a:p>
          <a:p>
            <a:r>
              <a:rPr sz="2400"/>
              <a:t>The centroid: the center of normal</a:t>
            </a:r>
          </a:p>
          <a:p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r>
              <a:rPr sz="2400"/>
              <a:t>Alert rule: 1 alert · 3 real reports · 0 false</a:t>
            </a:r>
          </a:p>
          <a:p>
            <a:r>
              <a:rPr sz="2400"/>
              <a:t>The bear trail: cleaner still</a:t>
            </a:r>
          </a:p>
          <a:p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sz="4000" b="1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  <a:p>
            <a:r>
              <a:rPr sz="2800"/>
              <a:t>A policy table sits in front of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  <a:p>
            <a:r>
              <a:rPr sz="2800"/>
              <a:t>A policy table sits in front of this line</a:t>
            </a:r>
          </a:p>
          <a:p>
            <a:r>
              <a:rPr sz="2800"/>
              <a:t>Today's edits → tomorrow's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r>
              <a:rPr sz="2800"/>
              <a:t>A routed queue awaiting replies</a:t>
            </a:r>
          </a:p>
          <a:p>
            <a:r>
              <a:rPr sz="2800"/>
              <a:t>One grounded draft: good, not perfect</a:t>
            </a:r>
          </a:p>
          <a:p>
            <a:r>
              <a:rPr sz="2800"/>
              <a:t>Approve · edit · reject-and-rewrite</a:t>
            </a:r>
          </a:p>
          <a:p>
            <a:r>
              <a:rPr sz="2800"/>
              <a:t>The audit log, with edit distance</a:t>
            </a:r>
          </a:p>
          <a:p>
            <a:r>
              <a:rPr sz="2800"/>
              <a:t>The policy table: point at the emergency row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F07 Classification &amp; Routing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F08 Anomaly Detection</a:t>
            </a:r>
            <a:r>
              <a:rPr sz="3600" dirty="0"/>
              <a:t> · </a:t>
            </a:r>
            <a:r>
              <a:rPr sz="3600" b="1" dirty="0"/>
              <a:t>F09 Human-in-the-Loop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/>
          </a:p>
          <a:p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98585</TotalTime>
  <Words>3589</Words>
  <Application>Microsoft Macintosh PowerPoint</Application>
  <PresentationFormat>Widescreen</PresentationFormat>
  <Paragraphs>350</Paragraphs>
  <Slides>50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Consolas</vt:lpstr>
      <vt:lpstr>Segoe UI</vt:lpstr>
      <vt:lpstr>Calibri</vt:lpstr>
      <vt:lpstr>Arial</vt:lpstr>
      <vt:lpstr>Calibri Light</vt:lpstr>
      <vt:lpstr>Metropolitan</vt:lpstr>
      <vt:lpstr>Building Pragmatic AI</vt:lpstr>
      <vt:lpstr>This Module</vt:lpstr>
      <vt:lpstr>This Module</vt:lpstr>
      <vt:lpstr>This Module</vt:lpstr>
      <vt:lpstr>Three Ways to Decide</vt:lpstr>
      <vt:lpstr>Three Ways to Decide</vt:lpstr>
      <vt:lpstr>Three Ways to Decide</vt:lpstr>
      <vt:lpstr>Three Ways to Decide</vt:lpstr>
      <vt:lpstr>Three Ways to Decide</vt:lpstr>
      <vt:lpstr>Three Ways to Decide</vt:lpstr>
      <vt:lpstr>F07 · Classification &amp; Routing</vt:lpstr>
      <vt:lpstr>PowerPoint Presentation</vt:lpstr>
      <vt:lpstr>PowerPoint Presentation</vt:lpstr>
      <vt:lpstr>F07 · Classification &amp; Routing · Demo: What to Watch</vt:lpstr>
      <vt:lpstr>F07 · Classification &amp; Routing · Leadership Card</vt:lpstr>
      <vt:lpstr>F07 · Classification &amp; Routing · Leadership Card</vt:lpstr>
      <vt:lpstr>F07 · Classification &amp; Routing · Leadership Card</vt:lpstr>
      <vt:lpstr>F08 · Anomaly Detection</vt:lpstr>
      <vt:lpstr>PowerPoint Presentation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PowerPoint Presentation</vt:lpstr>
      <vt:lpstr>F08 · Anomaly Detection · Demo: What to Watch</vt:lpstr>
      <vt:lpstr>F08 · Anomaly Detection · Leadership Card</vt:lpstr>
      <vt:lpstr>F08 · Anomaly Detection · Leadership Card</vt:lpstr>
      <vt:lpstr>F08 · Anomaly Detection · Leadership Card</vt:lpstr>
      <vt:lpstr>F09 · Human-in-the-Loop</vt:lpstr>
      <vt:lpstr>PowerPoint Presentation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PowerPoint Presentation</vt:lpstr>
      <vt:lpstr>F09 · Human-in-the-Loop · Demo: What to Watch</vt:lpstr>
      <vt:lpstr>F09 · Human-in-the-Loop · Leadership Card</vt:lpstr>
      <vt:lpstr>F09 · Human-in-the-Loop · Leadership Card</vt:lpstr>
      <vt:lpstr>F09 · Human-in-the-Loop · Leadership Card</vt:lpstr>
      <vt:lpstr>Lab 3: ~60 Minutes</vt:lpstr>
      <vt:lpstr>Lab 3: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2026-09-16T15:08:05Z</dcterms:modified>
  <cp:category/>
</cp:coreProperties>
</file>