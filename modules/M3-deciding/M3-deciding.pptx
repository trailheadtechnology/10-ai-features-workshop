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60" r:id="rId1"/>
  </p:sldMasterIdLst>
  <p:notesMasterIdLst>
    <p:notesMasterId r:id="rId52"/>
  </p:notesMasterIdLst>
  <p:sldIdLst>
    <p:sldId id="576" r:id="rId2"/>
    <p:sldId id="577" r:id="rId3"/>
    <p:sldId id="578" r:id="rId4"/>
    <p:sldId id="579" r:id="rId5"/>
    <p:sldId id="580" r:id="rId6"/>
    <p:sldId id="581" r:id="rId7"/>
    <p:sldId id="582" r:id="rId8"/>
    <p:sldId id="583" r:id="rId9"/>
    <p:sldId id="584" r:id="rId10"/>
    <p:sldId id="585" r:id="rId11"/>
    <p:sldId id="586" r:id="rId12"/>
    <p:sldId id="587" r:id="rId13"/>
    <p:sldId id="588" r:id="rId14"/>
    <p:sldId id="589" r:id="rId15"/>
    <p:sldId id="590" r:id="rId16"/>
    <p:sldId id="591" r:id="rId17"/>
    <p:sldId id="592" r:id="rId18"/>
    <p:sldId id="593" r:id="rId19"/>
    <p:sldId id="594" r:id="rId20"/>
    <p:sldId id="595" r:id="rId21"/>
    <p:sldId id="596" r:id="rId22"/>
    <p:sldId id="597" r:id="rId23"/>
    <p:sldId id="598" r:id="rId24"/>
    <p:sldId id="599" r:id="rId25"/>
    <p:sldId id="600" r:id="rId26"/>
    <p:sldId id="601" r:id="rId27"/>
    <p:sldId id="602" r:id="rId28"/>
    <p:sldId id="603" r:id="rId29"/>
    <p:sldId id="604" r:id="rId30"/>
    <p:sldId id="605" r:id="rId31"/>
    <p:sldId id="606" r:id="rId32"/>
    <p:sldId id="607" r:id="rId33"/>
    <p:sldId id="608" r:id="rId34"/>
    <p:sldId id="609" r:id="rId35"/>
    <p:sldId id="610" r:id="rId36"/>
    <p:sldId id="611" r:id="rId37"/>
    <p:sldId id="612" r:id="rId38"/>
    <p:sldId id="613" r:id="rId39"/>
    <p:sldId id="614" r:id="rId40"/>
    <p:sldId id="615" r:id="rId41"/>
    <p:sldId id="616" r:id="rId42"/>
    <p:sldId id="617" r:id="rId43"/>
    <p:sldId id="618" r:id="rId44"/>
    <p:sldId id="619" r:id="rId45"/>
    <p:sldId id="620" r:id="rId46"/>
    <p:sldId id="621" r:id="rId47"/>
    <p:sldId id="622" r:id="rId48"/>
    <p:sldId id="623" r:id="rId49"/>
    <p:sldId id="624" r:id="rId50"/>
    <p:sldId id="625" r:id="rId51"/>
  </p:sldIdLst>
  <p:sldSz cx="12192000" cy="6858000"/>
  <p:notesSz cx="6858000" cy="9144000"/>
  <p:embeddedFontLst>
    <p:embeddedFont>
      <p:font typeface="Consolas" panose="020B0609020204030204" pitchFamily="49" charset="0"/>
      <p:regular r:id="rId53"/>
      <p:bold r:id="rId54"/>
      <p:italic r:id="rId55"/>
      <p:boldItalic r:id="rId56"/>
    </p:embeddedFont>
    <p:embeddedFont>
      <p:font typeface="Segoe UI" panose="020B0502040204020203" pitchFamily="34" charset="0"/>
      <p:regular r:id="rId57"/>
      <p:bold r:id="rId58"/>
      <p:italic r:id="rId59"/>
      <p:boldItalic r:id="rId6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17AB4"/>
    <a:srgbClr val="0079B4"/>
    <a:srgbClr val="00A700"/>
    <a:srgbClr val="D31616"/>
    <a:srgbClr val="FFFFFF"/>
    <a:srgbClr val="E88500"/>
    <a:srgbClr val="FFD800"/>
    <a:srgbClr val="007AB5"/>
    <a:srgbClr val="000000"/>
    <a:srgbClr val="502A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561" autoAdjust="0"/>
    <p:restoredTop sz="66849" autoAdjust="0"/>
  </p:normalViewPr>
  <p:slideViewPr>
    <p:cSldViewPr snapToGrid="0">
      <p:cViewPr varScale="1">
        <p:scale>
          <a:sx n="78" d="100"/>
          <a:sy n="78" d="100"/>
        </p:scale>
        <p:origin x="2048" y="17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font" Target="fonts/font3.fntdata"/><Relationship Id="rId63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font" Target="fonts/font1.fntdata"/><Relationship Id="rId58" Type="http://schemas.openxmlformats.org/officeDocument/2006/relationships/font" Target="fonts/font6.fntdata"/><Relationship Id="rId5" Type="http://schemas.openxmlformats.org/officeDocument/2006/relationships/slide" Target="slides/slide4.xml"/><Relationship Id="rId61" Type="http://schemas.openxmlformats.org/officeDocument/2006/relationships/presProps" Target="pres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font" Target="fonts/font4.fntdata"/><Relationship Id="rId64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font" Target="fonts/font7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font" Target="fonts/font2.fntdata"/><Relationship Id="rId62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font" Target="fonts/font5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notesMaster" Target="notesMasters/notesMaster1.xml"/><Relationship Id="rId60" Type="http://schemas.openxmlformats.org/officeDocument/2006/relationships/font" Target="fonts/font8.fntdata"/><Relationship Id="rId65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. Tower" userId="9d06de10716639e5" providerId="LiveId" clId="{F8931099-75CA-5660-A155-55881DF68D84}"/>
    <pc:docChg chg="undo redo custSel addSld delSld modSld sldOrd modSection">
      <pc:chgData name="J. Tower" userId="9d06de10716639e5" providerId="LiveId" clId="{F8931099-75CA-5660-A155-55881DF68D84}" dt="2026-09-16T15:06:37.627" v="1010" actId="20577"/>
      <pc:docMkLst>
        <pc:docMk/>
      </pc:docMkLst>
      <pc:sldChg chg="modSp mod">
        <pc:chgData name="J. Tower" userId="9d06de10716639e5" providerId="LiveId" clId="{F8931099-75CA-5660-A155-55881DF68D84}" dt="2026-09-16T15:03:37.416" v="991" actId="27636"/>
        <pc:sldMkLst>
          <pc:docMk/>
          <pc:sldMk cId="0" sldId="576"/>
        </pc:sldMkLst>
        <pc:spChg chg="mod">
          <ac:chgData name="J. Tower" userId="9d06de10716639e5" providerId="LiveId" clId="{F8931099-75CA-5660-A155-55881DF68D84}" dt="2026-09-16T15:03:37.416" v="991" actId="27636"/>
          <ac:spMkLst>
            <pc:docMk/>
            <pc:sldMk cId="0" sldId="576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16T15:03:37.426" v="992" actId="27636"/>
        <pc:sldMkLst>
          <pc:docMk/>
          <pc:sldMk cId="0" sldId="585"/>
        </pc:sldMkLst>
        <pc:spChg chg="mod">
          <ac:chgData name="J. Tower" userId="9d06de10716639e5" providerId="LiveId" clId="{F8931099-75CA-5660-A155-55881DF68D84}" dt="2026-09-16T15:03:37.426" v="992" actId="27636"/>
          <ac:spMkLst>
            <pc:docMk/>
            <pc:sldMk cId="0" sldId="585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16T15:03:37.434" v="993" actId="27636"/>
        <pc:sldMkLst>
          <pc:docMk/>
          <pc:sldMk cId="0" sldId="586"/>
        </pc:sldMkLst>
        <pc:spChg chg="mod">
          <ac:chgData name="J. Tower" userId="9d06de10716639e5" providerId="LiveId" clId="{F8931099-75CA-5660-A155-55881DF68D84}" dt="2026-09-16T15:03:37.434" v="993" actId="27636"/>
          <ac:spMkLst>
            <pc:docMk/>
            <pc:sldMk cId="0" sldId="586"/>
            <ac:spMk id="3" creationId="{00000000-0000-0000-0000-000000000000}"/>
          </ac:spMkLst>
        </pc:spChg>
      </pc:sldChg>
      <pc:sldChg chg="modNotesTx">
        <pc:chgData name="J. Tower" userId="9d06de10716639e5" providerId="LiveId" clId="{F8931099-75CA-5660-A155-55881DF68D84}" dt="2026-09-16T15:03:41.981" v="1009" actId="20577"/>
        <pc:sldMkLst>
          <pc:docMk/>
          <pc:sldMk cId="0" sldId="589"/>
        </pc:sldMkLst>
      </pc:sldChg>
      <pc:sldChg chg="modSp mod">
        <pc:chgData name="J. Tower" userId="9d06de10716639e5" providerId="LiveId" clId="{F8931099-75CA-5660-A155-55881DF68D84}" dt="2026-09-16T15:03:37.385" v="989" actId="27636"/>
        <pc:sldMkLst>
          <pc:docMk/>
          <pc:sldMk cId="0" sldId="593"/>
        </pc:sldMkLst>
        <pc:spChg chg="mod">
          <ac:chgData name="J. Tower" userId="9d06de10716639e5" providerId="LiveId" clId="{F8931099-75CA-5660-A155-55881DF68D84}" dt="2026-09-16T15:03:37.385" v="989" actId="27636"/>
          <ac:spMkLst>
            <pc:docMk/>
            <pc:sldMk cId="0" sldId="593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16T15:06:37.627" v="1010" actId="20577"/>
        <pc:sldMkLst>
          <pc:docMk/>
          <pc:sldMk cId="0" sldId="594"/>
        </pc:sldMkLst>
        <pc:spChg chg="mod">
          <ac:chgData name="J. Tower" userId="9d06de10716639e5" providerId="LiveId" clId="{F8931099-75CA-5660-A155-55881DF68D84}" dt="2026-09-16T15:06:37.627" v="1010" actId="20577"/>
          <ac:spMkLst>
            <pc:docMk/>
            <pc:sldMk cId="0" sldId="594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16T15:03:37.400" v="990" actId="27636"/>
        <pc:sldMkLst>
          <pc:docMk/>
          <pc:sldMk cId="0" sldId="609"/>
        </pc:sldMkLst>
        <pc:spChg chg="mod">
          <ac:chgData name="J. Tower" userId="9d06de10716639e5" providerId="LiveId" clId="{F8931099-75CA-5660-A155-55881DF68D84}" dt="2026-09-16T15:03:37.400" v="990" actId="27636"/>
          <ac:spMkLst>
            <pc:docMk/>
            <pc:sldMk cId="0" sldId="609"/>
            <ac:spMk id="3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18B0EE-4D36-4F22-9622-021322CFFE3A}" type="datetimeFigureOut">
              <a:rPr lang="en-US" smtClean="0"/>
              <a:t>9/16/26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FD6E22-9A40-4B73-8B1F-06CEEFE4CF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99595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first two modules produced answers for a user. This one produces decisions for the people running the product: a ranger, an ops lead, a support manager.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user is usually a colleague; the rhythm again: three demos, then your lab hour.</a:t>
            </a:r>
          </a:p>
          <a:p>
            <a:r>
              <a:t>07: which queue does this message go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08: which of these 500 reports deserves attention.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09: what is the software allowed to send without a human reading it first.</a:t>
            </a:r>
          </a:p>
          <a:p>
            <a:r>
              <a:t>The thread to watch: errors are not symmetric. A misrouted complaint costs somebody a day; a misrouted emergency is a headline. Measure recall on the class that matters, give ambiguity an </a:t>
            </a:r>
            <a:r>
              <a:rPr>
                <a:latin typeface="Consolas"/>
              </a:rPr>
              <a:t>unsure</a:t>
            </a:r>
            <a:r>
              <a:t> lane to a person, and remember: a prompt instruction is a request, a policy lane is a guarantee. Feature 09 makes the sharpest version of that by failing, live, every time. Set it up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One row per advance. Say which box in each row is the decision.</a:t>
            </a:r>
          </a:p>
          <a:p>
            <a:r>
              <a:t>07 classify: the model picks one label from your list, and the label picks the queue. The decision is the model's.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08 detect: embed, measure distance from "normal," apply a threshold rule. The decision is arithmetic.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09 approve: the model drafts, a human approves, edits, or rejects, then send and log. The decision is a person's.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 label, a "this is unusual," a signature. Three different kinds of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Only 07 and 09 ask a model to decide anything; 08 asks it only for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09 wraps the other two: the routing policy says which decisions a model may make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user problem, spoken, 60 seconds: every message to Trailhead lands in one inbox: permits, conditions, complaints, lost-and-found, and occasionally an actual emergency. A ranger triages by hand once or twice a day; the permit waits behind the granola questions, and the emergency sits unread for four hours. The user's real problem: their message goes into a hole.</a:t>
            </a:r>
          </a:p>
          <a:p>
            <a:r>
              <a:t>No concept slide: it's classification again (03 was the warm-up), now with consequences. Zero-shot, taxonomy as plain-language descriptions, and the demo shows the whole thing, including fixing a misroute by editing a sentence, not the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textbook version: text classification assigns one of a fixed set of categories to a piece of text; routing is what the label triggers. Zero-shot means the categories are described in plain language, with no training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~8 min · </a:t>
            </a:r>
            <a:r>
              <a:rPr dirty="0">
                <a:latin typeface="Consolas"/>
              </a:rPr>
              <a:t>cd modules/M3-deciding/F07-classification-routing/dotnet</a:t>
            </a:r>
          </a:p>
          <a:p>
            <a:r>
              <a:rPr dirty="0"/>
              <a:t>Files: </a:t>
            </a:r>
            <a:r>
              <a:rPr dirty="0" err="1">
                <a:latin typeface="Consolas"/>
              </a:rPr>
              <a:t>inquiries.jsonl</a:t>
            </a:r>
            <a:r>
              <a:rPr dirty="0"/>
              <a:t> = the full inbox, 100 · </a:t>
            </a:r>
            <a:r>
              <a:rPr dirty="0">
                <a:latin typeface="Consolas"/>
              </a:rPr>
              <a:t>inquiries-</a:t>
            </a:r>
            <a:r>
              <a:rPr dirty="0" err="1">
                <a:latin typeface="Consolas"/>
              </a:rPr>
              <a:t>slice.jsonl</a:t>
            </a:r>
            <a:r>
              <a:rPr dirty="0"/>
              <a:t> = the 20 the demo scores · </a:t>
            </a:r>
            <a:r>
              <a:rPr dirty="0">
                <a:latin typeface="Consolas"/>
              </a:rPr>
              <a:t>reference-</a:t>
            </a:r>
            <a:r>
              <a:rPr dirty="0" err="1">
                <a:latin typeface="Consolas"/>
              </a:rPr>
              <a:t>labels.json</a:t>
            </a:r>
            <a:r>
              <a:rPr dirty="0"/>
              <a:t> = hand labels</a:t>
            </a:r>
          </a:p>
          <a:p>
            <a:r>
              <a:rPr dirty="0" err="1"/>
              <a:t>Args</a:t>
            </a:r>
            <a:r>
              <a:rPr dirty="0"/>
              <a:t>: an inquiry id; starter default inq-0005, complete with none = all 20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dirty="0"/>
              <a:t>1. Open </a:t>
            </a:r>
            <a:r>
              <a:rPr dirty="0">
                <a:latin typeface="Consolas"/>
              </a:rPr>
              <a:t>data/</a:t>
            </a:r>
            <a:r>
              <a:rPr dirty="0" err="1">
                <a:latin typeface="Consolas"/>
              </a:rPr>
              <a:t>inquiries.jsonl</a:t>
            </a:r>
            <a:r>
              <a:rPr dirty="0"/>
              <a:t>, scroll. Let the room find the emergenc</a:t>
            </a:r>
            <a:r>
              <a:rPr lang="en-US" dirty="0"/>
              <a:t>ies (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inq-0013 and inq-0041)</a:t>
            </a:r>
            <a:r>
              <a:rPr dirty="0"/>
              <a:t>.</a:t>
            </a:r>
          </a:p>
          <a:p>
            <a:r>
              <a:rPr dirty="0"/>
              <a:t>2. Before: </a:t>
            </a:r>
            <a:r>
              <a:rPr dirty="0">
                <a:latin typeface="Consolas"/>
              </a:rPr>
              <a:t>cd starter &amp;&amp; dotnet run</a:t>
            </a:r>
            <a:r>
              <a:rPr dirty="0"/>
              <a:t>. One label, free text. Nothing stops a label that does not exist.</a:t>
            </a:r>
          </a:p>
          <a:p>
            <a:r>
              <a:rPr dirty="0"/>
              <a:t>3. After: </a:t>
            </a:r>
            <a:r>
              <a:rPr dirty="0">
                <a:latin typeface="Consolas"/>
              </a:rPr>
              <a:t>cd ../complete &amp;&amp; dotnet run</a:t>
            </a:r>
            <a:r>
              <a:rPr dirty="0"/>
              <a:t>. All 20 routed and scored, </a:t>
            </a:r>
            <a:r>
              <a:rPr dirty="0" err="1"/>
              <a:t>enum</a:t>
            </a:r>
            <a:r>
              <a:rPr dirty="0"/>
              <a:t>-constrained. The emergency at the top of its own queue.</a:t>
            </a:r>
          </a:p>
          <a:p>
            <a:r>
              <a:rPr dirty="0"/>
              <a:t>4. inq-0030 is wrong. Edit its category description in </a:t>
            </a:r>
            <a:r>
              <a:rPr dirty="0" err="1">
                <a:latin typeface="Consolas"/>
              </a:rPr>
              <a:t>Program.cs</a:t>
            </a:r>
            <a:r>
              <a:rPr dirty="0"/>
              <a:t>, not the code: add "and asking whether an activity such as commercial photography needs a special use permit" to the end of the permit line. </a:t>
            </a:r>
            <a:r>
              <a:rPr dirty="0">
                <a:latin typeface="Consolas"/>
              </a:rPr>
              <a:t>dotnet run</a:t>
            </a:r>
            <a:r>
              <a:rPr dirty="0"/>
              <a:t> again: inq-0030 moves to permit, 18/20.</a:t>
            </a:r>
          </a:p>
          <a:p>
            <a:r>
              <a:rPr dirty="0"/>
              <a:t>5. </a:t>
            </a:r>
            <a:r>
              <a:rPr dirty="0">
                <a:latin typeface="Consolas"/>
              </a:rPr>
              <a:t>dotnet run -- inq-0035</a:t>
            </a:r>
            <a:r>
              <a:rPr dirty="0"/>
              <a:t>: </a:t>
            </a:r>
            <a:r>
              <a:rPr dirty="0">
                <a:latin typeface="Consolas"/>
              </a:rPr>
              <a:t>unsure</a:t>
            </a:r>
            <a:r>
              <a:rPr dirty="0"/>
              <a:t>, correctly. The description forbids anything dangerous landing here.</a:t>
            </a:r>
          </a:p>
          <a:p>
            <a:r>
              <a:rPr dirty="0"/>
              <a:t>6. 17/20, 2/2 emergencies. Which number matters.</a:t>
            </a:r>
          </a:p>
          <a:p>
            <a:r>
              <a:rPr dirty="0"/>
              <a:t>Cut: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Support, sales leads, HR, incoming documents. Ongoing work is refining the taxonomy as traffic reveals edge cases.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line for your boss. Row 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Easy. If asked about cost: days; no training data to start; local models make per-message cost roughly zero.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user problem, spoken, 60 seconds: about 500 trail-condition reports a season across 200 trails, and almost all of them say "muddy in spots, otherwise fine." Then in one week three hikers report a washed-out bridge on the same trail and a fourth mentions aggressive bear activity two trails over, and nobody notices. The park hears about the bridge from a one-star review a month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textbook version: anomaly detection identifies items that deviate significantly from the majority of the data. Here the "majority" is a centroid of embedded reports and deviation is cosine distance.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Barely an AI feature: embeddings plus arithmetic. Start with one trail's condition reports.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nomic-embed-text, with the classification: prefix. The prefix is in the model card, and it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Average the vectors. That point is the centroid of "normal."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Measure each new report's distance from it. "Bridge washed out" sits farther from the mud cluster than mud reports sit from each 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Beyond the threshold, and two or more in fourteen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Alert. Every box after the embedding is subtraction and a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model only makes vectors. It never decides anything.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alert rule is the feature: one flagged report is noise, two in fourteen days is a washout.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04's code plus one task prefix. Say "some AI features are mostly arithmetic wearing an AI badge" while pointing at the last three boxes.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~9 min · </a:t>
            </a:r>
            <a:r>
              <a:rPr dirty="0">
                <a:latin typeface="Consolas"/>
              </a:rPr>
              <a:t>cd modules/M3-deciding/F08-anomaly-detection/dotnet</a:t>
            </a:r>
          </a:p>
          <a:p>
            <a:r>
              <a:rPr dirty="0"/>
              <a:t>Files: </a:t>
            </a:r>
            <a:r>
              <a:rPr dirty="0">
                <a:latin typeface="Consolas"/>
              </a:rPr>
              <a:t>reports-0117.jsonl</a:t>
            </a:r>
            <a:r>
              <a:rPr dirty="0"/>
              <a:t> = 40 reports, the washout trail · </a:t>
            </a:r>
            <a:r>
              <a:rPr dirty="0">
                <a:latin typeface="Consolas"/>
              </a:rPr>
              <a:t>reports-0042.jsonl</a:t>
            </a:r>
            <a:r>
              <a:rPr dirty="0"/>
              <a:t> = 25 reports, the bear trail · </a:t>
            </a:r>
            <a:r>
              <a:rPr dirty="0">
                <a:latin typeface="Consolas"/>
              </a:rPr>
              <a:t>embeddings-0117.json</a:t>
            </a:r>
            <a:r>
              <a:rPr dirty="0"/>
              <a:t> = precomputed vectors, the starter runs offline on them</a:t>
            </a:r>
          </a:p>
          <a:p>
            <a:r>
              <a:rPr dirty="0"/>
              <a:t>Flags: </a:t>
            </a:r>
            <a:r>
              <a:rPr dirty="0">
                <a:latin typeface="Consolas"/>
              </a:rPr>
              <a:t>--raw</a:t>
            </a:r>
            <a:r>
              <a:rPr dirty="0"/>
              <a:t> = no task prefix · </a:t>
            </a:r>
            <a:r>
              <a:rPr dirty="0">
                <a:latin typeface="Consolas"/>
              </a:rPr>
              <a:t>--trail 0042</a:t>
            </a:r>
            <a:r>
              <a:rPr dirty="0"/>
              <a:t> = the other trail · </a:t>
            </a:r>
            <a:r>
              <a:rPr dirty="0">
                <a:latin typeface="Consolas"/>
              </a:rPr>
              <a:t>--sigma</a:t>
            </a:r>
            <a:r>
              <a:rPr dirty="0"/>
              <a:t> = threshold (default mean + 1 </a:t>
            </a:r>
            <a:r>
              <a:rPr dirty="0" err="1"/>
              <a:t>sd</a:t>
            </a:r>
            <a:r>
              <a:rPr dirty="0"/>
              <a:t>) · </a:t>
            </a:r>
            <a:r>
              <a:rPr dirty="0">
                <a:latin typeface="Consolas"/>
              </a:rPr>
              <a:t>--window</a:t>
            </a:r>
            <a:r>
              <a:rPr dirty="0"/>
              <a:t> = days (default 14)</a:t>
            </a:r>
          </a:p>
          <a:p>
            <a:r>
              <a:rPr dirty="0"/>
              <a:t>1. Open </a:t>
            </a:r>
            <a:r>
              <a:rPr dirty="0">
                <a:latin typeface="Consolas"/>
              </a:rPr>
              <a:t>data/reports-0117.jsonl</a:t>
            </a:r>
            <a:r>
              <a:rPr dirty="0"/>
              <a:t>, scroll. Boring on purpose. Find the problem. Nobody can.</a:t>
            </a:r>
          </a:p>
          <a:p>
            <a:r>
              <a:rPr dirty="0"/>
              <a:t>2. Centroid: average the vectors, the center of normal.</a:t>
            </a:r>
          </a:p>
          <a:p>
            <a:r>
              <a:rPr dirty="0"/>
              <a:t>3. Before: </a:t>
            </a:r>
            <a:r>
              <a:rPr dirty="0">
                <a:latin typeface="Consolas"/>
              </a:rPr>
              <a:t>cd complete &amp;&amp; dotnet run -- --raw</a:t>
            </a:r>
            <a:r>
              <a:rPr dirty="0"/>
              <a:t>. Washouts lost mid-list.</a:t>
            </a:r>
          </a:p>
          <a:p>
            <a:r>
              <a:rPr dirty="0"/>
              <a:t>4. After: </a:t>
            </a:r>
            <a:r>
              <a:rPr dirty="0">
                <a:latin typeface="Consolas"/>
              </a:rPr>
              <a:t>dotnet run</a:t>
            </a:r>
            <a:r>
              <a:rPr dirty="0"/>
              <a:t>. </a:t>
            </a:r>
            <a:r>
              <a:rPr dirty="0">
                <a:latin typeface="Consolas"/>
              </a:rPr>
              <a:t>classification:</a:t>
            </a:r>
            <a:r>
              <a:rPr dirty="0"/>
              <a:t> prefix. A washout jumps to rank 2. Read the model card.</a:t>
            </a:r>
          </a:p>
          <a:p>
            <a:r>
              <a:rPr dirty="0"/>
              <a:t>5. Same output, the alert block: 1 alert, 3 real reports, 0 false.</a:t>
            </a:r>
          </a:p>
          <a:p>
            <a:r>
              <a:rPr dirty="0"/>
              <a:t>6. </a:t>
            </a:r>
            <a:r>
              <a:rPr dirty="0">
                <a:latin typeface="Consolas"/>
              </a:rPr>
              <a:t>dotnet run -- --trail 0042</a:t>
            </a:r>
            <a:r>
              <a:rPr dirty="0"/>
              <a:t>: the bear spike, cleaner still.</a:t>
            </a:r>
          </a:p>
          <a:p>
            <a:r>
              <a:rPr dirty="0"/>
              <a:t>7. Model calls: embeddings only. The rest was subtraction.</a:t>
            </a:r>
          </a:p>
          <a:p>
            <a:r>
              <a:rPr dirty="0"/>
              <a:t>Cut: 3, go straight to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Tickets, logs, safety reports, transaction notes, review streams. Pairs with 07: classification handles the categories you knew to define; anomaly detection catches the things you didn't.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line for your boss. Row 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Medium. If asked about cost: days to build, cheap to run forever; embeddings are the only model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user problem, spoken, 60 seconds: 07 routed the inbox, and now the ranger has forty messages that need replies, most of them boilerplate typed a hundred times. The obvious move is to let the AI answer; the obvious disaster is the AI telling a visitor campfires are fine during a burn ban, on official letterhead. The ranger's problem is drudgery; the park's problem is that fully automating outbound communication is how you end up apologizing publicly.</a:t>
            </a:r>
          </a:p>
          <a:p>
            <a:r>
              <a:t>The demo opens with the failure that makes the point: asked to draft a reply to a woman whose husband is four hours overdue, the model writes a warm, reassuring, useless note, every run, even with the escalation instruction moved to the top, where it announces ESCALATE and then writes the note anyway. More prompt engineering is not the lesson; the policy lives in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textbook version (IBM): a human actively participates in the operation, supervision, or decision-making of an automated system. The machine gets the efficiency; the human keeps the judgment.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 product pattern, not a model feature: the difference between AI features that ship and ones killed in legal review. It starts with a routed inquiry from 07.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Retrieve the park docs, the way 05 did.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model drafts a reply.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 human approves, edits, or rejects. This box is the feature.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Send, and log the draft, the decision, and the final text.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model types, a person decides, the log proves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 policy table sits in front of this line. Three lanes by error cost and reversibility: auto-send, draft-for-approval, human-only. The emergency row skips the whole diagram; that is the design, not a limitation.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Today's edits are tomorrow's prompt. The human is the feedback signal as much as the safety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~9 min · </a:t>
            </a:r>
            <a:r>
              <a:rPr>
                <a:latin typeface="Consolas"/>
              </a:rPr>
              <a:t>cd modules/M3-deciding/F09-human-in-the-loop/dotnet</a:t>
            </a:r>
          </a:p>
          <a:p>
            <a:r>
              <a:t>Files: </a:t>
            </a:r>
            <a:r>
              <a:rPr>
                <a:latin typeface="Consolas"/>
              </a:rPr>
              <a:t>inquiries.jsonl</a:t>
            </a:r>
            <a:r>
              <a:t> = a queue of 6, one is the overdue-husband emergency · </a:t>
            </a:r>
            <a:r>
              <a:rPr>
                <a:latin typeface="Consolas"/>
              </a:rPr>
              <a:t>outbox/</a:t>
            </a:r>
            <a:r>
              <a:t> = what got sent · </a:t>
            </a:r>
            <a:r>
              <a:rPr>
                <a:latin typeface="Consolas"/>
              </a:rPr>
              <a:t>decisions.jsonl</a:t>
            </a:r>
            <a:r>
              <a:t> = the audit log</a:t>
            </a:r>
          </a:p>
          <a:p>
            <a:r>
              <a:t>Flags: </a:t>
            </a:r>
            <a:r>
              <a:rPr>
                <a:latin typeface="Consolas"/>
              </a:rPr>
              <a:t>--policy</a:t>
            </a:r>
            <a:r>
              <a:t> = print the routing table and exit · </a:t>
            </a:r>
            <a:r>
              <a:rPr>
                <a:latin typeface="Consolas"/>
              </a:rPr>
              <a:t>--auto-approve-dry-run</a:t>
            </a:r>
            <a:r>
              <a:t> = non-interactive, testing only</a:t>
            </a:r>
          </a:p>
          <a:p>
            <a:r>
              <a:t>1. Before: </a:t>
            </a:r>
            <a:r>
              <a:rPr>
                <a:latin typeface="Consolas"/>
              </a:rPr>
              <a:t>cd starter &amp;&amp; dotnet run</a:t>
            </a:r>
            <a:r>
              <a:t>. Six drafts, all sent, none reviewed. The emergency gets a warm, useless note. Every time.</a:t>
            </a:r>
          </a:p>
          <a:p>
            <a:r>
              <a:t>2. After: </a:t>
            </a:r>
            <a:r>
              <a:rPr>
                <a:latin typeface="Consolas"/>
              </a:rPr>
              <a:t>cd ../complete &amp;&amp; dotnet run</a:t>
            </a:r>
            <a:r>
              <a:t>. The queue, one at a time. Approve one. Edit one. Reject one and write it.</a:t>
            </a:r>
          </a:p>
          <a:p>
            <a:r>
              <a:t>3. Open </a:t>
            </a:r>
            <a:r>
              <a:rPr>
                <a:latin typeface="Consolas"/>
              </a:rPr>
              <a:t>decisions.jsonl</a:t>
            </a:r>
            <a:r>
              <a:t>: draft, decision, final text, edit distance.</a:t>
            </a:r>
          </a:p>
          <a:p>
            <a:r>
              <a:t>4. </a:t>
            </a:r>
            <a:r>
              <a:rPr>
                <a:latin typeface="Consolas"/>
              </a:rPr>
              <a:t>dotnet run -- --policy</a:t>
            </a:r>
            <a:r>
              <a:t>: the table. Point at the emergency row. No AI, by policy.</a:t>
            </a:r>
          </a:p>
          <a:p>
            <a:r>
              <a:t>5. The edits are tomorrow's prompt.</a:t>
            </a:r>
          </a:p>
          <a:p>
            <a:r>
              <a:t>Cut: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Support replies, quotes, claims decisions. Often what makes the other nine shippable.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line for your boss. Row 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Medium. If asked about cost: drafting is trivial; the approval UI, audit trail, and policy design are ordinary product engineering, measured in weeks.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07 is structured output with an enum plus an honest scoring pass; the number that matters is emergency recall, not overall accuracy.</a:t>
            </a:r>
          </a:p>
          <a:p>
            <a:r>
              <a:t>Then choose by energy as much as by interest: 08 lets you go straight to the math; 09 is mostly a decision about what your software may do unsupervised. Running out of gas? Take this. It is also the one most likely to matter back at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Ask two people what surprised them.</a:t>
            </a:r>
          </a:p>
          <a:p>
            <a:r>
              <a:t>Prompts if quiet: whose classifier caught both emergencies? Whose model wrote the reassuring note? Rows 7-9 of the framework are done. Break, then Module 4, and everyone does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3505" y="770467"/>
            <a:ext cx="10782300" cy="3352800"/>
          </a:xfrm>
        </p:spPr>
        <p:txBody>
          <a:bodyPr anchor="b">
            <a:noAutofit/>
          </a:bodyPr>
          <a:lstStyle>
            <a:lvl1pPr algn="l">
              <a:lnSpc>
                <a:spcPct val="80000"/>
              </a:lnSpc>
              <a:defRPr sz="6600" spc="-90" baseline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fld id="{FDB08721-E45B-4A66-93A6-531BE00DB2CF}" type="datetimeFigureOut">
              <a:rPr lang="en-US" smtClean="0"/>
              <a:pPr defTabSz="342900"/>
              <a:t>9/16/26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  <p:sp>
        <p:nvSpPr>
          <p:cNvPr id="10" name="Rectangle 9"/>
          <p:cNvSpPr/>
          <p:nvPr userDrawn="1"/>
        </p:nvSpPr>
        <p:spPr>
          <a:xfrm>
            <a:off x="0" y="4160704"/>
            <a:ext cx="12192000" cy="8691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429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67513" y="4284569"/>
            <a:ext cx="9228201" cy="1587279"/>
          </a:xfrm>
        </p:spPr>
        <p:txBody>
          <a:bodyPr>
            <a:normAutofit/>
          </a:bodyPr>
          <a:lstStyle>
            <a:lvl1pPr marL="0" indent="0" algn="l">
              <a:buNone/>
              <a:defRPr sz="2400">
                <a:solidFill>
                  <a:srgbClr val="0072C6"/>
                </a:solidFill>
                <a:latin typeface="+mj-lt"/>
              </a:defRPr>
            </a:lvl1pPr>
            <a:lvl2pPr marL="342900" indent="0" algn="ctr">
              <a:buNone/>
              <a:defRPr sz="2100"/>
            </a:lvl2pPr>
            <a:lvl3pPr marL="685800" indent="0" algn="ctr">
              <a:buNone/>
              <a:defRPr sz="180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22254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9/16/26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997958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504" y="767419"/>
            <a:ext cx="10780776" cy="4558624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6600" b="0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7512" y="5468293"/>
            <a:ext cx="9226296" cy="381836"/>
          </a:xfr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  <a:latin typeface="+mj-lt"/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9/16/26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448365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6656" y="1998134"/>
            <a:ext cx="4663440" cy="376732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11331" y="1998134"/>
            <a:ext cx="4663440" cy="376732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9/16/26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241218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40467"/>
            <a:ext cx="4663440" cy="723400"/>
          </a:xfrm>
        </p:spPr>
        <p:txBody>
          <a:bodyPr anchor="ctr">
            <a:normAutofit/>
          </a:bodyPr>
          <a:lstStyle>
            <a:lvl1pPr marL="0" indent="0">
              <a:buNone/>
              <a:defRPr sz="165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6656" y="2753084"/>
            <a:ext cx="4663440" cy="3200400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07608" y="2038435"/>
            <a:ext cx="4663440" cy="722376"/>
          </a:xfrm>
        </p:spPr>
        <p:txBody>
          <a:bodyPr anchor="ctr">
            <a:normAutofit/>
          </a:bodyPr>
          <a:lstStyle>
            <a:lvl1pPr marL="0" indent="0">
              <a:buNone/>
              <a:defRPr sz="165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007608" y="2750990"/>
            <a:ext cx="4663440" cy="3200400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9/16/26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952598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9/16/26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37501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9/16/26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56549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620000" y="0"/>
            <a:ext cx="457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itle 8"/>
          <p:cNvSpPr>
            <a:spLocks noGrp="1"/>
          </p:cNvSpPr>
          <p:nvPr>
            <p:ph type="title"/>
          </p:nvPr>
        </p:nvSpPr>
        <p:spPr>
          <a:xfrm>
            <a:off x="8261404" y="542282"/>
            <a:ext cx="3383280" cy="1920240"/>
          </a:xfrm>
        </p:spPr>
        <p:txBody>
          <a:bodyPr anchor="b">
            <a:noAutofit/>
          </a:bodyPr>
          <a:lstStyle>
            <a:lvl1pPr>
              <a:lnSpc>
                <a:spcPct val="85000"/>
              </a:lnSpc>
              <a:defRPr sz="300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2000" y="762000"/>
            <a:ext cx="6096000" cy="4572000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75983" y="2511813"/>
            <a:ext cx="3398520" cy="3126987"/>
          </a:xfrm>
        </p:spPr>
        <p:txBody>
          <a:bodyPr>
            <a:normAutofit/>
          </a:bodyPr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50">
                <a:solidFill>
                  <a:srgbClr val="262626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10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9/16/26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0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2032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9224" y="5418669"/>
            <a:ext cx="10780776" cy="613283"/>
          </a:xfrm>
        </p:spPr>
        <p:txBody>
          <a:bodyPr anchor="b">
            <a:normAutofit/>
          </a:bodyPr>
          <a:lstStyle>
            <a:lvl1pPr>
              <a:defRPr sz="24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2192000" cy="5330952"/>
          </a:xfrm>
          <a:solidFill>
            <a:schemeClr val="accent1">
              <a:lumMod val="40000"/>
              <a:lumOff val="60000"/>
            </a:schemeClr>
          </a:solidFill>
        </p:spPr>
        <p:txBody>
          <a:bodyPr anchor="t"/>
          <a:lstStyle>
            <a:lvl1pPr marL="0" indent="0" algn="ctr">
              <a:spcBef>
                <a:spcPts val="600"/>
              </a:spcBef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6656" y="5909735"/>
            <a:ext cx="9229344" cy="5334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050">
                <a:solidFill>
                  <a:srgbClr val="262626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Date Placeholder 1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fld id="{FDB08721-E45B-4A66-93A6-531BE00DB2CF}" type="datetimeFigureOut">
              <a:rPr lang="en-US" smtClean="0"/>
              <a:pPr defTabSz="342900"/>
              <a:t>9/16/26</a:t>
            </a:fld>
            <a:endParaRPr 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endParaRPr lang="en-US"/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38869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9/16/26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99269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43951" y="695325"/>
            <a:ext cx="2628900" cy="48006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1526" y="714377"/>
            <a:ext cx="7734300" cy="5400675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9/16/26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7239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57226" y="499533"/>
            <a:ext cx="10772775" cy="16581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11680"/>
            <a:ext cx="10753725" cy="37661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5800" y="6412447"/>
            <a:ext cx="41148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13">
                <a:solidFill>
                  <a:schemeClr val="tx1">
                    <a:alpha val="8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9/16/26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554697"/>
            <a:ext cx="5029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13" cap="all" baseline="0">
                <a:solidFill>
                  <a:schemeClr val="tx1">
                    <a:alpha val="8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927" y="5876414"/>
            <a:ext cx="2926080" cy="139703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7725" b="0">
                <a:ln>
                  <a:noFill/>
                </a:ln>
                <a:solidFill>
                  <a:schemeClr val="accent1">
                    <a:alpha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89896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85000"/>
        </a:lnSpc>
        <a:spcBef>
          <a:spcPct val="0"/>
        </a:spcBef>
        <a:buNone/>
        <a:defRPr sz="4050" kern="1200" spc="-90" baseline="0">
          <a:solidFill>
            <a:srgbClr val="0070C0"/>
          </a:solidFill>
          <a:latin typeface="Segoe UI" panose="020B0502040204020203" pitchFamily="34" charset="0"/>
          <a:ea typeface="+mj-ea"/>
          <a:cs typeface="Segoe UI" panose="020B0502040204020203" pitchFamily="34" charset="0"/>
        </a:defRPr>
      </a:lvl1pPr>
    </p:titleStyle>
    <p:bodyStyle>
      <a:lvl1pPr marL="68580" indent="-68580" algn="l" defTabSz="685800" rtl="0" eaLnBrk="1" latinLnBrk="0" hangingPunct="1">
        <a:lnSpc>
          <a:spcPct val="85000"/>
        </a:lnSpc>
        <a:spcBef>
          <a:spcPts val="975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1pPr>
      <a:lvl2pPr marL="260604" indent="-257175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2pPr>
      <a:lvl3pPr marL="411480" indent="-41148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500" i="1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3pPr>
      <a:lvl4pPr marL="617220" indent="-61722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4pPr>
      <a:lvl5pPr marL="822960" indent="-82296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5pPr>
      <a:lvl6pPr marL="90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05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120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135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1"/>
              <a:t>Building Pragmatic AI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r>
              <a:t>Module 3: Deciding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  <p:pic>
        <p:nvPicPr>
          <p:cNvPr id="5" name="Picture 4" descr="bann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9144"/>
            <a:ext cx="12188952" cy="3182112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72016" y="3657600"/>
            <a:ext cx="2167128" cy="21671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This Module</a:t>
            </a:r>
          </a:p>
        </p:txBody>
      </p:sp>
      <p:pic>
        <p:nvPicPr>
          <p:cNvPr id="3" name="Picture 2" descr="bran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0" y="2990088"/>
            <a:ext cx="86868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4005072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F07 Route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This Module</a:t>
            </a:r>
          </a:p>
        </p:txBody>
      </p:sp>
      <p:pic>
        <p:nvPicPr>
          <p:cNvPr id="3" name="Picture 2" descr="bran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0" y="2990088"/>
            <a:ext cx="86868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4005072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F07 Route</a:t>
            </a:r>
          </a:p>
        </p:txBody>
      </p:sp>
      <p:pic>
        <p:nvPicPr>
          <p:cNvPr id="5" name="Picture 4" descr="scat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0" y="2990088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120640" y="4005072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F08 Detect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This Module</a:t>
            </a:r>
          </a:p>
        </p:txBody>
      </p:sp>
      <p:pic>
        <p:nvPicPr>
          <p:cNvPr id="3" name="Picture 2" descr="bran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0" y="2990088"/>
            <a:ext cx="86868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4005072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F07 Route</a:t>
            </a:r>
          </a:p>
        </p:txBody>
      </p:sp>
      <p:pic>
        <p:nvPicPr>
          <p:cNvPr id="5" name="Picture 4" descr="scat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0" y="2990088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120640" y="4005072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F08 Detect</a:t>
            </a:r>
          </a:p>
        </p:txBody>
      </p:sp>
      <p:pic>
        <p:nvPicPr>
          <p:cNvPr id="7" name="Picture 6" descr="shield-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21240" y="2990088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281160" y="4005072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F09 Approve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Three Ways to Decide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2788920"/>
            <a:ext cx="10966704" cy="3749040"/>
          </a:xfrm>
        </p:spPr>
        <p:txBody>
          <a:bodyPr wrap="square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07 Classify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Inquiry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02412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380736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Model picks one label from your list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32916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685784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Queue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Three Ways to Decide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886200"/>
            <a:ext cx="10966704" cy="2651760"/>
          </a:xfrm>
        </p:spPr>
        <p:txBody>
          <a:bodyPr wrap="square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07 Classify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Inquiry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02412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380736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Model picks one label from your list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32916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685784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Queue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283464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08 Detect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75688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Reports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702100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058716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Embed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685129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041745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Distance from "normal"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668158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024774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Threshold rule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651187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0007803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Alert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Three Ways to Decide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5193791"/>
            <a:ext cx="10966704" cy="1344169"/>
          </a:xfrm>
        </p:spPr>
        <p:txBody>
          <a:bodyPr wrap="square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07 Classify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Inquiry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02412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380736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Model picks one label from your list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32916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685784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Queue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283464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08 Detect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75688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Reports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702100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058716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Embed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685129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041745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Distance from "normal"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668158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024774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Threshold rule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651187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0007803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Alert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" y="3931920"/>
            <a:ext cx="1371600" cy="10332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09 Approve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75688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Inquiry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4197858" y="430225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4554474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Model drafts a reply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6676644" y="430225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7033260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Human approves, edits, or rejects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155430" y="430225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9512046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Send + log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Three Ways to Decide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5193791"/>
            <a:ext cx="10966704" cy="1344169"/>
          </a:xfrm>
        </p:spPr>
        <p:txBody>
          <a:bodyPr wrap="square"/>
          <a:lstStyle/>
          <a:p>
            <a:r>
              <a:rPr sz="2800"/>
              <a:t>A label · a "this is unusual" · a signature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07 Classify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Inquiry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02412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380736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Model picks one label from your list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32916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685784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Queue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283464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08 Detect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75688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Reports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702100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058716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Embed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685129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041745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Distance from "normal"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668158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024774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Threshold rule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651187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0007803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Alert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" y="3931920"/>
            <a:ext cx="1371600" cy="10332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09 Approve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75688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Inquiry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4197858" y="430225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4554474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Model drafts a reply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6676644" y="430225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7033260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Human approves, edits, or rejects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155430" y="430225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9512046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Send + log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Three Ways to Decide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5193791"/>
            <a:ext cx="10966704" cy="1344169"/>
          </a:xfrm>
        </p:spPr>
        <p:txBody>
          <a:bodyPr wrap="square"/>
          <a:lstStyle/>
          <a:p>
            <a:r>
              <a:rPr sz="2800"/>
              <a:t>A label · a "this is unusual" · a signature</a:t>
            </a:r>
          </a:p>
          <a:p>
            <a:r>
              <a:rPr sz="2800"/>
              <a:t>08 never asks the model to decide, only for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07 Classify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Inquiry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02412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380736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Model picks one label from your list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32916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685784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Queue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283464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08 Detect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75688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Reports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702100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058716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Embed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685129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041745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Distance from "normal"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668158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024774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Threshold rule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651187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0007803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Alert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" y="3931920"/>
            <a:ext cx="1371600" cy="10332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09 Approve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75688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Inquiry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4197858" y="430225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4554474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Model drafts a reply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6676644" y="430225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7033260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Human approves, edits, or rejects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155430" y="430225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9512046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Send + log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Three Ways to Decide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5193791"/>
            <a:ext cx="10966704" cy="1344169"/>
          </a:xfrm>
        </p:spPr>
        <p:txBody>
          <a:bodyPr wrap="square">
            <a:normAutofit lnSpcReduction="10000"/>
          </a:bodyPr>
          <a:lstStyle/>
          <a:p>
            <a:r>
              <a:rPr sz="2800"/>
              <a:t>A label · a "this is unusual" · a signature</a:t>
            </a:r>
          </a:p>
          <a:p>
            <a:r>
              <a:rPr sz="2800"/>
              <a:t>08 never asks the model to decide, only for numbers</a:t>
            </a:r>
          </a:p>
          <a:p>
            <a:r>
              <a:rPr sz="2800"/>
              <a:t>09 wraps the other two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07 Classify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Inquiry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02412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380736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Model picks one label from your list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32916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685784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Queue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283464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08 Detect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75688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Reports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702100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058716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Embed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685129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041745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Distance from "normal"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668158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024774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Threshold rule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651187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0007803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Alert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" y="3931920"/>
            <a:ext cx="1371600" cy="10332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09 Approve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75688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Inquiry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4197858" y="430225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4554474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Model drafts a reply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6676644" y="430225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7033260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Human approves, edits, or rejects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155430" y="430225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9512046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Send + log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1">
                <a:solidFill>
                  <a:srgbClr val="017AB4"/>
                </a:solidFill>
              </a:rPr>
              <a:t>F07 · Classification &amp; Routing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ran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8800" y="1371600"/>
            <a:ext cx="914400" cy="914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834640"/>
            <a:ext cx="103327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/>
              <a:t>Give each message a </a:t>
            </a:r>
            <a:r>
              <a:rPr sz="4000" b="1">
                <a:solidFill>
                  <a:srgbClr val="017AB4"/>
                </a:solidFill>
              </a:rPr>
              <a:t>label</a:t>
            </a:r>
            <a:r>
              <a:rPr sz="4000"/>
              <a:t>, and let the label pick the </a:t>
            </a:r>
            <a:r>
              <a:rPr sz="4000" b="1">
                <a:solidFill>
                  <a:srgbClr val="017AB4"/>
                </a:solidFill>
              </a:rPr>
              <a:t>queue</a:t>
            </a:r>
            <a:r>
              <a:rPr sz="4000"/>
              <a:t>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916936"/>
            <a:ext cx="10332720" cy="10149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</a:rPr>
              <a:t>DEMO</a:t>
            </a:r>
            <a:r>
              <a:rPr sz="6000">
                <a:solidFill>
                  <a:srgbClr val="FFFFFF"/>
                </a:solidFill>
              </a:rPr>
              <a:t> · F07 Classification &amp; Routing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F07 · Classification &amp; Routing · Demo: What to Watch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sz="2800"/>
              <a:t>The room finds the emergency in the raw inbox</a:t>
            </a:r>
          </a:p>
          <a:p>
            <a:r>
              <a:rPr sz="2800"/>
              <a:t>One method · plain-language taxonomy · one label</a:t>
            </a:r>
          </a:p>
          <a:p>
            <a:r>
              <a:rPr sz="2800"/>
              <a:t>The pile → tidy queues, in seconds</a:t>
            </a:r>
          </a:p>
          <a:p>
            <a:r>
              <a:rPr sz="2800">
                <a:latin typeface="Consolas"/>
              </a:rPr>
              <a:t>inq-0030</a:t>
            </a:r>
            <a:r>
              <a:rPr sz="2800"/>
              <a:t>: fixed by editing a sentence</a:t>
            </a:r>
          </a:p>
          <a:p>
            <a:r>
              <a:rPr sz="2800">
                <a:latin typeface="Consolas"/>
              </a:rPr>
              <a:t>inq-0035</a:t>
            </a:r>
            <a:r>
              <a:rPr sz="2800"/>
              <a:t> → </a:t>
            </a:r>
            <a:r>
              <a:rPr sz="2800">
                <a:latin typeface="Consolas"/>
              </a:rPr>
              <a:t>unsure</a:t>
            </a:r>
            <a:r>
              <a:rPr sz="2800"/>
              <a:t>, correctly</a:t>
            </a:r>
          </a:p>
          <a:p>
            <a:r>
              <a:rPr sz="2800"/>
              <a:t>📊 17/20 · 2/2 emergencies · every run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F07 · Classification &amp; Routing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A shared inbox or queue where a human sorts before anyone acts.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F07 · Classification &amp; Routing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A shared inbox or queue where a human sorts before anyone acts.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"Every message reaches the right person in seconds, and the urgent ones stop waiting in line."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F07 · Classification &amp; Routing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A shared inbox or queue where a human sorts before anyone acts.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"Every message reaches the right person in seconds, and the urgent ones stop waiting in line."</a:t>
            </a:r>
          </a:p>
          <a:p>
            <a:pPr>
              <a:spcAft>
                <a:spcPts val="1400"/>
              </a:spcAft>
            </a:pPr>
            <a:endParaRPr sz="2800"/>
          </a:p>
          <a:p>
            <a:pPr>
              <a:spcAft>
                <a:spcPts val="1400"/>
              </a:spcAft>
            </a:pPr>
            <a:r>
              <a:rPr sz="2800" b="1"/>
              <a:t>Difficulty:</a:t>
            </a:r>
            <a:r>
              <a:rPr sz="2800"/>
              <a:t> 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807208" y="4809744"/>
            <a:ext cx="256032" cy="256032"/>
          </a:xfrm>
          <a:prstGeom prst="roundRect">
            <a:avLst>
              <a:gd name="adj" fmla="val 25000"/>
            </a:avLst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154680" y="4608576"/>
            <a:ext cx="256032" cy="457200"/>
          </a:xfrm>
          <a:prstGeom prst="roundRect">
            <a:avLst>
              <a:gd name="adj" fmla="val 25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502152" y="4407408"/>
            <a:ext cx="256032" cy="658368"/>
          </a:xfrm>
          <a:prstGeom prst="roundRect">
            <a:avLst>
              <a:gd name="adj" fmla="val 25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532888" y="5120640"/>
            <a:ext cx="14996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/>
              <a:t>Easy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1">
                <a:solidFill>
                  <a:srgbClr val="017AB4"/>
                </a:solidFill>
              </a:rPr>
              <a:t>F08 · Anomaly Detection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8800" y="1371600"/>
            <a:ext cx="914400" cy="914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3178760"/>
            <a:ext cx="10332720" cy="13234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dirty="0"/>
              <a:t>Spot the item in a stream </a:t>
            </a:r>
            <a:br>
              <a:rPr lang="en-US" sz="4000" dirty="0"/>
            </a:br>
            <a:r>
              <a:rPr sz="4000" dirty="0"/>
              <a:t>that </a:t>
            </a:r>
            <a:r>
              <a:rPr sz="4000" b="1" dirty="0">
                <a:solidFill>
                  <a:srgbClr val="017AB4"/>
                </a:solidFill>
              </a:rPr>
              <a:t>doesn't look like the rest</a:t>
            </a:r>
            <a:r>
              <a:rPr sz="4000" dirty="0"/>
              <a:t>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236976"/>
            <a:ext cx="10966704" cy="3300984"/>
          </a:xfrm>
        </p:spPr>
        <p:txBody>
          <a:bodyPr wrap="square"/>
          <a:lstStyle/>
          <a:p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A trail's condition reports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236976"/>
            <a:ext cx="10966704" cy="3300984"/>
          </a:xfrm>
        </p:spPr>
        <p:txBody>
          <a:bodyPr wrap="square"/>
          <a:lstStyle/>
          <a:p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A trail's condition reports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152396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509012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nomic-embed-text, with the classification: prefix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236976"/>
            <a:ext cx="10966704" cy="3300984"/>
          </a:xfrm>
        </p:spPr>
        <p:txBody>
          <a:bodyPr wrap="square"/>
          <a:lstStyle/>
          <a:p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A trail's condition reports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152396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509012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nomic-embed-text, with the classification: prefix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48760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405376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Average the vectors: the centroid of "normal"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236976"/>
            <a:ext cx="10966704" cy="3300984"/>
          </a:xfrm>
        </p:spPr>
        <p:txBody>
          <a:bodyPr wrap="square"/>
          <a:lstStyle/>
          <a:p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A trail's condition reports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152396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509012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nomic-embed-text, with the classification: prefix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48760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405376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Average the vectors: the centroid of "normal"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45124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301740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Distance of each new report from it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236976"/>
            <a:ext cx="10966704" cy="3300984"/>
          </a:xfrm>
        </p:spPr>
        <p:txBody>
          <a:bodyPr wrap="square"/>
          <a:lstStyle/>
          <a:p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A trail's condition reports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152396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509012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nomic-embed-text, with the classification: prefix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48760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405376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Average the vectors: the centroid of "normal"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45124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301740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Distance of each new report from it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41488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198104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Beyond threshold, and 2 or more in 14 days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236976"/>
            <a:ext cx="10966704" cy="3300984"/>
          </a:xfrm>
        </p:spPr>
        <p:txBody>
          <a:bodyPr wrap="square"/>
          <a:lstStyle/>
          <a:p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A trail's condition reports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152396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509012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nomic-embed-text, with the classification: prefix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48760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405376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Average the vectors: the centroid of "normal"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45124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301740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Distance of each new report from it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41488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198104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Beyond threshold, and 2 or more in 14 days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737852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0094468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Alert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236976"/>
            <a:ext cx="10966704" cy="3300984"/>
          </a:xfrm>
        </p:spPr>
        <p:txBody>
          <a:bodyPr wrap="square"/>
          <a:lstStyle/>
          <a:p>
            <a:r>
              <a:rPr sz="2800"/>
              <a:t>The model only makes vectors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A trail's condition reports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152396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509012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nomic-embed-text, with the classification: prefix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48760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405376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Average the vectors: the centroid of "normal"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45124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301740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Distance of each new report from it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41488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198104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Beyond threshold, and 2 or more in 14 days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737852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0094468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Alert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236976"/>
            <a:ext cx="10966704" cy="3300984"/>
          </a:xfrm>
        </p:spPr>
        <p:txBody>
          <a:bodyPr wrap="square"/>
          <a:lstStyle/>
          <a:p>
            <a:r>
              <a:rPr sz="2800"/>
              <a:t>The model only makes vectors</a:t>
            </a:r>
          </a:p>
          <a:p>
            <a:r>
              <a:rPr sz="2800"/>
              <a:t>The alert rule is the feature: 1 is noise · 2 in 14 days is a washout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A trail's condition reports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152396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509012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nomic-embed-text, with the classification: prefix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48760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405376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Average the vectors: the centroid of "normal"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45124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301740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Distance of each new report from it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41488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198104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Beyond threshold, and 2 or more in 14 days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737852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0094468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Alert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236976"/>
            <a:ext cx="10966704" cy="3300984"/>
          </a:xfrm>
        </p:spPr>
        <p:txBody>
          <a:bodyPr wrap="square"/>
          <a:lstStyle/>
          <a:p>
            <a:r>
              <a:rPr sz="2800"/>
              <a:t>The model only makes vectors</a:t>
            </a:r>
          </a:p>
          <a:p>
            <a:r>
              <a:rPr sz="2800"/>
              <a:t>The alert rule is the feature: 1 is noise · 2 in 14 days is a washout</a:t>
            </a:r>
          </a:p>
          <a:p>
            <a:r>
              <a:rPr sz="2800"/>
              <a:t>04's code + one task prefix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A trail's condition reports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152396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509012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nomic-embed-text, with the classification: prefix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48760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405376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Average the vectors: the centroid of "normal"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45124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301740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Distance of each new report from it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41488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198104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Beyond threshold, and 2 or more in 14 days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737852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0094468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Alert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916936"/>
            <a:ext cx="10332720" cy="10149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</a:rPr>
              <a:t>DEMO</a:t>
            </a:r>
            <a:r>
              <a:rPr sz="6000">
                <a:solidFill>
                  <a:srgbClr val="FFFFFF"/>
                </a:solidFill>
              </a:rPr>
              <a:t> · F08 Anomaly Detection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Anomaly Detection · Demo: What to Watch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sz="2400"/>
              <a:t>The stream is boring on purpose</a:t>
            </a:r>
          </a:p>
          <a:p>
            <a:r>
              <a:rPr sz="2400"/>
              <a:t>The centroid: the center of normal</a:t>
            </a:r>
          </a:p>
          <a:p>
            <a:r>
              <a:rPr sz="2400"/>
              <a:t>❌ </a:t>
            </a:r>
            <a:r>
              <a:rPr sz="2400">
                <a:latin typeface="Consolas"/>
              </a:rPr>
              <a:t>--raw</a:t>
            </a:r>
            <a:r>
              <a:rPr sz="2400"/>
              <a:t>: washouts lost mid-list</a:t>
            </a:r>
          </a:p>
          <a:p>
            <a:r>
              <a:rPr sz="2400"/>
              <a:t>✅ </a:t>
            </a:r>
            <a:r>
              <a:rPr sz="2400">
                <a:latin typeface="Consolas"/>
              </a:rPr>
              <a:t>classification:</a:t>
            </a:r>
            <a:r>
              <a:rPr sz="2400"/>
              <a:t> prefix: rank 11 → 2</a:t>
            </a:r>
          </a:p>
          <a:p>
            <a:r>
              <a:rPr sz="2400"/>
              <a:t>Alert rule: 1 alert · 3 real reports · 0 false</a:t>
            </a:r>
          </a:p>
          <a:p>
            <a:r>
              <a:rPr sz="2400"/>
              <a:t>The bear trail: cleaner still</a:t>
            </a:r>
          </a:p>
          <a:p>
            <a:r>
              <a:rPr sz="2400"/>
              <a:t>Model calls: embeddings only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Anomaly Detection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A stream of routine text where the rare exception is expensive to miss.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Anomaly Detection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A stream of routine text where the rare exception is expensive to miss.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"We hear about the washed-out bridge from the first three reports, not from a one-star review a month later."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Anomaly Detection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A stream of routine text where the rare exception is expensive to miss.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"We hear about the washed-out bridge from the first three reports, not from a one-star review a month later."</a:t>
            </a:r>
          </a:p>
          <a:p>
            <a:pPr>
              <a:spcAft>
                <a:spcPts val="1400"/>
              </a:spcAft>
            </a:pPr>
            <a:endParaRPr sz="2800"/>
          </a:p>
          <a:p>
            <a:pPr>
              <a:spcAft>
                <a:spcPts val="1400"/>
              </a:spcAft>
            </a:pPr>
            <a:r>
              <a:rPr sz="2800" b="1"/>
              <a:t>Difficulty:</a:t>
            </a:r>
            <a:r>
              <a:rPr sz="2800"/>
              <a:t> 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807208" y="4809744"/>
            <a:ext cx="256032" cy="256032"/>
          </a:xfrm>
          <a:prstGeom prst="roundRect">
            <a:avLst>
              <a:gd name="adj" fmla="val 25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154680" y="4608576"/>
            <a:ext cx="256032" cy="457200"/>
          </a:xfrm>
          <a:prstGeom prst="roundRect">
            <a:avLst>
              <a:gd name="adj" fmla="val 25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502152" y="4407408"/>
            <a:ext cx="256032" cy="658368"/>
          </a:xfrm>
          <a:prstGeom prst="roundRect">
            <a:avLst>
              <a:gd name="adj" fmla="val 25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532888" y="5120640"/>
            <a:ext cx="14996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/>
              <a:t>Medium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1">
                <a:solidFill>
                  <a:srgbClr val="017AB4"/>
                </a:solidFill>
              </a:rPr>
              <a:t>F09 · Human-in-the-Loop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hield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8800" y="1371600"/>
            <a:ext cx="914400" cy="914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834640"/>
            <a:ext cx="103327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/>
              <a:t>The AI drafts; a </a:t>
            </a:r>
            <a:r>
              <a:rPr sz="4000" b="1">
                <a:solidFill>
                  <a:srgbClr val="017AB4"/>
                </a:solidFill>
              </a:rPr>
              <a:t>person approves</a:t>
            </a:r>
            <a:r>
              <a:rPr sz="4000"/>
              <a:t> before anything goes out.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F09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2999231"/>
            <a:ext cx="10966704" cy="3538729"/>
          </a:xfrm>
        </p:spPr>
        <p:txBody>
          <a:bodyPr wrap="square"/>
          <a:lstStyle/>
          <a:p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Routed inquiry (from 07)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F09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2999231"/>
            <a:ext cx="10966704" cy="3538729"/>
          </a:xfrm>
        </p:spPr>
        <p:txBody>
          <a:bodyPr wrap="square"/>
          <a:lstStyle/>
          <a:p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Routed inquiry (from 07)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31668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888284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Retrieve park docs (05)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F09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2999231"/>
            <a:ext cx="10966704" cy="3538729"/>
          </a:xfrm>
        </p:spPr>
        <p:txBody>
          <a:bodyPr wrap="square"/>
          <a:lstStyle/>
          <a:p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Routed inquiry (from 07)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31668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888284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Retrieve park docs (05)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07305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163921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Model drafts a reply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F09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2999231"/>
            <a:ext cx="10966704" cy="3538729"/>
          </a:xfrm>
        </p:spPr>
        <p:txBody>
          <a:bodyPr wrap="square"/>
          <a:lstStyle/>
          <a:p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Routed inquiry (from 07)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31668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888284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Retrieve park docs (05)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07305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163921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Model drafts a reply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82942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439558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Human: approve, edit, or reject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F09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2999231"/>
            <a:ext cx="10966704" cy="3538729"/>
          </a:xfrm>
        </p:spPr>
        <p:txBody>
          <a:bodyPr wrap="square"/>
          <a:lstStyle/>
          <a:p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Routed inquiry (from 07)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31668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888284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Retrieve park docs (05)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07305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163921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Model drafts a reply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82942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439558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Human: approve, edit, or reject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358579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9715195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Send, and log draft + decision + final text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F09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2999231"/>
            <a:ext cx="10966704" cy="3538729"/>
          </a:xfrm>
        </p:spPr>
        <p:txBody>
          <a:bodyPr wrap="square"/>
          <a:lstStyle/>
          <a:p>
            <a:r>
              <a:rPr sz="2800"/>
              <a:t>The model types · a person decides · the log proves 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Routed inquiry (from 07)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31668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888284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Retrieve park docs (05)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07305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163921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Model drafts a reply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82942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439558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Human: approve, edit, or reject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358579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9715195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Send, and log draft + decision + final text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F09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2999231"/>
            <a:ext cx="10966704" cy="3538729"/>
          </a:xfrm>
        </p:spPr>
        <p:txBody>
          <a:bodyPr wrap="square"/>
          <a:lstStyle/>
          <a:p>
            <a:r>
              <a:rPr sz="2800"/>
              <a:t>The model types · a person decides · the log proves it</a:t>
            </a:r>
          </a:p>
          <a:p>
            <a:r>
              <a:rPr sz="2800"/>
              <a:t>A policy table sits in front of this 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Routed inquiry (from 07)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31668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888284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Retrieve park docs (05)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07305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163921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Model drafts a reply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82942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439558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Human: approve, edit, or reject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358579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9715195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Send, and log draft + decision + final text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F09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2999231"/>
            <a:ext cx="10966704" cy="3538729"/>
          </a:xfrm>
        </p:spPr>
        <p:txBody>
          <a:bodyPr wrap="square"/>
          <a:lstStyle/>
          <a:p>
            <a:r>
              <a:rPr sz="2800"/>
              <a:t>The model types · a person decides · the log proves it</a:t>
            </a:r>
          </a:p>
          <a:p>
            <a:r>
              <a:rPr sz="2800"/>
              <a:t>A policy table sits in front of this line</a:t>
            </a:r>
          </a:p>
          <a:p>
            <a:r>
              <a:rPr sz="2800"/>
              <a:t>Today's edits → tomorrow's prompt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Routed inquiry (from 07)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31668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888284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Retrieve park docs (05)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07305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163921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Model drafts a reply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82942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439558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Human: approve, edit, or reject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358579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9715195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Send, and log draft + decision + final text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916936"/>
            <a:ext cx="10332720" cy="10149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</a:rPr>
              <a:t>DEMO</a:t>
            </a:r>
            <a:r>
              <a:rPr sz="6000">
                <a:solidFill>
                  <a:srgbClr val="FFFFFF"/>
                </a:solidFill>
              </a:rPr>
              <a:t> · F09 Human-in-the-Loop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F09 · Human-in-the-Loop · Demo: What to Watch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sz="2800"/>
              <a:t>The escalation failure, live: </a:t>
            </a:r>
            <a:r>
              <a:rPr sz="2800">
                <a:latin typeface="Consolas"/>
              </a:rPr>
              <a:t>ESCALATE</a:t>
            </a:r>
            <a:r>
              <a:rPr sz="2800"/>
              <a:t>… then the note anyway</a:t>
            </a:r>
          </a:p>
          <a:p>
            <a:r>
              <a:rPr sz="2800"/>
              <a:t>A routed queue awaiting replies</a:t>
            </a:r>
          </a:p>
          <a:p>
            <a:r>
              <a:rPr sz="2800"/>
              <a:t>One grounded draft: good, not perfect</a:t>
            </a:r>
          </a:p>
          <a:p>
            <a:r>
              <a:rPr sz="2800"/>
              <a:t>Approve · edit · reject-and-rewrite</a:t>
            </a:r>
          </a:p>
          <a:p>
            <a:r>
              <a:rPr sz="2800"/>
              <a:t>The audit log, with edit distance</a:t>
            </a:r>
          </a:p>
          <a:p>
            <a:r>
              <a:rPr sz="2800"/>
              <a:t>The policy table: point at the emergency row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F09 · Human-in-the-Loop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Anything AI-written that goes out under your name.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F09 · Human-in-the-Loop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Anything AI-written that goes out under your name.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"The AI does the typing, our people keep the judgment, and nothing goes out without a human OK until the data says it can."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F09 · Human-in-the-Loop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Anything AI-written that goes out under your name.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"The AI does the typing, our people keep the judgment, and nothing goes out without a human OK until the data says it can."</a:t>
            </a:r>
          </a:p>
          <a:p>
            <a:pPr>
              <a:spcAft>
                <a:spcPts val="1400"/>
              </a:spcAft>
            </a:pPr>
            <a:endParaRPr sz="2800"/>
          </a:p>
          <a:p>
            <a:pPr>
              <a:spcAft>
                <a:spcPts val="1400"/>
              </a:spcAft>
            </a:pPr>
            <a:r>
              <a:rPr sz="2800" b="1"/>
              <a:t>Difficulty:</a:t>
            </a:r>
            <a:r>
              <a:rPr sz="2800"/>
              <a:t> 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807208" y="4809744"/>
            <a:ext cx="256032" cy="256032"/>
          </a:xfrm>
          <a:prstGeom prst="roundRect">
            <a:avLst>
              <a:gd name="adj" fmla="val 25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154680" y="4608576"/>
            <a:ext cx="256032" cy="457200"/>
          </a:xfrm>
          <a:prstGeom prst="roundRect">
            <a:avLst>
              <a:gd name="adj" fmla="val 25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502152" y="4407408"/>
            <a:ext cx="256032" cy="658368"/>
          </a:xfrm>
          <a:prstGeom prst="roundRect">
            <a:avLst>
              <a:gd name="adj" fmla="val 25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532888" y="5120640"/>
            <a:ext cx="14996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/>
              <a:t>Medium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Lab 3: ~50 Minutes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 marL="0" indent="0">
              <a:buNone/>
            </a:pPr>
            <a:r>
              <a:rPr sz="3600" dirty="0"/>
              <a:t>⭐ Recommended: </a:t>
            </a:r>
            <a:endParaRPr lang="en-US" sz="3600" dirty="0"/>
          </a:p>
          <a:p>
            <a:pPr marL="0" indent="0">
              <a:buNone/>
            </a:pPr>
            <a:r>
              <a:rPr sz="3600" b="1" dirty="0"/>
              <a:t>F07 Classification &amp; Routing</a:t>
            </a:r>
            <a:endParaRPr lang="en-US" sz="3600" b="1" dirty="0"/>
          </a:p>
          <a:p>
            <a:pPr marL="0" indent="0">
              <a:buNone/>
            </a:pPr>
            <a:endParaRPr sz="3600" b="1" dirty="0"/>
          </a:p>
          <a:p>
            <a:pPr marL="0" indent="0">
              <a:buNone/>
            </a:pPr>
            <a:r>
              <a:rPr sz="3600" dirty="0"/>
              <a:t>⛰️ Challenge: </a:t>
            </a:r>
            <a:endParaRPr lang="en-US" sz="3600" dirty="0"/>
          </a:p>
          <a:p>
            <a:pPr marL="0" indent="0">
              <a:buNone/>
            </a:pPr>
            <a:r>
              <a:rPr sz="3600" b="1" dirty="0"/>
              <a:t>F08 Anomaly Detection</a:t>
            </a:r>
            <a:r>
              <a:rPr sz="3600" dirty="0"/>
              <a:t> · </a:t>
            </a:r>
            <a:r>
              <a:rPr sz="3600" b="1" dirty="0"/>
              <a:t>F09 Human-in-the-Loop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Lab 3: Debrief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endParaRPr/>
          </a:p>
          <a:p>
            <a:r>
              <a:rPr sz="2800"/>
              <a:t>How'd it go?				  Observations?			       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etropolitan">
  <a:themeElements>
    <a:clrScheme name="Custom 1">
      <a:dk1>
        <a:sysClr val="windowText" lastClr="000000"/>
      </a:dk1>
      <a:lt1>
        <a:sysClr val="window" lastClr="FFFFFF"/>
      </a:lt1>
      <a:dk2>
        <a:srgbClr val="162F33"/>
      </a:dk2>
      <a:lt2>
        <a:srgbClr val="EAF0E0"/>
      </a:lt2>
      <a:accent1>
        <a:srgbClr val="0072C6"/>
      </a:accent1>
      <a:accent2>
        <a:srgbClr val="A8B97F"/>
      </a:accent2>
      <a:accent3>
        <a:srgbClr val="9B9256"/>
      </a:accent3>
      <a:accent4>
        <a:srgbClr val="657689"/>
      </a:accent4>
      <a:accent5>
        <a:srgbClr val="7A855D"/>
      </a:accent5>
      <a:accent6>
        <a:srgbClr val="84AC9D"/>
      </a:accent6>
      <a:hlink>
        <a:srgbClr val="2370CD"/>
      </a:hlink>
      <a:folHlink>
        <a:srgbClr val="877589"/>
      </a:folHlink>
    </a:clrScheme>
    <a:fontScheme name="Metropolitan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Metropolitan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00000"/>
                <a:lumMod val="110000"/>
              </a:schemeClr>
            </a:gs>
            <a:gs pos="50000">
              <a:schemeClr val="phClr">
                <a:tint val="75000"/>
                <a:satMod val="101000"/>
                <a:lumMod val="105000"/>
              </a:schemeClr>
            </a:gs>
            <a:gs pos="100000">
              <a:schemeClr val="phClr">
                <a:tint val="82000"/>
                <a:satMod val="104000"/>
                <a:lumMod val="105000"/>
              </a:schemeClr>
            </a:gs>
          </a:gsLst>
          <a:lin ang="27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0000"/>
                <a:lumMod val="100000"/>
              </a:schemeClr>
            </a:gs>
            <a:gs pos="100000">
              <a:schemeClr val="phClr">
                <a:shade val="80000"/>
                <a:satMod val="100000"/>
                <a:lumMod val="99000"/>
              </a:schemeClr>
            </a:gs>
          </a:gsLst>
          <a:lin ang="27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solidFill>
          <a:schemeClr val="phClr">
            <a:shade val="95000"/>
            <a:satMod val="17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tropolitan" id="{4C5440D6-04D2-4954-96CF-F251137069B2}" vid="{79CFCA13-9412-4290-BB4B-85112F88857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9FC66F1-1152-1545-A5C1-ABAAA7F2FAF2}">
  <we:reference id="wa200010725" version="1.0.0.1" store="en-US" storeType="OMEX"/>
  <we:alternateReferences>
    <we:reference id="WA200010725" version="1.0.0.1" store="WA200010725" storeType="OMEX"/>
  </we:alternateReferences>
  <we:properties>
    <we:property name="claude.fileId" value="&quot;c9fbb05a-0234-489e-a7de-af156d8ab243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98585</TotalTime>
  <Words>3589</Words>
  <Application>Microsoft Macintosh PowerPoint</Application>
  <PresentationFormat>Widescreen</PresentationFormat>
  <Paragraphs>350</Paragraphs>
  <Slides>50</Slides>
  <Notes>47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6" baseType="lpstr">
      <vt:lpstr>Consolas</vt:lpstr>
      <vt:lpstr>Segoe UI</vt:lpstr>
      <vt:lpstr>Calibri</vt:lpstr>
      <vt:lpstr>Arial</vt:lpstr>
      <vt:lpstr>Calibri Light</vt:lpstr>
      <vt:lpstr>Metropolitan</vt:lpstr>
      <vt:lpstr>Building Pragmatic AI</vt:lpstr>
      <vt:lpstr>This Module</vt:lpstr>
      <vt:lpstr>This Module</vt:lpstr>
      <vt:lpstr>This Module</vt:lpstr>
      <vt:lpstr>Three Ways to Decide</vt:lpstr>
      <vt:lpstr>Three Ways to Decide</vt:lpstr>
      <vt:lpstr>Three Ways to Decide</vt:lpstr>
      <vt:lpstr>Three Ways to Decide</vt:lpstr>
      <vt:lpstr>Three Ways to Decide</vt:lpstr>
      <vt:lpstr>Three Ways to Decide</vt:lpstr>
      <vt:lpstr>F07 · Classification &amp; Routing</vt:lpstr>
      <vt:lpstr>PowerPoint Presentation</vt:lpstr>
      <vt:lpstr>PowerPoint Presentation</vt:lpstr>
      <vt:lpstr>F07 · Classification &amp; Routing · Demo: What to Watch</vt:lpstr>
      <vt:lpstr>F07 · Classification &amp; Routing · Leadership Card</vt:lpstr>
      <vt:lpstr>F07 · Classification &amp; Routing · Leadership Card</vt:lpstr>
      <vt:lpstr>F07 · Classification &amp; Routing · Leadership Card</vt:lpstr>
      <vt:lpstr>F08 · Anomaly Detection</vt:lpstr>
      <vt:lpstr>PowerPoint Presentation</vt:lpstr>
      <vt:lpstr>F08 · How It Works</vt:lpstr>
      <vt:lpstr>F08 · How It Works</vt:lpstr>
      <vt:lpstr>F08 · How It Works</vt:lpstr>
      <vt:lpstr>F08 · How It Works</vt:lpstr>
      <vt:lpstr>F08 · How It Works</vt:lpstr>
      <vt:lpstr>F08 · How It Works</vt:lpstr>
      <vt:lpstr>F08 · How It Works</vt:lpstr>
      <vt:lpstr>F08 · How It Works</vt:lpstr>
      <vt:lpstr>F08 · How It Works</vt:lpstr>
      <vt:lpstr>PowerPoint Presentation</vt:lpstr>
      <vt:lpstr>F08 · Anomaly Detection · Demo: What to Watch</vt:lpstr>
      <vt:lpstr>F08 · Anomaly Detection · Leadership Card</vt:lpstr>
      <vt:lpstr>F08 · Anomaly Detection · Leadership Card</vt:lpstr>
      <vt:lpstr>F08 · Anomaly Detection · Leadership Card</vt:lpstr>
      <vt:lpstr>F09 · Human-in-the-Loop</vt:lpstr>
      <vt:lpstr>PowerPoint Presentation</vt:lpstr>
      <vt:lpstr>F09 · How It Works</vt:lpstr>
      <vt:lpstr>F09 · How It Works</vt:lpstr>
      <vt:lpstr>F09 · How It Works</vt:lpstr>
      <vt:lpstr>F09 · How It Works</vt:lpstr>
      <vt:lpstr>F09 · How It Works</vt:lpstr>
      <vt:lpstr>F09 · How It Works</vt:lpstr>
      <vt:lpstr>F09 · How It Works</vt:lpstr>
      <vt:lpstr>F09 · How It Works</vt:lpstr>
      <vt:lpstr>PowerPoint Presentation</vt:lpstr>
      <vt:lpstr>F09 · Human-in-the-Loop · Demo: What to Watch</vt:lpstr>
      <vt:lpstr>F09 · Human-in-the-Loop · Leadership Card</vt:lpstr>
      <vt:lpstr>F09 · Human-in-the-Loop · Leadership Card</vt:lpstr>
      <vt:lpstr>F09 · Human-in-the-Loop · Leadership Card</vt:lpstr>
      <vt:lpstr>Lab 3: ~60 Minutes</vt:lpstr>
      <vt:lpstr>Lab 3: Debrief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NASA's Power of Ten</dc:title>
  <dc:subject/>
  <dc:creator>Jonathan "J." Tower</dc:creator>
  <cp:keywords/>
  <dc:description/>
  <cp:lastModifiedBy>Jonathan "J." Tower</cp:lastModifiedBy>
  <cp:revision>6</cp:revision>
  <dcterms:created xsi:type="dcterms:W3CDTF">2022-03-22T12:15:23Z</dcterms:created>
  <dcterms:modified xsi:type="dcterms:W3CDTF">2026-09-16T15:08:05Z</dcterms:modified>
  <cp:category/>
</cp:coreProperties>
</file>