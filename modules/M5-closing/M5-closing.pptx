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35"/>
  </p:notesMasterIdLst>
  <p:sldIdLst>
    <p:sldId id="576" r:id="rId2"/>
    <p:sldId id="577" r:id="rId3"/>
    <p:sldId id="578" r:id="rId4"/>
    <p:sldId id="579" r:id="rId5"/>
    <p:sldId id="580" r:id="rId6"/>
    <p:sldId id="581" r:id="rId7"/>
    <p:sldId id="582" r:id="rId8"/>
    <p:sldId id="583" r:id="rId9"/>
    <p:sldId id="584" r:id="rId10"/>
    <p:sldId id="585" r:id="rId11"/>
    <p:sldId id="586" r:id="rId12"/>
    <p:sldId id="587" r:id="rId13"/>
    <p:sldId id="588" r:id="rId14"/>
    <p:sldId id="589" r:id="rId15"/>
    <p:sldId id="590" r:id="rId16"/>
    <p:sldId id="591" r:id="rId17"/>
    <p:sldId id="592" r:id="rId18"/>
    <p:sldId id="593" r:id="rId19"/>
    <p:sldId id="594" r:id="rId20"/>
    <p:sldId id="595" r:id="rId21"/>
    <p:sldId id="596" r:id="rId22"/>
    <p:sldId id="597" r:id="rId23"/>
    <p:sldId id="598" r:id="rId24"/>
    <p:sldId id="599" r:id="rId25"/>
    <p:sldId id="600" r:id="rId26"/>
    <p:sldId id="601" r:id="rId27"/>
    <p:sldId id="602" r:id="rId28"/>
    <p:sldId id="603" r:id="rId29"/>
    <p:sldId id="604" r:id="rId30"/>
    <p:sldId id="605" r:id="rId31"/>
    <p:sldId id="606" r:id="rId32"/>
    <p:sldId id="607" r:id="rId33"/>
    <p:sldId id="305" r:id="rId34"/>
  </p:sldIdLst>
  <p:sldSz cx="12192000" cy="6858000"/>
  <p:notesSz cx="6858000" cy="9144000"/>
  <p:embeddedFontLst>
    <p:embeddedFont>
      <p:font typeface="Consolas" panose="020B0609020204030204" pitchFamily="49" charset="0"/>
      <p:regular r:id="rId36"/>
      <p:bold r:id="rId37"/>
      <p:italic r:id="rId38"/>
      <p:boldItalic r:id="rId39"/>
    </p:embeddedFont>
    <p:embeddedFont>
      <p:font typeface="Segoe UI" panose="020B0502040204020203" pitchFamily="34" charset="0"/>
      <p:regular r:id="rId40"/>
      <p:bold r:id="rId41"/>
      <p:italic r:id="rId42"/>
      <p:boldItalic r:id="rId4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17AB4"/>
    <a:srgbClr val="0079B4"/>
    <a:srgbClr val="00A700"/>
    <a:srgbClr val="D31616"/>
    <a:srgbClr val="FFFFFF"/>
    <a:srgbClr val="E88500"/>
    <a:srgbClr val="FFD800"/>
    <a:srgbClr val="007AB5"/>
    <a:srgbClr val="000000"/>
    <a:srgbClr val="502AD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1" autoAdjust="0"/>
    <p:restoredTop sz="66874" autoAdjust="0"/>
  </p:normalViewPr>
  <p:slideViewPr>
    <p:cSldViewPr snapToGrid="0">
      <p:cViewPr varScale="1">
        <p:scale>
          <a:sx n="77" d="100"/>
          <a:sy n="77" d="100"/>
        </p:scale>
        <p:origin x="2104" y="1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4.fntdata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7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2.fntdata"/><Relationship Id="rId40" Type="http://schemas.openxmlformats.org/officeDocument/2006/relationships/font" Target="fonts/font5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1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43" Type="http://schemas.openxmlformats.org/officeDocument/2006/relationships/font" Target="fonts/font8.fntdata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font" Target="fonts/font3.fntdata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6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. Tower" userId="9d06de10716639e5" providerId="LiveId" clId="{F8931099-75CA-5660-A155-55881DF68D84}"/>
    <pc:docChg chg="undo redo custSel addSld delSld modSld sldOrd modSection">
      <pc:chgData name="J. Tower" userId="9d06de10716639e5" providerId="LiveId" clId="{F8931099-75CA-5660-A155-55881DF68D84}" dt="2026-09-21T22:03:30.108" v="1015" actId="20577"/>
      <pc:docMkLst>
        <pc:docMk/>
      </pc:docMkLst>
      <pc:sldChg chg="addSp delSp modSp add mod">
        <pc:chgData name="J. Tower" userId="9d06de10716639e5" providerId="LiveId" clId="{F8931099-75CA-5660-A155-55881DF68D84}" dt="2026-09-21T22:03:30.108" v="1015" actId="20577"/>
        <pc:sldMkLst>
          <pc:docMk/>
          <pc:sldMk cId="2588151616" sldId="305"/>
        </pc:sldMkLst>
        <pc:spChg chg="mod">
          <ac:chgData name="J. Tower" userId="9d06de10716639e5" providerId="LiveId" clId="{F8931099-75CA-5660-A155-55881DF68D84}" dt="2026-09-21T22:03:30.108" v="1015" actId="20577"/>
          <ac:spMkLst>
            <pc:docMk/>
            <pc:sldMk cId="2588151616" sldId="305"/>
            <ac:spMk id="3" creationId="{00000000-0000-0000-0000-000000000000}"/>
          </ac:spMkLst>
        </pc:spChg>
        <pc:spChg chg="add mod">
          <ac:chgData name="J. Tower" userId="9d06de10716639e5" providerId="LiveId" clId="{F8931099-75CA-5660-A155-55881DF68D84}" dt="2026-09-21T22:02:49.307" v="994" actId="207"/>
          <ac:spMkLst>
            <pc:docMk/>
            <pc:sldMk cId="2588151616" sldId="305"/>
            <ac:spMk id="6" creationId="{AE6963CF-EE52-0F1E-6DE8-AAD1013F2522}"/>
          </ac:spMkLst>
        </pc:spChg>
        <pc:spChg chg="mod">
          <ac:chgData name="J. Tower" userId="9d06de10716639e5" providerId="LiveId" clId="{F8931099-75CA-5660-A155-55881DF68D84}" dt="2026-09-21T22:03:23.496" v="997" actId="167"/>
          <ac:spMkLst>
            <pc:docMk/>
            <pc:sldMk cId="2588151616" sldId="305"/>
            <ac:spMk id="10" creationId="{879C7D46-B427-B1BB-7A1F-392BCB232898}"/>
          </ac:spMkLst>
        </pc:spChg>
        <pc:picChg chg="del">
          <ac:chgData name="J. Tower" userId="9d06de10716639e5" providerId="LiveId" clId="{F8931099-75CA-5660-A155-55881DF68D84}" dt="2026-09-21T22:02:43.659" v="992" actId="478"/>
          <ac:picMkLst>
            <pc:docMk/>
            <pc:sldMk cId="2588151616" sldId="305"/>
            <ac:picMk id="4" creationId="{00000000-0000-0000-0000-000000000000}"/>
          </ac:picMkLst>
        </pc:picChg>
      </pc:sldChg>
      <pc:sldChg chg="del">
        <pc:chgData name="J. Tower" userId="9d06de10716639e5" providerId="LiveId" clId="{F8931099-75CA-5660-A155-55881DF68D84}" dt="2026-09-21T22:03:10.101" v="996" actId="2696"/>
        <pc:sldMkLst>
          <pc:docMk/>
          <pc:sldMk cId="934945236" sldId="540"/>
        </pc:sldMkLst>
      </pc:sldChg>
      <pc:sldChg chg="modSp mod">
        <pc:chgData name="J. Tower" userId="9d06de10716639e5" providerId="LiveId" clId="{F8931099-75CA-5660-A155-55881DF68D84}" dt="2026-09-01T20:37:28.584" v="981" actId="27636"/>
        <pc:sldMkLst>
          <pc:docMk/>
          <pc:sldMk cId="0" sldId="576"/>
        </pc:sldMkLst>
        <pc:spChg chg="mod">
          <ac:chgData name="J. Tower" userId="9d06de10716639e5" providerId="LiveId" clId="{F8931099-75CA-5660-A155-55881DF68D84}" dt="2026-09-01T20:37:28.584" v="981" actId="27636"/>
          <ac:spMkLst>
            <pc:docMk/>
            <pc:sldMk cId="0" sldId="576"/>
            <ac:spMk id="3" creationId="{00000000-0000-0000-0000-000000000000}"/>
          </ac:spMkLst>
        </pc:spChg>
      </pc:sldChg>
      <pc:sldChg chg="modSp">
        <pc:chgData name="J. Tower" userId="9d06de10716639e5" providerId="LiveId" clId="{F8931099-75CA-5660-A155-55881DF68D84}" dt="2026-09-01T20:37:28.511" v="979"/>
        <pc:sldMkLst>
          <pc:docMk/>
          <pc:sldMk cId="0" sldId="586"/>
        </pc:sldMkLst>
        <pc:spChg chg="mod">
          <ac:chgData name="J. Tower" userId="9d06de10716639e5" providerId="LiveId" clId="{F8931099-75CA-5660-A155-55881DF68D84}" dt="2026-09-01T20:37:28.511" v="979"/>
          <ac:spMkLst>
            <pc:docMk/>
            <pc:sldMk cId="0" sldId="586"/>
            <ac:spMk id="2" creationId="{00000000-0000-0000-0000-000000000000}"/>
          </ac:spMkLst>
        </pc:spChg>
      </pc:sldChg>
      <pc:sldChg chg="modSp">
        <pc:chgData name="J. Tower" userId="9d06de10716639e5" providerId="LiveId" clId="{F8931099-75CA-5660-A155-55881DF68D84}" dt="2026-09-01T20:37:30.362" v="982"/>
        <pc:sldMkLst>
          <pc:docMk/>
          <pc:sldMk cId="0" sldId="587"/>
        </pc:sldMkLst>
        <pc:spChg chg="mod">
          <ac:chgData name="J. Tower" userId="9d06de10716639e5" providerId="LiveId" clId="{F8931099-75CA-5660-A155-55881DF68D84}" dt="2026-09-01T20:37:30.362" v="982"/>
          <ac:spMkLst>
            <pc:docMk/>
            <pc:sldMk cId="0" sldId="587"/>
            <ac:spMk id="2" creationId="{00000000-0000-0000-0000-000000000000}"/>
          </ac:spMkLst>
        </pc:spChg>
      </pc:sldChg>
      <pc:sldChg chg="modSp">
        <pc:chgData name="J. Tower" userId="9d06de10716639e5" providerId="LiveId" clId="{F8931099-75CA-5660-A155-55881DF68D84}" dt="2026-09-01T20:37:32.717" v="983"/>
        <pc:sldMkLst>
          <pc:docMk/>
          <pc:sldMk cId="0" sldId="588"/>
        </pc:sldMkLst>
        <pc:spChg chg="mod">
          <ac:chgData name="J. Tower" userId="9d06de10716639e5" providerId="LiveId" clId="{F8931099-75CA-5660-A155-55881DF68D84}" dt="2026-09-01T20:37:32.717" v="983"/>
          <ac:spMkLst>
            <pc:docMk/>
            <pc:sldMk cId="0" sldId="588"/>
            <ac:spMk id="2" creationId="{00000000-0000-0000-0000-000000000000}"/>
          </ac:spMkLst>
        </pc:spChg>
      </pc:sldChg>
      <pc:sldChg chg="modNotesTx">
        <pc:chgData name="J. Tower" userId="9d06de10716639e5" providerId="LiveId" clId="{F8931099-75CA-5660-A155-55881DF68D84}" dt="2026-09-01T20:38:24.992" v="986" actId="20577"/>
        <pc:sldMkLst>
          <pc:docMk/>
          <pc:sldMk cId="0" sldId="590"/>
        </pc:sldMkLst>
      </pc:sldChg>
      <pc:sldChg chg="modNotesTx">
        <pc:chgData name="J. Tower" userId="9d06de10716639e5" providerId="LiveId" clId="{F8931099-75CA-5660-A155-55881DF68D84}" dt="2026-09-01T20:38:46.932" v="988" actId="20577"/>
        <pc:sldMkLst>
          <pc:docMk/>
          <pc:sldMk cId="0" sldId="591"/>
        </pc:sldMkLst>
      </pc:sldChg>
      <pc:sldChg chg="modNotesTx">
        <pc:chgData name="J. Tower" userId="9d06de10716639e5" providerId="LiveId" clId="{F8931099-75CA-5660-A155-55881DF68D84}" dt="2026-09-01T20:39:03.942" v="990" actId="20577"/>
        <pc:sldMkLst>
          <pc:docMk/>
          <pc:sldMk cId="0" sldId="592"/>
        </pc:sldMkLst>
      </pc:sldChg>
      <pc:sldChg chg="modSp mod">
        <pc:chgData name="J. Tower" userId="9d06de10716639e5" providerId="LiveId" clId="{F8931099-75CA-5660-A155-55881DF68D84}" dt="2026-09-01T20:37:28.571" v="980" actId="27636"/>
        <pc:sldMkLst>
          <pc:docMk/>
          <pc:sldMk cId="0" sldId="595"/>
        </pc:sldMkLst>
        <pc:spChg chg="mod">
          <ac:chgData name="J. Tower" userId="9d06de10716639e5" providerId="LiveId" clId="{F8931099-75CA-5660-A155-55881DF68D84}" dt="2026-09-01T20:37:28.571" v="980" actId="27636"/>
          <ac:spMkLst>
            <pc:docMk/>
            <pc:sldMk cId="0" sldId="595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18B0EE-4D36-4F22-9622-021322CFFE3A}" type="datetimeFigureOut">
              <a:rPr lang="en-US" smtClean="0"/>
              <a:t>9/21/26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FD6E22-9A40-4B73-8B1F-06CEEFE4CFD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9959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Ten features, ten cards, one table: docs/decision-framework.md.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Where we started this morning.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Every feature today started with a stuck user, and the AI showed up as the answer rather than the premise.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One cell per advance: name each feature as it lands, a few seconds apiece. The day, replayed in ten beats.</a:t>
            </a:r>
          </a:p>
          <a:p>
            <a:r>
              <a:t>Summarize: the bridge surfaced from forty reports.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Extract: a database row your code validated.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Sentiment: measured, and the free model held on everything but sarcasm.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Search: what users mean, not what they 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RAG: the campfire answer, cited, and the chunk boundary that nearly broke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Recommend: more like this, and the daypack that taught you about complements.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Route: the emergency at the top of its own queue, every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Detect: the washout from three reports, not a one-star review.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Approve: the model types, a person decides, the log proves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Agent: the loop that planned the trip and checked the bridge.</a:t>
            </a:r>
          </a:p>
          <a:p>
            <a:r>
              <a:t>The full table lives in decision-framework.md: # · Feature · When · Think · Difficulty, the same three fields as every card today. (Paste the real table over this slide, or demo it from the repo.)</a:t>
            </a:r>
          </a:p>
          <a:p>
            <a:r>
              <a:t>Don't read it. Let it sit on screen while you explain how to use it, which is the next section. It's dense on purpose; it's a reference, and they have it in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 free local model matched the frontier model on ordinary reviews and lost only on the sarcastic 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Better chunking, not a bigger model, moved RAG's flagship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classifier caught both emergencies every run; the drafting model failed the emergency every 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local agent reached all four planning tools in fewer than one run in five. That is why the capstone runs on a frontier model.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runs are checked in behind every number.</a:t>
            </a:r>
          </a:p>
          <a:p>
            <a:r>
              <a:t>This is the credibility slide. "We ran it and here is what happened" is a stronger pitch than "the vendor says."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Nothing today needed fine-tuning. Cosine similarity in a loop carried three features. The agent loop fit on screen.</a:t>
            </a:r>
          </a:p>
          <a:p>
            <a:r>
              <a:t>Optional slide; cut if short on time. It heads off the "but shouldn't we be using X" question.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The recap is actions, not topics. Four moves, each one slide, each something they can do Monday.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Go down the "when" column.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Mark every row that describes a problem your users actually have.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Row 0 is the same exercise before any feature: list the ten things they hate doing, and the features pick themselves.</a:t>
            </a:r>
          </a:p>
          <a:p>
            <a:r>
              <a:t>This is the workshop's framing question turned into a Monday-morning exercise. It happens in a meeting room, not a codebase.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Sort your marked rows by the difficulty column, easiest first; the top of that list is the first feature, and the Think column is how you pitch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Rows 1 through 8 mostly run on free local models. Worth repeating here; it changes the budget conversation before it starts.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Row 9 de-risks the rest. Leading with the human-in-the-loop design is usually what gets the other rows approved.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 where the human sits and what gets logged, before anyone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Lead with the user's problem in their words, and how often it happens.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Name the row. Say what it costs in days or weeks and what it costs to run; say what runs local and what needs a paid model, and why.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Say how you'll measure it: the labeled sample and the error you're tuning never to make. Reference feature 03's recipe: labeled sample, run both, count disagreements, price the errors. It generalizes.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Ask for one feature. This is the shape of the conversation the framework enables: a small, measurable, de-risked ask.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BB40B87-443D-4E3D-A216-6700B651FC5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4972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3505" y="770467"/>
            <a:ext cx="10782300" cy="3352800"/>
          </a:xfrm>
        </p:spPr>
        <p:txBody>
          <a:bodyPr anchor="b">
            <a:noAutofit/>
          </a:bodyPr>
          <a:lstStyle>
            <a:lvl1pPr algn="l">
              <a:lnSpc>
                <a:spcPct val="80000"/>
              </a:lnSpc>
              <a:defRPr sz="6600" spc="-90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fld id="{FDB08721-E45B-4A66-93A6-531BE00DB2CF}" type="datetimeFigureOut">
              <a:rPr lang="en-US" smtClean="0"/>
              <a:pPr defTabSz="342900"/>
              <a:t>9/21/26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  <p:sp>
        <p:nvSpPr>
          <p:cNvPr id="10" name="Rectangle 9"/>
          <p:cNvSpPr/>
          <p:nvPr userDrawn="1"/>
        </p:nvSpPr>
        <p:spPr>
          <a:xfrm>
            <a:off x="0" y="4160704"/>
            <a:ext cx="12192000" cy="86913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3429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3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7513" y="4284569"/>
            <a:ext cx="9228201" cy="1587279"/>
          </a:xfrm>
        </p:spPr>
        <p:txBody>
          <a:bodyPr>
            <a:normAutofit/>
          </a:bodyPr>
          <a:lstStyle>
            <a:lvl1pPr marL="0" indent="0" algn="l">
              <a:buNone/>
              <a:defRPr sz="2400">
                <a:solidFill>
                  <a:srgbClr val="0072C6"/>
                </a:solidFill>
                <a:latin typeface="+mj-lt"/>
              </a:defRPr>
            </a:lvl1pPr>
            <a:lvl2pPr marL="342900" indent="0" algn="ctr">
              <a:buNone/>
              <a:defRPr sz="21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22254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99795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3504" y="767419"/>
            <a:ext cx="10780776" cy="4558624"/>
          </a:xfrm>
        </p:spPr>
        <p:txBody>
          <a:bodyPr anchor="b">
            <a:normAutofit/>
          </a:bodyPr>
          <a:lstStyle>
            <a:lvl1pPr>
              <a:lnSpc>
                <a:spcPct val="80000"/>
              </a:lnSpc>
              <a:defRPr sz="6600" b="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7512" y="5468293"/>
            <a:ext cx="9226296" cy="381836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48365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6656" y="1998134"/>
            <a:ext cx="4663440" cy="376732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11331" y="1998134"/>
            <a:ext cx="4663440" cy="3767328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241218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40467"/>
            <a:ext cx="4663440" cy="723400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6656" y="2753084"/>
            <a:ext cx="4663440" cy="32004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07608" y="2038435"/>
            <a:ext cx="4663440" cy="722376"/>
          </a:xfrm>
        </p:spPr>
        <p:txBody>
          <a:bodyPr anchor="ctr">
            <a:normAutofit/>
          </a:bodyPr>
          <a:lstStyle>
            <a:lvl1pPr marL="0" indent="0">
              <a:buNone/>
              <a:defRPr sz="1650" b="0" cap="all" baseline="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007608" y="2750990"/>
            <a:ext cx="4663440" cy="3200400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952598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37501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654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620000" y="0"/>
            <a:ext cx="457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8261404" y="542282"/>
            <a:ext cx="3383280" cy="1920240"/>
          </a:xfrm>
        </p:spPr>
        <p:txBody>
          <a:bodyPr anchor="b">
            <a:noAutofit/>
          </a:bodyPr>
          <a:lstStyle>
            <a:lvl1pPr>
              <a:lnSpc>
                <a:spcPct val="85000"/>
              </a:lnSpc>
              <a:defRPr sz="3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0" y="762000"/>
            <a:ext cx="6096000" cy="4572000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75983" y="2511813"/>
            <a:ext cx="3398520" cy="3126987"/>
          </a:xfrm>
        </p:spPr>
        <p:txBody>
          <a:bodyPr>
            <a:normAutofit/>
          </a:bodyPr>
          <a:lstStyle>
            <a:lvl1pPr marL="0" marR="0" indent="0" algn="l" defTabSz="685800" rtl="0" eaLnBrk="1" fontAlgn="auto" latinLnBrk="0" hangingPunct="1">
              <a:lnSpc>
                <a:spcPct val="100000"/>
              </a:lnSpc>
              <a:spcBef>
                <a:spcPts val="90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3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0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203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9224" y="5418669"/>
            <a:ext cx="10780776" cy="613283"/>
          </a:xfrm>
        </p:spPr>
        <p:txBody>
          <a:bodyPr anchor="b">
            <a:normAutofit/>
          </a:bodyPr>
          <a:lstStyle>
            <a:lvl1pPr>
              <a:defRPr sz="24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12192000" cy="5330952"/>
          </a:xfrm>
          <a:solidFill>
            <a:schemeClr val="accent1">
              <a:lumMod val="40000"/>
              <a:lumOff val="60000"/>
            </a:schemeClr>
          </a:solidFill>
        </p:spPr>
        <p:txBody>
          <a:bodyPr anchor="t"/>
          <a:lstStyle>
            <a:lvl1pPr marL="0" indent="0" algn="ctr">
              <a:spcBef>
                <a:spcPts val="600"/>
              </a:spcBef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6656" y="5909735"/>
            <a:ext cx="9229344" cy="5334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050">
                <a:solidFill>
                  <a:srgbClr val="262626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fld id="{FDB08721-E45B-4A66-93A6-531BE00DB2CF}" type="datetimeFigureOut">
              <a:rPr lang="en-US" smtClean="0"/>
              <a:pPr defTabSz="342900"/>
              <a:t>9/21/26</a:t>
            </a:fld>
            <a:endParaRPr lang="en-US"/>
          </a:p>
        </p:txBody>
      </p:sp>
      <p:sp>
        <p:nvSpPr>
          <p:cNvPr id="13" name="Footer Placeholder 1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80000"/>
                  </a:srgbClr>
                </a:solidFill>
              </a:defRPr>
            </a:lvl1pPr>
          </a:lstStyle>
          <a:p>
            <a:pPr defTabSz="342900"/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25000"/>
                  </a:srgbClr>
                </a:solidFill>
              </a:defRPr>
            </a:lvl1pPr>
          </a:lstStyle>
          <a:p>
            <a:pPr defTabSz="342900"/>
            <a:fld id="{78C739BE-451B-478D-B9BF-5E72F79512D5}" type="slidenum">
              <a:rPr lang="en-US" smtClean="0"/>
              <a:pPr defTabSz="34290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538869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99269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43951" y="695325"/>
            <a:ext cx="2628900" cy="4800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1526" y="714377"/>
            <a:ext cx="7734300" cy="5400675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07239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57226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6656" y="2011680"/>
            <a:ext cx="10753725" cy="37661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5800" y="6412447"/>
            <a:ext cx="41148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>
                <a:solidFill>
                  <a:schemeClr val="tx1">
                    <a:alpha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fld id="{FDB08721-E45B-4A66-93A6-531BE00DB2CF}" type="datetimeFigureOut">
              <a:rPr lang="en-US" smtClean="0">
                <a:solidFill>
                  <a:prstClr val="black">
                    <a:alpha val="80000"/>
                  </a:prstClr>
                </a:solidFill>
              </a:rPr>
              <a:pPr defTabSz="342900"/>
              <a:t>9/21/26</a:t>
            </a:fld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554697"/>
            <a:ext cx="5029200" cy="2286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13" cap="all" baseline="0">
                <a:solidFill>
                  <a:schemeClr val="tx1">
                    <a:alpha val="80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endParaRPr lang="en-US">
              <a:solidFill>
                <a:prstClr val="black">
                  <a:alpha val="80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63927" y="5876414"/>
            <a:ext cx="2926080" cy="139703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7725" b="0">
                <a:ln>
                  <a:noFill/>
                </a:ln>
                <a:solidFill>
                  <a:schemeClr val="accent1">
                    <a:alpha val="25000"/>
                  </a:schemeClr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defTabSz="342900"/>
            <a:fld id="{78C739BE-451B-478D-B9BF-5E72F79512D5}" type="slidenum">
              <a:rPr lang="en-US" smtClean="0">
                <a:solidFill>
                  <a:srgbClr val="0072C6">
                    <a:alpha val="25000"/>
                  </a:srgbClr>
                </a:solidFill>
              </a:rPr>
              <a:pPr defTabSz="342900"/>
              <a:t>‹#›</a:t>
            </a:fld>
            <a:endParaRPr lang="en-US">
              <a:solidFill>
                <a:srgbClr val="0072C6">
                  <a:alpha val="25000"/>
                </a:srgb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489896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4050" kern="1200" spc="-90" baseline="0">
          <a:solidFill>
            <a:srgbClr val="0070C0"/>
          </a:solidFill>
          <a:latin typeface="Segoe UI" panose="020B0502040204020203" pitchFamily="34" charset="0"/>
          <a:ea typeface="+mj-ea"/>
          <a:cs typeface="Segoe UI" panose="020B0502040204020203" pitchFamily="34" charset="0"/>
        </a:defRPr>
      </a:lvl1pPr>
    </p:titleStyle>
    <p:bodyStyle>
      <a:lvl1pPr marL="68580" indent="-68580" algn="l" defTabSz="685800" rtl="0" eaLnBrk="1" latinLnBrk="0" hangingPunct="1">
        <a:lnSpc>
          <a:spcPct val="85000"/>
        </a:lnSpc>
        <a:spcBef>
          <a:spcPts val="975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1pPr>
      <a:lvl2pPr marL="260604" indent="-257175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80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2pPr>
      <a:lvl3pPr marL="411480" indent="-41148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500" i="1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3pPr>
      <a:lvl4pPr marL="617220" indent="-61722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4pPr>
      <a:lvl5pPr marL="822960" indent="-82296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Segoe UI" panose="020B0502040204020203" pitchFamily="34" charset="0"/>
          <a:ea typeface="+mn-ea"/>
          <a:cs typeface="Segoe UI" panose="020B0502040204020203" pitchFamily="34" charset="0"/>
        </a:defRPr>
      </a:lvl5pPr>
      <a:lvl6pPr marL="9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6pPr>
      <a:lvl7pPr marL="10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7pPr>
      <a:lvl8pPr marL="120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8pPr>
      <a:lvl9pPr marL="1350000" indent="-171450" algn="l" defTabSz="685800" rtl="0" eaLnBrk="1" latinLnBrk="0" hangingPunct="1">
        <a:lnSpc>
          <a:spcPct val="85000"/>
        </a:lnSpc>
        <a:spcBef>
          <a:spcPts val="450"/>
        </a:spcBef>
        <a:buFont typeface="Arial" pitchFamily="34" charset="0"/>
        <a:buChar char=" 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12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svg"/><Relationship Id="rId4" Type="http://schemas.openxmlformats.org/officeDocument/2006/relationships/image" Target="../media/image1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/>
              <a:t>Building Pragmatic AI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t>Closing: The Thing You Take Back to Work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  <p:pic>
        <p:nvPicPr>
          <p:cNvPr id="5" name="Picture 4" descr="bann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9144"/>
            <a:ext cx="12188952" cy="3182112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72016" y="3657600"/>
            <a:ext cx="2167128" cy="216712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Back to the First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❌ "Where can we add AI?"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Back to the First Slide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❌ "Where can we add AI?"</a:t>
            </a:r>
          </a:p>
          <a:p>
            <a:r>
              <a:rPr sz="2800"/>
              <a:t>✅ "What problems can AI best solve for our users?"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Framework, All Ten Rows</a:t>
            </a:r>
          </a:p>
        </p:txBody>
      </p:sp>
      <p:pic>
        <p:nvPicPr>
          <p:cNvPr id="3" name="Picture 2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82880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F01 Summarize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Framework, All Ten Rows</a:t>
            </a:r>
          </a:p>
        </p:txBody>
      </p:sp>
      <p:pic>
        <p:nvPicPr>
          <p:cNvPr id="3" name="Picture 2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82880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F01 Summarize</a:t>
            </a:r>
          </a:p>
        </p:txBody>
      </p:sp>
      <p:pic>
        <p:nvPicPr>
          <p:cNvPr id="5" name="Picture 4" descr="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182880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038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F02 Extract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Framework, All Ten Rows</a:t>
            </a:r>
          </a:p>
        </p:txBody>
      </p:sp>
      <p:pic>
        <p:nvPicPr>
          <p:cNvPr id="3" name="Picture 2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82880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F01 Summarize</a:t>
            </a:r>
          </a:p>
        </p:txBody>
      </p:sp>
      <p:pic>
        <p:nvPicPr>
          <p:cNvPr id="5" name="Picture 4" descr="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182880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038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F02 Extract</a:t>
            </a:r>
          </a:p>
        </p:txBody>
      </p:sp>
      <p:pic>
        <p:nvPicPr>
          <p:cNvPr id="7" name="Picture 6" descr="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82880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064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F03 Sentiment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Framework, All Ten Rows</a:t>
            </a:r>
          </a:p>
        </p:txBody>
      </p:sp>
      <p:pic>
        <p:nvPicPr>
          <p:cNvPr id="3" name="Picture 2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82880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F01 Summarize</a:t>
            </a:r>
          </a:p>
        </p:txBody>
      </p:sp>
      <p:pic>
        <p:nvPicPr>
          <p:cNvPr id="5" name="Picture 4" descr="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182880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038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F02 Extract</a:t>
            </a:r>
          </a:p>
        </p:txBody>
      </p:sp>
      <p:pic>
        <p:nvPicPr>
          <p:cNvPr id="7" name="Picture 6" descr="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82880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064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F03 Sentiment</a:t>
            </a:r>
          </a:p>
        </p:txBody>
      </p:sp>
      <p:pic>
        <p:nvPicPr>
          <p:cNvPr id="9" name="Picture 8" descr="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0980" y="1828800"/>
            <a:ext cx="868680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90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F04 Search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Framework, All Ten Rows</a:t>
            </a:r>
          </a:p>
        </p:txBody>
      </p:sp>
      <p:pic>
        <p:nvPicPr>
          <p:cNvPr id="3" name="Picture 2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82880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F01 Summarize</a:t>
            </a:r>
          </a:p>
        </p:txBody>
      </p:sp>
      <p:pic>
        <p:nvPicPr>
          <p:cNvPr id="5" name="Picture 4" descr="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182880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038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F02 Extract</a:t>
            </a:r>
          </a:p>
        </p:txBody>
      </p:sp>
      <p:pic>
        <p:nvPicPr>
          <p:cNvPr id="7" name="Picture 6" descr="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82880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064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F03 Sentiment</a:t>
            </a:r>
          </a:p>
        </p:txBody>
      </p:sp>
      <p:pic>
        <p:nvPicPr>
          <p:cNvPr id="9" name="Picture 8" descr="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0980" y="1828800"/>
            <a:ext cx="868680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90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F04 Search</a:t>
            </a:r>
          </a:p>
        </p:txBody>
      </p:sp>
      <p:pic>
        <p:nvPicPr>
          <p:cNvPr id="11" name="Picture 10" descr="ques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40" y="1828800"/>
            <a:ext cx="86868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8116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F05 RAG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The Framework, All Ten Rows</a:t>
            </a:r>
          </a:p>
        </p:txBody>
      </p:sp>
      <p:pic>
        <p:nvPicPr>
          <p:cNvPr id="3" name="Picture 2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82880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F01 Summarize</a:t>
            </a:r>
          </a:p>
        </p:txBody>
      </p:sp>
      <p:pic>
        <p:nvPicPr>
          <p:cNvPr id="5" name="Picture 4" descr="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182880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038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F02 Extract</a:t>
            </a:r>
          </a:p>
        </p:txBody>
      </p:sp>
      <p:pic>
        <p:nvPicPr>
          <p:cNvPr id="7" name="Picture 6" descr="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82880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064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F03 Sentiment</a:t>
            </a:r>
          </a:p>
        </p:txBody>
      </p:sp>
      <p:pic>
        <p:nvPicPr>
          <p:cNvPr id="9" name="Picture 8" descr="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0980" y="1828800"/>
            <a:ext cx="868680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90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F04 Search</a:t>
            </a:r>
          </a:p>
        </p:txBody>
      </p:sp>
      <p:pic>
        <p:nvPicPr>
          <p:cNvPr id="11" name="Picture 10" descr="ques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40" y="1828800"/>
            <a:ext cx="86868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8116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F05 RAG</a:t>
            </a:r>
          </a:p>
        </p:txBody>
      </p:sp>
      <p:pic>
        <p:nvPicPr>
          <p:cNvPr id="13" name="Picture 12" descr="rou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0" y="3931920"/>
            <a:ext cx="868680" cy="868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F06 Recommend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dirty="0"/>
              <a:t>The Framework, All Ten Rows</a:t>
            </a:r>
          </a:p>
        </p:txBody>
      </p:sp>
      <p:pic>
        <p:nvPicPr>
          <p:cNvPr id="3" name="Picture 2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82880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F01 Summarize</a:t>
            </a:r>
          </a:p>
        </p:txBody>
      </p:sp>
      <p:pic>
        <p:nvPicPr>
          <p:cNvPr id="5" name="Picture 4" descr="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182880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038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F02 Extract</a:t>
            </a:r>
          </a:p>
        </p:txBody>
      </p:sp>
      <p:pic>
        <p:nvPicPr>
          <p:cNvPr id="7" name="Picture 6" descr="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82880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064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F03 Sentiment</a:t>
            </a:r>
          </a:p>
        </p:txBody>
      </p:sp>
      <p:pic>
        <p:nvPicPr>
          <p:cNvPr id="9" name="Picture 8" descr="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0980" y="1828800"/>
            <a:ext cx="868680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90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F04 Search</a:t>
            </a:r>
          </a:p>
        </p:txBody>
      </p:sp>
      <p:pic>
        <p:nvPicPr>
          <p:cNvPr id="11" name="Picture 10" descr="ques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40" y="1828800"/>
            <a:ext cx="86868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8116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F05 RAG</a:t>
            </a:r>
          </a:p>
        </p:txBody>
      </p:sp>
      <p:pic>
        <p:nvPicPr>
          <p:cNvPr id="13" name="Picture 12" descr="rou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0" y="3931920"/>
            <a:ext cx="868680" cy="868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F06 Recommend</a:t>
            </a:r>
          </a:p>
        </p:txBody>
      </p:sp>
      <p:pic>
        <p:nvPicPr>
          <p:cNvPr id="15" name="Picture 14" descr="bran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0460" y="3931920"/>
            <a:ext cx="868680" cy="868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04038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F07 Route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 dirty="0"/>
              <a:t>The Framework, All Ten Rows</a:t>
            </a:r>
            <a:endParaRPr dirty="0"/>
          </a:p>
        </p:txBody>
      </p:sp>
      <p:pic>
        <p:nvPicPr>
          <p:cNvPr id="3" name="Picture 2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82880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F01 Summarize</a:t>
            </a:r>
          </a:p>
        </p:txBody>
      </p:sp>
      <p:pic>
        <p:nvPicPr>
          <p:cNvPr id="5" name="Picture 4" descr="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182880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038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F02 Extract</a:t>
            </a:r>
          </a:p>
        </p:txBody>
      </p:sp>
      <p:pic>
        <p:nvPicPr>
          <p:cNvPr id="7" name="Picture 6" descr="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82880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064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F03 Sentiment</a:t>
            </a:r>
          </a:p>
        </p:txBody>
      </p:sp>
      <p:pic>
        <p:nvPicPr>
          <p:cNvPr id="9" name="Picture 8" descr="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0980" y="1828800"/>
            <a:ext cx="868680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90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F04 Search</a:t>
            </a:r>
          </a:p>
        </p:txBody>
      </p:sp>
      <p:pic>
        <p:nvPicPr>
          <p:cNvPr id="11" name="Picture 10" descr="ques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40" y="1828800"/>
            <a:ext cx="86868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8116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F05 RAG</a:t>
            </a:r>
          </a:p>
        </p:txBody>
      </p:sp>
      <p:pic>
        <p:nvPicPr>
          <p:cNvPr id="13" name="Picture 12" descr="rou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0" y="3931920"/>
            <a:ext cx="868680" cy="868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F06 Recommend</a:t>
            </a:r>
          </a:p>
        </p:txBody>
      </p:sp>
      <p:pic>
        <p:nvPicPr>
          <p:cNvPr id="15" name="Picture 14" descr="bran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0460" y="3931920"/>
            <a:ext cx="868680" cy="868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04038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F07 Route</a:t>
            </a:r>
          </a:p>
        </p:txBody>
      </p:sp>
      <p:pic>
        <p:nvPicPr>
          <p:cNvPr id="17" name="Picture 16" descr="scatt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0720" y="3931920"/>
            <a:ext cx="868680" cy="868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2064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F08 Detect</a:t>
            </a:r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 dirty="0"/>
              <a:t>The Framework, All Ten Rows</a:t>
            </a:r>
            <a:endParaRPr dirty="0"/>
          </a:p>
        </p:txBody>
      </p:sp>
      <p:pic>
        <p:nvPicPr>
          <p:cNvPr id="3" name="Picture 2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82880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F01 Summarize</a:t>
            </a:r>
          </a:p>
        </p:txBody>
      </p:sp>
      <p:pic>
        <p:nvPicPr>
          <p:cNvPr id="5" name="Picture 4" descr="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182880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038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F02 Extract</a:t>
            </a:r>
          </a:p>
        </p:txBody>
      </p:sp>
      <p:pic>
        <p:nvPicPr>
          <p:cNvPr id="7" name="Picture 6" descr="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82880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064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F03 Sentiment</a:t>
            </a:r>
          </a:p>
        </p:txBody>
      </p:sp>
      <p:pic>
        <p:nvPicPr>
          <p:cNvPr id="9" name="Picture 8" descr="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0980" y="1828800"/>
            <a:ext cx="868680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90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F04 Search</a:t>
            </a:r>
          </a:p>
        </p:txBody>
      </p:sp>
      <p:pic>
        <p:nvPicPr>
          <p:cNvPr id="11" name="Picture 10" descr="ques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40" y="1828800"/>
            <a:ext cx="86868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8116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F05 RAG</a:t>
            </a:r>
          </a:p>
        </p:txBody>
      </p:sp>
      <p:pic>
        <p:nvPicPr>
          <p:cNvPr id="13" name="Picture 12" descr="rou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0" y="3931920"/>
            <a:ext cx="868680" cy="868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F06 Recommend</a:t>
            </a:r>
          </a:p>
        </p:txBody>
      </p:sp>
      <p:pic>
        <p:nvPicPr>
          <p:cNvPr id="15" name="Picture 14" descr="bran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0460" y="3931920"/>
            <a:ext cx="868680" cy="868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04038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F07 Route</a:t>
            </a:r>
          </a:p>
        </p:txBody>
      </p:sp>
      <p:pic>
        <p:nvPicPr>
          <p:cNvPr id="17" name="Picture 16" descr="scatt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0720" y="3931920"/>
            <a:ext cx="868680" cy="868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2064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F08 Detect</a:t>
            </a:r>
          </a:p>
        </p:txBody>
      </p:sp>
      <p:pic>
        <p:nvPicPr>
          <p:cNvPr id="19" name="Picture 18" descr="shield-chec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40980" y="3931920"/>
            <a:ext cx="868680" cy="8686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20090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F09 Approve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lang="en-US" dirty="0"/>
              <a:t>The Framework, All Ten Rows</a:t>
            </a:r>
            <a:endParaRPr dirty="0"/>
          </a:p>
        </p:txBody>
      </p:sp>
      <p:pic>
        <p:nvPicPr>
          <p:cNvPr id="3" name="Picture 2" descr="docu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0200" y="1828800"/>
            <a:ext cx="868680" cy="8686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6012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F01 Summarize</a:t>
            </a:r>
          </a:p>
        </p:txBody>
      </p:sp>
      <p:pic>
        <p:nvPicPr>
          <p:cNvPr id="5" name="Picture 4" descr="tab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80460" y="1828800"/>
            <a:ext cx="868680" cy="8686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04038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F02 Extract</a:t>
            </a:r>
          </a:p>
        </p:txBody>
      </p:sp>
      <p:pic>
        <p:nvPicPr>
          <p:cNvPr id="7" name="Picture 6" descr="gau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60720" y="1828800"/>
            <a:ext cx="868680" cy="86868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12064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F03 Sentiment</a:t>
            </a:r>
          </a:p>
        </p:txBody>
      </p:sp>
      <p:pic>
        <p:nvPicPr>
          <p:cNvPr id="9" name="Picture 8" descr="sear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840980" y="1828800"/>
            <a:ext cx="868680" cy="8686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720090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F04 Search</a:t>
            </a:r>
          </a:p>
        </p:txBody>
      </p:sp>
      <p:pic>
        <p:nvPicPr>
          <p:cNvPr id="11" name="Picture 10" descr="questi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921240" y="1828800"/>
            <a:ext cx="868680" cy="8686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9281160" y="284378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F05 RAG</a:t>
            </a:r>
          </a:p>
        </p:txBody>
      </p:sp>
      <p:pic>
        <p:nvPicPr>
          <p:cNvPr id="13" name="Picture 12" descr="rout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600200" y="3931920"/>
            <a:ext cx="868680" cy="868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96012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F06 Recommend</a:t>
            </a:r>
          </a:p>
        </p:txBody>
      </p:sp>
      <p:pic>
        <p:nvPicPr>
          <p:cNvPr id="15" name="Picture 14" descr="branch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680460" y="3931920"/>
            <a:ext cx="868680" cy="868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04038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F07 Route</a:t>
            </a:r>
          </a:p>
        </p:txBody>
      </p:sp>
      <p:pic>
        <p:nvPicPr>
          <p:cNvPr id="17" name="Picture 16" descr="scatter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760720" y="3931920"/>
            <a:ext cx="868680" cy="868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12064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F08 Detect</a:t>
            </a:r>
          </a:p>
        </p:txBody>
      </p:sp>
      <p:pic>
        <p:nvPicPr>
          <p:cNvPr id="19" name="Picture 18" descr="shield-chec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40980" y="3931920"/>
            <a:ext cx="868680" cy="86868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20090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F09 Approve</a:t>
            </a:r>
          </a:p>
        </p:txBody>
      </p:sp>
      <p:pic>
        <p:nvPicPr>
          <p:cNvPr id="21" name="Picture 20" descr="robo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921240" y="3931920"/>
            <a:ext cx="868680" cy="86868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81160" y="4946904"/>
            <a:ext cx="21488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/>
              <a:t>F10 Agent</a:t>
            </a:r>
          </a:p>
        </p:txBody>
      </p:sp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What the Day Measured, Not Assumed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Sentiment: 7/10 vs 10/10, only on the hard slice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What the Day Measured, Not Assumed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Sentiment: 7/10 vs 10/10, only on the hard slice</a:t>
            </a:r>
          </a:p>
          <a:p>
            <a:r>
              <a:rPr sz="2800"/>
              <a:t>Chunking: 75% → 97% · a 10× model bought 3 points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What the Day Measured, Not Assumed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Sentiment: 7/10 vs 10/10, only on the hard slice</a:t>
            </a:r>
          </a:p>
          <a:p>
            <a:r>
              <a:rPr sz="2800"/>
              <a:t>Chunking: 75% → 97% · a 10× model bought 3 points</a:t>
            </a:r>
          </a:p>
          <a:p>
            <a:r>
              <a:rPr sz="2800"/>
              <a:t>Classifier: 2/2 emergencies · drafter: 0/3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What the Day Measured, Not Assumed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Sentiment: 7/10 vs 10/10, only on the hard slice</a:t>
            </a:r>
          </a:p>
          <a:p>
            <a:r>
              <a:rPr sz="2800"/>
              <a:t>Chunking: 75% → 97% · a 10× model bought 3 points</a:t>
            </a:r>
          </a:p>
          <a:p>
            <a:r>
              <a:rPr sz="2800"/>
              <a:t>Classifier: 2/2 emergencies · drafter: 0/3</a:t>
            </a:r>
          </a:p>
          <a:p>
            <a:r>
              <a:rPr sz="2800"/>
              <a:t>Local agent: all four tools &lt; 1 run in 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What the Day Measured, Not Assumed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Sentiment: 7/10 vs 10/10, only on the hard slice</a:t>
            </a:r>
          </a:p>
          <a:p>
            <a:r>
              <a:rPr sz="2800"/>
              <a:t>Chunking: 75% → 97% · a 10× model bought 3 points</a:t>
            </a:r>
          </a:p>
          <a:p>
            <a:r>
              <a:rPr sz="2800"/>
              <a:t>Classifier: 2/2 emergencies · drafter: 0/3</a:t>
            </a:r>
          </a:p>
          <a:p>
            <a:r>
              <a:rPr sz="2800"/>
              <a:t>Local agent: all four tools &lt; 1 run in 5</a:t>
            </a:r>
          </a:p>
          <a:p>
            <a:r>
              <a:rPr sz="2800"/>
              <a:t>Every number: an </a:t>
            </a:r>
            <a:r>
              <a:rPr sz="2800">
                <a:latin typeface="Consolas"/>
              </a:rPr>
              <a:t>expected-output.md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What We Didn't Do Today, on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No fine-tuning</a:t>
            </a:r>
          </a:p>
          <a:p>
            <a:r>
              <a:rPr sz="2800"/>
              <a:t>No vector database product</a:t>
            </a:r>
          </a:p>
          <a:p>
            <a:r>
              <a:rPr sz="2800"/>
              <a:t>No agent framework</a:t>
            </a:r>
          </a:p>
          <a:p>
            <a:r>
              <a:rPr sz="2800"/>
              <a:t>Reach for them when a measured problem asks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rPr sz="4000" b="1">
                <a:solidFill>
                  <a:srgbClr val="017AB4"/>
                </a:solidFill>
              </a:rPr>
              <a:t>Your Move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0" y="5989320"/>
            <a:ext cx="2560320" cy="64008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Mark What Your Users Hate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The "when to reach for this" column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Mark What Your Users Hate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The "when to reach for this" column</a:t>
            </a:r>
          </a:p>
          <a:p>
            <a:r>
              <a:rPr sz="2800"/>
              <a:t>Mark the rows your users would recognize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Mark What Your Users Hate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The "when to reach for this" column</a:t>
            </a:r>
          </a:p>
          <a:p>
            <a:r>
              <a:rPr sz="2800"/>
              <a:t>Mark the rows your users would recognize</a:t>
            </a:r>
          </a:p>
          <a:p>
            <a:r>
              <a:rPr sz="2800"/>
              <a:t>Row 0: list the ten things they hate doing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Sort by Difficulty, Easiest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The easiest marked row = your first AI feature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Sort by Difficulty, Easiest First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The easiest marked row = your first AI feature</a:t>
            </a:r>
          </a:p>
          <a:p>
            <a:r>
              <a:rPr sz="2800"/>
              <a:t>Rows 1-8: mostly free local models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Lead with the Human in the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Row 9 de-risks the rest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Lead with the Human in the Loop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Row 9 de-risks the rest</a:t>
            </a:r>
          </a:p>
          <a:p>
            <a:r>
              <a:rPr sz="2800"/>
              <a:t>Say where the human sits · what gets logged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Pitch One Feature, Not a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The user's problem, in their words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Pitch One Feature, Not a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The user's problem, in their words</a:t>
            </a:r>
          </a:p>
          <a:p>
            <a:r>
              <a:rPr sz="2800"/>
              <a:t>The row · the cost · local vs paid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Pitch One Feature, Not a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The user's problem, in their words</a:t>
            </a:r>
          </a:p>
          <a:p>
            <a:r>
              <a:rPr sz="2800"/>
              <a:t>The row · the cost · local vs paid</a:t>
            </a:r>
          </a:p>
          <a:p>
            <a:r>
              <a:rPr sz="2800"/>
              <a:t>How you'll measure it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Pitch One Feature, Not a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The user's problem, in their words</a:t>
            </a:r>
          </a:p>
          <a:p>
            <a:r>
              <a:rPr sz="2800"/>
              <a:t>The row · the cost · local vs paid</a:t>
            </a:r>
          </a:p>
          <a:p>
            <a:r>
              <a:rPr sz="2800"/>
              <a:t>How you'll measure it</a:t>
            </a:r>
          </a:p>
          <a:p>
            <a:r>
              <a:rPr sz="2800"/>
              <a:t>Ask for one feature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r>
              <a:t>Everything Is in the Repo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2648" y="1920240"/>
            <a:ext cx="10966704" cy="4617720"/>
          </a:xfrm>
        </p:spPr>
        <p:txBody>
          <a:bodyPr wrap="square"/>
          <a:lstStyle/>
          <a:p>
            <a:r>
              <a:rPr sz="2800"/>
              <a:t>github.com/trailheadtechnology/10-ai-features-workshop</a:t>
            </a:r>
          </a:p>
          <a:p>
            <a:r>
              <a:rPr sz="2800"/>
              <a:t>Every lab · every expected output</a:t>
            </a:r>
          </a:p>
          <a:p>
            <a:r>
              <a:rPr sz="2800">
                <a:latin typeface="Consolas"/>
              </a:rPr>
              <a:t>starter/</a:t>
            </a:r>
            <a:r>
              <a:rPr sz="2800"/>
              <a:t> and </a:t>
            </a:r>
            <a:r>
              <a:rPr sz="2800">
                <a:latin typeface="Consolas"/>
              </a:rPr>
              <a:t>complete/</a:t>
            </a:r>
            <a:r>
              <a:rPr sz="2800"/>
              <a:t> in .NET, Python, TypeScript</a:t>
            </a:r>
          </a:p>
          <a:p>
            <a:r>
              <a:rPr sz="2800"/>
              <a:t>The corpus is yours</a:t>
            </a:r>
          </a:p>
          <a:p>
            <a:r>
              <a:rPr sz="2800">
                <a:latin typeface="Consolas"/>
              </a:rPr>
              <a:t>SETUP.md</a:t>
            </a:r>
            <a:r>
              <a:rPr sz="2800"/>
              <a:t> still works tomorrow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>
            <a:extLst>
              <a:ext uri="{FF2B5EF4-FFF2-40B4-BE49-F238E27FC236}">
                <a16:creationId xmlns:a16="http://schemas.microsoft.com/office/drawing/2014/main" id="{879C7D46-B427-B1BB-7A1F-392BCB232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3309" y="2776166"/>
            <a:ext cx="10772775" cy="1658198"/>
          </a:xfrm>
        </p:spPr>
        <p:txBody>
          <a:bodyPr/>
          <a:lstStyle/>
          <a:p>
            <a:r>
              <a:rPr lang="en-US" sz="4400" dirty="0">
                <a:solidFill>
                  <a:schemeClr val="tx1"/>
                </a:solidFill>
              </a:rPr>
              <a:t>Jonathan "J." Tower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43180" y="4005394"/>
            <a:ext cx="4981194" cy="456600"/>
          </a:xfrm>
        </p:spPr>
        <p:txBody>
          <a:bodyPr>
            <a:normAutofit/>
          </a:bodyPr>
          <a:lstStyle/>
          <a:p>
            <a:pPr>
              <a:spcBef>
                <a:spcPts val="600"/>
              </a:spcBef>
            </a:pPr>
            <a:r>
              <a:rPr lang="en-US" sz="1800" dirty="0"/>
              <a:t>Founding Partner</a:t>
            </a:r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5422206-0EEA-0ED9-B408-CC3FB282F987}"/>
              </a:ext>
            </a:extLst>
          </p:cNvPr>
          <p:cNvSpPr txBox="1">
            <a:spLocks/>
          </p:cNvSpPr>
          <p:nvPr/>
        </p:nvSpPr>
        <p:spPr>
          <a:xfrm>
            <a:off x="1505728" y="4419847"/>
            <a:ext cx="3444002" cy="1251800"/>
          </a:xfrm>
          <a:prstGeom prst="rect">
            <a:avLst/>
          </a:prstGeom>
        </p:spPr>
        <p:txBody>
          <a:bodyPr vert="horz" lIns="68580" tIns="34290" rIns="68580" bIns="34290" rtlCol="0">
            <a:normAutofit/>
          </a:bodyPr>
          <a:lstStyle>
            <a:lvl1pPr marL="91440" indent="-91440" algn="l" defTabSz="914400" rtl="0" eaLnBrk="1" latinLnBrk="0" hangingPunct="1">
              <a:lnSpc>
                <a:spcPct val="85000"/>
              </a:lnSpc>
              <a:spcBef>
                <a:spcPts val="13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1pPr>
            <a:lvl2pPr marL="347472" indent="-3429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4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2pPr>
            <a:lvl3pPr marL="548640" indent="-54864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2000" i="1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3pPr>
            <a:lvl4pPr marL="822960" indent="-82296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4pPr>
            <a:lvl5pPr marL="1097280" indent="-109728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Segoe UI" panose="020B0502040204020203" pitchFamily="34" charset="0"/>
                <a:ea typeface="+mn-ea"/>
                <a:cs typeface="Segoe UI" panose="020B0502040204020203" pitchFamily="34" charset="0"/>
              </a:defRPr>
            </a:lvl5pPr>
            <a:lvl6pPr marL="12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4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6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800000" indent="-228600" algn="l" defTabSz="914400" rtl="0" eaLnBrk="1" latinLnBrk="0" hangingPunct="1">
              <a:lnSpc>
                <a:spcPct val="85000"/>
              </a:lnSpc>
              <a:spcBef>
                <a:spcPts val="600"/>
              </a:spcBef>
              <a:buFont typeface="Arial" pitchFamily="34" charset="0"/>
              <a:buChar char=" 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" lvl="1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>
                <a:solidFill>
                  <a:prstClr val="black">
                    <a:lumMod val="85000"/>
                    <a:lumOff val="15000"/>
                  </a:prstClr>
                </a:solidFill>
              </a:rPr>
              <a:t>13x Microsoft MVP in .NET &amp; AI</a:t>
            </a:r>
          </a:p>
          <a:p>
            <a:pPr marL="3429" lvl="1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>
                <a:solidFill>
                  <a:prstClr val="black">
                    <a:lumMod val="85000"/>
                    <a:lumOff val="15000"/>
                  </a:prstClr>
                </a:solidFill>
              </a:rPr>
              <a:t>VP of .NET Foundation</a:t>
            </a:r>
          </a:p>
          <a:p>
            <a:pPr marL="0" indent="0" defTabSz="685800">
              <a:spcBef>
                <a:spcPts val="975"/>
              </a:spcBef>
              <a:buNone/>
              <a:tabLst>
                <a:tab pos="175022" algn="ctr"/>
                <a:tab pos="342900" algn="l"/>
              </a:tabLst>
            </a:pPr>
            <a:r>
              <a:rPr lang="en-US" sz="1500" dirty="0">
                <a:solidFill>
                  <a:prstClr val="black">
                    <a:lumMod val="85000"/>
                    <a:lumOff val="15000"/>
                  </a:prstClr>
                </a:solidFill>
              </a:rPr>
              <a:t>Blue Blazes podcast host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5C7CF00E-0AEA-5733-E1CC-FB07798EAE6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42806" y="4429345"/>
            <a:ext cx="229751" cy="204223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90FDDDAC-FE53-8DB3-53AD-52C0E1F47DB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55718">
            <a:off x="1281096" y="5031795"/>
            <a:ext cx="153168" cy="204223"/>
          </a:xfrm>
          <a:prstGeom prst="rect">
            <a:avLst/>
          </a:prstGeom>
        </p:spPr>
      </p:pic>
      <p:pic>
        <p:nvPicPr>
          <p:cNvPr id="19" name="Graphic 18" descr="Board Of Directors with solid fill">
            <a:extLst>
              <a:ext uri="{FF2B5EF4-FFF2-40B4-BE49-F238E27FC236}">
                <a16:creationId xmlns:a16="http://schemas.microsoft.com/office/drawing/2014/main" id="{A3D1BE89-6E9F-C651-0148-6A603AE633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/>
          <a:stretch/>
        </p:blipFill>
        <p:spPr>
          <a:xfrm>
            <a:off x="1255570" y="4727557"/>
            <a:ext cx="204223" cy="20422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1F84612-AE50-D33D-355E-6155EE7C1AB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834348" y="1134602"/>
            <a:ext cx="4588796" cy="4588796"/>
          </a:xfrm>
          <a:prstGeom prst="rect">
            <a:avLst/>
          </a:prstGeom>
        </p:spPr>
      </p:pic>
      <p:sp>
        <p:nvSpPr>
          <p:cNvPr id="6" name="Title 9">
            <a:extLst>
              <a:ext uri="{FF2B5EF4-FFF2-40B4-BE49-F238E27FC236}">
                <a16:creationId xmlns:a16="http://schemas.microsoft.com/office/drawing/2014/main" id="{AE6963CF-EE52-0F1E-6DE8-AAD1013F2522}"/>
              </a:ext>
            </a:extLst>
          </p:cNvPr>
          <p:cNvSpPr txBox="1">
            <a:spLocks/>
          </p:cNvSpPr>
          <p:nvPr/>
        </p:nvSpPr>
        <p:spPr>
          <a:xfrm>
            <a:off x="1103309" y="499533"/>
            <a:ext cx="10772775" cy="165819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050" kern="1200" spc="-90" baseline="0">
                <a:solidFill>
                  <a:srgbClr val="0070C0"/>
                </a:solidFill>
                <a:latin typeface="Segoe UI" panose="020B0502040204020203" pitchFamily="34" charset="0"/>
                <a:ea typeface="+mj-ea"/>
                <a:cs typeface="Segoe UI" panose="020B0502040204020203" pitchFamily="34" charset="0"/>
              </a:defRPr>
            </a:lvl1pPr>
          </a:lstStyle>
          <a:p>
            <a:r>
              <a:rPr lang="en-US" sz="4400" dirty="0">
                <a:solidFill>
                  <a:srgbClr val="017AB4"/>
                </a:solidFill>
              </a:rPr>
              <a:t>Thanks! Questions?</a:t>
            </a:r>
            <a:endParaRPr lang="en-US" dirty="0">
              <a:solidFill>
                <a:srgbClr val="017AB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8151616"/>
      </p:ext>
    </p:extLst>
  </p:cSld>
  <p:clrMapOvr>
    <a:masterClrMapping/>
  </p:clrMapOvr>
</p:sld>
</file>

<file path=ppt/theme/theme1.xml><?xml version="1.0" encoding="utf-8"?>
<a:theme xmlns:a="http://schemas.openxmlformats.org/drawingml/2006/main" name="Metropolitan">
  <a:themeElements>
    <a:clrScheme name="Custom 1">
      <a:dk1>
        <a:sysClr val="windowText" lastClr="000000"/>
      </a:dk1>
      <a:lt1>
        <a:sysClr val="window" lastClr="FFFFFF"/>
      </a:lt1>
      <a:dk2>
        <a:srgbClr val="162F33"/>
      </a:dk2>
      <a:lt2>
        <a:srgbClr val="EAF0E0"/>
      </a:lt2>
      <a:accent1>
        <a:srgbClr val="0072C6"/>
      </a:accent1>
      <a:accent2>
        <a:srgbClr val="A8B97F"/>
      </a:accent2>
      <a:accent3>
        <a:srgbClr val="9B9256"/>
      </a:accent3>
      <a:accent4>
        <a:srgbClr val="657689"/>
      </a:accent4>
      <a:accent5>
        <a:srgbClr val="7A855D"/>
      </a:accent5>
      <a:accent6>
        <a:srgbClr val="84AC9D"/>
      </a:accent6>
      <a:hlink>
        <a:srgbClr val="2370CD"/>
      </a:hlink>
      <a:folHlink>
        <a:srgbClr val="877589"/>
      </a:folHlink>
    </a:clrScheme>
    <a:fontScheme name="Metropolitan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Metropolitan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00000"/>
                <a:lumMod val="110000"/>
              </a:schemeClr>
            </a:gs>
            <a:gs pos="50000">
              <a:schemeClr val="phClr">
                <a:tint val="75000"/>
                <a:satMod val="101000"/>
                <a:lumMod val="105000"/>
              </a:schemeClr>
            </a:gs>
            <a:gs pos="100000">
              <a:schemeClr val="phClr">
                <a:tint val="82000"/>
                <a:satMod val="104000"/>
                <a:lumMod val="105000"/>
              </a:schemeClr>
            </a:gs>
          </a:gsLst>
          <a:lin ang="27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0000"/>
                <a:lumMod val="100000"/>
              </a:schemeClr>
            </a:gs>
            <a:gs pos="100000">
              <a:schemeClr val="phClr">
                <a:shade val="80000"/>
                <a:satMod val="100000"/>
                <a:lumMod val="99000"/>
              </a:schemeClr>
            </a:gs>
          </a:gsLst>
          <a:lin ang="27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solidFill>
          <a:schemeClr val="phClr">
            <a:shade val="95000"/>
            <a:satMod val="17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etropolitan" id="{4C5440D6-04D2-4954-96CF-F251137069B2}" vid="{79CFCA13-9412-4290-BB4B-85112F88857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B9FC66F1-1152-1545-A5C1-ABAAA7F2FAF2}">
  <we:reference id="wa200010725" version="1.0.0.1" store="en-US" storeType="OMEX"/>
  <we:alternateReferences>
    <we:reference id="WA200010725" version="1.0.0.1" store="WA200010725" storeType="OMEX"/>
  </we:alternateReferences>
  <we:properties>
    <we:property name="claude.fileId" value="&quot;c9fbb05a-0234-489e-a7de-af156d8ab243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98558</TotalTime>
  <Words>1478</Words>
  <Application>Microsoft Macintosh PowerPoint</Application>
  <PresentationFormat>Widescreen</PresentationFormat>
  <Paragraphs>181</Paragraphs>
  <Slides>33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Consolas</vt:lpstr>
      <vt:lpstr>Arial</vt:lpstr>
      <vt:lpstr>Calibri Light</vt:lpstr>
      <vt:lpstr>Segoe UI</vt:lpstr>
      <vt:lpstr>Calibri</vt:lpstr>
      <vt:lpstr>Metropolitan</vt:lpstr>
      <vt:lpstr>Building Pragmatic AI</vt:lpstr>
      <vt:lpstr>Back to the First Slide</vt:lpstr>
      <vt:lpstr>Back to the First Slide</vt:lpstr>
      <vt:lpstr>The Framework, All Ten Rows</vt:lpstr>
      <vt:lpstr>The Framework, All Ten Rows</vt:lpstr>
      <vt:lpstr>The Framework, All Ten Rows</vt:lpstr>
      <vt:lpstr>The Framework, All Ten Rows</vt:lpstr>
      <vt:lpstr>The Framework, All Ten Rows</vt:lpstr>
      <vt:lpstr>The Framework, All Ten Rows</vt:lpstr>
      <vt:lpstr>The Framework, All Ten Rows</vt:lpstr>
      <vt:lpstr>The Framework, All Ten Rows</vt:lpstr>
      <vt:lpstr>The Framework, All Ten Rows</vt:lpstr>
      <vt:lpstr>The Framework, All Ten Rows</vt:lpstr>
      <vt:lpstr>What the Day Measured, Not Assumed</vt:lpstr>
      <vt:lpstr>What the Day Measured, Not Assumed</vt:lpstr>
      <vt:lpstr>What the Day Measured, Not Assumed</vt:lpstr>
      <vt:lpstr>What the Day Measured, Not Assumed</vt:lpstr>
      <vt:lpstr>What the Day Measured, Not Assumed</vt:lpstr>
      <vt:lpstr>What We Didn't Do Today, on Purpose</vt:lpstr>
      <vt:lpstr>Your Move</vt:lpstr>
      <vt:lpstr>Mark What Your Users Hate</vt:lpstr>
      <vt:lpstr>Mark What Your Users Hate</vt:lpstr>
      <vt:lpstr>Mark What Your Users Hate</vt:lpstr>
      <vt:lpstr>Sort by Difficulty, Easiest First</vt:lpstr>
      <vt:lpstr>Sort by Difficulty, Easiest First</vt:lpstr>
      <vt:lpstr>Lead with the Human in the Loop</vt:lpstr>
      <vt:lpstr>Lead with the Human in the Loop</vt:lpstr>
      <vt:lpstr>Pitch One Feature, Not a Strategy</vt:lpstr>
      <vt:lpstr>Pitch One Feature, Not a Strategy</vt:lpstr>
      <vt:lpstr>Pitch One Feature, Not a Strategy</vt:lpstr>
      <vt:lpstr>Pitch One Feature, Not a Strategy</vt:lpstr>
      <vt:lpstr>Everything Is in the Repo</vt:lpstr>
      <vt:lpstr>Jonathan "J." Tower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NASA's Power of Ten</dc:title>
  <dc:subject/>
  <dc:creator>Jonathan "J." Tower</dc:creator>
  <cp:keywords/>
  <dc:description/>
  <cp:lastModifiedBy>Jonathan "J." Tower</cp:lastModifiedBy>
  <cp:revision>6</cp:revision>
  <dcterms:created xsi:type="dcterms:W3CDTF">2022-03-22T12:15:23Z</dcterms:created>
  <dcterms:modified xsi:type="dcterms:W3CDTF">2026-09-21T22:03:32Z</dcterms:modified>
  <cp:category/>
</cp:coreProperties>
</file>