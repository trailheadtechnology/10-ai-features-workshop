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only ever returns one of two things: "call this tool with these arguments," or a final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agent is a model given tools and a goal, running in a loop. Build the loop box by box. It starts with the trip request and the tool descriptions, sent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capstone. "Plan me a 3-day trip in Glacier" becomes real tool calls. Everyone attempts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capstone. Everyone builds it, no menu, and it uses F02, F04, F08, and F09.</a:t>
            </a:r>
          </a:p>
          <a:p>
            <a:r>
              <a:t>The user problem, spoken: "Plan me a 3-day trip in Glacier for mid-September." Today the user checks the forecast, searches trails, cross-references conditions, checks campsites, and files a permit in a separate system: five tools, one afternoon, and the app helped with exactly one step. They didn't want search results; they wanted the trip planned.</a:t>
            </a:r>
          </a:p>
          <a:p>
            <a:r>
              <a:t>Why it's the capstone: it searches trails semantically (04), grounds itself in 08's condition reports, consumes structured tool results (02 in reverse), and pauses for a human before the permit (09). And it fails every way the first nine fail, at once, compounding.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an agent is given a goal and tools; it chooses an action, your code executes it, it observes the result, and it repeats until the goal is met or a budget runs out. Reason, act, observe, repeat.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code runs the tool: weather, trails, conditions, campsites. Your code stays in charge of doing.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 is appended to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again, until it answers or hits the step budget. Trace one iteration with your finger: model, tool, result back in, model. The loop runs seven or eight times for this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 comes an itinerary and a full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 is your code. Not a framework,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descriptions are the model's manual. They are the only thing it knows about your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Guardrails are boxes on this line, spoken while pointing: a step budget of 12 so it cannot loop forever, a confirmation gate before </a:t>
            </a:r>
            <a:r>
              <a:rPr>
                <a:latin typeface="Consolas"/>
              </a:rPr>
              <a:t>request_permit</a:t>
            </a:r>
            <a:r>
              <a:t>, tools that return errors instead of throwing, and every call/args/result printed as the loop runs. Be precise: the demo prints the trace, it does not persist one. Shipping this means durable storage next to 09's approval record, and that pair is what you show your security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This is the "why not just RAG" slide.</a:t>
            </a:r>
          </a:p>
          <a:p>
            <a:r>
              <a:t>RAG: your code retrieves the context, the model answers once,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the model asks for what it needs, your code fetches it, the model asks again or answers. Done after N 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RAG: you pick the context, once, and pay for one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Agent: the model picks, repeatedly, and you pay 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 you name the context up front? Then RAG. The trip request needs weather before it can pick a trail and conditions before it can book, and nobody knows that order up front. That is the whole case for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 min · prefix every run with </a:t>
            </a:r>
            <a:r>
              <a:rPr>
                <a:latin typeface="Consolas"/>
              </a:rPr>
              <a:t>AZURE_OPENAI_DEPLOYMENT=gpt-5.5</a:t>
            </a:r>
            <a:r>
              <a:t> · </a:t>
            </a:r>
            <a:r>
              <a:rPr>
                <a:latin typeface="Consolas"/>
              </a:rPr>
              <a:t>cd modules/M4-doing/F10-agentic-workflows/dotnet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200 trails · </a:t>
            </a:r>
            <a:r>
              <a:rPr>
                <a:latin typeface="Consolas"/>
              </a:rPr>
              <a:t>condition-reports.jsonl</a:t>
            </a:r>
            <a:r>
              <a:t> = 08's stream, the bridge is in it · </a:t>
            </a:r>
            <a:r>
              <a:rPr>
                <a:latin typeface="Consolas"/>
              </a:rPr>
              <a:t>mock-apis/</a:t>
            </a:r>
            <a:r>
              <a:t> = weather, campsites, permits as JSON</a:t>
            </a:r>
          </a:p>
          <a:p>
            <a:r>
              <a:t>Flags: </a:t>
            </a:r>
            <a:r>
              <a:rPr>
                <a:latin typeface="Consolas"/>
              </a:rPr>
              <a:t>--yes</a:t>
            </a:r>
            <a:r>
              <a:t> = auto-approve the permit gate · any other words = your own request (default: 3 days in Glacier, Sept 14 to 16)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same request, no tools. Lovely, generic, books nothing.</a:t>
            </a:r>
          </a:p>
          <a:p>
            <a:r>
              <a:t>2. Show the five methods in </a:t>
            </a:r>
            <a:r>
              <a:rPr>
                <a:latin typeface="Consolas"/>
              </a:rPr>
              <a:t>complete/Program.cs</a:t>
            </a:r>
            <a:r>
              <a:t>. The descriptions are the manual.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Narrate the trace. Weather, trails, conditions per trail, campsites. It stops at the permit gate; say yes.</a:t>
            </a:r>
          </a:p>
          <a:p>
            <a:r>
              <a:t>4. </a:t>
            </a:r>
            <a:r>
              <a:rPr>
                <a:latin typeface="Consolas"/>
              </a:rPr>
              <a:t>dotnet run -- "Plan me a 2-day trip in Glacier National Park for September 14-15 that includes the Avalanche Lake Trail (trail-0117)."</a:t>
            </a:r>
            <a:r>
              <a:t>: it reads the bridge report and routes around it.</a:t>
            </a:r>
          </a:p>
          <a:p>
            <a:r>
              <a:t>5. Point at the step budget and the trace. Printed, not persisted. Say so.</a:t>
            </a:r>
          </a:p>
          <a:p>
            <a:r>
              <a:t>Cut: 4 if the first run already hit the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Send the request with the tools array, read the tool call out of the response, send the follow-up with the tool result. Step 2's round-trip is </a:t>
            </a:r>
            <a:r>
              <a:rPr>
                <a:latin typeface="Consolas"/>
              </a:rPr>
              <a:t>search_trails</a:t>
            </a:r>
            <a:r>
              <a:t> + </a:t>
            </a:r>
            <a:r>
              <a:rPr>
                <a:latin typeface="Consolas"/>
              </a:rPr>
              <a:t>check_campsites</a:t>
            </a:r>
            <a:r>
              <a:t>.</a:t>
            </a:r>
          </a:p>
          <a:p>
            <a:r>
              <a:t>If you get an itinerary instead of a tool call on step 2, the model never saw your tools. Three failure modes on step 4, in ascending order of embarrassment: never calls conditions; calls it, reads "bridge is OUT", schedules anyway; drops the trail but invents a reason without calling. The third guessed right, which is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Trip planning, onboarding, procurement, incident response, report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On Azure the loop sequences all five tools from a single request with zero nudges, in all three languages, measured against the workshop's Foundry deployment; the contrast with the local counts is the argument. Row 10, and the one your board has already asked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Hard. If asked about cost: the highest of the ten. Weeks to months, frontier-model API costs, real design work on guardrails, confirmation gates, observability. Do one of 01 through 09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agent checked the bridge, and whose scheduled it anyway? Row 10 is done, so all ten rows are done. Closing next: the framework, and the pitch. Hand off to the closing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4: Doing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Agentic Workflows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A model that </a:t>
            </a:r>
            <a:r>
              <a:rPr b="1" sz="4000">
                <a:solidFill>
                  <a:srgbClr val="017AB4"/>
                </a:solidFill>
              </a:rPr>
              <a:t>picks which tools to call</a:t>
            </a:r>
            <a:r>
              <a:rPr sz="4000"/>
              <a:t>, in a loop, until the job is done.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  <a:p>
            <a:pPr/>
            <a:r>
              <a:rPr sz="2800"/>
              <a:t>The descriptions are the model's manual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How the Loop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474720"/>
            <a:ext cx="10966704" cy="3063240"/>
          </a:xfrm>
        </p:spPr>
        <p:txBody>
          <a:bodyPr wrap="square"/>
          <a:lstStyle/>
          <a:p>
            <a:pPr/>
            <a:r>
              <a:rPr sz="2800"/>
              <a:t>The loop is your code</a:t>
            </a:r>
          </a:p>
          <a:p>
            <a:pPr/>
            <a:r>
              <a:rPr sz="2800"/>
              <a:t>The descriptions are the model's manual</a:t>
            </a:r>
          </a:p>
          <a:p>
            <a:pPr/>
            <a:r>
              <a:rPr sz="2800"/>
              <a:t>Guardrails are boxes on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Trip request + tool descriptions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Model: call a tool, or answer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runs the tool (weather, trails, conditions, campsites)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Result appended to the conversation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again, until it answers or hits the step budget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3454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5087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Itinerary + a full trace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  <a:p>
            <a:pPr/>
            <a:r>
              <a:rPr sz="2800"/>
              <a:t>Agent: the model picks, repeatedly · N× the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RAG Fetches Before, an Agent Asks During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pPr/>
            <a:r>
              <a:rPr sz="2800"/>
              <a:t>RAG: you pick the context, once · one call</a:t>
            </a:r>
          </a:p>
          <a:p>
            <a:pPr/>
            <a:r>
              <a:rPr sz="2800"/>
              <a:t>Agent: the model picks, repeatedly · N× the cost</a:t>
            </a:r>
          </a:p>
          <a:p>
            <a:pPr/>
            <a:r>
              <a:rPr sz="2800"/>
              <a:t>Can you name the context up front? Then RAG.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Your code retrieves 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answers once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10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Request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for what it needs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Your code fetches 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asks again, or answers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Done, after N turns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F10 Agentic Workflows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❌ Plain completion: lovely, generic, books nothing</a:t>
            </a:r>
          </a:p>
          <a:p>
            <a:pPr/>
            <a:r>
              <a:rPr sz="2800"/>
              <a:t>Five C# methods · descriptions = the manual</a:t>
            </a:r>
          </a:p>
          <a:p>
            <a:pPr/>
            <a:r>
              <a:rPr sz="2800"/>
              <a:t>Weather → trails → conditions → around the washout</a:t>
            </a:r>
          </a:p>
          <a:p>
            <a:pPr/>
            <a:r>
              <a:rPr sz="2800"/>
              <a:t>It must discover: Sept 16 rain · the bridge</a:t>
            </a:r>
          </a:p>
          <a:p>
            <a:pPr/>
            <a:r>
              <a:rPr sz="2800"/>
              <a:t>Campsites full → it adapts</a:t>
            </a:r>
          </a:p>
          <a:p>
            <a:pPr/>
            <a:r>
              <a:rPr sz="2800"/>
              <a:t>The permit waits for a human yes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~45 Minutes · Everyone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>
                <a:latin typeface="Consolas"/>
              </a:rPr>
              <a:t>modules/M4-doing/F10-agentic-workflows/</a:t>
            </a:r>
          </a:p>
          <a:p>
            <a:pPr/>
            <a:r>
              <a:rPr sz="2400">
                <a:latin typeface="Consolas"/>
              </a:rPr>
              <a:t>dotnet/</a:t>
            </a:r>
            <a:r>
              <a:rPr sz="2400"/>
              <a:t> · </a:t>
            </a:r>
            <a:r>
              <a:rPr sz="2400">
                <a:latin typeface="Consolas"/>
              </a:rPr>
              <a:t>python/</a:t>
            </a:r>
            <a:r>
              <a:rPr sz="2400"/>
              <a:t> · </a:t>
            </a:r>
            <a:r>
              <a:rPr sz="2400">
                <a:latin typeface="Consolas"/>
              </a:rPr>
              <a:t>typescript/</a:t>
            </a:r>
            <a:r>
              <a:rPr sz="2400"/>
              <a:t>: </a:t>
            </a:r>
            <a:r>
              <a:rPr sz="2400" b="1"/>
              <a:t>you are the loop</a:t>
            </a:r>
          </a:p>
          <a:p>
            <a:pPr/>
            <a:r>
              <a:rPr sz="2400"/>
              <a:t>Steps 1 and 2: two tools and the round-trip loop</a:t>
            </a:r>
          </a:p>
          <a:p>
            <a:pPr/>
            <a:r>
              <a:rPr sz="2400"/>
              <a:t>Step 3: add </a:t>
            </a:r>
            <a:r>
              <a:rPr sz="2400">
                <a:latin typeface="Consolas"/>
              </a:rPr>
              <a:t>get_weather</a:t>
            </a:r>
            <a:r>
              <a:rPr sz="2400"/>
              <a:t>, do something about the 16th</a:t>
            </a:r>
          </a:p>
          <a:p>
            <a:pPr/>
            <a:r>
              <a:rPr sz="2400"/>
              <a:t>Step 4: </a:t>
            </a:r>
            <a:r>
              <a:rPr sz="2400">
                <a:latin typeface="Consolas"/>
              </a:rPr>
              <a:t>trail-0117</a:t>
            </a:r>
            <a:r>
              <a:rPr sz="2400"/>
              <a:t>, dropped for a tool-given reason</a:t>
            </a:r>
          </a:p>
          <a:p>
            <a:pPr/>
            <a:r>
              <a:rPr sz="2400"/>
              <a:t>Stretch: the human gate before </a:t>
            </a:r>
            <a:r>
              <a:rPr sz="2400">
                <a:latin typeface="Consolas"/>
              </a:rPr>
              <a:t>request_permit</a:t>
            </a:r>
          </a:p>
          <a:p>
            <a:pPr/>
            <a:r>
              <a:rPr sz="2400">
                <a:latin typeface="Consolas"/>
              </a:rPr>
              <a:t>reference-transcript.md</a:t>
            </a:r>
            <a:r>
              <a:rPr sz="2400"/>
              <a:t> when it goes sideways. It will.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F10 · Agentic Workflows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state a goal, then do all the clicking themselves, across systems.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"Users state the goal in one sentence, the software does the clicking, and a human still signs off on anything that matters."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4: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