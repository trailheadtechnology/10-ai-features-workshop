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20"/>
  </p:notesMasterIdLst>
  <p:sldIdLst>
    <p:sldId id="576" r:id="rId2"/>
    <p:sldId id="577" r:id="rId3"/>
    <p:sldId id="578" r:id="rId4"/>
    <p:sldId id="579" r:id="rId5"/>
    <p:sldId id="580" r:id="rId6"/>
    <p:sldId id="581" r:id="rId7"/>
    <p:sldId id="582" r:id="rId8"/>
    <p:sldId id="583" r:id="rId9"/>
    <p:sldId id="584" r:id="rId10"/>
    <p:sldId id="585" r:id="rId11"/>
    <p:sldId id="586" r:id="rId12"/>
    <p:sldId id="587" r:id="rId13"/>
    <p:sldId id="593" r:id="rId14"/>
    <p:sldId id="595" r:id="rId15"/>
    <p:sldId id="596" r:id="rId16"/>
    <p:sldId id="597" r:id="rId17"/>
    <p:sldId id="598" r:id="rId18"/>
    <p:sldId id="599" r:id="rId19"/>
  </p:sldIdLst>
  <p:sldSz cx="12192000" cy="6858000"/>
  <p:notesSz cx="6858000" cy="9144000"/>
  <p:embeddedFontLst>
    <p:embeddedFont>
      <p:font typeface="Consolas" panose="020B0609020204030204" pitchFamily="49" charset="0"/>
      <p:regular r:id="rId21"/>
      <p:bold r:id="rId22"/>
      <p:italic r:id="rId23"/>
      <p:boldItalic r:id="rId24"/>
    </p:embeddedFont>
    <p:embeddedFont>
      <p:font typeface="Ink Free" panose="03080402000500000000" pitchFamily="66" charset="0"/>
      <p:regular r:id="rId25"/>
    </p:embeddedFont>
    <p:embeddedFont>
      <p:font typeface="Segoe UI" panose="020B0502040204020203" pitchFamily="34" charset="0"/>
      <p:regular r:id="rId26"/>
      <p:bold r:id="rId27"/>
      <p:italic r:id="rId28"/>
      <p:boldItalic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61" autoAdjust="0"/>
    <p:restoredTop sz="66874" autoAdjust="0"/>
  </p:normalViewPr>
  <p:slideViewPr>
    <p:cSldViewPr snapToGrid="0">
      <p:cViewPr varScale="1">
        <p:scale>
          <a:sx n="77" d="100"/>
          <a:sy n="77" d="100"/>
        </p:scale>
        <p:origin x="210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21T20:25:04.790" v="979" actId="2696"/>
      <pc:docMkLst>
        <pc:docMk/>
      </pc:docMkLst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88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89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90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91"/>
        </pc:sldMkLst>
      </pc:sldChg>
      <pc:sldChg chg="del">
        <pc:chgData name="J. Tower" userId="9d06de10716639e5" providerId="LiveId" clId="{F8931099-75CA-5660-A155-55881DF68D84}" dt="2026-09-21T20:25:04.790" v="979" actId="2696"/>
        <pc:sldMkLst>
          <pc:docMk/>
          <pc:sldMk cId="0" sldId="59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capstone. "Plan me a 3-day trip in Glacier" becomes real tool calls. Everyone attempts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capstone. Everyone builds it, no menu, and it uses F02, F04, F08, and F09.</a:t>
            </a:r>
          </a:p>
          <a:p>
            <a:r>
              <a:t>The user problem, spoken: "Plan me a 3-day trip in Glacier for mid-September." Today the user checks the forecast, searches trails, cross-references conditions, checks campsites, and files a permit in a separate system: five tools, one afternoon, and the app helped with exactly one step. They didn't want search results; they wanted the trip planned.</a:t>
            </a:r>
          </a:p>
          <a:p>
            <a:r>
              <a:t>Why it's the capstone: it searches trails semantically (04), grounds itself in 08's condition reports, consumes structured tool results (02 in reverse), and pauses for a human before the permit (09). And it fails every way the first nine fail, at once, compounding.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an agent is given a goal and tools; it chooses an action, your code executes it, it observes the result, and it repeats until the goal is met or a budget runs out. Reason, act, observe, repeat.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An agent is a model given tools and a goal, running in a loop. It starts with a trip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Your app owns the loop. Not a framework,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model: gpt-5.5 on Azure. With no key, llama3.2 stands in, much weaker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request goes out with the conversation so far and five tool descriptions. The descriptions are the model's manual; they're all it knows about your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model returns one of two things: "call this tool with these arguments," or a final answer. Here: search_trails for Glacier.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Your code runs the tool. The model never touches weather, trails, conditions, or campsites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result is appended to the conversation and the model is called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Around and around: a step budget of 12 so it cannot loop forever, and a confirmation gate before request_permit.</a:t>
            </a:r>
          </a:p>
          <a:p>
            <a:r>
              <a:rPr lang="en-US" dirty="0"/>
              <a:t>Tools return errors instead of throwing; every call, argument, and result is printed as 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Out comes an itinerary and a full trace: eleven tool calls, most chosen without anyone asking for that order. That sequencing is the feature.</a:t>
            </a:r>
          </a:p>
          <a:p>
            <a:r>
              <a:rPr lang="en-US" dirty="0"/>
              <a:t>The demo prints the trace; it does not persist one. Shipping this means durable storage next to 09's approval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What to watch: ❌ Plain completion: lovely, generic, books nothing · Five C# methods · descriptions = the manual · Weather → trails → conditions → around the washout · It must discover: Sept 16 rain · the bridge · Campsites full → it adapts · The permit waits for a human yes</a:t>
            </a:r>
          </a:p>
          <a:p>
            <a:r>
              <a:t>~7 min · prefix every run with </a:t>
            </a:r>
            <a:r>
              <a:rPr>
                <a:latin typeface="Consolas"/>
              </a:rPr>
              <a:t>AZURE_OPENAI_DEPLOYMENT=gpt-5.5</a:t>
            </a:r>
            <a:r>
              <a:t> · </a:t>
            </a:r>
            <a:r>
              <a:rPr>
                <a:latin typeface="Consolas"/>
              </a:rPr>
              <a:t>cd modules/M4-doing/F10-agentic-workflows/dotnet</a:t>
            </a:r>
          </a:p>
          <a:p>
            <a:r>
              <a:t>Files: </a:t>
            </a:r>
            <a:r>
              <a:rPr>
                <a:latin typeface="Consolas"/>
              </a:rPr>
              <a:t>trails.json</a:t>
            </a:r>
            <a:r>
              <a:t> = 200 trails · </a:t>
            </a:r>
            <a:r>
              <a:rPr>
                <a:latin typeface="Consolas"/>
              </a:rPr>
              <a:t>condition-reports.jsonl</a:t>
            </a:r>
            <a:r>
              <a:t> = 08's stream, the bridge is in it · </a:t>
            </a:r>
            <a:r>
              <a:rPr>
                <a:latin typeface="Consolas"/>
              </a:rPr>
              <a:t>mock-apis/</a:t>
            </a:r>
            <a:r>
              <a:t> = weather, campsites, permits as JSON</a:t>
            </a:r>
          </a:p>
          <a:p>
            <a:r>
              <a:t>Flags: </a:t>
            </a:r>
            <a:r>
              <a:rPr>
                <a:latin typeface="Consolas"/>
              </a:rPr>
              <a:t>--yes</a:t>
            </a:r>
            <a:r>
              <a:t> = auto-approve the permit gate · any other words = your own request (default: 3 days in Glacier, Sept 14 to 16)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The same request, no tools. Lovely, generic, books nothing.</a:t>
            </a:r>
          </a:p>
          <a:p>
            <a:r>
              <a:t>2. Show the five methods in </a:t>
            </a:r>
            <a:r>
              <a:rPr>
                <a:latin typeface="Consolas"/>
              </a:rPr>
              <a:t>complete/Program.cs</a:t>
            </a:r>
            <a:r>
              <a:t>. The descriptions are the manual.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</a:t>
            </a:r>
            <a:r>
              <a:t>. Narrate the trace. Weather, trails, conditions per trail, campsites. It stops at the permit gate; say yes.</a:t>
            </a:r>
          </a:p>
          <a:p>
            <a:r>
              <a:t>4. </a:t>
            </a:r>
            <a:r>
              <a:rPr>
                <a:latin typeface="Consolas"/>
              </a:rPr>
              <a:t>dotnet run -- "Plan me a 2-day trip in Glacier National Park for September 14-15 that includes the Avalanche Lake Trail (trail-0117)."</a:t>
            </a:r>
            <a:r>
              <a:t>: it reads the bridge report and routes around it.</a:t>
            </a:r>
          </a:p>
          <a:p>
            <a:r>
              <a:t>5. Point at the step budget and the trace. Printed, not persisted. Say so.</a:t>
            </a:r>
          </a:p>
          <a:p>
            <a:r>
              <a:t>Cut: 4 if the first run already hit the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Send the request with the tools array, read the tool call out of the response, send the follow-up with the tool result. Step 2's round-trip is </a:t>
            </a:r>
            <a:r>
              <a:rPr>
                <a:latin typeface="Consolas"/>
              </a:rPr>
              <a:t>search_trails</a:t>
            </a:r>
            <a:r>
              <a:t> + </a:t>
            </a:r>
            <a:r>
              <a:rPr>
                <a:latin typeface="Consolas"/>
              </a:rPr>
              <a:t>check_campsites</a:t>
            </a:r>
            <a:r>
              <a:t>.</a:t>
            </a:r>
          </a:p>
          <a:p>
            <a:r>
              <a:t>If you get an itinerary instead of a tool call on step 2, the model never saw your tools. Three failure modes on step 4, in ascending order of embarrassment: never calls conditions; calls it, reads "bridge is OUT", schedules anyway; drops the trail but invents a reason without calling. The third guessed right, which is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Trip planning, onboarding, procurement, incident response, report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On Azure the loop sequences all five tools from a single request with zero nudges, in all three languages, measured against the workshop's Foundry deployment; the contrast with the local counts is the argument. Row 10, and the one your board has already asked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Hard. If asked about cost: the highest of the ten. Weeks to months, frontier-model API costs, real design work on guardrails, confirmation gates, observability. Do one of 01 through 09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agent checked the bridge, and whose scheduled it anyway? Row 10 is done, so all ten rows are done. Closing next: the framework, and the pitch. Hand off to the closing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Module 4: Doing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F10 Agentic Workflows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A model that </a:t>
            </a:r>
            <a:r>
              <a:rPr sz="4000" b="1">
                <a:solidFill>
                  <a:srgbClr val="017AB4"/>
                </a:solidFill>
              </a:rPr>
              <a:t>picks which tools to call</a:t>
            </a:r>
            <a:r>
              <a:rPr sz="4000"/>
              <a:t>, in a loop, until the job is done.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  <p:sp>
        <p:nvSpPr>
          <p:cNvPr id="126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+= result</a:t>
            </a:r>
          </a:p>
        </p:txBody>
      </p:sp>
      <p:sp>
        <p:nvSpPr>
          <p:cNvPr id="127" name="Result"/>
          <p:cNvSpPr txBox="1"/>
          <p:nvPr/>
        </p:nvSpPr>
        <p:spPr>
          <a:xfrm>
            <a:off x="6720840" y="49834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[{"id":"trail-0003",…}]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  <p:sp>
        <p:nvSpPr>
          <p:cNvPr id="126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+= result</a:t>
            </a:r>
          </a:p>
        </p:txBody>
      </p:sp>
      <p:sp>
        <p:nvSpPr>
          <p:cNvPr id="127" name="Result"/>
          <p:cNvSpPr txBox="1"/>
          <p:nvPr/>
        </p:nvSpPr>
        <p:spPr>
          <a:xfrm>
            <a:off x="6720840" y="49834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[{"id":"trail-0003",…}]</a:t>
            </a:r>
          </a:p>
        </p:txBody>
      </p:sp>
      <p:sp>
        <p:nvSpPr>
          <p:cNvPr id="128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72C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loop ≤ 12 steps</a:t>
            </a:r>
          </a:p>
        </p:txBody>
      </p:sp>
      <p:sp>
        <p:nvSpPr>
          <p:cNvPr id="129" name="App line 3"/>
          <p:cNvSpPr txBox="1"/>
          <p:nvPr/>
        </p:nvSpPr>
        <p:spPr>
          <a:xfrm>
            <a:off x="4878638" y="4566178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permit → ask first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101" name="Freeform 54"/>
          <p:cNvSpPr/>
          <p:nvPr/>
        </p:nvSpPr>
        <p:spPr>
          <a:xfrm>
            <a:off x="1356360" y="3360636"/>
            <a:ext cx="762000" cy="590550"/>
          </a:xfrm>
          <a:custGeom>
            <a:avLst/>
            <a:gdLst>
              <a:gd name="csX0" fmla="*/ 0 w 762000"/>
              <a:gd name="csY0" fmla="*/ 0 h 590550"/>
              <a:gd name="csX1" fmla="*/ 0 w 762000"/>
              <a:gd name="csY1" fmla="*/ 590550 h 590550"/>
              <a:gd name="csX2" fmla="*/ 396240 w 762000"/>
              <a:gd name="csY2" fmla="*/ 590550 h 590550"/>
              <a:gd name="csX3" fmla="*/ 762000 w 762000"/>
              <a:gd name="csY3" fmla="*/ 590550 h 590550"/>
              <a:gd name="csX4" fmla="*/ 762000 w 762000"/>
              <a:gd name="csY4" fmla="*/ 0 h 590550"/>
              <a:gd name="csX5" fmla="*/ 365760 w 762000"/>
              <a:gd name="csY5" fmla="*/ 0 h 590550"/>
              <a:gd name="csX6" fmla="*/ 0 w 762000"/>
              <a:gd name="csY6" fmla="*/ 0 h 590550"/>
              <a:gd name="csX7" fmla="*/ 657225 w 762000"/>
              <a:gd name="csY7" fmla="*/ 57150 h 590550"/>
              <a:gd name="csX8" fmla="*/ 676275 w 762000"/>
              <a:gd name="csY8" fmla="*/ 76200 h 590550"/>
              <a:gd name="csX9" fmla="*/ 657225 w 762000"/>
              <a:gd name="csY9" fmla="*/ 95250 h 590550"/>
              <a:gd name="csX10" fmla="*/ 638175 w 762000"/>
              <a:gd name="csY10" fmla="*/ 76200 h 590550"/>
              <a:gd name="csX11" fmla="*/ 657225 w 762000"/>
              <a:gd name="csY11" fmla="*/ 57150 h 590550"/>
              <a:gd name="csX12" fmla="*/ 590550 w 762000"/>
              <a:gd name="csY12" fmla="*/ 57150 h 590550"/>
              <a:gd name="csX13" fmla="*/ 609600 w 762000"/>
              <a:gd name="csY13" fmla="*/ 76200 h 590550"/>
              <a:gd name="csX14" fmla="*/ 590550 w 762000"/>
              <a:gd name="csY14" fmla="*/ 95250 h 590550"/>
              <a:gd name="csX15" fmla="*/ 571500 w 762000"/>
              <a:gd name="csY15" fmla="*/ 76200 h 590550"/>
              <a:gd name="csX16" fmla="*/ 590550 w 762000"/>
              <a:gd name="csY16" fmla="*/ 57150 h 590550"/>
              <a:gd name="csX17" fmla="*/ 523875 w 762000"/>
              <a:gd name="csY17" fmla="*/ 57150 h 590550"/>
              <a:gd name="csX18" fmla="*/ 542925 w 762000"/>
              <a:gd name="csY18" fmla="*/ 76200 h 590550"/>
              <a:gd name="csX19" fmla="*/ 523875 w 762000"/>
              <a:gd name="csY19" fmla="*/ 95250 h 590550"/>
              <a:gd name="csX20" fmla="*/ 504825 w 762000"/>
              <a:gd name="csY20" fmla="*/ 76200 h 590550"/>
              <a:gd name="csX21" fmla="*/ 523875 w 762000"/>
              <a:gd name="csY21" fmla="*/ 57150 h 590550"/>
              <a:gd name="csX22" fmla="*/ 704850 w 762000"/>
              <a:gd name="csY22" fmla="*/ 533400 h 590550"/>
              <a:gd name="csX23" fmla="*/ 381000 w 762000"/>
              <a:gd name="csY23" fmla="*/ 533400 h 590550"/>
              <a:gd name="csX24" fmla="*/ 57150 w 762000"/>
              <a:gd name="csY24" fmla="*/ 533400 h 590550"/>
              <a:gd name="csX25" fmla="*/ 57150 w 762000"/>
              <a:gd name="csY25" fmla="*/ 152400 h 590550"/>
              <a:gd name="csX26" fmla="*/ 381000 w 762000"/>
              <a:gd name="csY26" fmla="*/ 152400 h 590550"/>
              <a:gd name="csX27" fmla="*/ 704850 w 762000"/>
              <a:gd name="csY27" fmla="*/ 152400 h 590550"/>
              <a:gd name="csX28" fmla="*/ 704850 w 762000"/>
              <a:gd name="csY28" fmla="*/ 533400 h 590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62000" h="590550" extrusionOk="0">
                <a:moveTo>
                  <a:pt x="0" y="0"/>
                </a:moveTo>
                <a:cubicBezTo>
                  <a:pt x="54956" y="142574"/>
                  <a:pt x="-69821" y="403786"/>
                  <a:pt x="0" y="590550"/>
                </a:cubicBezTo>
                <a:cubicBezTo>
                  <a:pt x="194394" y="568982"/>
                  <a:pt x="226255" y="615435"/>
                  <a:pt x="396240" y="590550"/>
                </a:cubicBezTo>
                <a:cubicBezTo>
                  <a:pt x="566225" y="565665"/>
                  <a:pt x="603205" y="590783"/>
                  <a:pt x="762000" y="590550"/>
                </a:cubicBezTo>
                <a:cubicBezTo>
                  <a:pt x="703329" y="331245"/>
                  <a:pt x="799085" y="211008"/>
                  <a:pt x="762000" y="0"/>
                </a:cubicBezTo>
                <a:cubicBezTo>
                  <a:pt x="583420" y="39675"/>
                  <a:pt x="488361" y="-13777"/>
                  <a:pt x="365760" y="0"/>
                </a:cubicBezTo>
                <a:cubicBezTo>
                  <a:pt x="243159" y="13777"/>
                  <a:pt x="94700" y="-41376"/>
                  <a:pt x="0" y="0"/>
                </a:cubicBezTo>
                <a:close/>
                <a:moveTo>
                  <a:pt x="657225" y="57150"/>
                </a:moveTo>
                <a:cubicBezTo>
                  <a:pt x="666906" y="56704"/>
                  <a:pt x="673620" y="67121"/>
                  <a:pt x="676275" y="76200"/>
                </a:cubicBezTo>
                <a:cubicBezTo>
                  <a:pt x="677097" y="86270"/>
                  <a:pt x="668165" y="96396"/>
                  <a:pt x="657225" y="95250"/>
                </a:cubicBezTo>
                <a:cubicBezTo>
                  <a:pt x="645421" y="96305"/>
                  <a:pt x="639099" y="86358"/>
                  <a:pt x="638175" y="76200"/>
                </a:cubicBezTo>
                <a:cubicBezTo>
                  <a:pt x="637911" y="68440"/>
                  <a:pt x="647631" y="57525"/>
                  <a:pt x="657225" y="57150"/>
                </a:cubicBezTo>
                <a:close/>
                <a:moveTo>
                  <a:pt x="590550" y="57150"/>
                </a:moveTo>
                <a:cubicBezTo>
                  <a:pt x="601474" y="57483"/>
                  <a:pt x="609552" y="63079"/>
                  <a:pt x="609600" y="76200"/>
                </a:cubicBezTo>
                <a:cubicBezTo>
                  <a:pt x="610227" y="86179"/>
                  <a:pt x="600032" y="94162"/>
                  <a:pt x="590550" y="95250"/>
                </a:cubicBezTo>
                <a:cubicBezTo>
                  <a:pt x="579885" y="95466"/>
                  <a:pt x="571244" y="88201"/>
                  <a:pt x="571500" y="76200"/>
                </a:cubicBezTo>
                <a:cubicBezTo>
                  <a:pt x="573704" y="65483"/>
                  <a:pt x="577284" y="57935"/>
                  <a:pt x="590550" y="57150"/>
                </a:cubicBezTo>
                <a:close/>
                <a:moveTo>
                  <a:pt x="523875" y="57150"/>
                </a:moveTo>
                <a:cubicBezTo>
                  <a:pt x="535051" y="58906"/>
                  <a:pt x="541614" y="64885"/>
                  <a:pt x="542925" y="76200"/>
                </a:cubicBezTo>
                <a:cubicBezTo>
                  <a:pt x="542533" y="85734"/>
                  <a:pt x="536489" y="96561"/>
                  <a:pt x="523875" y="95250"/>
                </a:cubicBezTo>
                <a:cubicBezTo>
                  <a:pt x="514658" y="98131"/>
                  <a:pt x="504610" y="87013"/>
                  <a:pt x="504825" y="76200"/>
                </a:cubicBezTo>
                <a:cubicBezTo>
                  <a:pt x="506542" y="65159"/>
                  <a:pt x="513487" y="56265"/>
                  <a:pt x="523875" y="57150"/>
                </a:cubicBezTo>
                <a:close/>
                <a:moveTo>
                  <a:pt x="704850" y="533400"/>
                </a:moveTo>
                <a:cubicBezTo>
                  <a:pt x="629916" y="554602"/>
                  <a:pt x="474105" y="511107"/>
                  <a:pt x="381000" y="533400"/>
                </a:cubicBezTo>
                <a:cubicBezTo>
                  <a:pt x="287895" y="555693"/>
                  <a:pt x="197674" y="530326"/>
                  <a:pt x="57150" y="533400"/>
                </a:cubicBezTo>
                <a:cubicBezTo>
                  <a:pt x="51525" y="444891"/>
                  <a:pt x="83651" y="258296"/>
                  <a:pt x="57150" y="152400"/>
                </a:cubicBezTo>
                <a:cubicBezTo>
                  <a:pt x="181146" y="122155"/>
                  <a:pt x="307086" y="167604"/>
                  <a:pt x="381000" y="152400"/>
                </a:cubicBezTo>
                <a:cubicBezTo>
                  <a:pt x="454914" y="137196"/>
                  <a:pt x="624785" y="175302"/>
                  <a:pt x="704850" y="152400"/>
                </a:cubicBezTo>
                <a:cubicBezTo>
                  <a:pt x="711036" y="301923"/>
                  <a:pt x="686241" y="356416"/>
                  <a:pt x="704850" y="533400"/>
                </a:cubicBezTo>
                <a:close/>
              </a:path>
            </a:pathLst>
          </a:custGeom>
          <a:noFill/>
          <a:ln w="22225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2506668300">
                  <a:custGeom>
                    <a:avLst/>
                    <a:gdLst>
                      <a:gd name="connsiteX0" fmla="*/ 0 w 762000"/>
                      <a:gd name="connsiteY0" fmla="*/ 0 h 590550"/>
                      <a:gd name="connsiteX1" fmla="*/ 0 w 762000"/>
                      <a:gd name="connsiteY1" fmla="*/ 590550 h 590550"/>
                      <a:gd name="connsiteX2" fmla="*/ 762000 w 762000"/>
                      <a:gd name="connsiteY2" fmla="*/ 590550 h 590550"/>
                      <a:gd name="connsiteX3" fmla="*/ 762000 w 762000"/>
                      <a:gd name="connsiteY3" fmla="*/ 0 h 590550"/>
                      <a:gd name="connsiteX4" fmla="*/ 0 w 762000"/>
                      <a:gd name="connsiteY4" fmla="*/ 0 h 590550"/>
                      <a:gd name="connsiteX5" fmla="*/ 657225 w 762000"/>
                      <a:gd name="connsiteY5" fmla="*/ 57150 h 590550"/>
                      <a:gd name="connsiteX6" fmla="*/ 676275 w 762000"/>
                      <a:gd name="connsiteY6" fmla="*/ 76200 h 590550"/>
                      <a:gd name="connsiteX7" fmla="*/ 657225 w 762000"/>
                      <a:gd name="connsiteY7" fmla="*/ 95250 h 590550"/>
                      <a:gd name="connsiteX8" fmla="*/ 638175 w 762000"/>
                      <a:gd name="connsiteY8" fmla="*/ 76200 h 590550"/>
                      <a:gd name="connsiteX9" fmla="*/ 657225 w 762000"/>
                      <a:gd name="connsiteY9" fmla="*/ 57150 h 590550"/>
                      <a:gd name="connsiteX10" fmla="*/ 590550 w 762000"/>
                      <a:gd name="connsiteY10" fmla="*/ 57150 h 590550"/>
                      <a:gd name="connsiteX11" fmla="*/ 609600 w 762000"/>
                      <a:gd name="connsiteY11" fmla="*/ 76200 h 590550"/>
                      <a:gd name="connsiteX12" fmla="*/ 590550 w 762000"/>
                      <a:gd name="connsiteY12" fmla="*/ 95250 h 590550"/>
                      <a:gd name="connsiteX13" fmla="*/ 571500 w 762000"/>
                      <a:gd name="connsiteY13" fmla="*/ 76200 h 590550"/>
                      <a:gd name="connsiteX14" fmla="*/ 590550 w 762000"/>
                      <a:gd name="connsiteY14" fmla="*/ 57150 h 590550"/>
                      <a:gd name="connsiteX15" fmla="*/ 523875 w 762000"/>
                      <a:gd name="connsiteY15" fmla="*/ 57150 h 590550"/>
                      <a:gd name="connsiteX16" fmla="*/ 542925 w 762000"/>
                      <a:gd name="connsiteY16" fmla="*/ 76200 h 590550"/>
                      <a:gd name="connsiteX17" fmla="*/ 523875 w 762000"/>
                      <a:gd name="connsiteY17" fmla="*/ 95250 h 590550"/>
                      <a:gd name="connsiteX18" fmla="*/ 504825 w 762000"/>
                      <a:gd name="connsiteY18" fmla="*/ 76200 h 590550"/>
                      <a:gd name="connsiteX19" fmla="*/ 523875 w 762000"/>
                      <a:gd name="connsiteY19" fmla="*/ 57150 h 590550"/>
                      <a:gd name="connsiteX20" fmla="*/ 704850 w 762000"/>
                      <a:gd name="connsiteY20" fmla="*/ 533400 h 590550"/>
                      <a:gd name="connsiteX21" fmla="*/ 57150 w 762000"/>
                      <a:gd name="connsiteY21" fmla="*/ 533400 h 590550"/>
                      <a:gd name="connsiteX22" fmla="*/ 57150 w 762000"/>
                      <a:gd name="connsiteY22" fmla="*/ 152400 h 590550"/>
                      <a:gd name="connsiteX23" fmla="*/ 704850 w 762000"/>
                      <a:gd name="connsiteY23" fmla="*/ 152400 h 590550"/>
                      <a:gd name="connsiteX24" fmla="*/ 704850 w 762000"/>
                      <a:gd name="connsiteY24" fmla="*/ 533400 h 590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762000" h="590550">
                        <a:moveTo>
                          <a:pt x="0" y="0"/>
                        </a:moveTo>
                        <a:lnTo>
                          <a:pt x="0" y="590550"/>
                        </a:lnTo>
                        <a:lnTo>
                          <a:pt x="762000" y="590550"/>
                        </a:lnTo>
                        <a:lnTo>
                          <a:pt x="762000" y="0"/>
                        </a:lnTo>
                        <a:lnTo>
                          <a:pt x="0" y="0"/>
                        </a:lnTo>
                        <a:close/>
                        <a:moveTo>
                          <a:pt x="657225" y="57150"/>
                        </a:moveTo>
                        <a:cubicBezTo>
                          <a:pt x="667703" y="57150"/>
                          <a:pt x="676275" y="65723"/>
                          <a:pt x="676275" y="76200"/>
                        </a:cubicBezTo>
                        <a:cubicBezTo>
                          <a:pt x="676275" y="86678"/>
                          <a:pt x="667703" y="95250"/>
                          <a:pt x="657225" y="95250"/>
                        </a:cubicBezTo>
                        <a:cubicBezTo>
                          <a:pt x="646748" y="95250"/>
                          <a:pt x="638175" y="86678"/>
                          <a:pt x="638175" y="76200"/>
                        </a:cubicBezTo>
                        <a:cubicBezTo>
                          <a:pt x="638175" y="65723"/>
                          <a:pt x="646748" y="57150"/>
                          <a:pt x="657225" y="57150"/>
                        </a:cubicBezTo>
                        <a:close/>
                        <a:moveTo>
                          <a:pt x="590550" y="57150"/>
                        </a:moveTo>
                        <a:cubicBezTo>
                          <a:pt x="601028" y="57150"/>
                          <a:pt x="609600" y="65723"/>
                          <a:pt x="609600" y="76200"/>
                        </a:cubicBezTo>
                        <a:cubicBezTo>
                          <a:pt x="609600" y="86678"/>
                          <a:pt x="601028" y="95250"/>
                          <a:pt x="590550" y="95250"/>
                        </a:cubicBezTo>
                        <a:cubicBezTo>
                          <a:pt x="580073" y="95250"/>
                          <a:pt x="571500" y="86678"/>
                          <a:pt x="571500" y="76200"/>
                        </a:cubicBezTo>
                        <a:cubicBezTo>
                          <a:pt x="571500" y="65723"/>
                          <a:pt x="580073" y="57150"/>
                          <a:pt x="590550" y="57150"/>
                        </a:cubicBezTo>
                        <a:close/>
                        <a:moveTo>
                          <a:pt x="523875" y="57150"/>
                        </a:moveTo>
                        <a:cubicBezTo>
                          <a:pt x="534353" y="57150"/>
                          <a:pt x="542925" y="65723"/>
                          <a:pt x="542925" y="76200"/>
                        </a:cubicBezTo>
                        <a:cubicBezTo>
                          <a:pt x="542925" y="86678"/>
                          <a:pt x="534353" y="95250"/>
                          <a:pt x="523875" y="95250"/>
                        </a:cubicBezTo>
                        <a:cubicBezTo>
                          <a:pt x="513398" y="95250"/>
                          <a:pt x="504825" y="86678"/>
                          <a:pt x="504825" y="76200"/>
                        </a:cubicBezTo>
                        <a:cubicBezTo>
                          <a:pt x="504825" y="65723"/>
                          <a:pt x="513398" y="57150"/>
                          <a:pt x="523875" y="57150"/>
                        </a:cubicBezTo>
                        <a:close/>
                        <a:moveTo>
                          <a:pt x="704850" y="533400"/>
                        </a:moveTo>
                        <a:lnTo>
                          <a:pt x="57150" y="533400"/>
                        </a:lnTo>
                        <a:lnTo>
                          <a:pt x="57150" y="152400"/>
                        </a:lnTo>
                        <a:lnTo>
                          <a:pt x="704850" y="152400"/>
                        </a:lnTo>
                        <a:lnTo>
                          <a:pt x="704850" y="5334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2" name="Freeform 53"/>
          <p:cNvSpPr/>
          <p:nvPr/>
        </p:nvSpPr>
        <p:spPr>
          <a:xfrm>
            <a:off x="1490662" y="3580663"/>
            <a:ext cx="135254" cy="217170"/>
          </a:xfrm>
          <a:custGeom>
            <a:avLst/>
            <a:gdLst>
              <a:gd name="csX0" fmla="*/ 26670 w 135254"/>
              <a:gd name="csY0" fmla="*/ 217170 h 217170"/>
              <a:gd name="csX1" fmla="*/ 0 w 135254"/>
              <a:gd name="csY1" fmla="*/ 190500 h 217170"/>
              <a:gd name="csX2" fmla="*/ 81915 w 135254"/>
              <a:gd name="csY2" fmla="*/ 108585 h 217170"/>
              <a:gd name="csX3" fmla="*/ 0 w 135254"/>
              <a:gd name="csY3" fmla="*/ 26670 h 217170"/>
              <a:gd name="csX4" fmla="*/ 26670 w 135254"/>
              <a:gd name="csY4" fmla="*/ 0 h 217170"/>
              <a:gd name="csX5" fmla="*/ 135255 w 135254"/>
              <a:gd name="csY5" fmla="*/ 108585 h 217170"/>
              <a:gd name="csX6" fmla="*/ 26670 w 135254"/>
              <a:gd name="csY6" fmla="*/ 217170 h 21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254" h="217170" extrusionOk="0">
                <a:moveTo>
                  <a:pt x="26670" y="217170"/>
                </a:moveTo>
                <a:cubicBezTo>
                  <a:pt x="11369" y="207205"/>
                  <a:pt x="12283" y="198282"/>
                  <a:pt x="0" y="190500"/>
                </a:cubicBezTo>
                <a:cubicBezTo>
                  <a:pt x="14973" y="172072"/>
                  <a:pt x="47366" y="143737"/>
                  <a:pt x="81915" y="108585"/>
                </a:cubicBezTo>
                <a:cubicBezTo>
                  <a:pt x="46422" y="75570"/>
                  <a:pt x="31297" y="48786"/>
                  <a:pt x="0" y="26670"/>
                </a:cubicBezTo>
                <a:cubicBezTo>
                  <a:pt x="7593" y="18382"/>
                  <a:pt x="17151" y="13116"/>
                  <a:pt x="26670" y="0"/>
                </a:cubicBezTo>
                <a:cubicBezTo>
                  <a:pt x="69410" y="31114"/>
                  <a:pt x="87852" y="71307"/>
                  <a:pt x="135255" y="108585"/>
                </a:cubicBezTo>
                <a:cubicBezTo>
                  <a:pt x="109352" y="150152"/>
                  <a:pt x="72936" y="163840"/>
                  <a:pt x="26670" y="21717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26670 w 135254"/>
                      <a:gd name="connsiteY0" fmla="*/ 217170 h 217170"/>
                      <a:gd name="connsiteX1" fmla="*/ 0 w 135254"/>
                      <a:gd name="connsiteY1" fmla="*/ 190500 h 217170"/>
                      <a:gd name="connsiteX2" fmla="*/ 81915 w 135254"/>
                      <a:gd name="connsiteY2" fmla="*/ 108585 h 217170"/>
                      <a:gd name="connsiteX3" fmla="*/ 0 w 135254"/>
                      <a:gd name="connsiteY3" fmla="*/ 26670 h 217170"/>
                      <a:gd name="connsiteX4" fmla="*/ 26670 w 135254"/>
                      <a:gd name="connsiteY4" fmla="*/ 0 h 217170"/>
                      <a:gd name="connsiteX5" fmla="*/ 135255 w 135254"/>
                      <a:gd name="connsiteY5" fmla="*/ 108585 h 2171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35254" h="217170">
                        <a:moveTo>
                          <a:pt x="26670" y="217170"/>
                        </a:moveTo>
                        <a:lnTo>
                          <a:pt x="0" y="190500"/>
                        </a:lnTo>
                        <a:lnTo>
                          <a:pt x="81915" y="108585"/>
                        </a:lnTo>
                        <a:lnTo>
                          <a:pt x="0" y="26670"/>
                        </a:lnTo>
                        <a:lnTo>
                          <a:pt x="26670" y="0"/>
                        </a:lnTo>
                        <a:lnTo>
                          <a:pt x="135255" y="108585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55"/>
          <p:cNvSpPr/>
          <p:nvPr/>
        </p:nvSpPr>
        <p:spPr>
          <a:xfrm>
            <a:off x="1642110" y="3760686"/>
            <a:ext cx="152400" cy="38100"/>
          </a:xfrm>
          <a:custGeom>
            <a:avLst/>
            <a:gdLst>
              <a:gd name="csX0" fmla="*/ 0 w 152400"/>
              <a:gd name="csY0" fmla="*/ 0 h 38100"/>
              <a:gd name="csX1" fmla="*/ 152400 w 152400"/>
              <a:gd name="csY1" fmla="*/ 0 h 38100"/>
              <a:gd name="csX2" fmla="*/ 152400 w 152400"/>
              <a:gd name="csY2" fmla="*/ 38100 h 38100"/>
              <a:gd name="csX3" fmla="*/ 0 w 152400"/>
              <a:gd name="csY3" fmla="*/ 38100 h 38100"/>
              <a:gd name="csX4" fmla="*/ 0 w 152400"/>
              <a:gd name="csY4" fmla="*/ 0 h 38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400" h="38100" extrusionOk="0">
                <a:moveTo>
                  <a:pt x="0" y="0"/>
                </a:moveTo>
                <a:cubicBezTo>
                  <a:pt x="71416" y="-7638"/>
                  <a:pt x="119603" y="1413"/>
                  <a:pt x="152400" y="0"/>
                </a:cubicBezTo>
                <a:cubicBezTo>
                  <a:pt x="156950" y="15884"/>
                  <a:pt x="150574" y="24756"/>
                  <a:pt x="152400" y="38100"/>
                </a:cubicBezTo>
                <a:cubicBezTo>
                  <a:pt x="80746" y="54922"/>
                  <a:pt x="71330" y="29548"/>
                  <a:pt x="0" y="38100"/>
                </a:cubicBezTo>
                <a:cubicBezTo>
                  <a:pt x="-1466" y="24275"/>
                  <a:pt x="1120" y="9537"/>
                  <a:pt x="0" y="0"/>
                </a:cubicBezTo>
                <a:close/>
              </a:path>
            </a:pathLst>
          </a:custGeom>
          <a:noFill/>
          <a:ln w="19050" cap="flat">
            <a:solidFill>
              <a:srgbClr val="1F3A5F"/>
            </a:solidFill>
            <a:prstDash val="solid"/>
            <a:miter/>
            <a:extLst>
              <a:ext uri="{C807C97D-BFC1-408E-A445-0C87EB9F89A2}">
                <ask:lineSketchStyleProps xmlns:ask="http://schemas.microsoft.com/office/drawing/2018/sketchyshapes" sd="1078293354">
                  <a:custGeom>
                    <a:avLst/>
                    <a:gdLst>
                      <a:gd name="connsiteX0" fmla="*/ 0 w 152400"/>
                      <a:gd name="connsiteY0" fmla="*/ 0 h 38100"/>
                      <a:gd name="connsiteX1" fmla="*/ 152400 w 152400"/>
                      <a:gd name="connsiteY1" fmla="*/ 0 h 38100"/>
                      <a:gd name="connsiteX2" fmla="*/ 152400 w 152400"/>
                      <a:gd name="connsiteY2" fmla="*/ 38100 h 38100"/>
                      <a:gd name="connsiteX3" fmla="*/ 0 w 152400"/>
                      <a:gd name="connsiteY3" fmla="*/ 38100 h 38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2400" h="38100">
                        <a:moveTo>
                          <a:pt x="0" y="0"/>
                        </a:moveTo>
                        <a:lnTo>
                          <a:pt x="152400" y="0"/>
                        </a:lnTo>
                        <a:lnTo>
                          <a:pt x="152400" y="38100"/>
                        </a:lnTo>
                        <a:lnTo>
                          <a:pt x="0" y="38100"/>
                        </a:ln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Request</a:t>
            </a:r>
          </a:p>
        </p:txBody>
      </p:sp>
      <p:cxnSp>
        <p:nvCxnSpPr>
          <p:cNvPr id="105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06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"Plan me a 3-day trip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 Glacier, Sept 14-16"</a:t>
            </a:r>
          </a:p>
        </p:txBody>
      </p:sp>
      <p:sp>
        <p:nvSpPr>
          <p:cNvPr id="107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8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09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2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3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gpt-5.5</a:t>
            </a:r>
          </a:p>
        </p:txBody>
      </p:sp>
      <p:cxnSp>
        <p:nvCxnSpPr>
          <p:cNvPr id="118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19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 tools[5]</a:t>
            </a:r>
          </a:p>
        </p:txBody>
      </p:sp>
      <p:sp>
        <p:nvSpPr>
          <p:cNvPr id="120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tool_call: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search_trails(park)</a:t>
            </a:r>
          </a:p>
        </p:txBody>
      </p:sp>
      <p:cxnSp>
        <p:nvCxnSpPr>
          <p:cNvPr id="121" name="App-Tools"/>
          <p:cNvCxnSpPr/>
          <p:nvPr/>
        </p:nvCxnSpPr>
        <p:spPr>
          <a:xfrm>
            <a:off x="7440610" y="4118267"/>
            <a:ext cx="1200470" cy="40801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2" name="Tools box"/>
          <p:cNvSpPr/>
          <p:nvPr/>
        </p:nvSpPr>
        <p:spPr>
          <a:xfrm>
            <a:off x="8732520" y="4114800"/>
            <a:ext cx="1965960" cy="1024128"/>
          </a:xfrm>
          <a:custGeom>
            <a:avLst/>
            <a:gdLst>
              <a:gd name="csX0" fmla="*/ 0 w 1965960"/>
              <a:gd name="csY0" fmla="*/ 0 h 1024128"/>
              <a:gd name="csX1" fmla="*/ 327660 w 1965960"/>
              <a:gd name="csY1" fmla="*/ 0 h 1024128"/>
              <a:gd name="csX2" fmla="*/ 655320 w 1965960"/>
              <a:gd name="csY2" fmla="*/ 0 h 1024128"/>
              <a:gd name="csX3" fmla="*/ 982980 w 1965960"/>
              <a:gd name="csY3" fmla="*/ 0 h 1024128"/>
              <a:gd name="csX4" fmla="*/ 1310640 w 1965960"/>
              <a:gd name="csY4" fmla="*/ 0 h 1024128"/>
              <a:gd name="csX5" fmla="*/ 1638300 w 1965960"/>
              <a:gd name="csY5" fmla="*/ 0 h 1024128"/>
              <a:gd name="csX6" fmla="*/ 1965960 w 1965960"/>
              <a:gd name="csY6" fmla="*/ 0 h 1024128"/>
              <a:gd name="csX7" fmla="*/ 1965960 w 1965960"/>
              <a:gd name="csY7" fmla="*/ 341376 h 1024128"/>
              <a:gd name="csX8" fmla="*/ 1965960 w 1965960"/>
              <a:gd name="csY8" fmla="*/ 682752 h 1024128"/>
              <a:gd name="csX9" fmla="*/ 1965960 w 1965960"/>
              <a:gd name="csY9" fmla="*/ 1024128 h 1024128"/>
              <a:gd name="csX10" fmla="*/ 1638300 w 1965960"/>
              <a:gd name="csY10" fmla="*/ 1024128 h 1024128"/>
              <a:gd name="csX11" fmla="*/ 1310640 w 1965960"/>
              <a:gd name="csY11" fmla="*/ 1024128 h 1024128"/>
              <a:gd name="csX12" fmla="*/ 982980 w 1965960"/>
              <a:gd name="csY12" fmla="*/ 1024128 h 1024128"/>
              <a:gd name="csX13" fmla="*/ 655320 w 1965960"/>
              <a:gd name="csY13" fmla="*/ 1024128 h 1024128"/>
              <a:gd name="csX14" fmla="*/ 327660 w 1965960"/>
              <a:gd name="csY14" fmla="*/ 1024128 h 1024128"/>
              <a:gd name="csX15" fmla="*/ 0 w 1965960"/>
              <a:gd name="csY15" fmla="*/ 1024128 h 1024128"/>
              <a:gd name="csX16" fmla="*/ 0 w 1965960"/>
              <a:gd name="csY16" fmla="*/ 682752 h 1024128"/>
              <a:gd name="csX17" fmla="*/ 0 w 1965960"/>
              <a:gd name="csY17" fmla="*/ 341376 h 1024128"/>
              <a:gd name="csX18" fmla="*/ 0 w 1965960"/>
              <a:gd name="csY18" fmla="*/ 0 h 1024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965960" h="1024128" extrusionOk="0">
                <a:moveTo>
                  <a:pt x="0" y="0"/>
                </a:moveTo>
                <a:cubicBezTo>
                  <a:pt x="119183" y="-2801"/>
                  <a:pt x="216444" y="17549"/>
                  <a:pt x="327660" y="0"/>
                </a:cubicBezTo>
                <a:cubicBezTo>
                  <a:pt x="422197" y="-21558"/>
                  <a:pt x="516865" y="-26232"/>
                  <a:pt x="655320" y="0"/>
                </a:cubicBezTo>
                <a:cubicBezTo>
                  <a:pt x="765811" y="-169"/>
                  <a:pt x="892619" y="-46123"/>
                  <a:pt x="982980" y="0"/>
                </a:cubicBezTo>
                <a:cubicBezTo>
                  <a:pt x="1094111" y="11880"/>
                  <a:pt x="1210427" y="37475"/>
                  <a:pt x="1310640" y="0"/>
                </a:cubicBezTo>
                <a:cubicBezTo>
                  <a:pt x="1421580" y="-4600"/>
                  <a:pt x="1523336" y="-10851"/>
                  <a:pt x="1638300" y="0"/>
                </a:cubicBezTo>
                <a:cubicBezTo>
                  <a:pt x="1775856" y="-11334"/>
                  <a:pt x="1856169" y="2141"/>
                  <a:pt x="1965960" y="0"/>
                </a:cubicBezTo>
                <a:cubicBezTo>
                  <a:pt x="1931076" y="108221"/>
                  <a:pt x="1994312" y="226291"/>
                  <a:pt x="1965960" y="341376"/>
                </a:cubicBezTo>
                <a:cubicBezTo>
                  <a:pt x="1955683" y="450595"/>
                  <a:pt x="1973107" y="574492"/>
                  <a:pt x="1965960" y="682752"/>
                </a:cubicBezTo>
                <a:cubicBezTo>
                  <a:pt x="1951403" y="783712"/>
                  <a:pt x="1974136" y="913557"/>
                  <a:pt x="1965960" y="1024128"/>
                </a:cubicBezTo>
                <a:cubicBezTo>
                  <a:pt x="1865130" y="1046617"/>
                  <a:pt x="1770457" y="1030261"/>
                  <a:pt x="1638300" y="1024128"/>
                </a:cubicBezTo>
                <a:cubicBezTo>
                  <a:pt x="1544580" y="994089"/>
                  <a:pt x="1440625" y="1030269"/>
                  <a:pt x="1310640" y="1024128"/>
                </a:cubicBezTo>
                <a:cubicBezTo>
                  <a:pt x="1183298" y="996369"/>
                  <a:pt x="1061799" y="1043216"/>
                  <a:pt x="982980" y="1024128"/>
                </a:cubicBezTo>
                <a:cubicBezTo>
                  <a:pt x="868668" y="1041695"/>
                  <a:pt x="764048" y="997613"/>
                  <a:pt x="655320" y="1024128"/>
                </a:cubicBezTo>
                <a:cubicBezTo>
                  <a:pt x="560851" y="984401"/>
                  <a:pt x="441949" y="1025975"/>
                  <a:pt x="327660" y="1024128"/>
                </a:cubicBezTo>
                <a:cubicBezTo>
                  <a:pt x="214592" y="979741"/>
                  <a:pt x="107559" y="1008274"/>
                  <a:pt x="0" y="1024128"/>
                </a:cubicBezTo>
                <a:cubicBezTo>
                  <a:pt x="-39172" y="914849"/>
                  <a:pt x="1956" y="810987"/>
                  <a:pt x="0" y="682752"/>
                </a:cubicBezTo>
                <a:cubicBezTo>
                  <a:pt x="-19884" y="560144"/>
                  <a:pt x="-35130" y="433710"/>
                  <a:pt x="0" y="341376"/>
                </a:cubicBezTo>
                <a:cubicBezTo>
                  <a:pt x="31449" y="232022"/>
                  <a:pt x="1735" y="134563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101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965960" h="1024128">
                        <a:moveTo>
                          <a:pt x="0" y="0"/>
                        </a:moveTo>
                        <a:cubicBezTo>
                          <a:pt x="109220" y="10086"/>
                          <a:pt x="218440" y="21029"/>
                          <a:pt x="327660" y="0"/>
                        </a:cubicBezTo>
                        <a:cubicBezTo>
                          <a:pt x="436880" y="-14923"/>
                          <a:pt x="546100" y="-24584"/>
                          <a:pt x="655320" y="0"/>
                        </a:cubicBezTo>
                        <a:cubicBezTo>
                          <a:pt x="764540" y="-3878"/>
                          <a:pt x="873760" y="-19797"/>
                          <a:pt x="982980" y="0"/>
                        </a:cubicBezTo>
                        <a:cubicBezTo>
                          <a:pt x="1092200" y="-3730"/>
                          <a:pt x="1201420" y="13497"/>
                          <a:pt x="1310640" y="0"/>
                        </a:cubicBezTo>
                        <a:cubicBezTo>
                          <a:pt x="1419860" y="-17439"/>
                          <a:pt x="1529080" y="19697"/>
                          <a:pt x="1638300" y="0"/>
                        </a:cubicBezTo>
                        <a:cubicBezTo>
                          <a:pt x="1747520" y="583"/>
                          <a:pt x="1856740" y="319"/>
                          <a:pt x="1965960" y="0"/>
                        </a:cubicBezTo>
                        <a:cubicBezTo>
                          <a:pt x="1935440" y="113792"/>
                          <a:pt x="1961318" y="227584"/>
                          <a:pt x="1965960" y="341376"/>
                        </a:cubicBezTo>
                        <a:cubicBezTo>
                          <a:pt x="1987704" y="455168"/>
                          <a:pt x="1967339" y="568960"/>
                          <a:pt x="1965960" y="682752"/>
                        </a:cubicBezTo>
                        <a:cubicBezTo>
                          <a:pt x="1949336" y="796544"/>
                          <a:pt x="1974050" y="910336"/>
                          <a:pt x="1965960" y="1024128"/>
                        </a:cubicBezTo>
                        <a:cubicBezTo>
                          <a:pt x="1856740" y="1049112"/>
                          <a:pt x="1747520" y="1022504"/>
                          <a:pt x="1638300" y="1024128"/>
                        </a:cubicBezTo>
                        <a:cubicBezTo>
                          <a:pt x="1529080" y="1021055"/>
                          <a:pt x="1419860" y="1036782"/>
                          <a:pt x="1310640" y="1024128"/>
                        </a:cubicBezTo>
                        <a:cubicBezTo>
                          <a:pt x="1201420" y="1011922"/>
                          <a:pt x="1092200" y="1044873"/>
                          <a:pt x="982980" y="1024128"/>
                        </a:cubicBezTo>
                        <a:cubicBezTo>
                          <a:pt x="873760" y="1023813"/>
                          <a:pt x="764540" y="999970"/>
                          <a:pt x="655320" y="1024128"/>
                        </a:cubicBezTo>
                        <a:cubicBezTo>
                          <a:pt x="546100" y="994725"/>
                          <a:pt x="436880" y="1007184"/>
                          <a:pt x="327660" y="1024128"/>
                        </a:cubicBezTo>
                        <a:cubicBezTo>
                          <a:pt x="218440" y="994701"/>
                          <a:pt x="109220" y="1010318"/>
                          <a:pt x="0" y="1024128"/>
                        </a:cubicBezTo>
                        <a:cubicBezTo>
                          <a:pt x="-19000" y="910336"/>
                          <a:pt x="-4096" y="796544"/>
                          <a:pt x="0" y="682752"/>
                        </a:cubicBezTo>
                        <a:cubicBezTo>
                          <a:pt x="12304" y="568960"/>
                          <a:pt x="-29693" y="455168"/>
                          <a:pt x="0" y="341376"/>
                        </a:cubicBezTo>
                        <a:cubicBezTo>
                          <a:pt x="21999" y="227584"/>
                          <a:pt x="26193" y="11379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" name="Tools list"/>
          <p:cNvSpPr txBox="1"/>
          <p:nvPr/>
        </p:nvSpPr>
        <p:spPr>
          <a:xfrm>
            <a:off x="8842248" y="4187952"/>
            <a:ext cx="182880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search_trails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get_weather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get_trail_conditions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check_campsites</a:t>
            </a:r>
          </a:p>
          <a:p>
            <a:pPr algn="l">
              <a:lnSpc>
                <a:spcPct val="90000"/>
              </a:lnSpc>
            </a:pP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request_permit</a:t>
            </a:r>
          </a:p>
        </p:txBody>
      </p:sp>
      <p:sp>
        <p:nvSpPr>
          <p:cNvPr id="124" name="Tools label"/>
          <p:cNvSpPr txBox="1"/>
          <p:nvPr/>
        </p:nvSpPr>
        <p:spPr>
          <a:xfrm>
            <a:off x="8732520" y="5184648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Tools (your code)</a:t>
            </a:r>
          </a:p>
        </p:txBody>
      </p:sp>
      <p:sp>
        <p:nvSpPr>
          <p:cNvPr id="12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the tool</a:t>
            </a:r>
          </a:p>
        </p:txBody>
      </p:sp>
      <p:sp>
        <p:nvSpPr>
          <p:cNvPr id="126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messages += result</a:t>
            </a:r>
          </a:p>
        </p:txBody>
      </p:sp>
      <p:sp>
        <p:nvSpPr>
          <p:cNvPr id="127" name="Result"/>
          <p:cNvSpPr txBox="1"/>
          <p:nvPr/>
        </p:nvSpPr>
        <p:spPr>
          <a:xfrm>
            <a:off x="6720840" y="49834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[{"id":"trail-0003",…}]</a:t>
            </a:r>
          </a:p>
        </p:txBody>
      </p:sp>
      <p:sp>
        <p:nvSpPr>
          <p:cNvPr id="128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72C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loop ≤ 12 steps</a:t>
            </a:r>
          </a:p>
        </p:txBody>
      </p:sp>
      <p:sp>
        <p:nvSpPr>
          <p:cNvPr id="129" name="App line 3"/>
          <p:cNvSpPr txBox="1"/>
          <p:nvPr/>
        </p:nvSpPr>
        <p:spPr>
          <a:xfrm>
            <a:off x="4878638" y="4566178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permit → ask first</a:t>
            </a:r>
          </a:p>
        </p:txBody>
      </p:sp>
      <p:sp>
        <p:nvSpPr>
          <p:cNvPr id="130" name="Left result"/>
          <p:cNvSpPr txBox="1"/>
          <p:nvPr/>
        </p:nvSpPr>
        <p:spPr>
          <a:xfrm>
            <a:off x="2651760" y="3793071"/>
            <a:ext cx="214884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3-day itinerary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full trace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(11 tool calls)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F10 Agentic Workflows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4: ~45 Minutes · Everyone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400">
                <a:latin typeface="Consolas"/>
              </a:rPr>
              <a:t>modules/M4-doing/F10-agentic-workflows/</a:t>
            </a:r>
          </a:p>
          <a:p>
            <a:r>
              <a:rPr sz="2400">
                <a:latin typeface="Consolas"/>
              </a:rPr>
              <a:t>dotnet/</a:t>
            </a:r>
            <a:r>
              <a:rPr sz="2400"/>
              <a:t> · </a:t>
            </a:r>
            <a:r>
              <a:rPr sz="2400">
                <a:latin typeface="Consolas"/>
              </a:rPr>
              <a:t>python/</a:t>
            </a:r>
            <a:r>
              <a:rPr sz="2400"/>
              <a:t> · </a:t>
            </a:r>
            <a:r>
              <a:rPr sz="2400">
                <a:latin typeface="Consolas"/>
              </a:rPr>
              <a:t>typescript/</a:t>
            </a:r>
            <a:r>
              <a:rPr sz="2400"/>
              <a:t>: </a:t>
            </a:r>
            <a:r>
              <a:rPr sz="2400" b="1"/>
              <a:t>you are the loop</a:t>
            </a:r>
          </a:p>
          <a:p>
            <a:r>
              <a:rPr sz="2400"/>
              <a:t>Steps 1 and 2: two tools and the round-trip loop</a:t>
            </a:r>
          </a:p>
          <a:p>
            <a:r>
              <a:rPr sz="2400"/>
              <a:t>Step 3: add </a:t>
            </a:r>
            <a:r>
              <a:rPr sz="2400">
                <a:latin typeface="Consolas"/>
              </a:rPr>
              <a:t>get_weather</a:t>
            </a:r>
            <a:r>
              <a:rPr sz="2400"/>
              <a:t>, do something about the 16th</a:t>
            </a:r>
          </a:p>
          <a:p>
            <a:r>
              <a:rPr sz="2400"/>
              <a:t>Step 4: </a:t>
            </a:r>
            <a:r>
              <a:rPr sz="2400">
                <a:latin typeface="Consolas"/>
              </a:rPr>
              <a:t>trail-0117</a:t>
            </a:r>
            <a:r>
              <a:rPr sz="2400"/>
              <a:t>, dropped for a tool-given reason</a:t>
            </a:r>
          </a:p>
          <a:p>
            <a:r>
              <a:rPr sz="2400"/>
              <a:t>Stretch: the human gate before </a:t>
            </a:r>
            <a:r>
              <a:rPr sz="2400">
                <a:latin typeface="Consolas"/>
              </a:rPr>
              <a:t>request_permit</a:t>
            </a:r>
          </a:p>
          <a:p>
            <a:r>
              <a:rPr sz="2400">
                <a:latin typeface="Consolas"/>
              </a:rPr>
              <a:t>reference-transcript.md</a:t>
            </a:r>
            <a:r>
              <a:rPr sz="2400"/>
              <a:t> when it goes sideways. It will.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"Users state the goal in one sentence, the software does the clicking, and a human still signs off on anything that matters."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"Users state the goal in one sentence, the software does the clicking, and a human still signs off on anything that matters."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Hard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4: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endParaRPr/>
          </a:p>
          <a:p>
            <a:r>
              <a:rPr sz="2800"/>
              <a:t>How'd it go?				  Observations?			      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98555</TotalTime>
  <Words>1721</Words>
  <Application>Microsoft Macintosh PowerPoint</Application>
  <PresentationFormat>Widescreen</PresentationFormat>
  <Paragraphs>174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Calibri Light</vt:lpstr>
      <vt:lpstr>Ink Free</vt:lpstr>
      <vt:lpstr>Calibri</vt:lpstr>
      <vt:lpstr>Segoe UI</vt:lpstr>
      <vt:lpstr>Consolas</vt:lpstr>
      <vt:lpstr>Arial</vt:lpstr>
      <vt:lpstr>Metropolitan</vt:lpstr>
      <vt:lpstr>Building Pragmatic AI</vt:lpstr>
      <vt:lpstr>This Module</vt:lpstr>
      <vt:lpstr>PowerPoint Presentation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F10 · How the Loop Works</vt:lpstr>
      <vt:lpstr>PowerPoint Presentation</vt:lpstr>
      <vt:lpstr>Lab 4: ~45 Minutes · Everyone</vt:lpstr>
      <vt:lpstr>F10 · Agentic Workflows · Leadership Card</vt:lpstr>
      <vt:lpstr>F10 · Agentic Workflows · Leadership Card</vt:lpstr>
      <vt:lpstr>F10 · Agentic Workflows · Leadership Card</vt:lpstr>
      <vt:lpstr>Lab 4: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2026-09-21T20:25:07Z</dcterms:modified>
  <cp:category/>
</cp:coreProperties>
</file>