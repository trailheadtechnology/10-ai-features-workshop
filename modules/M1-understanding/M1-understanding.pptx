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7"/>
  </p:notesMasterIdLst>
  <p:sldIdLst>
    <p:sldId id="576" r:id="rId2"/>
    <p:sldId id="579" r:id="rId3"/>
    <p:sldId id="608" r:id="rId4"/>
    <p:sldId id="609" r:id="rId5"/>
    <p:sldId id="580" r:id="rId6"/>
    <p:sldId id="610" r:id="rId7"/>
    <p:sldId id="614" r:id="rId51"/>
    <p:sldId id="615" r:id="rId52"/>
    <p:sldId id="616" r:id="rId53"/>
    <p:sldId id="617" r:id="rId54"/>
    <p:sldId id="618" r:id="rId55"/>
    <p:sldId id="619" r:id="rId56"/>
    <p:sldId id="620" r:id="rId57"/>
    <p:sldId id="581" r:id="rId8"/>
    <p:sldId id="582" r:id="rId9"/>
    <p:sldId id="583" r:id="rId10"/>
    <p:sldId id="584" r:id="rId11"/>
    <p:sldId id="613" r:id="rId12"/>
    <p:sldId id="586" r:id="rId13"/>
    <p:sldId id="611" r:id="rId14"/>
    <p:sldId id="587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6" r:id="rId24"/>
    <p:sldId id="597" r:id="rId25"/>
    <p:sldId id="598" r:id="rId26"/>
    <p:sldId id="599" r:id="rId27"/>
    <p:sldId id="600" r:id="rId28"/>
    <p:sldId id="612" r:id="rId29"/>
    <p:sldId id="621" r:id="rId58"/>
    <p:sldId id="622" r:id="rId59"/>
    <p:sldId id="623" r:id="rId60"/>
    <p:sldId id="624" r:id="rId61"/>
    <p:sldId id="625" r:id="rId62"/>
    <p:sldId id="626" r:id="rId63"/>
    <p:sldId id="627" r:id="rId64"/>
    <p:sldId id="628" r:id="rId65"/>
    <p:sldId id="601" r:id="rId30"/>
    <p:sldId id="602" r:id="rId31"/>
    <p:sldId id="603" r:id="rId32"/>
    <p:sldId id="604" r:id="rId33"/>
    <p:sldId id="605" r:id="rId34"/>
    <p:sldId id="606" r:id="rId35"/>
    <p:sldId id="607" r:id="rId36"/>
  </p:sldIdLst>
  <p:sldSz cx="12192000" cy="6858000"/>
  <p:notesSz cx="6858000" cy="9144000"/>
  <p:embeddedFontLs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Segoe UI" panose="020B0502040204020203" pitchFamily="34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1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576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7T11:47:03.849" v="1097" actId="20577"/>
      <pc:docMkLst>
        <pc:docMk/>
      </pc:docMkLst>
      <pc:sldChg chg="modSp mod">
        <pc:chgData name="J. Tower" userId="9d06de10716639e5" providerId="LiveId" clId="{F8931099-75CA-5660-A155-55881DF68D84}" dt="2026-09-03T19:08:53.270" v="1086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3T19:08:53.270" v="1086" actId="27636"/>
          <ac:spMkLst>
            <pc:docMk/>
            <pc:sldMk cId="0" sldId="576"/>
            <ac:spMk id="3" creationId="{00000000-0000-0000-0000-000000000000}"/>
          </ac:spMkLst>
        </pc:spChg>
      </pc:sldChg>
      <pc:sldChg chg="delSp modSp mod">
        <pc:chgData name="J. Tower" userId="9d06de10716639e5" providerId="LiveId" clId="{F8931099-75CA-5660-A155-55881DF68D84}" dt="2026-09-01T19:23:57.043" v="1004" actId="478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01T19:23:55.310" v="1003" actId="1076"/>
          <ac:spMkLst>
            <pc:docMk/>
            <pc:sldMk cId="0" sldId="579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1T19:23:40.416" v="994" actId="1076"/>
          <ac:spMkLst>
            <pc:docMk/>
            <pc:sldMk cId="0" sldId="579"/>
            <ac:spMk id="4" creationId="{00000000-0000-0000-0000-000000000000}"/>
          </ac:spMkLst>
        </pc:spChg>
        <pc:picChg chg="mod">
          <ac:chgData name="J. Tower" userId="9d06de10716639e5" providerId="LiveId" clId="{F8931099-75CA-5660-A155-55881DF68D84}" dt="2026-09-01T19:23:40.416" v="994" actId="1076"/>
          <ac:picMkLst>
            <pc:docMk/>
            <pc:sldMk cId="0" sldId="579"/>
            <ac:picMk id="3" creationId="{00000000-0000-0000-0000-000000000000}"/>
          </ac:picMkLst>
        </pc:picChg>
      </pc:sldChg>
      <pc:sldChg chg="modSp mod">
        <pc:chgData name="J. Tower" userId="9d06de10716639e5" providerId="LiveId" clId="{F8931099-75CA-5660-A155-55881DF68D84}" dt="2026-09-03T19:08:53.273" v="1087" actId="27636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03T19:08:53.273" v="1087" actId="27636"/>
          <ac:spMkLst>
            <pc:docMk/>
            <pc:sldMk cId="0" sldId="58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08:53.249" v="1084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3T19:08:53.249" v="1084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9.344" v="1018" actId="403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01T19:24:59.344" v="1018" actId="403"/>
          <ac:spMkLst>
            <pc:docMk/>
            <pc:sldMk cId="0" sldId="59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6.945" v="1017" actId="403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01T19:24:56.945" v="1017" actId="403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3.935" v="1016" actId="403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1T19:24:53.935" v="1016" actId="403"/>
          <ac:spMkLst>
            <pc:docMk/>
            <pc:sldMk cId="0" sldId="594"/>
            <ac:spMk id="3" creationId="{00000000-0000-0000-0000-000000000000}"/>
          </ac:spMkLst>
        </pc:spChg>
      </pc:sldChg>
      <pc:sldChg chg="addSp modSp mod">
        <pc:chgData name="J. Tower" userId="9d06de10716639e5" providerId="LiveId" clId="{F8931099-75CA-5660-A155-55881DF68D84}" dt="2026-09-01T19:25:25.239" v="1032" actId="20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01T19:25:07.599" v="1019" actId="20577"/>
          <ac:spMkLst>
            <pc:docMk/>
            <pc:sldMk cId="0" sldId="599"/>
            <ac:spMk id="3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5" creationId="{00000000-0000-0000-0000-000000000000}"/>
          </ac:spMkLst>
        </pc:spChg>
        <pc:grpChg chg="add mod">
          <ac:chgData name="J. Tower" userId="9d06de10716639e5" providerId="LiveId" clId="{F8931099-75CA-5660-A155-55881DF68D84}" dt="2026-09-01T19:25:18.862" v="1031" actId="1036"/>
          <ac:grpSpMkLst>
            <pc:docMk/>
            <pc:sldMk cId="0" sldId="599"/>
            <ac:grpSpMk id="8" creationId="{A32D348E-9CDE-E27A-8ACA-9AFA1F7E58A9}"/>
          </ac:grpSpMkLst>
        </pc:grpChg>
      </pc:sldChg>
      <pc:sldChg chg="modSp mod">
        <pc:chgData name="J. Tower" userId="9d06de10716639e5" providerId="LiveId" clId="{F8931099-75CA-5660-A155-55881DF68D84}" dt="2026-09-03T19:08:53.260" v="1085" actId="27636"/>
        <pc:sldMkLst>
          <pc:docMk/>
          <pc:sldMk cId="0" sldId="600"/>
        </pc:sldMkLst>
        <pc:spChg chg="mod">
          <ac:chgData name="J. Tower" userId="9d06de10716639e5" providerId="LiveId" clId="{F8931099-75CA-5660-A155-55881DF68D84}" dt="2026-09-03T19:08:53.260" v="1085" actId="27636"/>
          <ac:spMkLst>
            <pc:docMk/>
            <pc:sldMk cId="0" sldId="60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35.687" v="1033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9-01T19:25:35.687" v="1033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1:47:03.849" v="1097" actId="20577"/>
        <pc:sldMkLst>
          <pc:docMk/>
          <pc:sldMk cId="0" sldId="606"/>
        </pc:sldMkLst>
        <pc:spChg chg="mod">
          <ac:chgData name="J. Tower" userId="9d06de10716639e5" providerId="LiveId" clId="{F8931099-75CA-5660-A155-55881DF68D84}" dt="2026-09-17T11:47:03.849" v="1097" actId="20577"/>
          <ac:spMkLst>
            <pc:docMk/>
            <pc:sldMk cId="0" sldId="60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7:00.215" v="1077" actId="20577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9-01T19:27:00.215" v="1077" actId="20577"/>
          <ac:spMkLst>
            <pc:docMk/>
            <pc:sldMk cId="0" sldId="607"/>
            <ac:spMk id="3" creationId="{00000000-0000-0000-0000-000000000000}"/>
          </ac:spMkLst>
        </pc:spChg>
      </pc:sldChg>
      <pc:sldChg chg="addSp delSp add mod">
        <pc:chgData name="J. Tower" userId="9d06de10716639e5" providerId="LiveId" clId="{F8931099-75CA-5660-A155-55881DF68D84}" dt="2026-09-01T19:24:37.019" v="1009" actId="478"/>
        <pc:sldMkLst>
          <pc:docMk/>
          <pc:sldMk cId="2827037887" sldId="608"/>
        </pc:sldMkLst>
      </pc:sldChg>
      <pc:sldChg chg="add">
        <pc:chgData name="J. Tower" userId="9d06de10716639e5" providerId="LiveId" clId="{F8931099-75CA-5660-A155-55881DF68D84}" dt="2026-09-01T19:23:52.899" v="1001" actId="2890"/>
        <pc:sldMkLst>
          <pc:docMk/>
          <pc:sldMk cId="640487153" sldId="609"/>
        </pc:sldMkLst>
      </pc:sldChg>
      <pc:sldChg chg="modSp mod">
        <pc:chgData name="J. Tower" userId="9d06de10716639e5" providerId="LiveId" clId="{F8931099-75CA-5660-A155-55881DF68D84}" dt="2026-09-03T18:41:29.167" v="1078" actId="20577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03T18:41:29.167" v="1078" actId="20577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14:50.590" v="1091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19:14:50.590" v="1091" actId="20577"/>
          <ac:spMkLst>
            <pc:docMk/>
            <pc:sldMk cId="0" sldId="611"/>
            <ac:spMk id="3" creationId="{00000000-0000-0000-0000-000000000000}"/>
          </ac:spMkLst>
        </pc:spChg>
      </pc:sldChg>
      <pc:sldChg chg="addSp modSp add mod">
        <pc:chgData name="J. Tower" userId="9d06de10716639e5" providerId="LiveId" clId="{F8931099-75CA-5660-A155-55881DF68D84}" dt="2026-09-03T19:08:58.611" v="1089"/>
        <pc:sldMkLst>
          <pc:docMk/>
          <pc:sldMk cId="4155427989" sldId="613"/>
        </pc:sldMkLst>
        <pc:spChg chg="mod">
          <ac:chgData name="J. Tower" userId="9d06de10716639e5" providerId="LiveId" clId="{F8931099-75CA-5660-A155-55881DF68D84}" dt="2026-09-03T19:08:53.230" v="1083"/>
          <ac:spMkLst>
            <pc:docMk/>
            <pc:sldMk cId="4155427989" sldId="613"/>
            <ac:spMk id="3" creationId="{53AA7B6A-70F0-B6ED-7F8B-CFDD9B0C5D16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4" creationId="{B1E8BDC2-EDF4-3F70-F39F-5D43BC13C20A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5" creationId="{CAF20ED4-4633-3742-5916-E3B2624E2928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6" creationId="{1D0D4B1B-DE8A-C911-7CFB-36A2E19A9B00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7" creationId="{4BA60149-5DC8-C3A6-7EF7-64310D95CD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Making sense of messy content, and everything runs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model call + one careful instruction; the rhythm is three demos, then your lab hour.</a:t>
            </a:r>
          </a:p>
          <a:p>
            <a:r>
              <a:t>Three features, one shape: a single chat call and a carefully written instruction. No vector database, no training, no cloud.</a:t>
            </a:r>
          </a:p>
          <a:p>
            <a:r>
              <a:t>01: forty trip reports become a three-bullet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1C57-D4F0-784A-B0D2-BEE50986F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AA896-E5BD-CA2E-185F-689CB20D5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F9161-2B3E-0ECF-3F54-0A5C84CC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02: the same prose becomes a database row, and your code decides whether to believe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20304-6689-AA14-03DB-927190574A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598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D446-9803-B8AB-5D32-53C6D5B0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86179-AE5E-6489-61D9-E8C706316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0BFE6-59F1-6E21-7E10-1E6342E00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03: three hundred reviews get a label, and you measure which model deserves the money.</a:t>
            </a:r>
          </a:p>
          <a:p>
            <a:r>
              <a:t>The thread to watch all module: asked for something it cannot find, a model supplies something plausible rather than nothing. 01 invents a closure, 02 invents a distance, 03 believes the sarcasm. A better model does not fix it; a tighter instruction, a null-able schema, and checking code do.</a:t>
            </a:r>
          </a:p>
          <a:p>
            <a:r>
              <a:t>Set the rhythm expectation out loud: three quick demos with a card for your boss after each, then the room builds for an hour: 01 recommended, 02 and 03 for anyone with time left.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822126-9133-2E65-D54B-DC8BD8A4F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4902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 over this slide, 60 seconds: forty trip reports for Avalanche Lake Trail, 1,200 words each. Somewhere in there: is the bridge out, and are the mosquitoes bad? Nobody reads forty essays; they skim three and miss the warning in the fourth. The hiker at mile two from the opening story is this feature's user.</a:t>
            </a:r>
          </a:p>
          <a:p>
            <a:r>
              <a:t>The concept needs no slide: one chat call, a document, an instruction. "Summarize this" produces a book report; a real product asks for a summary with a purpose and a shape. The demo shows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automatic summarization produces a shorter text that keeps the key information of the source.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~6 min · </a:t>
            </a:r>
            <a:r>
              <a:rPr>
                <a:latin typeface="Consolas"/>
              </a:rPr>
              <a:t>cd modules/M1-understanding/F01-summarization/dotnet</a:t>
            </a:r>
          </a:p>
          <a:p>
            <a:r>
              <a:t>Files: </a:t>
            </a:r>
            <a:r>
              <a:rPr>
                <a:latin typeface="Consolas"/>
              </a:rPr>
              <a:t>tr-0004.md</a:t>
            </a:r>
            <a:r>
              <a:t> = the story's report, bridge buried mid-text · </a:t>
            </a:r>
            <a:r>
              <a:rPr>
                <a:latin typeface="Consolas"/>
              </a:rPr>
              <a:t>tr-0001.md</a:t>
            </a:r>
            <a:r>
              <a:t> = clean report, nothing closed (hallucination bait)</a:t>
            </a:r>
          </a:p>
          <a:p>
            <a:r>
              <a:t>Flags: none = naive "Summarize this" · </a:t>
            </a:r>
            <a:r>
              <a:rPr>
                <a:latin typeface="Consolas"/>
              </a:rPr>
              <a:t>--briefing</a:t>
            </a:r>
            <a:r>
              <a:t> = 3 hiker bullets · </a:t>
            </a:r>
            <a:r>
              <a:rPr>
                <a:latin typeface="Consolas"/>
              </a:rPr>
              <a:t>--headline</a:t>
            </a:r>
            <a:r>
              <a:t> = one-line trail card · </a:t>
            </a:r>
            <a:r>
              <a:rPr>
                <a:latin typeface="Consolas"/>
              </a:rPr>
              <a:t>--audience ranger</a:t>
            </a:r>
            <a:r>
              <a:t> = same report, different reader</a:t>
            </a:r>
          </a:p>
          <a:p>
            <a:r>
              <a:t>1. Open </a:t>
            </a:r>
            <a:r>
              <a:rPr>
                <a:latin typeface="Consolas"/>
              </a:rPr>
              <a:t>data/tr-0004.md</a:t>
            </a:r>
            <a:r>
              <a:t>, scroll. The bridge is one sentence, mid-report.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../../data/tr-0004.md</a:t>
            </a:r>
            <a:r>
              <a:t>. Book report. Right model, wrong instruction.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--briefing</a:t>
            </a:r>
            <a:r>
              <a:t>. Same report, three bullets, washout leads. Show the prompt.</a:t>
            </a:r>
          </a:p>
          <a:p>
            <a:r>
              <a:t>4. </a:t>
            </a:r>
            <a:r>
              <a:rPr>
                <a:latin typeface="Consolas"/>
              </a:rPr>
              <a:t>dotnet run -- --briefing ../../data/tr-0001.md</a:t>
            </a:r>
            <a:r>
              <a:t>: the clean report, nothing closed. Last two prompt lines: 11 of 24 became 1 of 24.</a:t>
            </a:r>
          </a:p>
          <a:p>
            <a:r>
              <a:t>5. </a:t>
            </a:r>
            <a:r>
              <a:rPr>
                <a:latin typeface="Consolas"/>
              </a:rPr>
              <a:t>dotnet run -- --headline</a:t>
            </a:r>
            <a:r>
              <a:t>: one line for a card.</a:t>
            </a:r>
          </a:p>
          <a:p>
            <a:r>
              <a:t>6. Line 11: </a:t>
            </a:r>
            <a:r>
              <a:rPr>
                <a:latin typeface="Consolas"/>
              </a:rPr>
              <a:t>localhost:11434</a:t>
            </a:r>
            <a:r>
              <a:t>. No key, nothing left the room.</a:t>
            </a:r>
          </a:p>
          <a:p>
            <a:r>
              <a:t>Cut: 5, then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tickets, reports, meeting notes, threads. One call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AA14-0B22-1FF2-8EE2-38F9AB04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D2D40-6F61-708C-A418-803329477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3CD7-0C20-33CD-C4F0-5746E87039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EB8C3-503B-9049-7658-CCB7B6059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90145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Trailhead wants a "trail stats" panel: which trails, when, how far, what wildlife, what condition. All of it exists as prose across the forty reports, and today a human would re-read and re-type it. So the panel doesn't exist.</a:t>
            </a:r>
          </a:p>
          <a:p>
            <a:r>
              <a:t>This one gets the module's one concept slide, because the pipeline, and where it lies to you,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information extraction turns unstructured text into structured data. JSON mode guarantees the shape; it does not guarantee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input is prose: tr-0011, the fact-sparse report. No trail name, no date, no mileage.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reads it. Prose in; the goal is a database row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local model as 01: llama3.2 on Ollama.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request carries the schema: fields, types, descriptions, and "null when absent."</a:t>
            </a:r>
          </a:p>
          <a:p>
            <a:r>
              <a:rPr lang="en-US" dirty="0"/>
              <a:t>JSON mode guarantees syntax, not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comes valid JSON. Nulls where the report is silent: good.</a:t>
            </a:r>
          </a:p>
          <a:p>
            <a:r>
              <a:rPr lang="en-US" dirty="0"/>
              <a:t>And elevation_gain_ft: 0. Zero is a value; nothing downstream will question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 the app validates: plain code, one rule per field. Zero, negatives, unparseable dates: rejected.</a:t>
            </a:r>
          </a:p>
          <a:p>
            <a:r>
              <a:rPr lang="en-US" dirty="0"/>
              <a:t>This is the box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passes gets stored. The rejected field is stored as null, not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fails gets logged. A rejected record is a good outcome; it is the pipeline telling you the truth.</a:t>
            </a:r>
          </a:p>
          <a:p>
            <a:r>
              <a:rPr lang="en-US" dirty="0"/>
              <a:t>The model writes JSON; your code decides whether to believe it.</a:t>
            </a:r>
          </a:p>
          <a:p>
            <a:r>
              <a:rPr lang="en-US" dirty="0"/>
              <a:t>The null rule and the validator are the feature. Extraction without validation is a data-corruption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~6 min · </a:t>
            </a:r>
            <a:r>
              <a:rPr>
                <a:latin typeface="Consolas"/>
              </a:rPr>
              <a:t>cd modules/M1-understanding/F02-extraction/dotnet</a:t>
            </a:r>
          </a:p>
          <a:p>
            <a:r>
              <a:t>Files: </a:t>
            </a:r>
            <a:r>
              <a:rPr>
                <a:latin typeface="Consolas"/>
              </a:rPr>
              <a:t>tr-0007.md</a:t>
            </a:r>
            <a:r>
              <a:t> = full report, every field present · </a:t>
            </a:r>
            <a:r>
              <a:rPr>
                <a:latin typeface="Consolas"/>
              </a:rPr>
              <a:t>tr-0011.md</a:t>
            </a:r>
            <a:r>
              <a:t> = sparse report, no distance stated (the null test)</a:t>
            </a:r>
          </a:p>
          <a:p>
            <a:r>
              <a:t>Args: a report path; complete with no args runs both</a:t>
            </a:r>
          </a:p>
          <a:p>
            <a:r>
              <a:t>1. Same kind of report as 01. This time the goal is a database row.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../../data/tr-0007.md</a:t>
            </a:r>
            <a:r>
              <a:t>. JSON asked for in the prompt. Fences, preamble, drifting field names.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../../data/tr-0007.md</a:t>
            </a:r>
            <a:r>
              <a:t>. </a:t>
            </a:r>
            <a:r>
              <a:rPr>
                <a:latin typeface="Consolas"/>
              </a:rPr>
              <a:t>TripFacts</a:t>
            </a:r>
            <a:r>
              <a:t> record, typed response, no parsing.</a:t>
            </a:r>
          </a:p>
          <a:p>
            <a:r>
              <a:t>4. </a:t>
            </a:r>
            <a:r>
              <a:rPr>
                <a:latin typeface="Consolas"/>
              </a:rPr>
              <a:t>dotnet run -- ../../data/tr-0011.md</a:t>
            </a:r>
            <a:r>
              <a:t>, three times. Nulls where there is nothing, and watch what still slips.</a:t>
            </a:r>
          </a:p>
          <a:p>
            <a:r>
              <a:t>5. Point at the validator: PASS or REJECT. A rejected record is a good outcome.</a:t>
            </a:r>
          </a:p>
          <a:p>
            <a:r>
              <a:t>Cut: 4's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Invoices, resumes, support emails, contracts, legacy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a working pipeline; the real work is schema design and spot-checking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the Cascade 65 backpack has 300 reviews. Are people happy, and what are they mad about? Star ratings lie: "4 stars, but the hip belt broke on day two." The user here is the product team, not the hiker; track the signal weekly and a defect surfaces months before returns spike.</a:t>
            </a:r>
          </a:p>
          <a:p>
            <a:r>
              <a:t>No concept slide: this is classification, and the demo IS the lesson: the day's model-selection experiment. phi3 free and local vs gpt-4.1 on Azure, same prompt, and you measure instead of assume.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sentiment analysis identifies the emotional polarity of a piece of text. The stars lie; the words mostly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~6 min · </a:t>
            </a:r>
            <a:r>
              <a:rPr>
                <a:latin typeface="Consolas"/>
              </a:rPr>
              <a:t>cd modules/M1-understanding/F03-sentiment/dotnet</a:t>
            </a:r>
          </a:p>
          <a:p>
            <a:r>
              <a:t>Files: </a:t>
            </a:r>
            <a:r>
              <a:rPr>
                <a:latin typeface="Consolas"/>
              </a:rPr>
              <a:t>easy.jsonl</a:t>
            </a:r>
            <a:r>
              <a:t> = 10 plain reviews · </a:t>
            </a:r>
            <a:r>
              <a:rPr>
                <a:latin typeface="Consolas"/>
              </a:rPr>
              <a:t>hard.jsonl</a:t>
            </a:r>
            <a:r>
              <a:t> = 10 sarcastic or split reviews · </a:t>
            </a:r>
            <a:r>
              <a:rPr>
                <a:latin typeface="Consolas"/>
              </a:rPr>
              <a:t>reference-labels.json</a:t>
            </a:r>
            <a:r>
              <a:t> = the hand labels</a:t>
            </a:r>
          </a:p>
          <a:p>
            <a:r>
              <a:t>Flags: </a:t>
            </a:r>
            <a:r>
              <a:rPr>
                <a:latin typeface="Consolas"/>
              </a:rPr>
              <a:t>--easy</a:t>
            </a:r>
            <a:r>
              <a:t> / </a:t>
            </a:r>
            <a:r>
              <a:rPr>
                <a:latin typeface="Consolas"/>
              </a:rPr>
              <a:t>--hard</a:t>
            </a:r>
            <a:r>
              <a:t> = one set; none = both · starter takes a review id (default gr-0007, the sarcastic one)</a:t>
            </a:r>
          </a:p>
          <a:p>
            <a:r>
              <a:t>1. Open </a:t>
            </a:r>
            <a:r>
              <a:rPr>
                <a:latin typeface="Consolas"/>
              </a:rPr>
              <a:t>data/hard.jsonl</a:t>
            </a:r>
            <a:r>
              <a:t>. Find a two-star review with glowing text. Stars lie.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method, one label, gr-0007. Show the DI line: the swap is one line.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--easy</a:t>
            </a:r>
            <a:r>
              <a:t>. phi3 9/10, gpt-4.1 10/10. Paid for one review.</a:t>
            </a:r>
          </a:p>
          <a:p>
            <a:r>
              <a:t>4. </a:t>
            </a:r>
            <a:r>
              <a:rPr>
                <a:latin typeface="Consolas"/>
              </a:rPr>
              <a:t>dotnet run -- --hard</a:t>
            </a:r>
            <a:r>
              <a:t>: phi3 7/10, gpt-4.1 10/10. Diff on screen. Every miss goes the frontier model's way.</a:t>
            </a:r>
          </a:p>
          <a:p>
            <a:r>
              <a:t>5. The recipe: labeled sample, run both, count disagreements, price the errors.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NPS verbatims, tickets, mentions, survey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boss, and today you measured it. Row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the classifier is trivial, the diligence is a labeled sample and an error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01 regardless of experience: one endpoint, one prompt, two reports; everything else today assumes you've made one model call and seen what comes back. New to this? Budget the full time and do the stretch goal.</a:t>
            </a:r>
          </a:p>
          <a:p>
            <a:r>
              <a:t>Pick 03 if your question at work is "which model should we pay for"; its Azure half needs the room key. 02's done-check: the sparse report comes back with nulls and the validator says PASS/REJECT honestly.</a:t>
            </a:r>
          </a:p>
          <a:p>
            <a:r>
              <a:t>Finished everything? Help someone near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what surfaced the buried bridge, and what invented one? Rows 1-3 of the framework are done. Break, then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trip report: tr-0004, the story's report. The washed-out bridge is one sentence in paragraph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app reads the file: about 1,200 words of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model: llama3.2 on Ollama, on this laptop. No key, nothing leaves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call: an instruction with a purpose and a shape, then the whole report as a single user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 three bullets, and the bridge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puts them where the hiker will actually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Forty reports is forty calls, one per report. No pipeline, no vector database, no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gear review: gr-0004. Two stars, and the words say the pack deserves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sends one review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First model: phi3, 2 GB, local,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prompt asks for one word from three, then the review text. Temperature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phi3 says negative. It read the stars and the anger at the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prompt bytes to gpt-4.1 on Azure. It says mixed.</a:t>
            </a:r>
          </a:p>
          <a:p>
            <a:r>
              <a:rPr lang="en-US" dirty="0"/>
              <a:t>No key in the room? llama3.2 on Ollama stands in for the big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Twenty hand labels are the answer key. Label the sample yourself before you run anything; agreement between models is not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Score both. Hard set: phi3 7 of 10, gpt-4.1 10 of 10. Easy set: nine versus ten.</a:t>
            </a:r>
          </a:p>
          <a:p>
            <a:r>
              <a:rPr lang="en-US" dirty="0"/>
              <a:t>Easy reviews don't need the big model; the sarcastic slice does, and now you know which slice is which because you measured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1: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8EF1-FC1F-1E51-E85E-096AC0AE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9DFF-E376-1691-BA78-321906B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AAA59011-9D41-74E6-C483-CB29DE356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22ACB7-99F8-5F21-120A-8F3C4E96283C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F64D60FA-BDC7-2109-F12F-133236B8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8E200F-B618-BDA0-30EC-36CFB446252C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</p:spTree>
    <p:extLst>
      <p:ext uri="{BB962C8B-B14F-4D97-AF65-F5344CB8AC3E}">
        <p14:creationId xmlns:p14="http://schemas.microsoft.com/office/powerpoint/2010/main" val="2827037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60F1-572E-AB23-571E-25A035E3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0876-B1E3-8599-27BC-0AB31C65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BAD46C7-C860-D3AD-473E-AB1716295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4FC171-1A1D-238A-DF38-E03AA77AF6C0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38B55F1C-96F4-49E8-ECD1-B35D48AA0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7CCE9-5077-BE7D-04B0-D9D62C6BE775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>
            <a:extLst>
              <a:ext uri="{FF2B5EF4-FFF2-40B4-BE49-F238E27FC236}">
                <a16:creationId xmlns:a16="http://schemas.microsoft.com/office/drawing/2014/main" id="{4D49CBB8-25DB-DC0D-6E0B-5628A4361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025" y="299466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C42EA-DE8C-E539-F149-32B9C7A2202B}"/>
              </a:ext>
            </a:extLst>
          </p:cNvPr>
          <p:cNvSpPr txBox="1"/>
          <p:nvPr/>
        </p:nvSpPr>
        <p:spPr>
          <a:xfrm>
            <a:off x="8915945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5D44ABB-D58D-A62F-8586-591740F10B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8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F01 · Summarization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Turn a long document into the </a:t>
            </a:r>
            <a:br>
              <a:rPr lang="en-US" sz="4000" dirty="0"/>
            </a:br>
            <a:r>
              <a:rPr sz="4000" b="1" dirty="0">
                <a:solidFill>
                  <a:srgbClr val="017AB4"/>
                </a:solidFill>
              </a:rPr>
              <a:t>short version</a:t>
            </a:r>
            <a:r>
              <a:rPr sz="4000" dirty="0"/>
              <a:t> its reader needs.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F01 Summarization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 dirty="0"/>
              <a:t>The raw report first</a:t>
            </a:r>
          </a:p>
          <a:p>
            <a:r>
              <a:rPr sz="2800" dirty="0"/>
              <a:t>❌ Naive prompt: faithful, generic, useless</a:t>
            </a:r>
          </a:p>
          <a:p>
            <a:r>
              <a:rPr sz="2800" dirty="0"/>
              <a:t>✅ Purpose-built prompt: the bridge surfaces</a:t>
            </a:r>
          </a:p>
          <a:p>
            <a:r>
              <a:rPr sz="2800" dirty="0"/>
              <a:t>Grounding lines: without them, ~half of runs invent a closure</a:t>
            </a:r>
          </a:p>
          <a:p>
            <a:r>
              <a:rPr sz="2800" dirty="0"/>
              <a:t>Same call, new shape: a one-line trail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users are drowning in text we already have. A few hours of work turns it into automatic answers."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CDB7-CDC5-8161-1D68-1BCE57C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05BD6-CF58-50B1-1C59-69EB2C3D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A7B6A-70F0-B6ED-7F8B-CFDD9B0C5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users are drowning in text we already have. A few hours of work turns it into automatic answers."</a:t>
            </a:r>
            <a:endParaRPr lang="en-US" sz="2800" dirty="0"/>
          </a:p>
          <a:p>
            <a:pPr>
              <a:spcAft>
                <a:spcPts val="1400"/>
              </a:spcAft>
            </a:pPr>
            <a:endParaRPr lang="en-US" sz="2800" dirty="0"/>
          </a:p>
          <a:p>
            <a:pPr>
              <a:spcAft>
                <a:spcPts val="1400"/>
              </a:spcAft>
            </a:pPr>
            <a:r>
              <a:rPr lang="en-US" sz="2800" b="1" dirty="0"/>
              <a:t>Difficulty:</a:t>
            </a:r>
            <a:endParaRPr sz="28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E8BDC2-EDF4-3F70-F39F-5D43BC13C20A}"/>
              </a:ext>
            </a:extLst>
          </p:cNvPr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AF20ED4-4633-3742-5916-E3B2624E2928}"/>
              </a:ext>
            </a:extLst>
          </p:cNvPr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0D4B1B-DE8A-C911-7CFB-36A2E19A9B00}"/>
              </a:ext>
            </a:extLst>
          </p:cNvPr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60149-5DC8-C3A6-7EF7-64310D95CDE3}"/>
              </a:ext>
            </a:extLst>
          </p:cNvPr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15542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F02 · Extraction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Pull facts out of free-form text </a:t>
            </a:r>
            <a:endParaRPr lang="en-US" sz="4000" dirty="0"/>
          </a:p>
          <a:p>
            <a:pPr algn="ctr"/>
            <a:r>
              <a:rPr sz="4000" dirty="0"/>
              <a:t>into </a:t>
            </a:r>
            <a:r>
              <a:rPr sz="4000" b="1" dirty="0">
                <a:solidFill>
                  <a:srgbClr val="017AB4"/>
                </a:solidFill>
              </a:rPr>
              <a:t>fields your code can query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  <p:cxnSp>
        <p:nvCxnSpPr>
          <p:cNvPr id="141" name="App-Log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grpSp>
        <p:nvGrpSpPr>
          <p:cNvPr id="148" name="Reject log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2" name="Reject log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217" y="76333"/>
                    <a:pt x="22733" y="70667"/>
                    <a:pt x="23000" y="65000"/>
                  </a:cubicBezTo>
                  <a:cubicBezTo>
                    <a:pt x="22344" y="59333"/>
                    <a:pt x="23552" y="53667"/>
                    <a:pt x="23000" y="48000"/>
                  </a:cubicBezTo>
                  <a:cubicBezTo>
                    <a:pt x="23345" y="42333"/>
                    <a:pt x="23508" y="36667"/>
                    <a:pt x="23000" y="31000"/>
                  </a:cubicBezTo>
                  <a:cubicBezTo>
                    <a:pt x="22787" y="25333"/>
                    <a:pt x="23733" y="19667"/>
                    <a:pt x="23000" y="14000"/>
                  </a:cubicBezTo>
                  <a:cubicBezTo>
                    <a:pt x="31333" y="13434"/>
                    <a:pt x="39667" y="14012"/>
                    <a:pt x="48000" y="14000"/>
                  </a:cubicBezTo>
                  <a:cubicBezTo>
                    <a:pt x="48134" y="21000"/>
                    <a:pt x="47917" y="28000"/>
                    <a:pt x="48000" y="35000"/>
                  </a:cubicBezTo>
                  <a:cubicBezTo>
                    <a:pt x="56333" y="33916"/>
                    <a:pt x="64667" y="34099"/>
                    <a:pt x="73000" y="35000"/>
                  </a:cubicBezTo>
                  <a:cubicBezTo>
                    <a:pt x="72775" y="42833"/>
                    <a:pt x="73301" y="50667"/>
                    <a:pt x="73000" y="58500"/>
                  </a:cubicBezTo>
                  <a:cubicBezTo>
                    <a:pt x="74013" y="66333"/>
                    <a:pt x="72300" y="74167"/>
                    <a:pt x="73000" y="82000"/>
                  </a:cubicBezTo>
                  <a:cubicBezTo>
                    <a:pt x="67444" y="81521"/>
                    <a:pt x="61889" y="81646"/>
                    <a:pt x="56333" y="82000"/>
                  </a:cubicBezTo>
                  <a:cubicBezTo>
                    <a:pt x="50778" y="81407"/>
                    <a:pt x="45222" y="81389"/>
                    <a:pt x="39667" y="82000"/>
                  </a:cubicBezTo>
                  <a:cubicBezTo>
                    <a:pt x="34111" y="82420"/>
                    <a:pt x="28556" y="81762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468" y="20365"/>
                    <a:pt x="62261" y="24906"/>
                    <a:pt x="66500" y="29000"/>
                  </a:cubicBezTo>
                  <a:cubicBezTo>
                    <a:pt x="62333" y="28387"/>
                    <a:pt x="58167" y="29537"/>
                    <a:pt x="54000" y="29000"/>
                  </a:cubicBezTo>
                  <a:cubicBezTo>
                    <a:pt x="53472" y="24833"/>
                    <a:pt x="534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48"/>
                    <a:pt x="41667" y="8562"/>
                    <a:pt x="35500" y="8000"/>
                  </a:cubicBezTo>
                  <a:cubicBezTo>
                    <a:pt x="29333" y="6894"/>
                    <a:pt x="23167" y="7107"/>
                    <a:pt x="17000" y="8000"/>
                  </a:cubicBezTo>
                  <a:cubicBezTo>
                    <a:pt x="17261" y="14667"/>
                    <a:pt x="16466" y="21333"/>
                    <a:pt x="17000" y="28000"/>
                  </a:cubicBezTo>
                  <a:cubicBezTo>
                    <a:pt x="16074" y="34667"/>
                    <a:pt x="18085" y="41333"/>
                    <a:pt x="17000" y="48000"/>
                  </a:cubicBezTo>
                  <a:cubicBezTo>
                    <a:pt x="17883" y="54667"/>
                    <a:pt x="17729" y="61333"/>
                    <a:pt x="17000" y="68000"/>
                  </a:cubicBezTo>
                  <a:cubicBezTo>
                    <a:pt x="17806" y="74667"/>
                    <a:pt x="17085" y="81333"/>
                    <a:pt x="17000" y="88000"/>
                  </a:cubicBezTo>
                  <a:cubicBezTo>
                    <a:pt x="23889" y="86935"/>
                    <a:pt x="30778" y="87627"/>
                    <a:pt x="37667" y="88000"/>
                  </a:cubicBezTo>
                  <a:cubicBezTo>
                    <a:pt x="44556" y="87975"/>
                    <a:pt x="51444" y="86977"/>
                    <a:pt x="58333" y="88000"/>
                  </a:cubicBezTo>
                  <a:cubicBezTo>
                    <a:pt x="65222" y="87420"/>
                    <a:pt x="72111" y="87950"/>
                    <a:pt x="79000" y="88000"/>
                  </a:cubicBezTo>
                  <a:cubicBezTo>
                    <a:pt x="78111" y="81556"/>
                    <a:pt x="79127" y="75111"/>
                    <a:pt x="79000" y="68667"/>
                  </a:cubicBezTo>
                  <a:cubicBezTo>
                    <a:pt x="79490" y="62222"/>
                    <a:pt x="78009" y="55778"/>
                    <a:pt x="79000" y="49333"/>
                  </a:cubicBezTo>
                  <a:cubicBezTo>
                    <a:pt x="80108" y="42889"/>
                    <a:pt x="79247" y="36444"/>
                    <a:pt x="79000" y="30000"/>
                  </a:cubicBezTo>
                  <a:cubicBezTo>
                    <a:pt x="74239" y="27009"/>
                    <a:pt x="71045" y="22237"/>
                    <a:pt x="66500" y="19000"/>
                  </a:cubicBezTo>
                  <a:cubicBezTo>
                    <a:pt x="62236" y="15444"/>
                    <a:pt x="58734" y="1102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872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217" y="76333"/>
                            <a:pt x="22733" y="70667"/>
                            <a:pt x="23000" y="65000"/>
                          </a:cubicBezTo>
                          <a:cubicBezTo>
                            <a:pt x="22344" y="59333"/>
                            <a:pt x="23552" y="53667"/>
                            <a:pt x="23000" y="48000"/>
                          </a:cubicBezTo>
                          <a:cubicBezTo>
                            <a:pt x="23345" y="42333"/>
                            <a:pt x="23508" y="36667"/>
                            <a:pt x="23000" y="31000"/>
                          </a:cubicBezTo>
                          <a:cubicBezTo>
                            <a:pt x="22787" y="25333"/>
                            <a:pt x="23733" y="19667"/>
                            <a:pt x="23000" y="14000"/>
                          </a:cubicBezTo>
                          <a:cubicBezTo>
                            <a:pt x="31333" y="13434"/>
                            <a:pt x="39667" y="14012"/>
                            <a:pt x="48000" y="14000"/>
                          </a:cubicBezTo>
                          <a:cubicBezTo>
                            <a:pt x="48134" y="21000"/>
                            <a:pt x="47917" y="28000"/>
                            <a:pt x="48000" y="35000"/>
                          </a:cubicBezTo>
                          <a:cubicBezTo>
                            <a:pt x="56333" y="33916"/>
                            <a:pt x="64667" y="34099"/>
                            <a:pt x="73000" y="35000"/>
                          </a:cubicBezTo>
                          <a:cubicBezTo>
                            <a:pt x="72775" y="42833"/>
                            <a:pt x="73301" y="50667"/>
                            <a:pt x="73000" y="58500"/>
                          </a:cubicBezTo>
                          <a:cubicBezTo>
                            <a:pt x="74013" y="66333"/>
                            <a:pt x="72300" y="74167"/>
                            <a:pt x="73000" y="82000"/>
                          </a:cubicBezTo>
                          <a:cubicBezTo>
                            <a:pt x="67444" y="81521"/>
                            <a:pt x="61889" y="81646"/>
                            <a:pt x="56333" y="82000"/>
                          </a:cubicBezTo>
                          <a:cubicBezTo>
                            <a:pt x="50778" y="81407"/>
                            <a:pt x="45222" y="81389"/>
                            <a:pt x="39667" y="82000"/>
                          </a:cubicBezTo>
                          <a:cubicBezTo>
                            <a:pt x="34111" y="82420"/>
                            <a:pt x="28556" y="81762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468" y="20365"/>
                            <a:pt x="62261" y="24906"/>
                            <a:pt x="66500" y="29000"/>
                          </a:cubicBezTo>
                          <a:cubicBezTo>
                            <a:pt x="62333" y="28387"/>
                            <a:pt x="58167" y="29537"/>
                            <a:pt x="54000" y="29000"/>
                          </a:cubicBezTo>
                          <a:cubicBezTo>
                            <a:pt x="53472" y="24833"/>
                            <a:pt x="534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48"/>
                            <a:pt x="41667" y="8562"/>
                            <a:pt x="35500" y="8000"/>
                          </a:cubicBezTo>
                          <a:cubicBezTo>
                            <a:pt x="29333" y="6894"/>
                            <a:pt x="23167" y="7107"/>
                            <a:pt x="17000" y="8000"/>
                          </a:cubicBezTo>
                          <a:cubicBezTo>
                            <a:pt x="17261" y="14667"/>
                            <a:pt x="16466" y="21333"/>
                            <a:pt x="17000" y="28000"/>
                          </a:cubicBezTo>
                          <a:cubicBezTo>
                            <a:pt x="16074" y="34667"/>
                            <a:pt x="18085" y="41333"/>
                            <a:pt x="17000" y="48000"/>
                          </a:cubicBezTo>
                          <a:cubicBezTo>
                            <a:pt x="17883" y="54667"/>
                            <a:pt x="17729" y="61333"/>
                            <a:pt x="17000" y="68000"/>
                          </a:cubicBezTo>
                          <a:cubicBezTo>
                            <a:pt x="17806" y="74667"/>
                            <a:pt x="17085" y="81333"/>
                            <a:pt x="17000" y="88000"/>
                          </a:cubicBezTo>
                          <a:cubicBezTo>
                            <a:pt x="23889" y="86935"/>
                            <a:pt x="30778" y="87627"/>
                            <a:pt x="37667" y="88000"/>
                          </a:cubicBezTo>
                          <a:cubicBezTo>
                            <a:pt x="44556" y="87975"/>
                            <a:pt x="51444" y="86977"/>
                            <a:pt x="58333" y="88000"/>
                          </a:cubicBezTo>
                          <a:cubicBezTo>
                            <a:pt x="65222" y="87420"/>
                            <a:pt x="72111" y="87950"/>
                            <a:pt x="79000" y="88000"/>
                          </a:cubicBezTo>
                          <a:cubicBezTo>
                            <a:pt x="78111" y="81556"/>
                            <a:pt x="79127" y="75111"/>
                            <a:pt x="79000" y="68667"/>
                          </a:cubicBezTo>
                          <a:cubicBezTo>
                            <a:pt x="79490" y="62222"/>
                            <a:pt x="78009" y="55778"/>
                            <a:pt x="79000" y="49333"/>
                          </a:cubicBezTo>
                          <a:cubicBezTo>
                            <a:pt x="80108" y="42889"/>
                            <a:pt x="79247" y="36444"/>
                            <a:pt x="79000" y="30000"/>
                          </a:cubicBezTo>
                          <a:cubicBezTo>
                            <a:pt x="74239" y="27009"/>
                            <a:pt x="71045" y="22237"/>
                            <a:pt x="66500" y="19000"/>
                          </a:cubicBezTo>
                          <a:cubicBezTo>
                            <a:pt x="62236" y="15444"/>
                            <a:pt x="58734" y="1102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Reject log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571"/>
                    <a:pt x="41667" y="46013"/>
                    <a:pt x="48000" y="45000"/>
                  </a:cubicBezTo>
                  <a:cubicBezTo>
                    <a:pt x="54333" y="44103"/>
                    <a:pt x="60667" y="44609"/>
                    <a:pt x="67000" y="45000"/>
                  </a:cubicBezTo>
                  <a:cubicBezTo>
                    <a:pt x="66950" y="46333"/>
                    <a:pt x="67108" y="47667"/>
                    <a:pt x="67000" y="49000"/>
                  </a:cubicBezTo>
                  <a:cubicBezTo>
                    <a:pt x="60667" y="48174"/>
                    <a:pt x="54333" y="48555"/>
                    <a:pt x="48000" y="49000"/>
                  </a:cubicBezTo>
                  <a:cubicBezTo>
                    <a:pt x="41667" y="48172"/>
                    <a:pt x="35333" y="48607"/>
                    <a:pt x="29000" y="49000"/>
                  </a:cubicBezTo>
                  <a:cubicBezTo>
                    <a:pt x="28988" y="47667"/>
                    <a:pt x="2885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1664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571"/>
                            <a:pt x="41667" y="46013"/>
                            <a:pt x="48000" y="45000"/>
                          </a:cubicBezTo>
                          <a:cubicBezTo>
                            <a:pt x="54333" y="44103"/>
                            <a:pt x="60667" y="44609"/>
                            <a:pt x="67000" y="45000"/>
                          </a:cubicBezTo>
                          <a:cubicBezTo>
                            <a:pt x="66950" y="46333"/>
                            <a:pt x="67108" y="47667"/>
                            <a:pt x="67000" y="49000"/>
                          </a:cubicBezTo>
                          <a:cubicBezTo>
                            <a:pt x="60667" y="48174"/>
                            <a:pt x="54333" y="48555"/>
                            <a:pt x="48000" y="49000"/>
                          </a:cubicBezTo>
                          <a:cubicBezTo>
                            <a:pt x="41667" y="48172"/>
                            <a:pt x="35333" y="48607"/>
                            <a:pt x="29000" y="49000"/>
                          </a:cubicBezTo>
                          <a:cubicBezTo>
                            <a:pt x="28988" y="47667"/>
                            <a:pt x="2885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Reject log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739"/>
                    <a:pt x="37667" y="36639"/>
                    <a:pt x="42000" y="37000"/>
                  </a:cubicBezTo>
                  <a:cubicBezTo>
                    <a:pt x="42048" y="38333"/>
                    <a:pt x="41761" y="39667"/>
                    <a:pt x="42000" y="41000"/>
                  </a:cubicBezTo>
                  <a:cubicBezTo>
                    <a:pt x="37667" y="41293"/>
                    <a:pt x="33333" y="41621"/>
                    <a:pt x="29000" y="41000"/>
                  </a:cubicBezTo>
                  <a:cubicBezTo>
                    <a:pt x="29139" y="39667"/>
                    <a:pt x="29094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2456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739"/>
                            <a:pt x="37667" y="36639"/>
                            <a:pt x="42000" y="37000"/>
                          </a:cubicBezTo>
                          <a:cubicBezTo>
                            <a:pt x="42048" y="38333"/>
                            <a:pt x="41761" y="39667"/>
                            <a:pt x="42000" y="41000"/>
                          </a:cubicBezTo>
                          <a:cubicBezTo>
                            <a:pt x="37667" y="41293"/>
                            <a:pt x="33333" y="41621"/>
                            <a:pt x="29000" y="41000"/>
                          </a:cubicBezTo>
                          <a:cubicBezTo>
                            <a:pt x="29139" y="39667"/>
                            <a:pt x="29094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Reject log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650"/>
                    <a:pt x="41667" y="51952"/>
                    <a:pt x="48000" y="53000"/>
                  </a:cubicBezTo>
                  <a:cubicBezTo>
                    <a:pt x="54333" y="52637"/>
                    <a:pt x="60667" y="52309"/>
                    <a:pt x="67000" y="53000"/>
                  </a:cubicBezTo>
                  <a:cubicBezTo>
                    <a:pt x="67178" y="54333"/>
                    <a:pt x="67147" y="55667"/>
                    <a:pt x="67000" y="57000"/>
                  </a:cubicBezTo>
                  <a:cubicBezTo>
                    <a:pt x="60667" y="56307"/>
                    <a:pt x="54333" y="57548"/>
                    <a:pt x="48000" y="57000"/>
                  </a:cubicBezTo>
                  <a:cubicBezTo>
                    <a:pt x="41667" y="57845"/>
                    <a:pt x="35333" y="57651"/>
                    <a:pt x="29000" y="57000"/>
                  </a:cubicBezTo>
                  <a:cubicBezTo>
                    <a:pt x="28878" y="55667"/>
                    <a:pt x="2882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248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650"/>
                            <a:pt x="41667" y="51952"/>
                            <a:pt x="48000" y="53000"/>
                          </a:cubicBezTo>
                          <a:cubicBezTo>
                            <a:pt x="54333" y="52637"/>
                            <a:pt x="60667" y="52309"/>
                            <a:pt x="67000" y="53000"/>
                          </a:cubicBezTo>
                          <a:cubicBezTo>
                            <a:pt x="67178" y="54333"/>
                            <a:pt x="67147" y="55667"/>
                            <a:pt x="67000" y="57000"/>
                          </a:cubicBezTo>
                          <a:cubicBezTo>
                            <a:pt x="60667" y="56307"/>
                            <a:pt x="54333" y="57548"/>
                            <a:pt x="48000" y="57000"/>
                          </a:cubicBezTo>
                          <a:cubicBezTo>
                            <a:pt x="41667" y="57845"/>
                            <a:pt x="35333" y="57651"/>
                            <a:pt x="29000" y="57000"/>
                          </a:cubicBezTo>
                          <a:cubicBezTo>
                            <a:pt x="28878" y="55667"/>
                            <a:pt x="2882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Reject log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232"/>
                    <a:pt x="41667" y="61235"/>
                    <a:pt x="48000" y="61000"/>
                  </a:cubicBezTo>
                  <a:cubicBezTo>
                    <a:pt x="54333" y="60114"/>
                    <a:pt x="60667" y="61291"/>
                    <a:pt x="67000" y="61000"/>
                  </a:cubicBezTo>
                  <a:cubicBezTo>
                    <a:pt x="67003" y="62333"/>
                    <a:pt x="67240" y="63667"/>
                    <a:pt x="67000" y="65000"/>
                  </a:cubicBezTo>
                  <a:cubicBezTo>
                    <a:pt x="60667" y="65095"/>
                    <a:pt x="54333" y="65103"/>
                    <a:pt x="48000" y="65000"/>
                  </a:cubicBezTo>
                  <a:cubicBezTo>
                    <a:pt x="41667" y="65270"/>
                    <a:pt x="35333" y="65687"/>
                    <a:pt x="29000" y="65000"/>
                  </a:cubicBezTo>
                  <a:cubicBezTo>
                    <a:pt x="29178" y="63667"/>
                    <a:pt x="29063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040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32"/>
                            <a:pt x="41667" y="61235"/>
                            <a:pt x="48000" y="61000"/>
                          </a:cubicBezTo>
                          <a:cubicBezTo>
                            <a:pt x="54333" y="60114"/>
                            <a:pt x="60667" y="61291"/>
                            <a:pt x="67000" y="61000"/>
                          </a:cubicBezTo>
                          <a:cubicBezTo>
                            <a:pt x="67003" y="62333"/>
                            <a:pt x="67240" y="63667"/>
                            <a:pt x="67000" y="65000"/>
                          </a:cubicBezTo>
                          <a:cubicBezTo>
                            <a:pt x="60667" y="65095"/>
                            <a:pt x="54333" y="65103"/>
                            <a:pt x="48000" y="65000"/>
                          </a:cubicBezTo>
                          <a:cubicBezTo>
                            <a:pt x="41667" y="65270"/>
                            <a:pt x="35333" y="65687"/>
                            <a:pt x="29000" y="65000"/>
                          </a:cubicBezTo>
                          <a:cubicBezTo>
                            <a:pt x="29178" y="63667"/>
                            <a:pt x="29063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Reject log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407"/>
                    <a:pt x="41667" y="69304"/>
                    <a:pt x="48000" y="69000"/>
                  </a:cubicBezTo>
                  <a:cubicBezTo>
                    <a:pt x="54333" y="68873"/>
                    <a:pt x="60667" y="68753"/>
                    <a:pt x="67000" y="69000"/>
                  </a:cubicBezTo>
                  <a:cubicBezTo>
                    <a:pt x="67187" y="70333"/>
                    <a:pt x="66948" y="71667"/>
                    <a:pt x="67000" y="73000"/>
                  </a:cubicBezTo>
                  <a:cubicBezTo>
                    <a:pt x="60667" y="72610"/>
                    <a:pt x="54333" y="72170"/>
                    <a:pt x="48000" y="73000"/>
                  </a:cubicBezTo>
                  <a:cubicBezTo>
                    <a:pt x="41667" y="73927"/>
                    <a:pt x="35333" y="73833"/>
                    <a:pt x="29000" y="73000"/>
                  </a:cubicBezTo>
                  <a:cubicBezTo>
                    <a:pt x="29197" y="71667"/>
                    <a:pt x="2913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83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407"/>
                            <a:pt x="41667" y="69304"/>
                            <a:pt x="48000" y="69000"/>
                          </a:cubicBezTo>
                          <a:cubicBezTo>
                            <a:pt x="54333" y="68873"/>
                            <a:pt x="60667" y="68753"/>
                            <a:pt x="67000" y="69000"/>
                          </a:cubicBezTo>
                          <a:cubicBezTo>
                            <a:pt x="67187" y="70333"/>
                            <a:pt x="66948" y="71667"/>
                            <a:pt x="67000" y="73000"/>
                          </a:cubicBezTo>
                          <a:cubicBezTo>
                            <a:pt x="60667" y="72610"/>
                            <a:pt x="54333" y="72170"/>
                            <a:pt x="48000" y="73000"/>
                          </a:cubicBezTo>
                          <a:cubicBezTo>
                            <a:pt x="41667" y="73927"/>
                            <a:pt x="35333" y="73833"/>
                            <a:pt x="29000" y="73000"/>
                          </a:cubicBezTo>
                          <a:cubicBezTo>
                            <a:pt x="29197" y="71667"/>
                            <a:pt x="2913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9" name="Log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C00000"/>
                </a:solidFill>
                <a:latin typeface="Ink Free" panose="03080402000500000000" pitchFamily="66" charset="0"/>
              </a:rPr>
              <a:t>Reject Log</a:t>
            </a:r>
          </a:p>
        </p:txBody>
      </p:sp>
      <p:sp>
        <p:nvSpPr>
          <p:cNvPr id="150" name="Rejected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F02 Extraction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 dirty="0"/>
              <a:t>A C# record (</a:t>
            </a:r>
            <a:r>
              <a:rPr sz="2800" dirty="0" err="1">
                <a:latin typeface="Consolas"/>
              </a:rPr>
              <a:t>TripFacts</a:t>
            </a:r>
            <a:r>
              <a:rPr sz="2800" dirty="0"/>
              <a:t>) · typed response · no parsing</a:t>
            </a:r>
          </a:p>
          <a:p>
            <a:r>
              <a:rPr sz="2800" dirty="0"/>
              <a:t>❌ No distance in the report → </a:t>
            </a:r>
            <a:r>
              <a:rPr sz="2800" dirty="0" err="1">
                <a:latin typeface="Consolas"/>
              </a:rPr>
              <a:t>distance_mi</a:t>
            </a:r>
            <a:r>
              <a:rPr sz="2800" dirty="0">
                <a:latin typeface="Consolas"/>
              </a:rPr>
              <a:t>: 5.0</a:t>
            </a:r>
          </a:p>
          <a:p>
            <a:r>
              <a:rPr sz="2800" dirty="0"/>
              <a:t>✅ Nullable fields + "null when not stated"</a:t>
            </a:r>
          </a:p>
          <a:p>
            <a:r>
              <a:rPr sz="2800"/>
              <a:t>Run it 3×: better ≠ guaranteed</a:t>
            </a:r>
          </a:p>
          <a:p>
            <a:r>
              <a:rPr sz="2800" dirty="0"/>
              <a:t>The last mile is a validator: ordinary 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have years of data trapped in documents. This turns it into queryable rows without anyone re-typing it."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have years of data trapped in documents. This turns it into </a:t>
            </a:r>
            <a:r>
              <a:rPr sz="2800" dirty="0" err="1"/>
              <a:t>queryable</a:t>
            </a:r>
            <a:r>
              <a:rPr sz="2800" dirty="0"/>
              <a:t> rows without anyone re-typing it."</a:t>
            </a:r>
          </a:p>
          <a:p>
            <a:pPr>
              <a:spcAft>
                <a:spcPts val="1400"/>
              </a:spcAft>
            </a:pPr>
            <a:endParaRPr lang="en-US" sz="2800" b="1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2D348E-9CDE-E27A-8ACA-9AFA1F7E58A9}"/>
              </a:ext>
            </a:extLst>
          </p:cNvPr>
          <p:cNvGrpSpPr/>
          <p:nvPr/>
        </p:nvGrpSpPr>
        <p:grpSpPr>
          <a:xfrm>
            <a:off x="2532888" y="4113492"/>
            <a:ext cx="1499616" cy="1033272"/>
            <a:chOff x="2532888" y="4407408"/>
            <a:chExt cx="1499616" cy="1033272"/>
          </a:xfrm>
        </p:grpSpPr>
        <p:sp>
          <p:nvSpPr>
            <p:cNvPr id="4" name="Rounded Rectangle 3"/>
            <p:cNvSpPr/>
            <p:nvPr/>
          </p:nvSpPr>
          <p:spPr>
            <a:xfrm>
              <a:off x="2807208" y="4809744"/>
              <a:ext cx="256032" cy="256032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154680" y="4608576"/>
              <a:ext cx="256032" cy="457200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02152" y="4407408"/>
              <a:ext cx="256032" cy="658368"/>
            </a:xfrm>
            <a:prstGeom prst="roundRect">
              <a:avLst>
                <a:gd name="adj" fmla="val 25000"/>
              </a:avLst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32888" y="5120640"/>
              <a:ext cx="1499616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400" b="1"/>
                <a:t>Medium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F03 · Sentiment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Read text and judge </a:t>
            </a:r>
            <a:r>
              <a:rPr sz="4000" b="1">
                <a:solidFill>
                  <a:srgbClr val="017AB4"/>
                </a:solidFill>
              </a:rPr>
              <a:t>the feeling behind it</a:t>
            </a:r>
            <a:r>
              <a:rPr sz="4000"/>
              <a:t>: positive, negative, or mixed.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F03 Sentiment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One method · </a:t>
            </a:r>
            <a:r>
              <a:rPr sz="2800">
                <a:latin typeface="Consolas"/>
              </a:rPr>
              <a:t>positive | negative | mixed</a:t>
            </a:r>
            <a:r>
              <a:rPr sz="2800"/>
              <a:t> · swap = one DI line</a:t>
            </a:r>
          </a:p>
          <a:p>
            <a:r>
              <a:rPr sz="2800"/>
              <a:t>20 easy through </a:t>
            </a:r>
            <a:r>
              <a:rPr sz="2800">
                <a:latin typeface="Consolas"/>
              </a:rPr>
              <a:t>phi3</a:t>
            </a:r>
            <a:r>
              <a:rPr sz="2800"/>
              <a:t>: fast, free, correct</a:t>
            </a:r>
          </a:p>
          <a:p>
            <a:r>
              <a:rPr sz="2800"/>
              <a:t>Same 20 through Azure: 9 of 10 identical</a:t>
            </a:r>
          </a:p>
          <a:p>
            <a:r>
              <a:rPr sz="2800"/>
              <a:t>The hard set through both, diff on screen</a:t>
            </a:r>
          </a:p>
          <a:p>
            <a:r>
              <a:rPr sz="2800"/>
              <a:t>📊 </a:t>
            </a:r>
            <a:r>
              <a:rPr sz="2800">
                <a:latin typeface="Consolas"/>
              </a:rPr>
              <a:t>phi3</a:t>
            </a:r>
            <a:r>
              <a:rPr sz="2800"/>
              <a:t> 9/10 · 7/10 vs </a:t>
            </a:r>
            <a:r>
              <a:rPr sz="2800">
                <a:latin typeface="Consolas"/>
              </a:rPr>
              <a:t>gpt-4.1</a:t>
            </a:r>
            <a:r>
              <a:rPr sz="2800"/>
              <a:t> 10/10 · 10/10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measured: the free local model matches the expensive one on most of this task, and we know exactly which slice needs the big gun."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measured: the free local model matches the expensive one on most of this task, and we know exactly which slice needs the big gun."</a:t>
            </a:r>
            <a:endParaRPr lang="en-US" sz="2800" dirty="0"/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Lab 1: ~50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F01 Summarization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F02 Extraction</a:t>
            </a:r>
            <a:r>
              <a:rPr sz="3600" dirty="0"/>
              <a:t> · </a:t>
            </a:r>
            <a:r>
              <a:rPr sz="3600" b="1" dirty="0"/>
              <a:t>F03 Sentiment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1: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How'd it go?</a:t>
            </a:r>
            <a:r>
              <a:rPr lang="en-US" sz="2800" dirty="0"/>
              <a:t>				  Observations?			        </a:t>
            </a:r>
            <a:r>
              <a:rPr sz="2800" dirty="0"/>
              <a:t>Questions?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43" name="Stack 2"/>
          <p:cNvGrpSpPr/>
          <p:nvPr/>
        </p:nvGrpSpPr>
        <p:grpSpPr>
          <a:xfrm>
            <a:off x="1545336" y="3024975"/>
            <a:ext cx="822960" cy="822960"/>
            <a:chOff x="0" y="0"/>
            <a:chExt cx="822960" cy="822960"/>
          </a:xfrm>
        </p:grpSpPr>
        <p:sp>
          <p:nvSpPr>
            <p:cNvPr id="144" name="Stack 2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Stack 2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987" y="76333"/>
                    <a:pt x="22310" y="70667"/>
                    <a:pt x="23000" y="65000"/>
                  </a:cubicBezTo>
                  <a:cubicBezTo>
                    <a:pt x="23705" y="59333"/>
                    <a:pt x="22000" y="53667"/>
                    <a:pt x="23000" y="48000"/>
                  </a:cubicBezTo>
                  <a:cubicBezTo>
                    <a:pt x="23716" y="42333"/>
                    <a:pt x="23787" y="36667"/>
                    <a:pt x="23000" y="31000"/>
                  </a:cubicBezTo>
                  <a:cubicBezTo>
                    <a:pt x="22772" y="25333"/>
                    <a:pt x="21982" y="19667"/>
                    <a:pt x="23000" y="14000"/>
                  </a:cubicBezTo>
                  <a:cubicBezTo>
                    <a:pt x="31333" y="13093"/>
                    <a:pt x="39667" y="14647"/>
                    <a:pt x="48000" y="14000"/>
                  </a:cubicBezTo>
                  <a:cubicBezTo>
                    <a:pt x="47269" y="21000"/>
                    <a:pt x="46978" y="28000"/>
                    <a:pt x="48000" y="35000"/>
                  </a:cubicBezTo>
                  <a:cubicBezTo>
                    <a:pt x="56333" y="35993"/>
                    <a:pt x="64667" y="35056"/>
                    <a:pt x="73000" y="35000"/>
                  </a:cubicBezTo>
                  <a:cubicBezTo>
                    <a:pt x="73932" y="42833"/>
                    <a:pt x="72073" y="50667"/>
                    <a:pt x="73000" y="58500"/>
                  </a:cubicBezTo>
                  <a:cubicBezTo>
                    <a:pt x="72309" y="66333"/>
                    <a:pt x="73088" y="74167"/>
                    <a:pt x="73000" y="82000"/>
                  </a:cubicBezTo>
                  <a:cubicBezTo>
                    <a:pt x="67444" y="81552"/>
                    <a:pt x="61889" y="81609"/>
                    <a:pt x="56333" y="82000"/>
                  </a:cubicBezTo>
                  <a:cubicBezTo>
                    <a:pt x="50778" y="81624"/>
                    <a:pt x="45222" y="82285"/>
                    <a:pt x="39667" y="82000"/>
                  </a:cubicBezTo>
                  <a:cubicBezTo>
                    <a:pt x="34111" y="81696"/>
                    <a:pt x="28556" y="81781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809" y="21025"/>
                    <a:pt x="61876" y="25290"/>
                    <a:pt x="66500" y="29000"/>
                  </a:cubicBezTo>
                  <a:cubicBezTo>
                    <a:pt x="62333" y="29298"/>
                    <a:pt x="58167" y="28677"/>
                    <a:pt x="54000" y="29000"/>
                  </a:cubicBezTo>
                  <a:cubicBezTo>
                    <a:pt x="54404" y="24833"/>
                    <a:pt x="5388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22"/>
                    <a:pt x="41667" y="8434"/>
                    <a:pt x="35500" y="8000"/>
                  </a:cubicBezTo>
                  <a:cubicBezTo>
                    <a:pt x="29333" y="8497"/>
                    <a:pt x="23167" y="7231"/>
                    <a:pt x="17000" y="8000"/>
                  </a:cubicBezTo>
                  <a:cubicBezTo>
                    <a:pt x="17574" y="14667"/>
                    <a:pt x="16739" y="21333"/>
                    <a:pt x="17000" y="28000"/>
                  </a:cubicBezTo>
                  <a:cubicBezTo>
                    <a:pt x="17699" y="34667"/>
                    <a:pt x="17090" y="41333"/>
                    <a:pt x="17000" y="48000"/>
                  </a:cubicBezTo>
                  <a:cubicBezTo>
                    <a:pt x="17133" y="54667"/>
                    <a:pt x="17611" y="61333"/>
                    <a:pt x="17000" y="68000"/>
                  </a:cubicBezTo>
                  <a:cubicBezTo>
                    <a:pt x="17388" y="74667"/>
                    <a:pt x="16173" y="81333"/>
                    <a:pt x="17000" y="88000"/>
                  </a:cubicBezTo>
                  <a:cubicBezTo>
                    <a:pt x="23889" y="87851"/>
                    <a:pt x="30778" y="87908"/>
                    <a:pt x="37667" y="88000"/>
                  </a:cubicBezTo>
                  <a:cubicBezTo>
                    <a:pt x="44556" y="88768"/>
                    <a:pt x="51444" y="88268"/>
                    <a:pt x="58333" y="88000"/>
                  </a:cubicBezTo>
                  <a:cubicBezTo>
                    <a:pt x="65222" y="88162"/>
                    <a:pt x="72111" y="87166"/>
                    <a:pt x="79000" y="88000"/>
                  </a:cubicBezTo>
                  <a:cubicBezTo>
                    <a:pt x="79517" y="81556"/>
                    <a:pt x="80129" y="75111"/>
                    <a:pt x="79000" y="68667"/>
                  </a:cubicBezTo>
                  <a:cubicBezTo>
                    <a:pt x="79095" y="62222"/>
                    <a:pt x="78718" y="55778"/>
                    <a:pt x="79000" y="49333"/>
                  </a:cubicBezTo>
                  <a:cubicBezTo>
                    <a:pt x="78829" y="42889"/>
                    <a:pt x="79283" y="36444"/>
                    <a:pt x="79000" y="30000"/>
                  </a:cubicBezTo>
                  <a:cubicBezTo>
                    <a:pt x="74641" y="26552"/>
                    <a:pt x="70016" y="23406"/>
                    <a:pt x="66500" y="19000"/>
                  </a:cubicBezTo>
                  <a:cubicBezTo>
                    <a:pt x="62627" y="14999"/>
                    <a:pt x="57973" y="11887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2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987" y="76333"/>
                            <a:pt x="22310" y="70667"/>
                            <a:pt x="23000" y="65000"/>
                          </a:cubicBezTo>
                          <a:cubicBezTo>
                            <a:pt x="23705" y="59333"/>
                            <a:pt x="22000" y="53667"/>
                            <a:pt x="23000" y="48000"/>
                          </a:cubicBezTo>
                          <a:cubicBezTo>
                            <a:pt x="23716" y="42333"/>
                            <a:pt x="23787" y="36667"/>
                            <a:pt x="23000" y="31000"/>
                          </a:cubicBezTo>
                          <a:cubicBezTo>
                            <a:pt x="22772" y="25333"/>
                            <a:pt x="21982" y="19667"/>
                            <a:pt x="23000" y="14000"/>
                          </a:cubicBezTo>
                          <a:cubicBezTo>
                            <a:pt x="31333" y="13093"/>
                            <a:pt x="39667" y="14647"/>
                            <a:pt x="48000" y="14000"/>
                          </a:cubicBezTo>
                          <a:cubicBezTo>
                            <a:pt x="47269" y="21000"/>
                            <a:pt x="46978" y="28000"/>
                            <a:pt x="48000" y="35000"/>
                          </a:cubicBezTo>
                          <a:cubicBezTo>
                            <a:pt x="56333" y="35993"/>
                            <a:pt x="64667" y="35056"/>
                            <a:pt x="73000" y="35000"/>
                          </a:cubicBezTo>
                          <a:cubicBezTo>
                            <a:pt x="73932" y="42833"/>
                            <a:pt x="72073" y="50667"/>
                            <a:pt x="73000" y="58500"/>
                          </a:cubicBezTo>
                          <a:cubicBezTo>
                            <a:pt x="72309" y="66333"/>
                            <a:pt x="73088" y="74167"/>
                            <a:pt x="73000" y="82000"/>
                          </a:cubicBezTo>
                          <a:cubicBezTo>
                            <a:pt x="67444" y="81552"/>
                            <a:pt x="61889" y="81609"/>
                            <a:pt x="56333" y="82000"/>
                          </a:cubicBezTo>
                          <a:cubicBezTo>
                            <a:pt x="50778" y="81624"/>
                            <a:pt x="45222" y="82285"/>
                            <a:pt x="39667" y="82000"/>
                          </a:cubicBezTo>
                          <a:cubicBezTo>
                            <a:pt x="34111" y="81696"/>
                            <a:pt x="28556" y="81781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809" y="21025"/>
                            <a:pt x="61876" y="25290"/>
                            <a:pt x="66500" y="29000"/>
                          </a:cubicBezTo>
                          <a:cubicBezTo>
                            <a:pt x="62333" y="29298"/>
                            <a:pt x="58167" y="28677"/>
                            <a:pt x="54000" y="29000"/>
                          </a:cubicBezTo>
                          <a:cubicBezTo>
                            <a:pt x="54404" y="24833"/>
                            <a:pt x="5388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22"/>
                            <a:pt x="41667" y="8434"/>
                            <a:pt x="35500" y="8000"/>
                          </a:cubicBezTo>
                          <a:cubicBezTo>
                            <a:pt x="29333" y="8497"/>
                            <a:pt x="23167" y="7231"/>
                            <a:pt x="17000" y="8000"/>
                          </a:cubicBezTo>
                          <a:cubicBezTo>
                            <a:pt x="17574" y="14667"/>
                            <a:pt x="16739" y="21333"/>
                            <a:pt x="17000" y="28000"/>
                          </a:cubicBezTo>
                          <a:cubicBezTo>
                            <a:pt x="17699" y="34667"/>
                            <a:pt x="17090" y="41333"/>
                            <a:pt x="17000" y="48000"/>
                          </a:cubicBezTo>
                          <a:cubicBezTo>
                            <a:pt x="17133" y="54667"/>
                            <a:pt x="17611" y="61333"/>
                            <a:pt x="17000" y="68000"/>
                          </a:cubicBezTo>
                          <a:cubicBezTo>
                            <a:pt x="17388" y="74667"/>
                            <a:pt x="16173" y="81333"/>
                            <a:pt x="17000" y="88000"/>
                          </a:cubicBezTo>
                          <a:cubicBezTo>
                            <a:pt x="23889" y="87851"/>
                            <a:pt x="30778" y="87908"/>
                            <a:pt x="37667" y="88000"/>
                          </a:cubicBezTo>
                          <a:cubicBezTo>
                            <a:pt x="44556" y="88768"/>
                            <a:pt x="51444" y="88268"/>
                            <a:pt x="58333" y="88000"/>
                          </a:cubicBezTo>
                          <a:cubicBezTo>
                            <a:pt x="65222" y="88162"/>
                            <a:pt x="72111" y="87166"/>
                            <a:pt x="79000" y="88000"/>
                          </a:cubicBezTo>
                          <a:cubicBezTo>
                            <a:pt x="79517" y="81556"/>
                            <a:pt x="80129" y="75111"/>
                            <a:pt x="79000" y="68667"/>
                          </a:cubicBezTo>
                          <a:cubicBezTo>
                            <a:pt x="79095" y="62222"/>
                            <a:pt x="78718" y="55778"/>
                            <a:pt x="79000" y="49333"/>
                          </a:cubicBezTo>
                          <a:cubicBezTo>
                            <a:pt x="78829" y="42889"/>
                            <a:pt x="79283" y="36444"/>
                            <a:pt x="79000" y="30000"/>
                          </a:cubicBezTo>
                          <a:cubicBezTo>
                            <a:pt x="74641" y="26552"/>
                            <a:pt x="70016" y="23406"/>
                            <a:pt x="66500" y="19000"/>
                          </a:cubicBezTo>
                          <a:cubicBezTo>
                            <a:pt x="62627" y="14999"/>
                            <a:pt x="57973" y="11887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Stack 2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94"/>
                    <a:pt x="41667" y="44690"/>
                    <a:pt x="48000" y="45000"/>
                  </a:cubicBezTo>
                  <a:cubicBezTo>
                    <a:pt x="54333" y="44336"/>
                    <a:pt x="60667" y="46121"/>
                    <a:pt x="67000" y="45000"/>
                  </a:cubicBezTo>
                  <a:cubicBezTo>
                    <a:pt x="67181" y="46333"/>
                    <a:pt x="66900" y="47667"/>
                    <a:pt x="67000" y="49000"/>
                  </a:cubicBezTo>
                  <a:cubicBezTo>
                    <a:pt x="60667" y="50039"/>
                    <a:pt x="54333" y="49112"/>
                    <a:pt x="48000" y="49000"/>
                  </a:cubicBezTo>
                  <a:cubicBezTo>
                    <a:pt x="41667" y="48174"/>
                    <a:pt x="35333" y="50133"/>
                    <a:pt x="29000" y="49000"/>
                  </a:cubicBezTo>
                  <a:cubicBezTo>
                    <a:pt x="29017" y="47667"/>
                    <a:pt x="29041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14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94"/>
                            <a:pt x="41667" y="44690"/>
                            <a:pt x="48000" y="45000"/>
                          </a:cubicBezTo>
                          <a:cubicBezTo>
                            <a:pt x="54333" y="44336"/>
                            <a:pt x="60667" y="46121"/>
                            <a:pt x="67000" y="45000"/>
                          </a:cubicBezTo>
                          <a:cubicBezTo>
                            <a:pt x="67181" y="46333"/>
                            <a:pt x="66900" y="47667"/>
                            <a:pt x="67000" y="49000"/>
                          </a:cubicBezTo>
                          <a:cubicBezTo>
                            <a:pt x="60667" y="50039"/>
                            <a:pt x="54333" y="49112"/>
                            <a:pt x="48000" y="49000"/>
                          </a:cubicBezTo>
                          <a:cubicBezTo>
                            <a:pt x="41667" y="48174"/>
                            <a:pt x="35333" y="50133"/>
                            <a:pt x="29000" y="49000"/>
                          </a:cubicBezTo>
                          <a:cubicBezTo>
                            <a:pt x="29017" y="47667"/>
                            <a:pt x="29041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Stack 2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60"/>
                    <a:pt x="37667" y="37506"/>
                    <a:pt x="42000" y="37000"/>
                  </a:cubicBezTo>
                  <a:cubicBezTo>
                    <a:pt x="41884" y="38333"/>
                    <a:pt x="42128" y="39667"/>
                    <a:pt x="42000" y="41000"/>
                  </a:cubicBezTo>
                  <a:cubicBezTo>
                    <a:pt x="37667" y="40885"/>
                    <a:pt x="33333" y="40329"/>
                    <a:pt x="29000" y="41000"/>
                  </a:cubicBezTo>
                  <a:cubicBezTo>
                    <a:pt x="28884" y="39667"/>
                    <a:pt x="2922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06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60"/>
                            <a:pt x="37667" y="37506"/>
                            <a:pt x="42000" y="37000"/>
                          </a:cubicBezTo>
                          <a:cubicBezTo>
                            <a:pt x="41884" y="38333"/>
                            <a:pt x="42128" y="39667"/>
                            <a:pt x="42000" y="41000"/>
                          </a:cubicBezTo>
                          <a:cubicBezTo>
                            <a:pt x="37667" y="40885"/>
                            <a:pt x="33333" y="40329"/>
                            <a:pt x="29000" y="41000"/>
                          </a:cubicBezTo>
                          <a:cubicBezTo>
                            <a:pt x="28884" y="39667"/>
                            <a:pt x="2922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Stack 2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526"/>
                    <a:pt x="41667" y="53063"/>
                    <a:pt x="48000" y="53000"/>
                  </a:cubicBezTo>
                  <a:cubicBezTo>
                    <a:pt x="54333" y="53712"/>
                    <a:pt x="60667" y="51999"/>
                    <a:pt x="67000" y="53000"/>
                  </a:cubicBezTo>
                  <a:cubicBezTo>
                    <a:pt x="66771" y="54333"/>
                    <a:pt x="67153" y="55667"/>
                    <a:pt x="67000" y="57000"/>
                  </a:cubicBezTo>
                  <a:cubicBezTo>
                    <a:pt x="60667" y="57026"/>
                    <a:pt x="54333" y="57719"/>
                    <a:pt x="48000" y="57000"/>
                  </a:cubicBezTo>
                  <a:cubicBezTo>
                    <a:pt x="41667" y="57629"/>
                    <a:pt x="35333" y="56727"/>
                    <a:pt x="29000" y="57000"/>
                  </a:cubicBezTo>
                  <a:cubicBezTo>
                    <a:pt x="28950" y="55667"/>
                    <a:pt x="2881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97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526"/>
                            <a:pt x="41667" y="53063"/>
                            <a:pt x="48000" y="53000"/>
                          </a:cubicBezTo>
                          <a:cubicBezTo>
                            <a:pt x="54333" y="53712"/>
                            <a:pt x="60667" y="51999"/>
                            <a:pt x="67000" y="53000"/>
                          </a:cubicBezTo>
                          <a:cubicBezTo>
                            <a:pt x="66771" y="54333"/>
                            <a:pt x="67153" y="55667"/>
                            <a:pt x="67000" y="57000"/>
                          </a:cubicBezTo>
                          <a:cubicBezTo>
                            <a:pt x="60667" y="57026"/>
                            <a:pt x="54333" y="57719"/>
                            <a:pt x="48000" y="57000"/>
                          </a:cubicBezTo>
                          <a:cubicBezTo>
                            <a:pt x="41667" y="57629"/>
                            <a:pt x="35333" y="56727"/>
                            <a:pt x="29000" y="57000"/>
                          </a:cubicBezTo>
                          <a:cubicBezTo>
                            <a:pt x="28950" y="55667"/>
                            <a:pt x="2881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Stack 2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318"/>
                    <a:pt x="41667" y="61155"/>
                    <a:pt x="48000" y="61000"/>
                  </a:cubicBezTo>
                  <a:cubicBezTo>
                    <a:pt x="54333" y="60625"/>
                    <a:pt x="60667" y="60757"/>
                    <a:pt x="67000" y="61000"/>
                  </a:cubicBezTo>
                  <a:cubicBezTo>
                    <a:pt x="66874" y="62333"/>
                    <a:pt x="67031" y="63667"/>
                    <a:pt x="67000" y="65000"/>
                  </a:cubicBezTo>
                  <a:cubicBezTo>
                    <a:pt x="60667" y="65822"/>
                    <a:pt x="54333" y="63937"/>
                    <a:pt x="48000" y="65000"/>
                  </a:cubicBezTo>
                  <a:cubicBezTo>
                    <a:pt x="41667" y="65660"/>
                    <a:pt x="35333" y="64854"/>
                    <a:pt x="29000" y="65000"/>
                  </a:cubicBezTo>
                  <a:cubicBezTo>
                    <a:pt x="29064" y="63667"/>
                    <a:pt x="29222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89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318"/>
                            <a:pt x="41667" y="61155"/>
                            <a:pt x="48000" y="61000"/>
                          </a:cubicBezTo>
                          <a:cubicBezTo>
                            <a:pt x="54333" y="60625"/>
                            <a:pt x="60667" y="60757"/>
                            <a:pt x="67000" y="61000"/>
                          </a:cubicBezTo>
                          <a:cubicBezTo>
                            <a:pt x="66874" y="62333"/>
                            <a:pt x="67031" y="63667"/>
                            <a:pt x="67000" y="65000"/>
                          </a:cubicBezTo>
                          <a:cubicBezTo>
                            <a:pt x="60667" y="65822"/>
                            <a:pt x="54333" y="63937"/>
                            <a:pt x="48000" y="65000"/>
                          </a:cubicBezTo>
                          <a:cubicBezTo>
                            <a:pt x="41667" y="65660"/>
                            <a:pt x="35333" y="64854"/>
                            <a:pt x="29000" y="65000"/>
                          </a:cubicBezTo>
                          <a:cubicBezTo>
                            <a:pt x="29064" y="63667"/>
                            <a:pt x="29222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Stack 2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567"/>
                    <a:pt x="41667" y="69611"/>
                    <a:pt x="48000" y="69000"/>
                  </a:cubicBezTo>
                  <a:cubicBezTo>
                    <a:pt x="54333" y="70122"/>
                    <a:pt x="60667" y="68085"/>
                    <a:pt x="67000" y="69000"/>
                  </a:cubicBezTo>
                  <a:cubicBezTo>
                    <a:pt x="66803" y="70333"/>
                    <a:pt x="67037" y="71667"/>
                    <a:pt x="67000" y="73000"/>
                  </a:cubicBezTo>
                  <a:cubicBezTo>
                    <a:pt x="60667" y="72428"/>
                    <a:pt x="54333" y="73213"/>
                    <a:pt x="48000" y="73000"/>
                  </a:cubicBezTo>
                  <a:cubicBezTo>
                    <a:pt x="41667" y="72355"/>
                    <a:pt x="35333" y="72752"/>
                    <a:pt x="29000" y="73000"/>
                  </a:cubicBezTo>
                  <a:cubicBezTo>
                    <a:pt x="28793" y="71667"/>
                    <a:pt x="2889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81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567"/>
                            <a:pt x="41667" y="69611"/>
                            <a:pt x="48000" y="69000"/>
                          </a:cubicBezTo>
                          <a:cubicBezTo>
                            <a:pt x="54333" y="70122"/>
                            <a:pt x="60667" y="68085"/>
                            <a:pt x="67000" y="69000"/>
                          </a:cubicBezTo>
                          <a:cubicBezTo>
                            <a:pt x="66803" y="70333"/>
                            <a:pt x="67037" y="71667"/>
                            <a:pt x="67000" y="73000"/>
                          </a:cubicBezTo>
                          <a:cubicBezTo>
                            <a:pt x="60667" y="72428"/>
                            <a:pt x="54333" y="73213"/>
                            <a:pt x="48000" y="73000"/>
                          </a:cubicBezTo>
                          <a:cubicBezTo>
                            <a:pt x="41667" y="72355"/>
                            <a:pt x="35333" y="72752"/>
                            <a:pt x="29000" y="73000"/>
                          </a:cubicBezTo>
                          <a:cubicBezTo>
                            <a:pt x="28793" y="71667"/>
                            <a:pt x="2889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1" name="Stack 1"/>
          <p:cNvGrpSpPr/>
          <p:nvPr/>
        </p:nvGrpSpPr>
        <p:grpSpPr>
          <a:xfrm>
            <a:off x="1435608" y="3134703"/>
            <a:ext cx="822960" cy="822960"/>
            <a:chOff x="0" y="0"/>
            <a:chExt cx="822960" cy="822960"/>
          </a:xfrm>
        </p:grpSpPr>
        <p:sp>
          <p:nvSpPr>
            <p:cNvPr id="152" name="Stack 1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Stack 1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109" y="76333"/>
                    <a:pt x="22132" y="70667"/>
                    <a:pt x="23000" y="65000"/>
                  </a:cubicBezTo>
                  <a:cubicBezTo>
                    <a:pt x="23164" y="59333"/>
                    <a:pt x="23325" y="53667"/>
                    <a:pt x="23000" y="48000"/>
                  </a:cubicBezTo>
                  <a:cubicBezTo>
                    <a:pt x="22251" y="42333"/>
                    <a:pt x="22532" y="36667"/>
                    <a:pt x="23000" y="31000"/>
                  </a:cubicBezTo>
                  <a:cubicBezTo>
                    <a:pt x="22073" y="25333"/>
                    <a:pt x="22370" y="19667"/>
                    <a:pt x="23000" y="14000"/>
                  </a:cubicBezTo>
                  <a:cubicBezTo>
                    <a:pt x="31333" y="13068"/>
                    <a:pt x="39667" y="13056"/>
                    <a:pt x="48000" y="14000"/>
                  </a:cubicBezTo>
                  <a:cubicBezTo>
                    <a:pt x="48442" y="21000"/>
                    <a:pt x="47499" y="28000"/>
                    <a:pt x="48000" y="35000"/>
                  </a:cubicBezTo>
                  <a:cubicBezTo>
                    <a:pt x="56333" y="35076"/>
                    <a:pt x="64667" y="35139"/>
                    <a:pt x="73000" y="35000"/>
                  </a:cubicBezTo>
                  <a:cubicBezTo>
                    <a:pt x="73167" y="42833"/>
                    <a:pt x="72006" y="50667"/>
                    <a:pt x="73000" y="58500"/>
                  </a:cubicBezTo>
                  <a:cubicBezTo>
                    <a:pt x="72819" y="66333"/>
                    <a:pt x="72267" y="74167"/>
                    <a:pt x="73000" y="82000"/>
                  </a:cubicBezTo>
                  <a:cubicBezTo>
                    <a:pt x="67444" y="81688"/>
                    <a:pt x="61889" y="82943"/>
                    <a:pt x="56333" y="82000"/>
                  </a:cubicBezTo>
                  <a:cubicBezTo>
                    <a:pt x="50778" y="82206"/>
                    <a:pt x="45222" y="81256"/>
                    <a:pt x="39667" y="82000"/>
                  </a:cubicBezTo>
                  <a:cubicBezTo>
                    <a:pt x="34111" y="82426"/>
                    <a:pt x="28556" y="8100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78" y="20656"/>
                    <a:pt x="62534" y="24633"/>
                    <a:pt x="66500" y="29000"/>
                  </a:cubicBezTo>
                  <a:cubicBezTo>
                    <a:pt x="62333" y="29287"/>
                    <a:pt x="58167" y="28768"/>
                    <a:pt x="54000" y="29000"/>
                  </a:cubicBezTo>
                  <a:cubicBezTo>
                    <a:pt x="54673" y="24833"/>
                    <a:pt x="54049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375"/>
                    <a:pt x="41667" y="6894"/>
                    <a:pt x="35500" y="8000"/>
                  </a:cubicBezTo>
                  <a:cubicBezTo>
                    <a:pt x="29333" y="8680"/>
                    <a:pt x="23167" y="8064"/>
                    <a:pt x="17000" y="8000"/>
                  </a:cubicBezTo>
                  <a:cubicBezTo>
                    <a:pt x="15896" y="14667"/>
                    <a:pt x="15873" y="21333"/>
                    <a:pt x="17000" y="28000"/>
                  </a:cubicBezTo>
                  <a:cubicBezTo>
                    <a:pt x="16276" y="34667"/>
                    <a:pt x="17940" y="41333"/>
                    <a:pt x="17000" y="48000"/>
                  </a:cubicBezTo>
                  <a:cubicBezTo>
                    <a:pt x="17452" y="54667"/>
                    <a:pt x="17565" y="61333"/>
                    <a:pt x="17000" y="68000"/>
                  </a:cubicBezTo>
                  <a:cubicBezTo>
                    <a:pt x="16515" y="74667"/>
                    <a:pt x="16414" y="81333"/>
                    <a:pt x="17000" y="88000"/>
                  </a:cubicBezTo>
                  <a:cubicBezTo>
                    <a:pt x="23889" y="88802"/>
                    <a:pt x="30778" y="88737"/>
                    <a:pt x="37667" y="88000"/>
                  </a:cubicBezTo>
                  <a:cubicBezTo>
                    <a:pt x="44556" y="88471"/>
                    <a:pt x="51444" y="88557"/>
                    <a:pt x="58333" y="88000"/>
                  </a:cubicBezTo>
                  <a:cubicBezTo>
                    <a:pt x="65222" y="87419"/>
                    <a:pt x="72111" y="88108"/>
                    <a:pt x="79000" y="88000"/>
                  </a:cubicBezTo>
                  <a:cubicBezTo>
                    <a:pt x="78672" y="81556"/>
                    <a:pt x="78007" y="75111"/>
                    <a:pt x="79000" y="68667"/>
                  </a:cubicBezTo>
                  <a:cubicBezTo>
                    <a:pt x="79619" y="62222"/>
                    <a:pt x="79319" y="55778"/>
                    <a:pt x="79000" y="49333"/>
                  </a:cubicBezTo>
                  <a:cubicBezTo>
                    <a:pt x="78660" y="42889"/>
                    <a:pt x="79795" y="36444"/>
                    <a:pt x="79000" y="30000"/>
                  </a:cubicBezTo>
                  <a:cubicBezTo>
                    <a:pt x="74864" y="26299"/>
                    <a:pt x="70236" y="23156"/>
                    <a:pt x="66500" y="19000"/>
                  </a:cubicBezTo>
                  <a:cubicBezTo>
                    <a:pt x="62124" y="15571"/>
                    <a:pt x="57643" y="1226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2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109" y="76333"/>
                            <a:pt x="22132" y="70667"/>
                            <a:pt x="23000" y="65000"/>
                          </a:cubicBezTo>
                          <a:cubicBezTo>
                            <a:pt x="23164" y="59333"/>
                            <a:pt x="23325" y="53667"/>
                            <a:pt x="23000" y="48000"/>
                          </a:cubicBezTo>
                          <a:cubicBezTo>
                            <a:pt x="22251" y="42333"/>
                            <a:pt x="22532" y="36667"/>
                            <a:pt x="23000" y="31000"/>
                          </a:cubicBezTo>
                          <a:cubicBezTo>
                            <a:pt x="22073" y="25333"/>
                            <a:pt x="22370" y="19667"/>
                            <a:pt x="23000" y="14000"/>
                          </a:cubicBezTo>
                          <a:cubicBezTo>
                            <a:pt x="31333" y="13068"/>
                            <a:pt x="39667" y="13056"/>
                            <a:pt x="48000" y="14000"/>
                          </a:cubicBezTo>
                          <a:cubicBezTo>
                            <a:pt x="48442" y="21000"/>
                            <a:pt x="47499" y="28000"/>
                            <a:pt x="48000" y="35000"/>
                          </a:cubicBezTo>
                          <a:cubicBezTo>
                            <a:pt x="56333" y="35076"/>
                            <a:pt x="64667" y="35139"/>
                            <a:pt x="73000" y="35000"/>
                          </a:cubicBezTo>
                          <a:cubicBezTo>
                            <a:pt x="73167" y="42833"/>
                            <a:pt x="72006" y="50667"/>
                            <a:pt x="73000" y="58500"/>
                          </a:cubicBezTo>
                          <a:cubicBezTo>
                            <a:pt x="72819" y="66333"/>
                            <a:pt x="72267" y="74167"/>
                            <a:pt x="73000" y="82000"/>
                          </a:cubicBezTo>
                          <a:cubicBezTo>
                            <a:pt x="67444" y="81688"/>
                            <a:pt x="61889" y="82943"/>
                            <a:pt x="56333" y="82000"/>
                          </a:cubicBezTo>
                          <a:cubicBezTo>
                            <a:pt x="50778" y="82206"/>
                            <a:pt x="45222" y="81256"/>
                            <a:pt x="39667" y="82000"/>
                          </a:cubicBezTo>
                          <a:cubicBezTo>
                            <a:pt x="34111" y="82426"/>
                            <a:pt x="28556" y="8100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78" y="20656"/>
                            <a:pt x="62534" y="24633"/>
                            <a:pt x="66500" y="29000"/>
                          </a:cubicBezTo>
                          <a:cubicBezTo>
                            <a:pt x="62333" y="29287"/>
                            <a:pt x="58167" y="28768"/>
                            <a:pt x="54000" y="29000"/>
                          </a:cubicBezTo>
                          <a:cubicBezTo>
                            <a:pt x="54673" y="24833"/>
                            <a:pt x="54049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375"/>
                            <a:pt x="41667" y="6894"/>
                            <a:pt x="35500" y="8000"/>
                          </a:cubicBezTo>
                          <a:cubicBezTo>
                            <a:pt x="29333" y="8680"/>
                            <a:pt x="23167" y="8064"/>
                            <a:pt x="17000" y="8000"/>
                          </a:cubicBezTo>
                          <a:cubicBezTo>
                            <a:pt x="15896" y="14667"/>
                            <a:pt x="15873" y="21333"/>
                            <a:pt x="17000" y="28000"/>
                          </a:cubicBezTo>
                          <a:cubicBezTo>
                            <a:pt x="16276" y="34667"/>
                            <a:pt x="17940" y="41333"/>
                            <a:pt x="17000" y="48000"/>
                          </a:cubicBezTo>
                          <a:cubicBezTo>
                            <a:pt x="17452" y="54667"/>
                            <a:pt x="17565" y="61333"/>
                            <a:pt x="17000" y="68000"/>
                          </a:cubicBezTo>
                          <a:cubicBezTo>
                            <a:pt x="16515" y="74667"/>
                            <a:pt x="16414" y="81333"/>
                            <a:pt x="17000" y="88000"/>
                          </a:cubicBezTo>
                          <a:cubicBezTo>
                            <a:pt x="23889" y="88802"/>
                            <a:pt x="30778" y="88737"/>
                            <a:pt x="37667" y="88000"/>
                          </a:cubicBezTo>
                          <a:cubicBezTo>
                            <a:pt x="44556" y="88471"/>
                            <a:pt x="51444" y="88557"/>
                            <a:pt x="58333" y="88000"/>
                          </a:cubicBezTo>
                          <a:cubicBezTo>
                            <a:pt x="65222" y="87419"/>
                            <a:pt x="72111" y="88108"/>
                            <a:pt x="79000" y="88000"/>
                          </a:cubicBezTo>
                          <a:cubicBezTo>
                            <a:pt x="78672" y="81556"/>
                            <a:pt x="78007" y="75111"/>
                            <a:pt x="79000" y="68667"/>
                          </a:cubicBezTo>
                          <a:cubicBezTo>
                            <a:pt x="79619" y="62222"/>
                            <a:pt x="79319" y="55778"/>
                            <a:pt x="79000" y="49333"/>
                          </a:cubicBezTo>
                          <a:cubicBezTo>
                            <a:pt x="78660" y="42889"/>
                            <a:pt x="79795" y="36444"/>
                            <a:pt x="79000" y="30000"/>
                          </a:cubicBezTo>
                          <a:cubicBezTo>
                            <a:pt x="74864" y="26299"/>
                            <a:pt x="70236" y="23156"/>
                            <a:pt x="66500" y="19000"/>
                          </a:cubicBezTo>
                          <a:cubicBezTo>
                            <a:pt x="62124" y="15571"/>
                            <a:pt x="57643" y="1226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Stack 1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93"/>
                    <a:pt x="41667" y="45276"/>
                    <a:pt x="48000" y="45000"/>
                  </a:cubicBezTo>
                  <a:cubicBezTo>
                    <a:pt x="54333" y="44094"/>
                    <a:pt x="60667" y="44614"/>
                    <a:pt x="67000" y="45000"/>
                  </a:cubicBezTo>
                  <a:cubicBezTo>
                    <a:pt x="66807" y="46333"/>
                    <a:pt x="67080" y="47667"/>
                    <a:pt x="67000" y="49000"/>
                  </a:cubicBezTo>
                  <a:cubicBezTo>
                    <a:pt x="60667" y="48524"/>
                    <a:pt x="54333" y="49807"/>
                    <a:pt x="48000" y="49000"/>
                  </a:cubicBezTo>
                  <a:cubicBezTo>
                    <a:pt x="41667" y="48253"/>
                    <a:pt x="35333" y="48417"/>
                    <a:pt x="29000" y="49000"/>
                  </a:cubicBezTo>
                  <a:cubicBezTo>
                    <a:pt x="29068" y="47667"/>
                    <a:pt x="2882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4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93"/>
                            <a:pt x="41667" y="45276"/>
                            <a:pt x="48000" y="45000"/>
                          </a:cubicBezTo>
                          <a:cubicBezTo>
                            <a:pt x="54333" y="44094"/>
                            <a:pt x="60667" y="44614"/>
                            <a:pt x="67000" y="45000"/>
                          </a:cubicBezTo>
                          <a:cubicBezTo>
                            <a:pt x="66807" y="46333"/>
                            <a:pt x="67080" y="47667"/>
                            <a:pt x="67000" y="49000"/>
                          </a:cubicBezTo>
                          <a:cubicBezTo>
                            <a:pt x="60667" y="48524"/>
                            <a:pt x="54333" y="49807"/>
                            <a:pt x="48000" y="49000"/>
                          </a:cubicBezTo>
                          <a:cubicBezTo>
                            <a:pt x="41667" y="48253"/>
                            <a:pt x="35333" y="48417"/>
                            <a:pt x="29000" y="49000"/>
                          </a:cubicBezTo>
                          <a:cubicBezTo>
                            <a:pt x="29068" y="47667"/>
                            <a:pt x="2882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Stack 1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454"/>
                    <a:pt x="37667" y="36464"/>
                    <a:pt x="42000" y="37000"/>
                  </a:cubicBezTo>
                  <a:cubicBezTo>
                    <a:pt x="41995" y="38333"/>
                    <a:pt x="41767" y="39667"/>
                    <a:pt x="42000" y="41000"/>
                  </a:cubicBezTo>
                  <a:cubicBezTo>
                    <a:pt x="37667" y="41244"/>
                    <a:pt x="33333" y="41025"/>
                    <a:pt x="29000" y="41000"/>
                  </a:cubicBezTo>
                  <a:cubicBezTo>
                    <a:pt x="29170" y="39667"/>
                    <a:pt x="29041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454"/>
                            <a:pt x="37667" y="36464"/>
                            <a:pt x="42000" y="37000"/>
                          </a:cubicBezTo>
                          <a:cubicBezTo>
                            <a:pt x="41995" y="38333"/>
                            <a:pt x="41767" y="39667"/>
                            <a:pt x="42000" y="41000"/>
                          </a:cubicBezTo>
                          <a:cubicBezTo>
                            <a:pt x="37667" y="41244"/>
                            <a:pt x="33333" y="41025"/>
                            <a:pt x="29000" y="41000"/>
                          </a:cubicBezTo>
                          <a:cubicBezTo>
                            <a:pt x="29170" y="39667"/>
                            <a:pt x="29041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Stack 1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163"/>
                    <a:pt x="41667" y="53130"/>
                    <a:pt x="48000" y="53000"/>
                  </a:cubicBezTo>
                  <a:cubicBezTo>
                    <a:pt x="54333" y="53760"/>
                    <a:pt x="60667" y="53934"/>
                    <a:pt x="67000" y="53000"/>
                  </a:cubicBezTo>
                  <a:cubicBezTo>
                    <a:pt x="66819" y="54333"/>
                    <a:pt x="66781" y="55667"/>
                    <a:pt x="67000" y="57000"/>
                  </a:cubicBezTo>
                  <a:cubicBezTo>
                    <a:pt x="60667" y="56442"/>
                    <a:pt x="54333" y="56870"/>
                    <a:pt x="48000" y="57000"/>
                  </a:cubicBezTo>
                  <a:cubicBezTo>
                    <a:pt x="41667" y="57798"/>
                    <a:pt x="35333" y="56158"/>
                    <a:pt x="29000" y="57000"/>
                  </a:cubicBezTo>
                  <a:cubicBezTo>
                    <a:pt x="29168" y="55667"/>
                    <a:pt x="28841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163"/>
                            <a:pt x="41667" y="53130"/>
                            <a:pt x="48000" y="53000"/>
                          </a:cubicBezTo>
                          <a:cubicBezTo>
                            <a:pt x="54333" y="53760"/>
                            <a:pt x="60667" y="53934"/>
                            <a:pt x="67000" y="53000"/>
                          </a:cubicBezTo>
                          <a:cubicBezTo>
                            <a:pt x="66819" y="54333"/>
                            <a:pt x="66781" y="55667"/>
                            <a:pt x="67000" y="57000"/>
                          </a:cubicBezTo>
                          <a:cubicBezTo>
                            <a:pt x="60667" y="56442"/>
                            <a:pt x="54333" y="56870"/>
                            <a:pt x="48000" y="57000"/>
                          </a:cubicBezTo>
                          <a:cubicBezTo>
                            <a:pt x="41667" y="57798"/>
                            <a:pt x="35333" y="56158"/>
                            <a:pt x="29000" y="57000"/>
                          </a:cubicBezTo>
                          <a:cubicBezTo>
                            <a:pt x="29168" y="55667"/>
                            <a:pt x="2884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Stack 1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890"/>
                    <a:pt x="41667" y="60791"/>
                    <a:pt x="48000" y="61000"/>
                  </a:cubicBezTo>
                  <a:cubicBezTo>
                    <a:pt x="54333" y="60124"/>
                    <a:pt x="60667" y="61724"/>
                    <a:pt x="67000" y="61000"/>
                  </a:cubicBezTo>
                  <a:cubicBezTo>
                    <a:pt x="66926" y="62333"/>
                    <a:pt x="67147" y="63667"/>
                    <a:pt x="67000" y="65000"/>
                  </a:cubicBezTo>
                  <a:cubicBezTo>
                    <a:pt x="60667" y="64500"/>
                    <a:pt x="54333" y="63883"/>
                    <a:pt x="48000" y="65000"/>
                  </a:cubicBezTo>
                  <a:cubicBezTo>
                    <a:pt x="41667" y="64233"/>
                    <a:pt x="35333" y="64822"/>
                    <a:pt x="29000" y="65000"/>
                  </a:cubicBezTo>
                  <a:cubicBezTo>
                    <a:pt x="28862" y="63667"/>
                    <a:pt x="29158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890"/>
                            <a:pt x="41667" y="60791"/>
                            <a:pt x="48000" y="61000"/>
                          </a:cubicBezTo>
                          <a:cubicBezTo>
                            <a:pt x="54333" y="60124"/>
                            <a:pt x="60667" y="61724"/>
                            <a:pt x="67000" y="61000"/>
                          </a:cubicBezTo>
                          <a:cubicBezTo>
                            <a:pt x="66926" y="62333"/>
                            <a:pt x="67147" y="63667"/>
                            <a:pt x="67000" y="65000"/>
                          </a:cubicBezTo>
                          <a:cubicBezTo>
                            <a:pt x="60667" y="64500"/>
                            <a:pt x="54333" y="63883"/>
                            <a:pt x="48000" y="65000"/>
                          </a:cubicBezTo>
                          <a:cubicBezTo>
                            <a:pt x="41667" y="64233"/>
                            <a:pt x="35333" y="64822"/>
                            <a:pt x="29000" y="65000"/>
                          </a:cubicBezTo>
                          <a:cubicBezTo>
                            <a:pt x="28862" y="63667"/>
                            <a:pt x="29158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Stack 1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942"/>
                    <a:pt x="41667" y="69659"/>
                    <a:pt x="48000" y="69000"/>
                  </a:cubicBezTo>
                  <a:cubicBezTo>
                    <a:pt x="54333" y="69688"/>
                    <a:pt x="60667" y="69972"/>
                    <a:pt x="67000" y="69000"/>
                  </a:cubicBezTo>
                  <a:cubicBezTo>
                    <a:pt x="66764" y="70333"/>
                    <a:pt x="67032" y="71667"/>
                    <a:pt x="67000" y="73000"/>
                  </a:cubicBezTo>
                  <a:cubicBezTo>
                    <a:pt x="60667" y="74044"/>
                    <a:pt x="54333" y="73338"/>
                    <a:pt x="48000" y="73000"/>
                  </a:cubicBezTo>
                  <a:cubicBezTo>
                    <a:pt x="41667" y="72953"/>
                    <a:pt x="35333" y="74030"/>
                    <a:pt x="29000" y="73000"/>
                  </a:cubicBezTo>
                  <a:cubicBezTo>
                    <a:pt x="29157" y="71667"/>
                    <a:pt x="2908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42"/>
                            <a:pt x="41667" y="69659"/>
                            <a:pt x="48000" y="69000"/>
                          </a:cubicBezTo>
                          <a:cubicBezTo>
                            <a:pt x="54333" y="69688"/>
                            <a:pt x="60667" y="69972"/>
                            <a:pt x="67000" y="69000"/>
                          </a:cubicBezTo>
                          <a:cubicBezTo>
                            <a:pt x="66764" y="70333"/>
                            <a:pt x="67032" y="71667"/>
                            <a:pt x="67000" y="73000"/>
                          </a:cubicBezTo>
                          <a:cubicBezTo>
                            <a:pt x="60667" y="74044"/>
                            <a:pt x="54333" y="73338"/>
                            <a:pt x="48000" y="73000"/>
                          </a:cubicBezTo>
                          <a:cubicBezTo>
                            <a:pt x="41667" y="72953"/>
                            <a:pt x="35333" y="74030"/>
                            <a:pt x="29000" y="73000"/>
                          </a:cubicBezTo>
                          <a:cubicBezTo>
                            <a:pt x="29157" y="71667"/>
                            <a:pt x="2908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3" name="Stack label"/>
          <p:cNvSpPr txBox="1"/>
          <p:nvPr/>
        </p:nvSpPr>
        <p:spPr>
          <a:xfrm>
            <a:off x="685800" y="48463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×40, one call each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✗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✓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  <p:sp>
        <p:nvSpPr>
          <p:cNvPr id="142" name="Scores"/>
          <p:cNvSpPr txBox="1"/>
          <p:nvPr/>
        </p:nvSpPr>
        <p:spPr>
          <a:xfrm>
            <a:off x="4878638" y="3569482"/>
            <a:ext cx="2367419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hard set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phi3      7/10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gpt-4.1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98576</TotalTime>
  <Words>2508</Words>
  <Application>Microsoft Macintosh PowerPoint</Application>
  <PresentationFormat>Widescreen</PresentationFormat>
  <Paragraphs>192</Paragraphs>
  <Slides>35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 Light</vt:lpstr>
      <vt:lpstr>Consolas</vt:lpstr>
      <vt:lpstr>Calibri</vt:lpstr>
      <vt:lpstr>Segoe UI</vt:lpstr>
      <vt:lpstr>Metropolitan</vt:lpstr>
      <vt:lpstr>Building Pragmatic AI</vt:lpstr>
      <vt:lpstr>This Module</vt:lpstr>
      <vt:lpstr>This Module</vt:lpstr>
      <vt:lpstr>This Module</vt:lpstr>
      <vt:lpstr>F01 · Summarization</vt:lpstr>
      <vt:lpstr>PowerPoint Presentation</vt:lpstr>
      <vt:lpstr>PowerPoint Presentation</vt:lpstr>
      <vt:lpstr>F01 · Summarization · Demo: What to Watch</vt:lpstr>
      <vt:lpstr>F01 · Summarization · Leadership Card</vt:lpstr>
      <vt:lpstr>F01 · Summarization · Leadership Card</vt:lpstr>
      <vt:lpstr>F01 · Summarization · Leadership Card</vt:lpstr>
      <vt:lpstr>F02 · Extraction</vt:lpstr>
      <vt:lpstr>PowerPoint Presentation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PowerPoint Presentation</vt:lpstr>
      <vt:lpstr>F02 · Extraction · Demo: What to Watch</vt:lpstr>
      <vt:lpstr>F02 · Extraction · Leadership Card</vt:lpstr>
      <vt:lpstr>F02 · Extraction · Leadership Card</vt:lpstr>
      <vt:lpstr>F02 · Extraction · Leadership Card</vt:lpstr>
      <vt:lpstr>F03 · Sentiment</vt:lpstr>
      <vt:lpstr>PowerPoint Presentation</vt:lpstr>
      <vt:lpstr>PowerPoint Presentation</vt:lpstr>
      <vt:lpstr>F03 · Sentiment · Demo: What to Watch</vt:lpstr>
      <vt:lpstr>F03 · Sentiment · Leadership Card</vt:lpstr>
      <vt:lpstr>F03 · Sentiment · Leadership Card</vt:lpstr>
      <vt:lpstr>F03 · Sentiment · Leadership Card</vt:lpstr>
      <vt:lpstr>Lab 1: ~60 Minutes</vt:lpstr>
      <vt:lpstr>Lab 1: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2026-09-17T11:47:18Z</dcterms:modified>
  <cp:category/>
</cp:coreProperties>
</file>