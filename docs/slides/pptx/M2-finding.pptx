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  <p:sldId id="600" r:id="rId46"/>
    <p:sldId id="601" r:id="rId47"/>
    <p:sldId id="602" r:id="rId48"/>
    <p:sldId id="603" r:id="rId49"/>
    <p:sldId id="604" r:id="rId50"/>
    <p:sldId id="605" r:id="rId51"/>
    <p:sldId id="606" r:id="rId52"/>
    <p:sldId id="607" r:id="rId53"/>
    <p:sldId id="608" r:id="rId54"/>
    <p:sldId id="609" r:id="rId55"/>
    <p:sldId id="610" r:id="rId56"/>
    <p:sldId id="611" r:id="rId57"/>
    <p:sldId id="612" r:id="rId58"/>
    <p:sldId id="613" r:id="rId59"/>
    <p:sldId id="614" r:id="rId60"/>
    <p:sldId id="615" r:id="rId61"/>
    <p:sldId id="616" r:id="rId62"/>
    <p:sldId id="617" r:id="rId63"/>
    <p:sldId id="618" r:id="rId64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43.xml"/><Relationship Id="rId61" Type="http://schemas.openxmlformats.org/officeDocument/2006/relationships/slide" Target="slides/slide44.xml"/><Relationship Id="rId62" Type="http://schemas.openxmlformats.org/officeDocument/2006/relationships/slide" Target="slides/slide45.xml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one row per advance. This is the one slide most people photograph.</a:t>
            </a:r>
          </a:p>
          <a:p>
            <a:r>
              <a:t>Row one, search: embed the query, find the nearest stored vectors, show the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06: the same vectors, with the query swapped for an item. Same math, three products.</a:t>
            </a:r>
          </a:p>
          <a:p>
            <a:r>
              <a:t>The thread to watch: embeddings capture what text is about, and nothing about whether it's suitable, safe, or current. Search hands a cliff edge to "quiet, for kids"; recommendations answer the 65-litre pack with the 40-litre pack. The fix is metadata, filters, thresholds, and how you split documents, not a bigger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Surfacing the right thing, and the point in the day where the work stops being about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piece of infrastructure, embeddings, and the rhythm again: three demos, then your lab hour.</a:t>
            </a:r>
          </a:p>
          <a:p>
            <a:r>
              <a:t>Embeddings turn text into vectors; distance between vectors means similarity of meaning.</a:t>
            </a:r>
          </a:p>
          <a:p>
            <a:r>
              <a:t>04: a search box that finds what users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05: the same retrieval, plus a model that reads what it found and cites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 two, RAG: the same first half, then a model writes an answer from the nearest chunks,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 three, recommendations: the item on screen already has a vector; find its neighbors. No model call at request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three: embed, then find the nearest. 05 and 06 literally import 04's search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"is RAG just search," the honest answer is "search plus a model that reads the results," and this picture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swap the query for an item, and nothing else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"dog-friendly waterfall hike, not too steep." The catalog has a dozen matches and keyword search returns almost nothing, because no description says "not too steep" — the best trail says "a gentle grade shaded by cedars." Three bad results and the user goes back to asking strangers on Reddit.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(Wikipedia): search with meaning, as distinguished from lexical search, where the engine looks for literal matches of the query words.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Index, once: thirty trail descriptions through nomic-embed-text, one vector per trail, kept in memory. That happens at startup, not per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Search, each query: embed the query the same way, cosine similarity against every stored vector, top five with scores. The only model call turns text into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768 numbers per text, and similar meaning lands close. Show the raw float array once in the demo so the word "vector" stops being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generated. Cosine similarity is a few lines of code, and the search box stays a search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pgvector or Azure AI Search is the same math at scale. Foundation for the rest of the day: 05, 06, and 08 reuse the idea, and 06 and 08 reuse the actual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 · </a:t>
            </a:r>
            <a:r>
              <a:rPr>
                <a:latin typeface="Consolas"/>
              </a:rPr>
              <a:t>cd modules/M2-finding/F04-semantic-search/dotnet</a:t>
            </a:r>
          </a:p>
          <a:p>
            <a:r>
              <a:t>Files: </a:t>
            </a:r>
            <a:r>
              <a:rPr>
                <a:latin typeface="Consolas"/>
              </a:rPr>
              <a:t>trails-slice.json</a:t>
            </a:r>
            <a:r>
              <a:t> = 30 trails · </a:t>
            </a:r>
            <a:r>
              <a:rPr>
                <a:latin typeface="Consolas"/>
              </a:rPr>
              <a:t>queries.json</a:t>
            </a:r>
            <a:r>
              <a:t> = the three demo queries · </a:t>
            </a:r>
            <a:r>
              <a:rPr>
                <a:latin typeface="Consolas"/>
              </a:rPr>
              <a:t>embeddings.json</a:t>
            </a:r>
            <a:r>
              <a:t> = cache, delete to embed live</a:t>
            </a:r>
          </a:p>
          <a:p>
            <a:r>
              <a:t>Args: the query, in plain words; none = "dog-friendly waterfall hike, not too steep"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Keyword search. Junk.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rm -f embeddings.json &amp;&amp; dotnet run</a:t>
            </a:r>
            <a:r>
              <a:t>. 30 trails embedded in under 2 s, same query. Right trails, scores beside them. Show </a:t>
            </a:r>
            <a:r>
              <a:rPr>
                <a:latin typeface="Consolas"/>
              </a:rPr>
              <a:t>queryVector</a:t>
            </a:r>
            <a:r>
              <a:t> in </a:t>
            </a:r>
            <a:r>
              <a:rPr>
                <a:latin typeface="Consolas"/>
              </a:rPr>
              <a:t>Program.cs</a:t>
            </a:r>
            <a:r>
              <a:t>: 768 floats.</a:t>
            </a:r>
          </a:p>
          <a:p>
            <a:r>
              <a:t>3. Show the cosine method. One screen.</a:t>
            </a:r>
          </a:p>
          <a:p>
            <a:r>
              <a:t>4. </a:t>
            </a:r>
            <a:r>
              <a:rPr>
                <a:latin typeface="Consolas"/>
              </a:rPr>
              <a:t>dotnet run -- somewhere quiet to take my kids</a:t>
            </a:r>
            <a:r>
              <a:t>: Taft Point, a 3,000-foot drop. Scores top out near 0.49 vs 0.77. Filters and a floor, not a better model.</a:t>
            </a:r>
          </a:p>
          <a:p>
            <a:r>
              <a:t>Cut: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any catalog where people describe what they want instead of naming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days to a prototype on an existing catalog; embeddings cheap to free; the work is evaluation and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"Can I have a campfire at Sperry Chalet in September?" The answer exists — paragraph four of a 12-page regulations document nobody will read. Search returns the document, not the answer; a plain chatbot answers fluently and makes it up, and a confidently wrong answer about fire rules is worse than no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(AWS/NVIDIA): retrieval-augmented generation has the model consult an authoritative knowledge source outside its training data before generating, so answers are grounded in your content and can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Index, once: split the park docs into chunks, embed each chunk, store the vector with its text and a source id. Say "the top row happened before anyone asked."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Answer, each question: embed the question, retrieve the top chunks by vector and keyword, build a prompt that says "answer only from these, cite, or say you don't know," and check the citations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Retrieval is 04; generation is 01 with reading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reads instead of remembers. That is why the answer can be current and can be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spots: the wrong chunk, or a bad split. The bad-split lesson gets its numbers in the demo: a chunk-per-section put a conditional fire rule and its overriding exception together and answered right; splitting them apart produced "campfires are fine" 4 runs in 20; re-splitting at subsection boundaries, 0 in 60, while every retrieval metric said the system was working. Chunking is a correctness decision, upstream of model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 · </a:t>
            </a:r>
            <a:r>
              <a:rPr>
                <a:latin typeface="Consolas"/>
              </a:rPr>
              <a:t>cd modules/M2-finding/F05-rag/dotnet</a:t>
            </a:r>
          </a:p>
          <a:p>
            <a:r>
              <a:t>Files: </a:t>
            </a:r>
            <a:r>
              <a:rPr>
                <a:latin typeface="Consolas"/>
              </a:rPr>
              <a:t>park-docs/</a:t>
            </a:r>
            <a:r>
              <a:t> = 25 regulation docs · </a:t>
            </a:r>
            <a:r>
              <a:rPr>
                <a:latin typeface="Consolas"/>
              </a:rPr>
              <a:t>chunks.jsonl</a:t>
            </a:r>
            <a:r>
              <a:t> = 250 chunks · </a:t>
            </a:r>
            <a:r>
              <a:rPr>
                <a:latin typeface="Consolas"/>
              </a:rPr>
              <a:t>chunk-embeddings.json</a:t>
            </a:r>
            <a:r>
              <a:t> = their vectors, precomputed · </a:t>
            </a:r>
            <a:r>
              <a:rPr>
                <a:latin typeface="Consolas"/>
              </a:rPr>
              <a:t>questions.json</a:t>
            </a:r>
            <a:r>
              <a:t> = the four lab questions</a:t>
            </a:r>
          </a:p>
          <a:p>
            <a:r>
              <a:t>Flags: </a:t>
            </a:r>
            <a:r>
              <a:rPr>
                <a:latin typeface="Consolas"/>
              </a:rPr>
              <a:t>--retrieval-only</a:t>
            </a:r>
            <a:r>
              <a:t> = no answer, just ranks · </a:t>
            </a:r>
            <a:r>
              <a:rPr>
                <a:latin typeface="Consolas"/>
              </a:rPr>
              <a:t>--top-k N</a:t>
            </a:r>
            <a:r>
              <a:t> = chunks retrieved (default 3) · </a:t>
            </a:r>
            <a:r>
              <a:rPr>
                <a:latin typeface="Consolas"/>
              </a:rPr>
              <a:t>--alpha</a:t>
            </a:r>
            <a:r>
              <a:t> = semantic weight, 1.0 = cosine only, default 0.6 · </a:t>
            </a:r>
            <a:r>
              <a:rPr>
                <a:latin typeface="Consolas"/>
              </a:rPr>
              <a:t>--no-context</a:t>
            </a:r>
            <a:r>
              <a:t> = plain chatbot · a quoted question replaces the Sperry default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Sperry campfire question, no context. Confident. Wrong.</a:t>
            </a:r>
          </a:p>
          <a:p>
            <a:r>
              <a:t>2. Open </a:t>
            </a:r>
            <a:r>
              <a:rPr>
                <a:latin typeface="Consolas"/>
              </a:rPr>
              <a:t>data/park-docs/glacier-backcountry-camping-guide.md</a:t>
            </a:r>
            <a:r>
              <a:t>, section 4. Read 4.1 then 4.2 aloud. Which one does a model answer from?</a:t>
            </a:r>
          </a:p>
          <a:p>
            <a:r>
              <a:t>3. </a:t>
            </a:r>
            <a:r>
              <a:rPr>
                <a:latin typeface="Consolas"/>
              </a:rPr>
              <a:t>cd ../complete &amp;&amp; dotnet run -- --top-k 8 --alpha 1.0 --retrieval-only</a:t>
            </a:r>
            <a:r>
              <a:t>: ranks 4 to 8 are Acadia and Yosemite.</a:t>
            </a:r>
          </a:p>
          <a:p>
            <a:r>
              <a:t>4. </a:t>
            </a:r>
            <a:r>
              <a:rPr>
                <a:latin typeface="Consolas"/>
              </a:rPr>
              <a:t>dotnet run -- --top-k 8 --retrieval-only</a:t>
            </a:r>
            <a:r>
              <a:t>: hybrid. Acadia gone, "sperry" doing the work.</a:t>
            </a:r>
          </a:p>
          <a:p>
            <a:r>
              <a:t>5. After: </a:t>
            </a:r>
            <a:r>
              <a:rPr>
                <a:latin typeface="Consolas"/>
              </a:rPr>
              <a:t>dotnet run</a:t>
            </a:r>
            <a:r>
              <a:t>. Right answer, cited by name. Point at the citation check line.</a:t>
            </a:r>
          </a:p>
          <a:p>
            <a:r>
              <a:t>6. </a:t>
            </a:r>
            <a:r>
              <a:rPr>
                <a:latin typeface="Consolas"/>
              </a:rPr>
              <a:t>dotnet run -- "Are there EV charging stations in Glacier National Park?"</a:t>
            </a:r>
            <a:r>
              <a:t>: "The documents don't say."</a:t>
            </a:r>
          </a:p>
          <a:p>
            <a:r>
              <a:t>7. </a:t>
            </a:r>
            <a:r>
              <a:rPr>
                <a:latin typeface="Consolas"/>
              </a:rPr>
              <a:t>dotnet run -- "Is the Avalanche Lake Trail open right now?"</a:t>
            </a:r>
            <a:r>
              <a:t>: the date in the prompt. Without it, refused 10 of 18.</a:t>
            </a:r>
          </a:p>
          <a:p>
            <a:r>
              <a:t>8. Point at the DI line: this was gpt-4.1. Local would be one line.</a:t>
            </a:r>
          </a:p>
          <a:p>
            <a:r>
              <a:t>Cut: 7, then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knowledge bases, support and policy docs, product documentation. The production work is chunking, retrieval evaluation, keeping documents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The uncomfortable one underneath it: the worst bug was a text-splitting rule, not a model or a prompt. Ask what your evaluation would have caught. Row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Hard. If asked about cost: a day to demo, weeks to production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a hiker just finished Avalanche Lake Trail and loved it, and the app says nothing. "You'd probably like these three" never got built because everyone assumes it needs a data-science team and six months. Same gap in the gear store: buy the Cascade 65, get a random carousel.</a:t>
            </a:r>
          </a:p>
          <a:p>
            <a:r>
              <a:t>No concept slide: the Same First Half diagram already told this story — same vectors, same similarity code, the query swapped for an item, no model call while the user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 recommender system predicts what a user will prefer. Today's shortcut is content-based (similarity of descriptions); the classical version is collaborative filtering over behavior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 min · </a:t>
            </a:r>
            <a:r>
              <a:rPr>
                <a:latin typeface="Consolas"/>
              </a:rPr>
              <a:t>cd modules/M2-finding/F06-recommendations/dotnet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30 trails · </a:t>
            </a:r>
            <a:r>
              <a:rPr>
                <a:latin typeface="Consolas"/>
              </a:rPr>
              <a:t>trail-embeddings.json</a:t>
            </a:r>
            <a:r>
              <a:t> = 04's vectors, precomputed · </a:t>
            </a:r>
            <a:r>
              <a:rPr>
                <a:latin typeface="Consolas"/>
              </a:rPr>
              <a:t>gear-reviews.jsonl</a:t>
            </a:r>
            <a:r>
              <a:t> = 300 reviews</a:t>
            </a:r>
          </a:p>
          <a:p>
            <a:r>
              <a:t>Args: a trail id or name (default trail-0117, Avalanche Lake) · </a:t>
            </a:r>
            <a:r>
              <a:rPr>
                <a:latin typeface="Consolas"/>
              </a:rPr>
              <a:t>--gear &lt;product&gt;</a:t>
            </a:r>
            <a:r>
              <a:t> = same trick over review text</a:t>
            </a:r>
          </a:p>
          <a:p>
            <a:r>
              <a:t>1. Avalanche Lake Trail page. What belongs at the bottom of this screen?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Random picks. That is what most apps ship.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Same vectors as 04, nothing new embedded. Lakes cluster, but mostly hard, and one has no lake.</a:t>
            </a:r>
          </a:p>
          <a:p>
            <a:r>
              <a:t>4. Difficulty and park are in the catalog, not the text. Similarity gets candidates; metadata re-ranks.</a:t>
            </a:r>
          </a:p>
          <a:p>
            <a:r>
              <a:t>5. </a:t>
            </a:r>
            <a:r>
              <a:rPr>
                <a:latin typeface="Consolas"/>
              </a:rPr>
              <a:t>dotnet run -- --gear Cascade 65</a:t>
            </a:r>
            <a:r>
              <a:t>: the Cascade 40. Substitutes, not complements. What people use with it lives in the reviews: the bear canister, in </a:t>
            </a:r>
            <a:r>
              <a:rPr>
                <a:latin typeface="Consolas"/>
              </a:rPr>
              <a:t>expected-output.md</a:t>
            </a:r>
            <a:r>
              <a:t>.</a:t>
            </a:r>
          </a:p>
          <a:p>
            <a:r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catalog or content library. Collaborative filtering comes later, when behavior data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nearly free once search exists; days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04: embed 30 trails, embed a query, rank by cosine; keyword baseline provided. Two honest routes: if RAG is why you came, go straight to 05 and come back to 04 after — nobody should leave having never built the thing they came for. 06 is 04's code with the query swapped for an item.</a:t>
            </a:r>
          </a:p>
          <a:p>
            <a:r>
              <a:t>05's step that says run question 1 twenty times matters: a wrong answer one run in five is invisible in a single run and is the only defect here that could hurt somebody.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 got Taft Point for the kids query? Who got the Cascade 40? Rows 4–6 of the framework are done. Lunch, then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2: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7" name="Picture 6" descr="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  <a:p>
            <a:pPr/>
            <a:r>
              <a:rPr sz="2800"/>
              <a:t>RAG adds a model that reads the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  <a:p>
            <a:pPr/>
            <a:r>
              <a:rPr sz="2800"/>
              <a:t>RAG adds a model that reads the results</a:t>
            </a:r>
          </a:p>
          <a:p>
            <a:pPr/>
            <a:r>
              <a:rPr sz="2800"/>
              <a:t>Recommendations swap the query for an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F04 · Semantic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Search by what words </a:t>
            </a:r>
            <a:r>
              <a:rPr b="1" sz="4000">
                <a:solidFill>
                  <a:srgbClr val="017AB4"/>
                </a:solidFill>
              </a:rPr>
              <a:t>mean</a:t>
            </a:r>
            <a:r>
              <a:rPr sz="4000"/>
              <a:t>, not by which words appear.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  <a:p>
            <a:pPr/>
            <a:r>
              <a:rPr sz="2800"/>
              <a:t>Nothing is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  <a:p>
            <a:pPr/>
            <a:r>
              <a:rPr sz="2800"/>
              <a:t>Nothing is generated</a:t>
            </a:r>
          </a:p>
          <a:p>
            <a:pPr/>
            <a:r>
              <a:rPr sz="2800"/>
              <a:t>pgvector / Azure AI Search: same math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F04 Semantic 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❌ Keyword baseline: junk</a:t>
            </a:r>
          </a:p>
          <a:p>
            <a:pPr/>
            <a:r>
              <a:rPr sz="2800"/>
              <a:t>The raw float array</a:t>
            </a:r>
          </a:p>
          <a:p>
            <a:pPr/>
            <a:r>
              <a:rPr sz="2800"/>
              <a:t>30 trails embedded in &lt; 2 s</a:t>
            </a:r>
          </a:p>
          <a:p>
            <a:pPr/>
            <a:r>
              <a:rPr sz="2800"/>
              <a:t>Cosine: one visible method</a:t>
            </a:r>
          </a:p>
          <a:p>
            <a:pPr/>
            <a:r>
              <a:rPr sz="2800"/>
              <a:t>✅ Same query, semantic: the right trails, with scores</a:t>
            </a:r>
          </a:p>
          <a:p>
            <a:pPr/>
            <a:r>
              <a:rPr sz="2800"/>
              <a:t>"Quiet, for kids" → Taft Point. A 3,000-foot drop.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search finds what users mean, not just what they type."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search finds what users mean, not just what they type."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F05 ·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Look up your documents first; the model </a:t>
            </a:r>
            <a:r>
              <a:rPr b="1" sz="4000">
                <a:solidFill>
                  <a:srgbClr val="017AB4"/>
                </a:solidFill>
              </a:rPr>
              <a:t>answers from what it finds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  <a:p>
            <a:pPr/>
            <a:r>
              <a:rPr sz="2800"/>
              <a:t>The model reads instead of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  <a:p>
            <a:pPr/>
            <a:r>
              <a:rPr sz="2800"/>
              <a:t>The model reads instead of remembers</a:t>
            </a:r>
          </a:p>
          <a:p>
            <a:pPr/>
            <a:r>
              <a:rPr sz="2800"/>
              <a:t>Two failure spots: the wrong chunk, or a bad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F05 RAG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/>
              <a:t>❌ No context: confident and wrong</a:t>
            </a:r>
          </a:p>
          <a:p>
            <a:pPr/>
            <a:r>
              <a:rPr sz="2400"/>
              <a:t>Embeddings only: 5 of 8 chunks, wrong park</a:t>
            </a:r>
          </a:p>
          <a:p>
            <a:pPr/>
            <a:r>
              <a:rPr sz="2400"/>
              <a:t>✅ Hybrid: "Sperry" starts to count</a:t>
            </a:r>
          </a:p>
          <a:p>
            <a:pPr/>
            <a:r>
              <a:rPr sz="2400"/>
              <a:t>✅ Grounded prompt: right answer, cited</a:t>
            </a:r>
          </a:p>
          <a:p>
            <a:pPr/>
            <a:r>
              <a:rPr sz="2400"/>
              <a:t>Citations are strings — validate the ids</a:t>
            </a:r>
          </a:p>
          <a:p>
            <a:pPr/>
            <a:r>
              <a:rPr sz="2400"/>
              <a:t>"Drone?" → "The documents don't say."</a:t>
            </a:r>
          </a:p>
          <a:p>
            <a:pPr/>
            <a:r>
              <a:rPr sz="2400"/>
              <a:t>"Open right now?" needs the date in the prompt</a:t>
            </a:r>
          </a:p>
          <a:p>
            <a:pPr/>
            <a:r>
              <a:rPr sz="2400"/>
              <a:t>One-line swap to </a:t>
            </a:r>
            <a:r>
              <a:rPr sz="2400">
                <a:latin typeface="Consolas"/>
              </a:rPr>
              <a:t>gpt-4.1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F06 · Recommendations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Suggest the </a:t>
            </a:r>
            <a:r>
              <a:rPr b="1" sz="4000">
                <a:solidFill>
                  <a:srgbClr val="017AB4"/>
                </a:solidFill>
              </a:rPr>
              <a:t>next thing</a:t>
            </a:r>
            <a:r>
              <a:rPr sz="4000"/>
              <a:t> a user will want, from what they liked already.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F06 Recommendations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Same vectors, still in memory</a:t>
            </a:r>
          </a:p>
          <a:p>
            <a:pPr/>
            <a:r>
              <a:rPr sz="2800"/>
              <a:t>"More like this" = search, query → item</a:t>
            </a:r>
          </a:p>
          <a:p>
            <a:pPr/>
            <a:r>
              <a:rPr sz="2800"/>
              <a:t>Lakes cluster — but mostly hard, and one has no lake</a:t>
            </a:r>
          </a:p>
          <a:p>
            <a:pPr/>
            <a:r>
              <a:rPr sz="2800"/>
              <a:t>Difficulty and park aren't in the description text</a:t>
            </a:r>
          </a:p>
          <a:p>
            <a:pPr/>
            <a:r>
              <a:rPr sz="2800"/>
              <a:t>Cascade 65 → Cascade 40: substitutes, not complements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3600"/>
              <a:t>⭐ Recommended: </a:t>
            </a:r>
            <a:r>
              <a:rPr sz="3600" b="1"/>
              <a:t>F04 Semantic Search</a:t>
            </a:r>
          </a:p>
          <a:p>
            <a:pPr/>
            <a:r>
              <a:rPr sz="3600"/>
              <a:t>⛰️ Challenge: </a:t>
            </a:r>
            <a:r>
              <a:rPr sz="3600" b="1"/>
              <a:t>F05 RAG</a:t>
            </a:r>
            <a:r>
              <a:rPr sz="3600"/>
              <a:t> (☁️ room key) · </a:t>
            </a:r>
            <a:r>
              <a:rPr sz="3600" b="1"/>
              <a:t>F06 Recommendations</a:t>
            </a:r>
          </a:p>
          <a:p>
            <a:pPr/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pPr/>
          </a:p>
          <a:p/>
          <a:p>
            <a:r>
              <a:rPr sz="3200"/>
              <a:t>✅ Done = your output similar to </a:t>
            </a:r>
            <a:r>
              <a:rPr sz="32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