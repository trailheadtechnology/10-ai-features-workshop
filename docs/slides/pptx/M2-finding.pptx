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9"/>
  </p:notesMasterIdLst>
  <p:sldIdLst>
    <p:sldId id="576" r:id="rId2"/>
    <p:sldId id="577" r:id="rId3"/>
    <p:sldId id="578" r:id="rId4"/>
    <p:sldId id="579" r:id="rId5"/>
    <p:sldId id="586" r:id="rId6"/>
    <p:sldId id="587" r:id="rId7"/>
    <p:sldId id="588" r:id="rId8"/>
    <p:sldId id="589" r:id="rId9"/>
    <p:sldId id="590" r:id="rId10"/>
    <p:sldId id="591" r:id="rId11"/>
    <p:sldId id="592" r:id="rId12"/>
    <p:sldId id="593" r:id="rId13"/>
    <p:sldId id="594" r:id="rId14"/>
    <p:sldId id="595" r:id="rId15"/>
    <p:sldId id="596" r:id="rId16"/>
    <p:sldId id="597" r:id="rId17"/>
    <p:sldId id="598" r:id="rId18"/>
    <p:sldId id="599" r:id="rId19"/>
    <p:sldId id="600" r:id="rId20"/>
    <p:sldId id="601" r:id="rId21"/>
    <p:sldId id="602" r:id="rId22"/>
    <p:sldId id="603" r:id="rId23"/>
    <p:sldId id="604" r:id="rId24"/>
    <p:sldId id="605" r:id="rId25"/>
    <p:sldId id="606" r:id="rId26"/>
    <p:sldId id="607" r:id="rId27"/>
    <p:sldId id="608" r:id="rId28"/>
    <p:sldId id="609" r:id="rId29"/>
    <p:sldId id="610" r:id="rId30"/>
    <p:sldId id="611" r:id="rId31"/>
    <p:sldId id="612" r:id="rId32"/>
    <p:sldId id="613" r:id="rId33"/>
    <p:sldId id="614" r:id="rId34"/>
    <p:sldId id="615" r:id="rId35"/>
    <p:sldId id="616" r:id="rId36"/>
    <p:sldId id="617" r:id="rId37"/>
    <p:sldId id="618" r:id="rId38"/>
  </p:sldIdLst>
  <p:sldSz cx="12192000" cy="6858000"/>
  <p:notesSz cx="6858000" cy="9144000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Segoe UI" panose="020B0502040204020203" pitchFamily="34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2" autoAdjust="0"/>
    <p:restoredTop sz="66867" autoAdjust="0"/>
  </p:normalViewPr>
  <p:slideViewPr>
    <p:cSldViewPr snapToGrid="0">
      <p:cViewPr varScale="1">
        <p:scale>
          <a:sx n="101" d="100"/>
          <a:sy n="101" d="100"/>
        </p:scale>
        <p:origin x="157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9-16T13:41:30.984" v="1229" actId="20577"/>
      <pc:docMkLst>
        <pc:docMk/>
      </pc:docMkLst>
      <pc:sldChg chg="modSp mod">
        <pc:chgData name="J. Tower" userId="9d06de10716639e5" providerId="LiveId" clId="{F8931099-75CA-5660-A155-55881DF68D84}" dt="2026-09-16T13:10:21.056" v="1000" actId="27636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16T13:10:21.056" v="1000" actId="27636"/>
          <ac:spMkLst>
            <pc:docMk/>
            <pc:sldMk cId="0" sldId="57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10:16.761" v="993" actId="20577"/>
        <pc:sldMkLst>
          <pc:docMk/>
          <pc:sldMk cId="0" sldId="577"/>
        </pc:sldMkLst>
        <pc:spChg chg="mod">
          <ac:chgData name="J. Tower" userId="9d06de10716639e5" providerId="LiveId" clId="{F8931099-75CA-5660-A155-55881DF68D84}" dt="2026-09-16T13:10:16.761" v="993" actId="20577"/>
          <ac:spMkLst>
            <pc:docMk/>
            <pc:sldMk cId="0" sldId="577"/>
            <ac:spMk id="4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10:35.148" v="1031" actId="20577"/>
        <pc:sldMkLst>
          <pc:docMk/>
          <pc:sldMk cId="0" sldId="578"/>
        </pc:sldMkLst>
        <pc:spChg chg="mod">
          <ac:chgData name="J. Tower" userId="9d06de10716639e5" providerId="LiveId" clId="{F8931099-75CA-5660-A155-55881DF68D84}" dt="2026-09-16T13:10:20.990" v="994"/>
          <ac:spMkLst>
            <pc:docMk/>
            <pc:sldMk cId="0" sldId="578"/>
            <ac:spMk id="4" creationId="{00000000-0000-0000-0000-000000000000}"/>
          </ac:spMkLst>
        </pc:spChg>
        <pc:spChg chg="mod">
          <ac:chgData name="J. Tower" userId="9d06de10716639e5" providerId="LiveId" clId="{F8931099-75CA-5660-A155-55881DF68D84}" dt="2026-09-16T13:10:35.148" v="1031" actId="20577"/>
          <ac:spMkLst>
            <pc:docMk/>
            <pc:sldMk cId="0" sldId="578"/>
            <ac:spMk id="6" creationId="{00000000-0000-0000-0000-000000000000}"/>
          </ac:spMkLst>
        </pc:spChg>
      </pc:sldChg>
      <pc:sldChg chg="modSp modNotesTx">
        <pc:chgData name="J. Tower" userId="9d06de10716639e5" providerId="LiveId" clId="{F8931099-75CA-5660-A155-55881DF68D84}" dt="2026-09-16T13:10:41.372" v="1032"/>
        <pc:sldMkLst>
          <pc:docMk/>
          <pc:sldMk cId="0" sldId="579"/>
        </pc:sldMkLst>
        <pc:spChg chg="mod">
          <ac:chgData name="J. Tower" userId="9d06de10716639e5" providerId="LiveId" clId="{F8931099-75CA-5660-A155-55881DF68D84}" dt="2026-09-16T13:10:23.919" v="1001"/>
          <ac:spMkLst>
            <pc:docMk/>
            <pc:sldMk cId="0" sldId="579"/>
            <ac:spMk id="4" creationId="{00000000-0000-0000-0000-000000000000}"/>
          </ac:spMkLst>
        </pc:spChg>
        <pc:spChg chg="mod">
          <ac:chgData name="J. Tower" userId="9d06de10716639e5" providerId="LiveId" clId="{F8931099-75CA-5660-A155-55881DF68D84}" dt="2026-09-16T13:10:41.372" v="1032"/>
          <ac:spMkLst>
            <pc:docMk/>
            <pc:sldMk cId="0" sldId="579"/>
            <ac:spMk id="6" creationId="{00000000-0000-0000-0000-000000000000}"/>
          </ac:spMkLst>
        </pc:spChg>
      </pc:sldChg>
      <pc:sldChg chg="del">
        <pc:chgData name="J. Tower" userId="9d06de10716639e5" providerId="LiveId" clId="{F8931099-75CA-5660-A155-55881DF68D84}" dt="2026-09-16T13:11:32.025" v="1036" actId="2696"/>
        <pc:sldMkLst>
          <pc:docMk/>
          <pc:sldMk cId="0" sldId="580"/>
        </pc:sldMkLst>
      </pc:sldChg>
      <pc:sldChg chg="del">
        <pc:chgData name="J. Tower" userId="9d06de10716639e5" providerId="LiveId" clId="{F8931099-75CA-5660-A155-55881DF68D84}" dt="2026-09-16T13:11:32.027" v="1038" actId="2696"/>
        <pc:sldMkLst>
          <pc:docMk/>
          <pc:sldMk cId="0" sldId="581"/>
        </pc:sldMkLst>
      </pc:sldChg>
      <pc:sldChg chg="del">
        <pc:chgData name="J. Tower" userId="9d06de10716639e5" providerId="LiveId" clId="{F8931099-75CA-5660-A155-55881DF68D84}" dt="2026-09-16T13:11:32.023" v="1034" actId="2696"/>
        <pc:sldMkLst>
          <pc:docMk/>
          <pc:sldMk cId="0" sldId="582"/>
        </pc:sldMkLst>
      </pc:sldChg>
      <pc:sldChg chg="del">
        <pc:chgData name="J. Tower" userId="9d06de10716639e5" providerId="LiveId" clId="{F8931099-75CA-5660-A155-55881DF68D84}" dt="2026-09-16T13:11:32.024" v="1035" actId="2696"/>
        <pc:sldMkLst>
          <pc:docMk/>
          <pc:sldMk cId="0" sldId="583"/>
        </pc:sldMkLst>
      </pc:sldChg>
      <pc:sldChg chg="del">
        <pc:chgData name="J. Tower" userId="9d06de10716639e5" providerId="LiveId" clId="{F8931099-75CA-5660-A155-55881DF68D84}" dt="2026-09-16T13:11:32.026" v="1037" actId="2696"/>
        <pc:sldMkLst>
          <pc:docMk/>
          <pc:sldMk cId="0" sldId="584"/>
        </pc:sldMkLst>
      </pc:sldChg>
      <pc:sldChg chg="modSp del mod">
        <pc:chgData name="J. Tower" userId="9d06de10716639e5" providerId="LiveId" clId="{F8931099-75CA-5660-A155-55881DF68D84}" dt="2026-09-16T13:11:32.021" v="1033" actId="2696"/>
        <pc:sldMkLst>
          <pc:docMk/>
          <pc:sldMk cId="0" sldId="585"/>
        </pc:sldMkLst>
        <pc:spChg chg="mod">
          <ac:chgData name="J. Tower" userId="9d06de10716639e5" providerId="LiveId" clId="{F8931099-75CA-5660-A155-55881DF68D84}" dt="2026-09-16T13:10:21.005" v="995" actId="27636"/>
          <ac:spMkLst>
            <pc:docMk/>
            <pc:sldMk cId="0" sldId="58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10:21.022" v="996" actId="27636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9-16T13:10:21.022" v="996" actId="27636"/>
          <ac:spMkLst>
            <pc:docMk/>
            <pc:sldMk cId="0" sldId="58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20:19:44.314" v="981" actId="20577"/>
        <pc:sldMkLst>
          <pc:docMk/>
          <pc:sldMk cId="0" sldId="587"/>
        </pc:sldMkLst>
        <pc:spChg chg="mod">
          <ac:chgData name="J. Tower" userId="9d06de10716639e5" providerId="LiveId" clId="{F8931099-75CA-5660-A155-55881DF68D84}" dt="2026-09-03T20:19:44.314" v="981" actId="20577"/>
          <ac:spMkLst>
            <pc:docMk/>
            <pc:sldMk cId="0" sldId="587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40:14.566" v="1178" actId="20577"/>
        <pc:sldMkLst>
          <pc:docMk/>
          <pc:sldMk cId="0" sldId="595"/>
        </pc:sldMkLst>
        <pc:spChg chg="mod">
          <ac:chgData name="J. Tower" userId="9d06de10716639e5" providerId="LiveId" clId="{F8931099-75CA-5660-A155-55881DF68D84}" dt="2026-09-16T13:40:14.566" v="1178" actId="20577"/>
          <ac:spMkLst>
            <pc:docMk/>
            <pc:sldMk cId="0" sldId="59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40:17.877" v="1179" actId="20577"/>
        <pc:sldMkLst>
          <pc:docMk/>
          <pc:sldMk cId="0" sldId="596"/>
        </pc:sldMkLst>
        <pc:spChg chg="mod">
          <ac:chgData name="J. Tower" userId="9d06de10716639e5" providerId="LiveId" clId="{F8931099-75CA-5660-A155-55881DF68D84}" dt="2026-09-16T13:40:17.877" v="1179" actId="20577"/>
          <ac:spMkLst>
            <pc:docMk/>
            <pc:sldMk cId="0" sldId="596"/>
            <ac:spMk id="3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9-16T13:40:26.139" v="1180"/>
        <pc:sldMkLst>
          <pc:docMk/>
          <pc:sldMk cId="0" sldId="597"/>
        </pc:sldMkLst>
        <pc:spChg chg="mod">
          <ac:chgData name="J. Tower" userId="9d06de10716639e5" providerId="LiveId" clId="{F8931099-75CA-5660-A155-55881DF68D84}" dt="2026-09-16T13:40:26.139" v="1180"/>
          <ac:spMkLst>
            <pc:docMk/>
            <pc:sldMk cId="0" sldId="597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10:21.031" v="997" actId="27636"/>
        <pc:sldMkLst>
          <pc:docMk/>
          <pc:sldMk cId="0" sldId="598"/>
        </pc:sldMkLst>
        <pc:spChg chg="mod">
          <ac:chgData name="J. Tower" userId="9d06de10716639e5" providerId="LiveId" clId="{F8931099-75CA-5660-A155-55881DF68D84}" dt="2026-09-16T13:10:21.031" v="997" actId="27636"/>
          <ac:spMkLst>
            <pc:docMk/>
            <pc:sldMk cId="0" sldId="598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41:30.984" v="1229" actId="20577"/>
        <pc:sldMkLst>
          <pc:docMk/>
          <pc:sldMk cId="0" sldId="599"/>
        </pc:sldMkLst>
        <pc:spChg chg="mod">
          <ac:chgData name="J. Tower" userId="9d06de10716639e5" providerId="LiveId" clId="{F8931099-75CA-5660-A155-55881DF68D84}" dt="2026-09-16T13:41:30.984" v="1229" actId="20577"/>
          <ac:spMkLst>
            <pc:docMk/>
            <pc:sldMk cId="0" sldId="599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10:21.039" v="998" actId="27636"/>
        <pc:sldMkLst>
          <pc:docMk/>
          <pc:sldMk cId="0" sldId="604"/>
        </pc:sldMkLst>
        <pc:spChg chg="mod">
          <ac:chgData name="J. Tower" userId="9d06de10716639e5" providerId="LiveId" clId="{F8931099-75CA-5660-A155-55881DF68D84}" dt="2026-09-16T13:10:21.039" v="998" actId="27636"/>
          <ac:spMkLst>
            <pc:docMk/>
            <pc:sldMk cId="0" sldId="60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3:10:21.046" v="999" actId="27636"/>
        <pc:sldMkLst>
          <pc:docMk/>
          <pc:sldMk cId="0" sldId="610"/>
        </pc:sldMkLst>
        <pc:spChg chg="mod">
          <ac:chgData name="J. Tower" userId="9d06de10716639e5" providerId="LiveId" clId="{F8931099-75CA-5660-A155-55881DF68D84}" dt="2026-09-16T13:10:21.046" v="999" actId="27636"/>
          <ac:spMkLst>
            <pc:docMk/>
            <pc:sldMk cId="0" sldId="61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20:20:13.797" v="985" actId="20577"/>
        <pc:sldMkLst>
          <pc:docMk/>
          <pc:sldMk cId="0" sldId="611"/>
        </pc:sldMkLst>
        <pc:spChg chg="mod">
          <ac:chgData name="J. Tower" userId="9d06de10716639e5" providerId="LiveId" clId="{F8931099-75CA-5660-A155-55881DF68D84}" dt="2026-09-03T20:20:13.797" v="985" actId="20577"/>
          <ac:spMkLst>
            <pc:docMk/>
            <pc:sldMk cId="0" sldId="61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Surfacing the right thing, and the point in the day where the work stops being about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piece of infrastructure, embeddings, and the rhythm again: three demos, then your lab hour.</a:t>
            </a:r>
          </a:p>
          <a:p>
            <a:r>
              <a:t>Embeddings turn text into vectors; distance between vectors means similarity of meaning.</a:t>
            </a:r>
          </a:p>
          <a:p>
            <a:r>
              <a:t>04: a search box that finds what users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05: the same retrieval, plus a model that reads what it found and cites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06: the same vectors, with the query swapped for an item. Same math, three products.</a:t>
            </a:r>
          </a:p>
          <a:p>
            <a:r>
              <a:rPr dirty="0"/>
              <a:t>The thread to watch: embeddings capture what text is about, and nothing about whether it's suitable, safe, or current. </a:t>
            </a:r>
            <a:endParaRPr lang="en-US" dirty="0"/>
          </a:p>
          <a:p>
            <a:r>
              <a:rPr dirty="0"/>
              <a:t>Search hands a cliff edge to "quiet, for kids"; recommendations answer the 65-litre pack with the 40-litre pack. </a:t>
            </a:r>
            <a:endParaRPr lang="en-US" dirty="0"/>
          </a:p>
          <a:p>
            <a:r>
              <a:rPr dirty="0"/>
              <a:t>The fix is metadata, filters, thresholds, and how you split documents, not a bigger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"dog-friendly waterfall hike, not too steep." The catalog has a dozen matches and keyword search returns almost nothing, because no description says "not too steep" — the best trail says "a gentle grade shaded by cedars." Three bad results and the user goes back to asking strangers on Reddit.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 (Wikipedia): search with meaning, as distinguished from lexical search, where the engine looks for literal matches of the query words. Read the slide, let it sit a beat, then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Index, once: thirty trail descriptions through nomic-embed-text, one vector per trail, kept in memory. That happens at startup, not per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Search, each query: embed the query the same way, cosine similarity against every stored vector, top five with scores. The only model call turns text into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768 numbers per text, and similar meaning lands close. Show the raw float array once in the demo so the word "vector" stops being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Nothing is generated. Cosine similarity is a few lines of code, and the search box stays a search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pgvector or Azure AI Search is the same math at scale. Foundation for the rest of the day: 05, 06, and 08 reuse the idea, and 06 and 08 reuse the actual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~8 min · </a:t>
            </a:r>
            <a:r>
              <a:rPr dirty="0">
                <a:latin typeface="Consolas"/>
              </a:rPr>
              <a:t>cd modules/M2-finding/F04-semantic-search/dotnet</a:t>
            </a:r>
          </a:p>
          <a:p>
            <a:r>
              <a:rPr dirty="0"/>
              <a:t>Files: </a:t>
            </a:r>
            <a:r>
              <a:rPr dirty="0">
                <a:latin typeface="Consolas"/>
              </a:rPr>
              <a:t>trails-</a:t>
            </a:r>
            <a:r>
              <a:rPr dirty="0" err="1">
                <a:latin typeface="Consolas"/>
              </a:rPr>
              <a:t>slice.json</a:t>
            </a:r>
            <a:r>
              <a:rPr dirty="0"/>
              <a:t> = 30 trails · </a:t>
            </a:r>
            <a:r>
              <a:rPr dirty="0" err="1">
                <a:latin typeface="Consolas"/>
              </a:rPr>
              <a:t>queries.json</a:t>
            </a:r>
            <a:r>
              <a:rPr dirty="0"/>
              <a:t> = the three demo queries · </a:t>
            </a:r>
            <a:r>
              <a:rPr dirty="0" err="1">
                <a:latin typeface="Consolas"/>
              </a:rPr>
              <a:t>embeddings.json</a:t>
            </a:r>
            <a:r>
              <a:rPr dirty="0"/>
              <a:t> = cache, delete to embed live</a:t>
            </a:r>
          </a:p>
          <a:p>
            <a:r>
              <a:rPr dirty="0" err="1"/>
              <a:t>Args</a:t>
            </a:r>
            <a:r>
              <a:rPr dirty="0"/>
              <a:t>: the query, in plain words; none = "dog-friendly waterfall hike, not too steep"</a:t>
            </a:r>
          </a:p>
          <a:p>
            <a:r>
              <a:rPr dirty="0"/>
              <a:t>1. Before: </a:t>
            </a:r>
            <a:r>
              <a:rPr dirty="0">
                <a:latin typeface="Consolas"/>
              </a:rPr>
              <a:t>cd starter &amp;&amp; dotnet run</a:t>
            </a:r>
            <a:r>
              <a:rPr dirty="0"/>
              <a:t>. Keyword search. Junk.</a:t>
            </a:r>
          </a:p>
          <a:p>
            <a:r>
              <a:rPr dirty="0"/>
              <a:t>2. After: </a:t>
            </a:r>
            <a:r>
              <a:rPr dirty="0">
                <a:latin typeface="Consolas"/>
              </a:rPr>
              <a:t>cd ../complete &amp;&amp; rm -f </a:t>
            </a:r>
            <a:r>
              <a:rPr dirty="0" err="1">
                <a:latin typeface="Consolas"/>
              </a:rPr>
              <a:t>embeddings.json</a:t>
            </a:r>
            <a:r>
              <a:rPr dirty="0">
                <a:latin typeface="Consolas"/>
              </a:rPr>
              <a:t> &amp;&amp; dotnet run</a:t>
            </a:r>
            <a:r>
              <a:rPr dirty="0"/>
              <a:t>. 30 trails embedded in under 2 s, same query. Right trails, scores beside them. Show </a:t>
            </a:r>
            <a:r>
              <a:rPr dirty="0" err="1">
                <a:latin typeface="Consolas"/>
              </a:rPr>
              <a:t>queryVector</a:t>
            </a:r>
            <a:r>
              <a:rPr dirty="0"/>
              <a:t> in </a:t>
            </a:r>
            <a:r>
              <a:rPr dirty="0" err="1">
                <a:latin typeface="Consolas"/>
              </a:rPr>
              <a:t>Program.cs</a:t>
            </a:r>
            <a:r>
              <a:rPr dirty="0"/>
              <a:t>: 768 floats.</a:t>
            </a:r>
          </a:p>
          <a:p>
            <a:r>
              <a:rPr dirty="0"/>
              <a:t>3. Show the cosine method. One screen.</a:t>
            </a:r>
          </a:p>
          <a:p>
            <a:r>
              <a:rPr dirty="0"/>
              <a:t>4. </a:t>
            </a:r>
            <a:r>
              <a:rPr dirty="0">
                <a:latin typeface="Consolas"/>
              </a:rPr>
              <a:t>dotnet run -- somewhere quiet to take my kids</a:t>
            </a:r>
            <a:r>
              <a:rPr dirty="0"/>
              <a:t>: Taft Point, a 3,000-foot drop. Scores top out near 0.49 vs 0.77. Filters and a floor, not a better model.</a:t>
            </a:r>
          </a:p>
          <a:p>
            <a:r>
              <a:rPr dirty="0"/>
              <a:t>Cut: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Also: any catalog where people describe what they want instead of naming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Easy. If asked about cost: days to a prototype on an existing catalog; embeddings cheap to free; the work is evaluation and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"Can I have a campfire at Sperry Chalet in September?" The answer exists — paragraph four of a 12-page regulations document nobody will read. Search returns the document, not the answer; a plain chatbot answers fluently and makes it up, and a confidently wrong answer about fire rules is worse than no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 (AWS/NVIDIA): retrieval-augmented generation has the model consult an authoritative knowledge source outside its training data before generating, so answers are grounded in your content and can cite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Index, once: split the park docs into chunks, embed each chunk, store the vector with its text and a source id. Say "the top row happened before anyone asked."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Answer, each question: embed the question, retrieve the top chunks by vector and keyword, build a prompt that says "answer only from these, cite, or say you don't know," and check the citations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Retrieval is 04; generation is 01 with reading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reads instead of remembers. That is why the answer can be current and can be cited.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failure spots: the wrong chunk, or a bad split. The bad-split lesson gets its numbers in the demo: a chunk-per-section put a conditional fire rule and its overriding exception together and answered right; splitting them apart produced "campfires are fine" 4 runs in 20; re-splitting at subsection boundaries, 0 in 60, while every retrieval metric said the system was working. Chunking is a correctness decision, upstream of model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~12 min · </a:t>
            </a:r>
            <a:r>
              <a:rPr dirty="0">
                <a:latin typeface="Consolas"/>
              </a:rPr>
              <a:t>cd modules/M2-finding/F05-rag/dotnet</a:t>
            </a:r>
          </a:p>
          <a:p>
            <a:r>
              <a:rPr dirty="0"/>
              <a:t>Files: </a:t>
            </a:r>
            <a:r>
              <a:rPr dirty="0">
                <a:latin typeface="Consolas"/>
              </a:rPr>
              <a:t>park-docs/</a:t>
            </a:r>
            <a:r>
              <a:rPr dirty="0"/>
              <a:t> = 25 regulation docs · </a:t>
            </a:r>
            <a:r>
              <a:rPr dirty="0" err="1">
                <a:latin typeface="Consolas"/>
              </a:rPr>
              <a:t>chunks.jsonl</a:t>
            </a:r>
            <a:r>
              <a:rPr dirty="0"/>
              <a:t> = 250 chunks · </a:t>
            </a:r>
            <a:r>
              <a:rPr dirty="0">
                <a:latin typeface="Consolas"/>
              </a:rPr>
              <a:t>chunk-</a:t>
            </a:r>
            <a:r>
              <a:rPr dirty="0" err="1">
                <a:latin typeface="Consolas"/>
              </a:rPr>
              <a:t>embeddings.json</a:t>
            </a:r>
            <a:r>
              <a:rPr dirty="0"/>
              <a:t> = their vectors, precomputed · </a:t>
            </a:r>
            <a:r>
              <a:rPr dirty="0" err="1">
                <a:latin typeface="Consolas"/>
              </a:rPr>
              <a:t>questions.json</a:t>
            </a:r>
            <a:r>
              <a:rPr dirty="0"/>
              <a:t> = the four lab questions</a:t>
            </a:r>
          </a:p>
          <a:p>
            <a:r>
              <a:rPr dirty="0"/>
              <a:t>Flags: </a:t>
            </a:r>
            <a:r>
              <a:rPr dirty="0">
                <a:latin typeface="Consolas"/>
              </a:rPr>
              <a:t>--retrieval-only</a:t>
            </a:r>
            <a:r>
              <a:rPr dirty="0"/>
              <a:t> = no answer, just ranks · </a:t>
            </a:r>
            <a:r>
              <a:rPr dirty="0">
                <a:latin typeface="Consolas"/>
              </a:rPr>
              <a:t>--top-k N</a:t>
            </a:r>
            <a:r>
              <a:rPr dirty="0"/>
              <a:t> = chunks retrieved (default 3) · </a:t>
            </a:r>
            <a:r>
              <a:rPr dirty="0">
                <a:latin typeface="Consolas"/>
              </a:rPr>
              <a:t>--alpha</a:t>
            </a:r>
            <a:r>
              <a:rPr dirty="0"/>
              <a:t> = semantic weight, 1.0 = cosine only, default 0.6 · </a:t>
            </a:r>
            <a:r>
              <a:rPr dirty="0">
                <a:latin typeface="Consolas"/>
              </a:rPr>
              <a:t>--no-context</a:t>
            </a:r>
            <a:r>
              <a:rPr dirty="0"/>
              <a:t> = plain chatbot · a quoted question replaces the Sperry default</a:t>
            </a:r>
          </a:p>
          <a:p>
            <a:r>
              <a:rPr dirty="0"/>
              <a:t>1. Before: </a:t>
            </a:r>
            <a:r>
              <a:rPr dirty="0">
                <a:latin typeface="Consolas"/>
              </a:rPr>
              <a:t>cd starter &amp;&amp; dotnet run</a:t>
            </a:r>
            <a:r>
              <a:rPr dirty="0"/>
              <a:t>. The Sperry campfire question, no context. Confident. Wrong.</a:t>
            </a:r>
          </a:p>
          <a:p>
            <a:r>
              <a:rPr dirty="0"/>
              <a:t>2. Open </a:t>
            </a:r>
            <a:r>
              <a:rPr dirty="0">
                <a:latin typeface="Consolas"/>
              </a:rPr>
              <a:t>data/park-docs/glacier-backcountry-camping-</a:t>
            </a:r>
            <a:r>
              <a:rPr dirty="0" err="1">
                <a:latin typeface="Consolas"/>
              </a:rPr>
              <a:t>guide.md</a:t>
            </a:r>
            <a:r>
              <a:rPr dirty="0"/>
              <a:t>, section 4. Read 4.1 then 4.2 aloud. Which one does a model answer from?</a:t>
            </a:r>
          </a:p>
          <a:p>
            <a:r>
              <a:rPr dirty="0"/>
              <a:t>3. </a:t>
            </a:r>
            <a:r>
              <a:rPr dirty="0">
                <a:latin typeface="Consolas"/>
              </a:rPr>
              <a:t>cd ../complete &amp;&amp; dotnet run -- --top-k 8 --alpha 1.0 --retrieval-only</a:t>
            </a:r>
            <a:r>
              <a:rPr dirty="0"/>
              <a:t>: ranks 4 to 8 are Acadia and Yosemite.</a:t>
            </a:r>
          </a:p>
          <a:p>
            <a:r>
              <a:rPr dirty="0"/>
              <a:t>4. </a:t>
            </a:r>
            <a:r>
              <a:rPr dirty="0">
                <a:latin typeface="Consolas"/>
              </a:rPr>
              <a:t>dotnet run -- --top-k 8 --retrieval-only</a:t>
            </a:r>
            <a:r>
              <a:rPr dirty="0"/>
              <a:t>: hybrid. Acadia gone, "</a:t>
            </a:r>
            <a:r>
              <a:rPr dirty="0" err="1"/>
              <a:t>sperry</a:t>
            </a:r>
            <a:r>
              <a:rPr dirty="0"/>
              <a:t>" doing the work.</a:t>
            </a:r>
          </a:p>
          <a:p>
            <a:r>
              <a:rPr dirty="0"/>
              <a:t>5. After: </a:t>
            </a:r>
            <a:r>
              <a:rPr dirty="0">
                <a:latin typeface="Consolas"/>
              </a:rPr>
              <a:t>dotnet run</a:t>
            </a:r>
            <a:r>
              <a:rPr dirty="0"/>
              <a:t>. Right answer, cited by name. Point at the citation check line.</a:t>
            </a:r>
          </a:p>
          <a:p>
            <a:r>
              <a:rPr dirty="0"/>
              <a:t>6. </a:t>
            </a:r>
            <a:r>
              <a:rPr dirty="0">
                <a:latin typeface="Consolas"/>
              </a:rPr>
              <a:t>dotnet run -- "Are there EV charging stations in Glacier National Park?"</a:t>
            </a:r>
            <a:r>
              <a:rPr dirty="0"/>
              <a:t>: "The documents don't say."</a:t>
            </a:r>
          </a:p>
          <a:p>
            <a:r>
              <a:rPr dirty="0"/>
              <a:t>7. </a:t>
            </a:r>
            <a:r>
              <a:rPr dirty="0">
                <a:latin typeface="Consolas"/>
              </a:rPr>
              <a:t>dotnet run -- "Is the Avalanche Lake Trail open right now?"</a:t>
            </a:r>
            <a:r>
              <a:rPr dirty="0"/>
              <a:t>: the date in the prompt. Without it, refused 10 of 18.</a:t>
            </a:r>
          </a:p>
          <a:p>
            <a:r>
              <a:rPr dirty="0"/>
              <a:t>8. Point at the DI line: this was gpt-4.1. Local would be one line.</a:t>
            </a:r>
          </a:p>
          <a:p>
            <a:r>
              <a:rPr dirty="0"/>
              <a:t>Cut: 7, then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Internal knowledge bases, support and policy docs, product documentation. The production work is chunking, retrieval evaluation, keeping documents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The uncomfortable one underneath it: the worst bug was a text-splitting rule, not a model or a prompt. Ask what your evaluation would have caught. Row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Hard. If asked about cost: a day to demo, weeks to production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a hiker just finished Avalanche Lake Trail and loved it, and the app says nothing. "You'd probably like these three" never got built because everyone assumes it needs a data-science team and six months. Same gap in the gear store: buy the Cascade 65, get a random carousel.</a:t>
            </a:r>
          </a:p>
          <a:p>
            <a:r>
              <a:t>No concept slide: the Same First Half diagram already told this story — same vectors, same similarity code, the query swapped for an item, no model call while the user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 recommender system predicts what a user will prefer. Today's shortcut is content-based (similarity of descriptions); the classical version is collaborative filtering over behavior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~6 min · </a:t>
            </a:r>
            <a:r>
              <a:rPr>
                <a:latin typeface="Consolas"/>
              </a:rPr>
              <a:t>cd modules/M2-finding/F06-recommendations/dotnet</a:t>
            </a:r>
          </a:p>
          <a:p>
            <a:r>
              <a:t>Files: </a:t>
            </a:r>
            <a:r>
              <a:rPr>
                <a:latin typeface="Consolas"/>
              </a:rPr>
              <a:t>trails.json</a:t>
            </a:r>
            <a:r>
              <a:t> = 30 trails · </a:t>
            </a:r>
            <a:r>
              <a:rPr>
                <a:latin typeface="Consolas"/>
              </a:rPr>
              <a:t>trail-embeddings.json</a:t>
            </a:r>
            <a:r>
              <a:t> = 04's vectors, precomputed · </a:t>
            </a:r>
            <a:r>
              <a:rPr>
                <a:latin typeface="Consolas"/>
              </a:rPr>
              <a:t>gear-reviews.jsonl</a:t>
            </a:r>
            <a:r>
              <a:t> = 300 reviews</a:t>
            </a:r>
          </a:p>
          <a:p>
            <a:r>
              <a:t>Args: a trail id or name (default trail-0117, Avalanche Lake) · </a:t>
            </a:r>
            <a:r>
              <a:rPr>
                <a:latin typeface="Consolas"/>
              </a:rPr>
              <a:t>--gear &lt;product&gt;</a:t>
            </a:r>
            <a:r>
              <a:t> = same trick over review text</a:t>
            </a:r>
          </a:p>
          <a:p>
            <a:r>
              <a:t>1. Avalanche Lake Trail page. What belongs at the bottom of this screen?</a:t>
            </a:r>
          </a:p>
          <a:p>
            <a:r>
              <a:t>2. Before: </a:t>
            </a:r>
            <a:r>
              <a:rPr>
                <a:latin typeface="Consolas"/>
              </a:rPr>
              <a:t>cd starter &amp;&amp; dotnet run</a:t>
            </a:r>
            <a:r>
              <a:t>. Random picks. That is what most apps ship.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</a:t>
            </a:r>
            <a:r>
              <a:t>. Same vectors as 04, nothing new embedded. Lakes cluster, but mostly hard, and one has no lake.</a:t>
            </a:r>
          </a:p>
          <a:p>
            <a:r>
              <a:t>4. Difficulty and park are in the catalog, not the text. Similarity gets candidates; metadata re-ranks.</a:t>
            </a:r>
          </a:p>
          <a:p>
            <a:r>
              <a:t>5. </a:t>
            </a:r>
            <a:r>
              <a:rPr>
                <a:latin typeface="Consolas"/>
              </a:rPr>
              <a:t>dotnet run -- --gear Cascade 65</a:t>
            </a:r>
            <a:r>
              <a:t>: the Cascade 40. Substitutes, not complements. What people use with it lives in the reviews: the bear canister, in </a:t>
            </a:r>
            <a:r>
              <a:rPr>
                <a:latin typeface="Consolas"/>
              </a:rPr>
              <a:t>expected-output.md</a:t>
            </a:r>
            <a:r>
              <a:t>.</a:t>
            </a:r>
          </a:p>
          <a:p>
            <a:r>
              <a:t>Cut: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Any catalog or content library. Collaborative filtering comes later, when behavior data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Easy. If asked about cost: nearly free once search exists; days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04: embed 30 trails, embed a query, rank by cosine; keyword baseline provided. Two honest routes: if RAG is why you came, go straight to 05 and come back to 04 after — nobody should leave having never built the thing they came for. 06 is 04's code with the query swapped for an item.</a:t>
            </a:r>
          </a:p>
          <a:p>
            <a:r>
              <a:t>05's step that says run question 1 twenty times matters: a wrong answer one run in five is invisible in a single run and is the only defect here that could hurt somebody.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two people what surprised them.</a:t>
            </a:r>
          </a:p>
          <a:p>
            <a:r>
              <a:t>Prompts if quiet: who got Taft Point for the kids query? Who got the Cascade 40? Rows 4–6 of the framework are done. Lunch, then Module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9/16/26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Module 2: Finding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F04 S</a:t>
            </a:r>
            <a:r>
              <a:rPr lang="en-US" sz="2400" b="1" dirty="0"/>
              <a:t>ematic S</a:t>
            </a:r>
            <a:r>
              <a:rPr sz="2400" b="1" dirty="0"/>
              <a:t>earch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F04 Sematic Search</a:t>
            </a:r>
          </a:p>
        </p:txBody>
      </p:sp>
      <p:pic>
        <p:nvPicPr>
          <p:cNvPr id="5" name="Picture 4" descr="docu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005072"/>
            <a:ext cx="2148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F05 </a:t>
            </a:r>
            <a:r>
              <a:rPr lang="en-US" sz="2400" b="1" dirty="0"/>
              <a:t>Retrieval-Augmented Generation</a:t>
            </a:r>
            <a:endParaRPr sz="2400" b="1" dirty="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F04 Sematic Search</a:t>
            </a:r>
          </a:p>
        </p:txBody>
      </p:sp>
      <p:pic>
        <p:nvPicPr>
          <p:cNvPr id="5" name="Picture 4" descr="docu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005072"/>
            <a:ext cx="2148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F05 Retrieval-Augmented Generation</a:t>
            </a:r>
          </a:p>
        </p:txBody>
      </p:sp>
      <p:pic>
        <p:nvPicPr>
          <p:cNvPr id="7" name="Picture 6" descr="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99008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F04 · Semantic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Search by what words </a:t>
            </a:r>
            <a:r>
              <a:rPr sz="4000" b="1" dirty="0">
                <a:solidFill>
                  <a:srgbClr val="017AB4"/>
                </a:solidFill>
              </a:rPr>
              <a:t>mean</a:t>
            </a:r>
            <a:r>
              <a:rPr sz="4000" dirty="0"/>
              <a:t>, </a:t>
            </a:r>
            <a:endParaRPr lang="en-US" sz="4000" dirty="0"/>
          </a:p>
          <a:p>
            <a:pPr algn="ctr"/>
            <a:r>
              <a:rPr sz="4000" dirty="0"/>
              <a:t>not by which words appear.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788920"/>
            <a:ext cx="10966704" cy="3749040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30 trail descriptions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One vector per trail, kept in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4096511"/>
            <a:ext cx="10966704" cy="2441449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30 trail descriptions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One vector per trail, kept in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Search, each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"quiet waterfall hike for kids"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97858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4474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76644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33260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Cosine similarity against every stored vector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55430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12046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Top 5, with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4096511"/>
            <a:ext cx="10966704" cy="2441449"/>
          </a:xfrm>
        </p:spPr>
        <p:txBody>
          <a:bodyPr wrap="square"/>
          <a:lstStyle/>
          <a:p>
            <a:r>
              <a:rPr sz="2800"/>
              <a:t>~768 numbers · similar meaning lands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30 trail descriptions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One vector per trail, kept in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Search, each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"quiet waterfall hike for kids"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97858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4474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76644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33260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Cosine similarity against every stored vector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55430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12046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Top 5, with scores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4096511"/>
            <a:ext cx="10966704" cy="2441449"/>
          </a:xfrm>
        </p:spPr>
        <p:txBody>
          <a:bodyPr wrap="square"/>
          <a:lstStyle/>
          <a:p>
            <a:r>
              <a:rPr sz="2800"/>
              <a:t>~768 numbers · similar meaning lands close</a:t>
            </a:r>
          </a:p>
          <a:p>
            <a:r>
              <a:rPr sz="2800"/>
              <a:t>Nothing is 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30 trail descriptions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One vector per trail, kept in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Search, each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"quiet waterfall hike for kids"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97858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4474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76644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33260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Cosine similarity against every stored vector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55430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12046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Top 5, with scores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4096511"/>
            <a:ext cx="10966704" cy="2441449"/>
          </a:xfrm>
        </p:spPr>
        <p:txBody>
          <a:bodyPr wrap="square"/>
          <a:lstStyle/>
          <a:p>
            <a:r>
              <a:rPr sz="2800"/>
              <a:t>~768 numbers · similar meaning lands close</a:t>
            </a:r>
          </a:p>
          <a:p>
            <a:r>
              <a:rPr sz="2800"/>
              <a:t>Nothing is generated</a:t>
            </a:r>
          </a:p>
          <a:p>
            <a:r>
              <a:rPr sz="2800"/>
              <a:t>pgvector / Azure AI Search: same math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30 trail descriptions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One vector per trail, kept in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Search, each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"quiet waterfall hike for kids"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97858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4474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nomic-embed-text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676644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033260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Cosine similarity against every stored vector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55430" y="320497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12046" y="283464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Top 5, with scores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F04 Semantic Search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Semantic Search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❌ Keyword baseline: junk</a:t>
            </a:r>
          </a:p>
          <a:p>
            <a:r>
              <a:rPr sz="2800"/>
              <a:t>The raw float array</a:t>
            </a:r>
          </a:p>
          <a:p>
            <a:r>
              <a:rPr sz="2800"/>
              <a:t>30 trails embedded in &lt; 2 s</a:t>
            </a:r>
          </a:p>
          <a:p>
            <a:r>
              <a:rPr sz="2800"/>
              <a:t>Cosine: one visible method</a:t>
            </a:r>
          </a:p>
          <a:p>
            <a:r>
              <a:rPr sz="2800"/>
              <a:t>✅ Same query, semantic: the right trails, with scores</a:t>
            </a:r>
          </a:p>
          <a:p>
            <a:r>
              <a:rPr sz="2800"/>
              <a:t>"Quiet, for kids" → Taft Point. A 3,000-foot drop.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Semantic Search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 dirty="0"/>
              <a:t>When:</a:t>
            </a:r>
            <a:r>
              <a:rPr sz="2800" dirty="0"/>
              <a:t> A </a:t>
            </a:r>
            <a:r>
              <a:rPr lang="en-US" sz="2800" dirty="0"/>
              <a:t>previously useless search box now allows them to</a:t>
            </a:r>
            <a:r>
              <a:rPr sz="2800" dirty="0"/>
              <a:t> describe what they want</a:t>
            </a:r>
            <a:r>
              <a:rPr lang="en-US" sz="2800" dirty="0"/>
              <a:t> and</a:t>
            </a:r>
            <a:r>
              <a:rPr sz="2800" dirty="0"/>
              <a:t> it </a:t>
            </a:r>
            <a:r>
              <a:rPr lang="en-US" sz="2800" dirty="0"/>
              <a:t>finds the most conceptually related things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Semantic Search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lang="en-US" sz="2800" b="1" dirty="0"/>
              <a:t>When:</a:t>
            </a:r>
            <a:r>
              <a:rPr lang="en-US" sz="2800" dirty="0"/>
              <a:t> A previously useless search box now allows them to describe what they want and it finds the most conceptually related things.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"Our search finds what users mean, not just what they type."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F04 · Semantic Search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lang="en-US" sz="2800" b="1" dirty="0"/>
              <a:t>When:</a:t>
            </a:r>
            <a:r>
              <a:rPr lang="en-US" sz="2800" dirty="0"/>
              <a:t> A previously useless search box now allows them to describe what they want and it finds the most conceptually related things.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"Our search finds what users mean, not just what they type."</a:t>
            </a:r>
          </a:p>
          <a:p>
            <a:pPr>
              <a:spcAft>
                <a:spcPts val="1400"/>
              </a:spcAft>
            </a:pPr>
            <a:endParaRPr sz="2800" dirty="0"/>
          </a:p>
          <a:p>
            <a:pPr>
              <a:spcAft>
                <a:spcPts val="1400"/>
              </a:spcAft>
            </a:pPr>
            <a:r>
              <a:rPr sz="2800" b="1" dirty="0"/>
              <a:t>Difficulty:</a:t>
            </a:r>
            <a:r>
              <a:rPr sz="2800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F05 · RAG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Look </a:t>
            </a:r>
            <a:r>
              <a:rPr lang="en-US" sz="4000" dirty="0"/>
              <a:t>in your </a:t>
            </a:r>
            <a:r>
              <a:rPr sz="4000" dirty="0"/>
              <a:t>documents </a:t>
            </a:r>
            <a:r>
              <a:rPr lang="en-US" sz="4000" dirty="0"/>
              <a:t>as the source</a:t>
            </a:r>
            <a:r>
              <a:rPr sz="4000" dirty="0"/>
              <a:t>; the </a:t>
            </a:r>
            <a:endParaRPr lang="en-US" sz="4000" dirty="0"/>
          </a:p>
          <a:p>
            <a:pPr algn="ctr"/>
            <a:r>
              <a:rPr sz="4000" dirty="0"/>
              <a:t>model </a:t>
            </a:r>
            <a:r>
              <a:rPr lang="en-US" sz="4000" b="1" dirty="0">
                <a:solidFill>
                  <a:srgbClr val="017AB4"/>
                </a:solidFill>
              </a:rPr>
              <a:t>composes an a</a:t>
            </a:r>
            <a:r>
              <a:rPr sz="4000" b="1" dirty="0">
                <a:solidFill>
                  <a:srgbClr val="017AB4"/>
                </a:solidFill>
              </a:rPr>
              <a:t>nswer from what it finds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788920"/>
            <a:ext cx="10966704" cy="3749040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Park docs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Split into chunks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Embed each 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Store vector + text + source 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522976"/>
            <a:ext cx="10966704" cy="1014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Park docs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Split into chunks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Embed each 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Store vector + text + source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2459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Answer, each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71596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28212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4120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80736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top chunks (vector + keyword)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76644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33260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chunks + question + "answer only from these, cite, or say you don't know"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29168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5784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gpt-4.1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81692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33830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Answer with citations your code checks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522976"/>
            <a:ext cx="10966704" cy="1014984"/>
          </a:xfrm>
        </p:spPr>
        <p:txBody>
          <a:bodyPr wrap="square"/>
          <a:lstStyle/>
          <a:p>
            <a:r>
              <a:rPr sz="2800"/>
              <a:t>Retrieval = 04 · generation = 01, with reading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Park docs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Split into chunks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Embed each 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Store vector + text + source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2459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Answer, each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71596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28212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4120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80736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top chunks (vector + keyword)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76644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33260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chunks + question + "answer only from these, cite, or say you don't know"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29168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5784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gpt-4.1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81692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33830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Answer with citations your code checks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522976"/>
            <a:ext cx="10966704" cy="1014984"/>
          </a:xfrm>
        </p:spPr>
        <p:txBody>
          <a:bodyPr wrap="square"/>
          <a:lstStyle/>
          <a:p>
            <a:r>
              <a:rPr sz="2800"/>
              <a:t>Retrieval = 04 · generation = 01, with reading material</a:t>
            </a:r>
          </a:p>
          <a:p>
            <a:r>
              <a:rPr sz="2800"/>
              <a:t>The model reads instead of remembers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Park docs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Split into chunks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Embed each 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Store vector + text + source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2459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Answer, each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71596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28212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4120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80736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top chunks (vector + keyword)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76644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33260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chunks + question + "answer only from these, cite, or say you don't know"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29168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5784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gpt-4.1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81692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33830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Answer with citations your code checks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522976"/>
            <a:ext cx="10966704" cy="1014984"/>
          </a:xfrm>
        </p:spPr>
        <p:txBody>
          <a:bodyPr wrap="square">
            <a:normAutofit fontScale="77500" lnSpcReduction="20000"/>
          </a:bodyPr>
          <a:lstStyle/>
          <a:p>
            <a:r>
              <a:rPr sz="2800"/>
              <a:t>Retrieval = 04 · generation = 01, with reading material</a:t>
            </a:r>
          </a:p>
          <a:p>
            <a:r>
              <a:rPr sz="2800"/>
              <a:t>The model reads instead of remembers</a:t>
            </a:r>
          </a:p>
          <a:p>
            <a:r>
              <a:rPr sz="2800"/>
              <a:t>Two failure spots: the wrong chunk, or a bad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Index,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Park docs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Split into chunks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Embed each 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Store vector + text + source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2459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Answer, each 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71596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28212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4120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80736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top chunks (vector + keyword)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76644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33260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chunks + question + "answer only from these, cite, or say you don't know"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29168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5784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gpt-4.1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81692" y="391820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338308" y="2834640"/>
            <a:ext cx="1241044" cy="245973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Answer with citations your code checks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F05 RAG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RAG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400"/>
              <a:t>❌ No context: confident and wrong</a:t>
            </a:r>
          </a:p>
          <a:p>
            <a:r>
              <a:rPr sz="2400"/>
              <a:t>Embeddings only: 5 of 8 chunks, wrong park</a:t>
            </a:r>
          </a:p>
          <a:p>
            <a:r>
              <a:rPr sz="2400"/>
              <a:t>✅ Hybrid: "Sperry" starts to count</a:t>
            </a:r>
          </a:p>
          <a:p>
            <a:r>
              <a:rPr sz="2400"/>
              <a:t>✅ Grounded prompt: right answer, cited</a:t>
            </a:r>
          </a:p>
          <a:p>
            <a:r>
              <a:rPr sz="2400"/>
              <a:t>Citations are strings — validate the ids</a:t>
            </a:r>
          </a:p>
          <a:p>
            <a:r>
              <a:rPr sz="2400"/>
              <a:t>"Drone?" → "The documents don't say."</a:t>
            </a:r>
          </a:p>
          <a:p>
            <a:r>
              <a:rPr sz="2400"/>
              <a:t>"Open right now?" needs the date in the prompt</a:t>
            </a:r>
          </a:p>
          <a:p>
            <a:r>
              <a:rPr sz="2400"/>
              <a:t>One-line swap to </a:t>
            </a:r>
            <a:r>
              <a:rPr sz="2400">
                <a:latin typeface="Consolas"/>
              </a:rPr>
              <a:t>gpt-4.1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RAG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The org already wrote the answer down, and people still ask humans.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RAG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The org already wrote the answer down, and people still ask humans.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"Our documents already answer these questions. This makes them answer directly, with receipts."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F05 · RAG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The org already wrote the answer down, and people still ask humans.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"Our documents already answer these questions. This makes them answer directly, with receipts."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Hard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F06 · Recommendations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Suggest the </a:t>
            </a:r>
            <a:r>
              <a:rPr sz="4000" b="1">
                <a:solidFill>
                  <a:srgbClr val="017AB4"/>
                </a:solidFill>
              </a:rPr>
              <a:t>next thing</a:t>
            </a:r>
            <a:r>
              <a:rPr sz="4000"/>
              <a:t> a user will want, </a:t>
            </a:r>
            <a:endParaRPr lang="en-US" sz="4000"/>
          </a:p>
          <a:p>
            <a:pPr algn="ctr"/>
            <a:r>
              <a:rPr sz="4000"/>
              <a:t>from what they liked already.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F06 Recommendations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Recommendations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Same vectors, still in memory</a:t>
            </a:r>
          </a:p>
          <a:p>
            <a:r>
              <a:rPr sz="2800"/>
              <a:t>"More like this" = search, query → item</a:t>
            </a:r>
          </a:p>
          <a:p>
            <a:r>
              <a:rPr sz="2800"/>
              <a:t>Lakes cluster — but mostly hard, and one has no lake</a:t>
            </a:r>
          </a:p>
          <a:p>
            <a:r>
              <a:rPr sz="2800"/>
              <a:t>Difficulty and park aren't in the description text</a:t>
            </a:r>
          </a:p>
          <a:p>
            <a:r>
              <a:rPr sz="2800"/>
              <a:t>Cascade 65 → Cascade 40: substitutes, not complements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Recommendations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finish one thing and the product offers no next step.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Recommendations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finish one thing and the product offers no next step.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"The same vectors that power our search give us 'more like this' for free."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F06 · Recommendations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finish one thing and the product offers no next step.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"The same vectors that power our search give us 'more like this' for free."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2: ~60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3600"/>
              <a:t>⭐ Recommended: </a:t>
            </a:r>
            <a:r>
              <a:rPr sz="3600" b="1"/>
              <a:t>F04 Semantic Search</a:t>
            </a:r>
          </a:p>
          <a:p>
            <a:r>
              <a:rPr sz="3600"/>
              <a:t>⛰️ Challenge: </a:t>
            </a:r>
            <a:r>
              <a:rPr sz="3600" b="1"/>
              <a:t>F05 RAG</a:t>
            </a:r>
            <a:r>
              <a:rPr sz="3600"/>
              <a:t> (☁️ room key) · </a:t>
            </a:r>
            <a:r>
              <a:rPr sz="3600" b="1"/>
              <a:t>F06 Recommendations</a:t>
            </a:r>
          </a:p>
          <a:p>
            <a:r>
              <a:rPr sz="2800">
                <a:latin typeface="Consolas"/>
              </a:rPr>
              <a:t>FNN-lab.md</a:t>
            </a:r>
            <a:r>
              <a:rPr sz="2800"/>
              <a:t> · </a:t>
            </a:r>
            <a:r>
              <a:rPr sz="2800">
                <a:latin typeface="Consolas"/>
              </a:rPr>
              <a:t>http/</a:t>
            </a:r>
            <a:r>
              <a:rPr sz="2800"/>
              <a:t> · </a:t>
            </a:r>
            <a:r>
              <a:rPr sz="2800">
                <a:latin typeface="Consolas"/>
              </a:rPr>
              <a:t>expected-output.md</a:t>
            </a:r>
            <a:r>
              <a:rPr sz="2800"/>
              <a:t> · </a:t>
            </a:r>
            <a:r>
              <a:rPr sz="2800">
                <a:latin typeface="Consolas"/>
              </a:rPr>
              <a:t>data/</a:t>
            </a:r>
          </a:p>
          <a:p>
            <a:endParaRPr sz="2800">
              <a:latin typeface="Consolas"/>
            </a:endParaRPr>
          </a:p>
          <a:p>
            <a:endParaRPr sz="2800">
              <a:latin typeface="Consolas"/>
            </a:endParaRPr>
          </a:p>
          <a:p>
            <a:r>
              <a:rPr sz="3200"/>
              <a:t>✅ Done = your output similar to </a:t>
            </a:r>
            <a:r>
              <a:rPr sz="3200">
                <a:latin typeface="Consolas"/>
              </a:rPr>
              <a:t>expected-output.md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2: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endParaRPr/>
          </a:p>
          <a:p>
            <a:r>
              <a:rPr sz="2800"/>
              <a:t>How'd it go?				  Observations?			     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98591</TotalTime>
  <Words>3095</Words>
  <Application>Microsoft Macintosh PowerPoint</Application>
  <PresentationFormat>Widescreen</PresentationFormat>
  <Paragraphs>271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Consolas</vt:lpstr>
      <vt:lpstr>Calibri</vt:lpstr>
      <vt:lpstr>Segoe UI</vt:lpstr>
      <vt:lpstr>Arial</vt:lpstr>
      <vt:lpstr>Calibri Light</vt:lpstr>
      <vt:lpstr>Metropolitan</vt:lpstr>
      <vt:lpstr>Building Pragmatic AI</vt:lpstr>
      <vt:lpstr>This Module</vt:lpstr>
      <vt:lpstr>This Module</vt:lpstr>
      <vt:lpstr>This Module</vt:lpstr>
      <vt:lpstr>F04 · Semantic Search</vt:lpstr>
      <vt:lpstr>PowerPoint Presentation</vt:lpstr>
      <vt:lpstr>F04 · How It Works</vt:lpstr>
      <vt:lpstr>F04 · How It Works</vt:lpstr>
      <vt:lpstr>F04 · How It Works</vt:lpstr>
      <vt:lpstr>F04 · How It Works</vt:lpstr>
      <vt:lpstr>F04 · How It Works</vt:lpstr>
      <vt:lpstr>PowerPoint Presentation</vt:lpstr>
      <vt:lpstr>F04 · Semantic Search · Demo: What to Watch</vt:lpstr>
      <vt:lpstr>F04 · Semantic Search · Leadership Card</vt:lpstr>
      <vt:lpstr>F04 · Semantic Search · Leadership Card</vt:lpstr>
      <vt:lpstr>F04 · Semantic Search · Leadership Card</vt:lpstr>
      <vt:lpstr>F05 · RAG</vt:lpstr>
      <vt:lpstr>PowerPoint Presentation</vt:lpstr>
      <vt:lpstr>F05 · How It Works</vt:lpstr>
      <vt:lpstr>F05 · How It Works</vt:lpstr>
      <vt:lpstr>F05 · How It Works</vt:lpstr>
      <vt:lpstr>F05 · How It Works</vt:lpstr>
      <vt:lpstr>F05 · How It Works</vt:lpstr>
      <vt:lpstr>PowerPoint Presentation</vt:lpstr>
      <vt:lpstr>F05 · RAG · Demo: What to Watch</vt:lpstr>
      <vt:lpstr>F05 · RAG · Leadership Card</vt:lpstr>
      <vt:lpstr>F05 · RAG · Leadership Card</vt:lpstr>
      <vt:lpstr>F05 · RAG · Leadership Card</vt:lpstr>
      <vt:lpstr>F06 · Recommendations</vt:lpstr>
      <vt:lpstr>PowerPoint Presentation</vt:lpstr>
      <vt:lpstr>PowerPoint Presentation</vt:lpstr>
      <vt:lpstr>F06 · Recommendations · Demo: What to Watch</vt:lpstr>
      <vt:lpstr>F06 · Recommendations · Leadership Card</vt:lpstr>
      <vt:lpstr>F06 · Recommendations · Leadership Card</vt:lpstr>
      <vt:lpstr>F06 · Recommendations · Leadership Card</vt:lpstr>
      <vt:lpstr>Lab 2: ~60 Minutes</vt:lpstr>
      <vt:lpstr>Lab 2: Debrief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2026-09-16T13:44:19Z</dcterms:modified>
  <cp:category/>
</cp:coreProperties>
</file>