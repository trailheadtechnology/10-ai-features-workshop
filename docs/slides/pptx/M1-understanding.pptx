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7"/>
  </p:notesMasterIdLst>
  <p:sldIdLst>
    <p:sldId id="576" r:id="rId2"/>
    <p:sldId id="579" r:id="rId3"/>
    <p:sldId id="608" r:id="rId4"/>
    <p:sldId id="609" r:id="rId5"/>
    <p:sldId id="580" r:id="rId6"/>
    <p:sldId id="610" r:id="rId7"/>
    <p:sldId id="581" r:id="rId8"/>
    <p:sldId id="582" r:id="rId9"/>
    <p:sldId id="583" r:id="rId10"/>
    <p:sldId id="584" r:id="rId11"/>
    <p:sldId id="613" r:id="rId12"/>
    <p:sldId id="586" r:id="rId13"/>
    <p:sldId id="611" r:id="rId14"/>
    <p:sldId id="587" r:id="rId15"/>
    <p:sldId id="588" r:id="rId16"/>
    <p:sldId id="589" r:id="rId17"/>
    <p:sldId id="590" r:id="rId18"/>
    <p:sldId id="591" r:id="rId19"/>
    <p:sldId id="592" r:id="rId20"/>
    <p:sldId id="593" r:id="rId21"/>
    <p:sldId id="594" r:id="rId22"/>
    <p:sldId id="595" r:id="rId23"/>
    <p:sldId id="596" r:id="rId24"/>
    <p:sldId id="597" r:id="rId25"/>
    <p:sldId id="598" r:id="rId26"/>
    <p:sldId id="599" r:id="rId27"/>
    <p:sldId id="600" r:id="rId28"/>
    <p:sldId id="612" r:id="rId29"/>
    <p:sldId id="601" r:id="rId30"/>
    <p:sldId id="602" r:id="rId31"/>
    <p:sldId id="603" r:id="rId32"/>
    <p:sldId id="604" r:id="rId33"/>
    <p:sldId id="605" r:id="rId34"/>
    <p:sldId id="606" r:id="rId35"/>
    <p:sldId id="607" r:id="rId36"/>
  </p:sldIdLst>
  <p:sldSz cx="12192000" cy="6858000"/>
  <p:notesSz cx="6858000" cy="9144000"/>
  <p:embeddedFontLst>
    <p:embeddedFont>
      <p:font typeface="Consolas" panose="020B0609020204030204" pitchFamily="49" charset="0"/>
      <p:regular r:id="rId38"/>
      <p:bold r:id="rId39"/>
      <p:italic r:id="rId40"/>
      <p:boldItalic r:id="rId41"/>
    </p:embeddedFont>
    <p:embeddedFont>
      <p:font typeface="Segoe UI" panose="020B0502040204020203" pitchFamily="34" charset="0"/>
      <p:regular r:id="rId42"/>
      <p:bold r:id="rId43"/>
      <p:italic r:id="rId44"/>
      <p:bold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21" autoAdjust="0"/>
    <p:restoredTop sz="66887" autoAdjust="0"/>
  </p:normalViewPr>
  <p:slideViewPr>
    <p:cSldViewPr snapToGrid="0">
      <p:cViewPr varScale="1">
        <p:scale>
          <a:sx n="100" d="100"/>
          <a:sy n="100" d="100"/>
        </p:scale>
        <p:origin x="1576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modSection">
      <pc:chgData name="J. Tower" userId="9d06de10716639e5" providerId="LiveId" clId="{F8931099-75CA-5660-A155-55881DF68D84}" dt="2026-09-17T11:47:03.849" v="1097" actId="20577"/>
      <pc:docMkLst>
        <pc:docMk/>
      </pc:docMkLst>
      <pc:sldChg chg="modSp mod">
        <pc:chgData name="J. Tower" userId="9d06de10716639e5" providerId="LiveId" clId="{F8931099-75CA-5660-A155-55881DF68D84}" dt="2026-09-03T19:08:53.270" v="1086" actId="27636"/>
        <pc:sldMkLst>
          <pc:docMk/>
          <pc:sldMk cId="0" sldId="576"/>
        </pc:sldMkLst>
        <pc:spChg chg="mod">
          <ac:chgData name="J. Tower" userId="9d06de10716639e5" providerId="LiveId" clId="{F8931099-75CA-5660-A155-55881DF68D84}" dt="2026-09-03T19:08:53.270" v="1086" actId="27636"/>
          <ac:spMkLst>
            <pc:docMk/>
            <pc:sldMk cId="0" sldId="576"/>
            <ac:spMk id="3" creationId="{00000000-0000-0000-0000-000000000000}"/>
          </ac:spMkLst>
        </pc:spChg>
      </pc:sldChg>
      <pc:sldChg chg="delSp modSp mod">
        <pc:chgData name="J. Tower" userId="9d06de10716639e5" providerId="LiveId" clId="{F8931099-75CA-5660-A155-55881DF68D84}" dt="2026-09-01T19:23:57.043" v="1004" actId="478"/>
        <pc:sldMkLst>
          <pc:docMk/>
          <pc:sldMk cId="0" sldId="579"/>
        </pc:sldMkLst>
        <pc:spChg chg="mod">
          <ac:chgData name="J. Tower" userId="9d06de10716639e5" providerId="LiveId" clId="{F8931099-75CA-5660-A155-55881DF68D84}" dt="2026-09-01T19:23:55.310" v="1003" actId="1076"/>
          <ac:spMkLst>
            <pc:docMk/>
            <pc:sldMk cId="0" sldId="579"/>
            <ac:spMk id="2" creationId="{00000000-0000-0000-0000-000000000000}"/>
          </ac:spMkLst>
        </pc:spChg>
        <pc:spChg chg="mod">
          <ac:chgData name="J. Tower" userId="9d06de10716639e5" providerId="LiveId" clId="{F8931099-75CA-5660-A155-55881DF68D84}" dt="2026-09-01T19:23:40.416" v="994" actId="1076"/>
          <ac:spMkLst>
            <pc:docMk/>
            <pc:sldMk cId="0" sldId="579"/>
            <ac:spMk id="4" creationId="{00000000-0000-0000-0000-000000000000}"/>
          </ac:spMkLst>
        </pc:spChg>
        <pc:picChg chg="mod">
          <ac:chgData name="J. Tower" userId="9d06de10716639e5" providerId="LiveId" clId="{F8931099-75CA-5660-A155-55881DF68D84}" dt="2026-09-01T19:23:40.416" v="994" actId="1076"/>
          <ac:picMkLst>
            <pc:docMk/>
            <pc:sldMk cId="0" sldId="579"/>
            <ac:picMk id="3" creationId="{00000000-0000-0000-0000-000000000000}"/>
          </ac:picMkLst>
        </pc:picChg>
      </pc:sldChg>
      <pc:sldChg chg="modSp mod">
        <pc:chgData name="J. Tower" userId="9d06de10716639e5" providerId="LiveId" clId="{F8931099-75CA-5660-A155-55881DF68D84}" dt="2026-09-03T19:08:53.273" v="1087" actId="27636"/>
        <pc:sldMkLst>
          <pc:docMk/>
          <pc:sldMk cId="0" sldId="580"/>
        </pc:sldMkLst>
        <pc:spChg chg="mod">
          <ac:chgData name="J. Tower" userId="9d06de10716639e5" providerId="LiveId" clId="{F8931099-75CA-5660-A155-55881DF68D84}" dt="2026-09-03T19:08:53.273" v="1087" actId="27636"/>
          <ac:spMkLst>
            <pc:docMk/>
            <pc:sldMk cId="0" sldId="58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9:08:53.249" v="1084" actId="27636"/>
        <pc:sldMkLst>
          <pc:docMk/>
          <pc:sldMk cId="0" sldId="586"/>
        </pc:sldMkLst>
        <pc:spChg chg="mod">
          <ac:chgData name="J. Tower" userId="9d06de10716639e5" providerId="LiveId" clId="{F8931099-75CA-5660-A155-55881DF68D84}" dt="2026-09-03T19:08:53.249" v="1084" actId="27636"/>
          <ac:spMkLst>
            <pc:docMk/>
            <pc:sldMk cId="0" sldId="58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1T19:24:59.344" v="1018" actId="403"/>
        <pc:sldMkLst>
          <pc:docMk/>
          <pc:sldMk cId="0" sldId="592"/>
        </pc:sldMkLst>
        <pc:spChg chg="mod">
          <ac:chgData name="J. Tower" userId="9d06de10716639e5" providerId="LiveId" clId="{F8931099-75CA-5660-A155-55881DF68D84}" dt="2026-09-01T19:24:59.344" v="1018" actId="403"/>
          <ac:spMkLst>
            <pc:docMk/>
            <pc:sldMk cId="0" sldId="592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1T19:24:56.945" v="1017" actId="403"/>
        <pc:sldMkLst>
          <pc:docMk/>
          <pc:sldMk cId="0" sldId="593"/>
        </pc:sldMkLst>
        <pc:spChg chg="mod">
          <ac:chgData name="J. Tower" userId="9d06de10716639e5" providerId="LiveId" clId="{F8931099-75CA-5660-A155-55881DF68D84}" dt="2026-09-01T19:24:56.945" v="1017" actId="403"/>
          <ac:spMkLst>
            <pc:docMk/>
            <pc:sldMk cId="0" sldId="593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1T19:24:53.935" v="1016" actId="403"/>
        <pc:sldMkLst>
          <pc:docMk/>
          <pc:sldMk cId="0" sldId="594"/>
        </pc:sldMkLst>
        <pc:spChg chg="mod">
          <ac:chgData name="J. Tower" userId="9d06de10716639e5" providerId="LiveId" clId="{F8931099-75CA-5660-A155-55881DF68D84}" dt="2026-09-01T19:24:53.935" v="1016" actId="403"/>
          <ac:spMkLst>
            <pc:docMk/>
            <pc:sldMk cId="0" sldId="594"/>
            <ac:spMk id="3" creationId="{00000000-0000-0000-0000-000000000000}"/>
          </ac:spMkLst>
        </pc:spChg>
      </pc:sldChg>
      <pc:sldChg chg="addSp modSp mod">
        <pc:chgData name="J. Tower" userId="9d06de10716639e5" providerId="LiveId" clId="{F8931099-75CA-5660-A155-55881DF68D84}" dt="2026-09-01T19:25:25.239" v="1032" actId="207"/>
        <pc:sldMkLst>
          <pc:docMk/>
          <pc:sldMk cId="0" sldId="599"/>
        </pc:sldMkLst>
        <pc:spChg chg="mod">
          <ac:chgData name="J. Tower" userId="9d06de10716639e5" providerId="LiveId" clId="{F8931099-75CA-5660-A155-55881DF68D84}" dt="2026-09-01T19:25:07.599" v="1019" actId="20577"/>
          <ac:spMkLst>
            <pc:docMk/>
            <pc:sldMk cId="0" sldId="599"/>
            <ac:spMk id="3" creationId="{00000000-0000-0000-0000-000000000000}"/>
          </ac:spMkLst>
        </pc:spChg>
        <pc:spChg chg="mod">
          <ac:chgData name="J. Tower" userId="9d06de10716639e5" providerId="LiveId" clId="{F8931099-75CA-5660-A155-55881DF68D84}" dt="2026-09-01T19:25:25.239" v="1032" actId="207"/>
          <ac:spMkLst>
            <pc:docMk/>
            <pc:sldMk cId="0" sldId="599"/>
            <ac:spMk id="4" creationId="{00000000-0000-0000-0000-000000000000}"/>
          </ac:spMkLst>
        </pc:spChg>
        <pc:spChg chg="mod">
          <ac:chgData name="J. Tower" userId="9d06de10716639e5" providerId="LiveId" clId="{F8931099-75CA-5660-A155-55881DF68D84}" dt="2026-09-01T19:25:25.239" v="1032" actId="207"/>
          <ac:spMkLst>
            <pc:docMk/>
            <pc:sldMk cId="0" sldId="599"/>
            <ac:spMk id="5" creationId="{00000000-0000-0000-0000-000000000000}"/>
          </ac:spMkLst>
        </pc:spChg>
        <pc:grpChg chg="add mod">
          <ac:chgData name="J. Tower" userId="9d06de10716639e5" providerId="LiveId" clId="{F8931099-75CA-5660-A155-55881DF68D84}" dt="2026-09-01T19:25:18.862" v="1031" actId="1036"/>
          <ac:grpSpMkLst>
            <pc:docMk/>
            <pc:sldMk cId="0" sldId="599"/>
            <ac:grpSpMk id="8" creationId="{A32D348E-9CDE-E27A-8ACA-9AFA1F7E58A9}"/>
          </ac:grpSpMkLst>
        </pc:grpChg>
      </pc:sldChg>
      <pc:sldChg chg="modSp mod">
        <pc:chgData name="J. Tower" userId="9d06de10716639e5" providerId="LiveId" clId="{F8931099-75CA-5660-A155-55881DF68D84}" dt="2026-09-03T19:08:53.260" v="1085" actId="27636"/>
        <pc:sldMkLst>
          <pc:docMk/>
          <pc:sldMk cId="0" sldId="600"/>
        </pc:sldMkLst>
        <pc:spChg chg="mod">
          <ac:chgData name="J. Tower" userId="9d06de10716639e5" providerId="LiveId" clId="{F8931099-75CA-5660-A155-55881DF68D84}" dt="2026-09-03T19:08:53.260" v="1085" actId="27636"/>
          <ac:spMkLst>
            <pc:docMk/>
            <pc:sldMk cId="0" sldId="60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1T19:25:35.687" v="1033" actId="20577"/>
        <pc:sldMkLst>
          <pc:docMk/>
          <pc:sldMk cId="0" sldId="605"/>
        </pc:sldMkLst>
        <pc:spChg chg="mod">
          <ac:chgData name="J. Tower" userId="9d06de10716639e5" providerId="LiveId" clId="{F8931099-75CA-5660-A155-55881DF68D84}" dt="2026-09-01T19:25:35.687" v="1033" actId="20577"/>
          <ac:spMkLst>
            <pc:docMk/>
            <pc:sldMk cId="0" sldId="605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7T11:47:03.849" v="1097" actId="20577"/>
        <pc:sldMkLst>
          <pc:docMk/>
          <pc:sldMk cId="0" sldId="606"/>
        </pc:sldMkLst>
        <pc:spChg chg="mod">
          <ac:chgData name="J. Tower" userId="9d06de10716639e5" providerId="LiveId" clId="{F8931099-75CA-5660-A155-55881DF68D84}" dt="2026-09-17T11:47:03.849" v="1097" actId="20577"/>
          <ac:spMkLst>
            <pc:docMk/>
            <pc:sldMk cId="0" sldId="60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1T19:27:00.215" v="1077" actId="20577"/>
        <pc:sldMkLst>
          <pc:docMk/>
          <pc:sldMk cId="0" sldId="607"/>
        </pc:sldMkLst>
        <pc:spChg chg="mod">
          <ac:chgData name="J. Tower" userId="9d06de10716639e5" providerId="LiveId" clId="{F8931099-75CA-5660-A155-55881DF68D84}" dt="2026-09-01T19:27:00.215" v="1077" actId="20577"/>
          <ac:spMkLst>
            <pc:docMk/>
            <pc:sldMk cId="0" sldId="607"/>
            <ac:spMk id="3" creationId="{00000000-0000-0000-0000-000000000000}"/>
          </ac:spMkLst>
        </pc:spChg>
      </pc:sldChg>
      <pc:sldChg chg="addSp delSp add mod">
        <pc:chgData name="J. Tower" userId="9d06de10716639e5" providerId="LiveId" clId="{F8931099-75CA-5660-A155-55881DF68D84}" dt="2026-09-01T19:24:37.019" v="1009" actId="478"/>
        <pc:sldMkLst>
          <pc:docMk/>
          <pc:sldMk cId="2827037887" sldId="608"/>
        </pc:sldMkLst>
      </pc:sldChg>
      <pc:sldChg chg="add">
        <pc:chgData name="J. Tower" userId="9d06de10716639e5" providerId="LiveId" clId="{F8931099-75CA-5660-A155-55881DF68D84}" dt="2026-09-01T19:23:52.899" v="1001" actId="2890"/>
        <pc:sldMkLst>
          <pc:docMk/>
          <pc:sldMk cId="640487153" sldId="609"/>
        </pc:sldMkLst>
      </pc:sldChg>
      <pc:sldChg chg="modSp mod">
        <pc:chgData name="J. Tower" userId="9d06de10716639e5" providerId="LiveId" clId="{F8931099-75CA-5660-A155-55881DF68D84}" dt="2026-09-03T18:41:29.167" v="1078" actId="20577"/>
        <pc:sldMkLst>
          <pc:docMk/>
          <pc:sldMk cId="0" sldId="610"/>
        </pc:sldMkLst>
        <pc:spChg chg="mod">
          <ac:chgData name="J. Tower" userId="9d06de10716639e5" providerId="LiveId" clId="{F8931099-75CA-5660-A155-55881DF68D84}" dt="2026-09-03T18:41:29.167" v="1078" actId="20577"/>
          <ac:spMkLst>
            <pc:docMk/>
            <pc:sldMk cId="0" sldId="610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03T19:14:50.590" v="1091" actId="20577"/>
        <pc:sldMkLst>
          <pc:docMk/>
          <pc:sldMk cId="0" sldId="611"/>
        </pc:sldMkLst>
        <pc:spChg chg="mod">
          <ac:chgData name="J. Tower" userId="9d06de10716639e5" providerId="LiveId" clId="{F8931099-75CA-5660-A155-55881DF68D84}" dt="2026-09-03T19:14:50.590" v="1091" actId="20577"/>
          <ac:spMkLst>
            <pc:docMk/>
            <pc:sldMk cId="0" sldId="611"/>
            <ac:spMk id="3" creationId="{00000000-0000-0000-0000-000000000000}"/>
          </ac:spMkLst>
        </pc:spChg>
      </pc:sldChg>
      <pc:sldChg chg="addSp modSp add mod">
        <pc:chgData name="J. Tower" userId="9d06de10716639e5" providerId="LiveId" clId="{F8931099-75CA-5660-A155-55881DF68D84}" dt="2026-09-03T19:08:58.611" v="1089"/>
        <pc:sldMkLst>
          <pc:docMk/>
          <pc:sldMk cId="4155427989" sldId="613"/>
        </pc:sldMkLst>
        <pc:spChg chg="mod">
          <ac:chgData name="J. Tower" userId="9d06de10716639e5" providerId="LiveId" clId="{F8931099-75CA-5660-A155-55881DF68D84}" dt="2026-09-03T19:08:53.230" v="1083"/>
          <ac:spMkLst>
            <pc:docMk/>
            <pc:sldMk cId="4155427989" sldId="613"/>
            <ac:spMk id="3" creationId="{53AA7B6A-70F0-B6ED-7F8B-CFDD9B0C5D16}"/>
          </ac:spMkLst>
        </pc:spChg>
        <pc:spChg chg="add mod">
          <ac:chgData name="J. Tower" userId="9d06de10716639e5" providerId="LiveId" clId="{F8931099-75CA-5660-A155-55881DF68D84}" dt="2026-09-03T19:08:58.611" v="1089"/>
          <ac:spMkLst>
            <pc:docMk/>
            <pc:sldMk cId="4155427989" sldId="613"/>
            <ac:spMk id="4" creationId="{B1E8BDC2-EDF4-3F70-F39F-5D43BC13C20A}"/>
          </ac:spMkLst>
        </pc:spChg>
        <pc:spChg chg="add mod">
          <ac:chgData name="J. Tower" userId="9d06de10716639e5" providerId="LiveId" clId="{F8931099-75CA-5660-A155-55881DF68D84}" dt="2026-09-03T19:08:58.611" v="1089"/>
          <ac:spMkLst>
            <pc:docMk/>
            <pc:sldMk cId="4155427989" sldId="613"/>
            <ac:spMk id="5" creationId="{CAF20ED4-4633-3742-5916-E3B2624E2928}"/>
          </ac:spMkLst>
        </pc:spChg>
        <pc:spChg chg="add mod">
          <ac:chgData name="J. Tower" userId="9d06de10716639e5" providerId="LiveId" clId="{F8931099-75CA-5660-A155-55881DF68D84}" dt="2026-09-03T19:08:58.611" v="1089"/>
          <ac:spMkLst>
            <pc:docMk/>
            <pc:sldMk cId="4155427989" sldId="613"/>
            <ac:spMk id="6" creationId="{1D0D4B1B-DE8A-C911-7CFB-36A2E19A9B00}"/>
          </ac:spMkLst>
        </pc:spChg>
        <pc:spChg chg="add mod">
          <ac:chgData name="J. Tower" userId="9d06de10716639e5" providerId="LiveId" clId="{F8931099-75CA-5660-A155-55881DF68D84}" dt="2026-09-03T19:08:58.611" v="1089"/>
          <ac:spMkLst>
            <pc:docMk/>
            <pc:sldMk cId="4155427989" sldId="613"/>
            <ac:spMk id="7" creationId="{4BA60149-5DC8-C3A6-7EF7-64310D95CDE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Making sense of messy content, and everything runs on your laptop.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model call + one careful instruction; the rhythm is three demos, then your lab hour.</a:t>
            </a:r>
          </a:p>
          <a:p>
            <a:r>
              <a:t>Three features, one shape: a single chat call and a carefully written instruction. No vector database, no training, no cloud.</a:t>
            </a:r>
          </a:p>
          <a:p>
            <a:r>
              <a:t>01: forty trip reports become a three-bullet briefing.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B41C57-D4F0-784A-B0D2-BEE50986F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3AA896-E5BD-CA2E-185F-689CB20D50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6F9161-2B3E-0ECF-3F54-0A5C84CC14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02: the same prose becomes a database row, and your code decides whether to believe it.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920304-6689-AA14-03DB-927190574A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059887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7D446-9803-B8AB-5D32-53C6D5B0F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86179-AE5E-6489-61D9-E8C706316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0BFE6-59F1-6E21-7E10-1E6342E003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03: three hundred reviews get a label, and you measure which model deserves the money.</a:t>
            </a:r>
          </a:p>
          <a:p>
            <a:r>
              <a:t>The thread to watch all module: asked for something it cannot find, a model supplies something plausible rather than nothing. 01 invents a closure, 02 invents a distance, 03 believes the sarcasm. A better model does not fix it; a tighter instruction, a null-able schema, and checking code do.</a:t>
            </a:r>
          </a:p>
          <a:p>
            <a:r>
              <a:t>Set the rhythm expectation out loud: three quick demos with a card for your boss after each, then the room builds for an hour: 01 recommended, 02 and 03 for anyone with time left.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822126-9133-2E65-D54B-DC8BD8A4FB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94902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 over this slide, 60 seconds: forty trip reports for Avalanche Lake Trail, 1,200 words each. Somewhere in there: is the bridge out, and are the mosquitoes bad? Nobody reads forty essays; they skim three and miss the warning in the fourth. The hiker at mile two from the opening story is this feature's user.</a:t>
            </a:r>
          </a:p>
          <a:p>
            <a:r>
              <a:t>The concept needs no slide: one chat call, a document, an instruction. "Summarize this" produces a book report; a real product asks for a summary with a purpose and a shape. The demo shows exactly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automatic summarization produces a shorter text that keeps the key information of the source. Read the slide, let it sit a beat, then the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~8 min · </a:t>
            </a:r>
            <a:r>
              <a:rPr>
                <a:latin typeface="Consolas"/>
              </a:rPr>
              <a:t>cd modules/M1-understanding/F01-summarization/dotnet</a:t>
            </a:r>
          </a:p>
          <a:p>
            <a:r>
              <a:t>Files: </a:t>
            </a:r>
            <a:r>
              <a:rPr>
                <a:latin typeface="Consolas"/>
              </a:rPr>
              <a:t>tr-0004.md</a:t>
            </a:r>
            <a:r>
              <a:t> = the story's report, bridge buried mid-text · </a:t>
            </a:r>
            <a:r>
              <a:rPr>
                <a:latin typeface="Consolas"/>
              </a:rPr>
              <a:t>tr-0001.md</a:t>
            </a:r>
            <a:r>
              <a:t> = clean report, nothing closed (hallucination bait)</a:t>
            </a:r>
          </a:p>
          <a:p>
            <a:r>
              <a:t>Flags: none = naive "Summarize this" · </a:t>
            </a:r>
            <a:r>
              <a:rPr>
                <a:latin typeface="Consolas"/>
              </a:rPr>
              <a:t>--briefing</a:t>
            </a:r>
            <a:r>
              <a:t> = 3 hiker bullets · </a:t>
            </a:r>
            <a:r>
              <a:rPr>
                <a:latin typeface="Consolas"/>
              </a:rPr>
              <a:t>--headline</a:t>
            </a:r>
            <a:r>
              <a:t> = one-line trail card · </a:t>
            </a:r>
            <a:r>
              <a:rPr>
                <a:latin typeface="Consolas"/>
              </a:rPr>
              <a:t>--audience ranger</a:t>
            </a:r>
            <a:r>
              <a:t> = same report, different reader</a:t>
            </a:r>
          </a:p>
          <a:p>
            <a:r>
              <a:t>1. Open </a:t>
            </a:r>
            <a:r>
              <a:rPr>
                <a:latin typeface="Consolas"/>
              </a:rPr>
              <a:t>data/tr-0004.md</a:t>
            </a:r>
            <a:r>
              <a:t>, scroll. The bridge is one sentence, mid-report.</a:t>
            </a:r>
          </a:p>
          <a:p>
            <a:r>
              <a:t>2. Before: </a:t>
            </a:r>
            <a:r>
              <a:rPr>
                <a:latin typeface="Consolas"/>
              </a:rPr>
              <a:t>cd starter &amp;&amp; dotnet run -- ../../data/tr-0004.md</a:t>
            </a:r>
            <a:r>
              <a:t>. Book report. Right model, wrong instruction.</a:t>
            </a:r>
          </a:p>
          <a:p>
            <a:r>
              <a:t>3. After: </a:t>
            </a:r>
            <a:r>
              <a:rPr>
                <a:latin typeface="Consolas"/>
              </a:rPr>
              <a:t>cd ../complete &amp;&amp; dotnet run -- --briefing</a:t>
            </a:r>
            <a:r>
              <a:t>. Same report, three bullets, washout leads. Show the prompt.</a:t>
            </a:r>
          </a:p>
          <a:p>
            <a:r>
              <a:t>4. </a:t>
            </a:r>
            <a:r>
              <a:rPr>
                <a:latin typeface="Consolas"/>
              </a:rPr>
              <a:t>dotnet run -- --briefing ../../data/tr-0001.md</a:t>
            </a:r>
            <a:r>
              <a:t>: the clean report, nothing closed. Last two prompt lines: 11 of 24 became 1 of 24.</a:t>
            </a:r>
          </a:p>
          <a:p>
            <a:r>
              <a:t>5. </a:t>
            </a:r>
            <a:r>
              <a:rPr>
                <a:latin typeface="Consolas"/>
              </a:rPr>
              <a:t>dotnet run -- --headline</a:t>
            </a:r>
            <a:r>
              <a:t>: one line for a card.</a:t>
            </a:r>
          </a:p>
          <a:p>
            <a:r>
              <a:t>6. Line 11: </a:t>
            </a:r>
            <a:r>
              <a:rPr>
                <a:latin typeface="Consolas"/>
              </a:rPr>
              <a:t>localhost:11434</a:t>
            </a:r>
            <a:r>
              <a:t>. No key, nothing left the room.</a:t>
            </a:r>
          </a:p>
          <a:p>
            <a:r>
              <a:t>Cut: 5, then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Reviews, tickets, reports, meeting notes, threads. One call per document.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boss; read it. Row 1 of the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6AA14-0B22-1FF2-8EE2-38F9AB040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D2D40-6F61-708C-A418-8033294770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9C3CD7-0C20-33CD-C4F0-5746E8703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boss; read it. Row 1 of the framework.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EB8C3-503B-9049-7658-CCB7B60590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90145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Trailhead wants a "trail stats" panel: which trails, when, how far, what wildlife, what condition. All of it exists as prose across the forty reports, and today a human would re-read and re-type it. So the panel doesn't exist.</a:t>
            </a:r>
          </a:p>
          <a:p>
            <a:r>
              <a:t>This one gets the module's one concept slide, because the pipeline, and where it lies to you, is the lesson.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information extraction turns unstructured text into structured data. JSON mode guarantees the shape; it does not guarantee the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input is prose: the same trip report from 01.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prompt is the schema in words: fields, types, examples, and "null when absent."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llama3.2 in JSON mode. JSON mode guarantees syntax, not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Parse and validate against the schema. This is the box people skip.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Store, or reject and log. A silently stored zero is the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 writes JSON; your code decides whether to believe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null rule and the validator are the feature. Say plainly that extraction without validation is a data-corruption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rejected record is a good outcome; it is the pipeline telling you the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~10 min · </a:t>
            </a:r>
            <a:r>
              <a:rPr>
                <a:latin typeface="Consolas"/>
              </a:rPr>
              <a:t>cd modules/M1-understanding/F02-extraction/dotnet</a:t>
            </a:r>
          </a:p>
          <a:p>
            <a:r>
              <a:t>Files: </a:t>
            </a:r>
            <a:r>
              <a:rPr>
                <a:latin typeface="Consolas"/>
              </a:rPr>
              <a:t>tr-0007.md</a:t>
            </a:r>
            <a:r>
              <a:t> = full report, every field present · </a:t>
            </a:r>
            <a:r>
              <a:rPr>
                <a:latin typeface="Consolas"/>
              </a:rPr>
              <a:t>tr-0011.md</a:t>
            </a:r>
            <a:r>
              <a:t> = sparse report, no distance stated (the null test)</a:t>
            </a:r>
          </a:p>
          <a:p>
            <a:r>
              <a:t>Args: a report path; complete with no args runs both</a:t>
            </a:r>
          </a:p>
          <a:p>
            <a:r>
              <a:t>1. Same kind of report as 01. This time the goal is a database row.</a:t>
            </a:r>
          </a:p>
          <a:p>
            <a:r>
              <a:t>2. Before: </a:t>
            </a:r>
            <a:r>
              <a:rPr>
                <a:latin typeface="Consolas"/>
              </a:rPr>
              <a:t>cd starter &amp;&amp; dotnet run -- ../../data/tr-0007.md</a:t>
            </a:r>
            <a:r>
              <a:t>. JSON asked for in the prompt. Fences, preamble, drifting field names.</a:t>
            </a:r>
          </a:p>
          <a:p>
            <a:r>
              <a:t>3. After: </a:t>
            </a:r>
            <a:r>
              <a:rPr>
                <a:latin typeface="Consolas"/>
              </a:rPr>
              <a:t>cd ../complete &amp;&amp; dotnet run -- ../../data/tr-0007.md</a:t>
            </a:r>
            <a:r>
              <a:t>. </a:t>
            </a:r>
            <a:r>
              <a:rPr>
                <a:latin typeface="Consolas"/>
              </a:rPr>
              <a:t>TripFacts</a:t>
            </a:r>
            <a:r>
              <a:t> record, typed response, no parsing.</a:t>
            </a:r>
          </a:p>
          <a:p>
            <a:r>
              <a:t>4. </a:t>
            </a:r>
            <a:r>
              <a:rPr>
                <a:latin typeface="Consolas"/>
              </a:rPr>
              <a:t>dotnet run -- ../../data/tr-0011.md</a:t>
            </a:r>
            <a:r>
              <a:t>, three times. Nulls where there is nothing, and watch what still slips.</a:t>
            </a:r>
          </a:p>
          <a:p>
            <a:r>
              <a:t>5. Point at the validator: PASS or REJECT. A rejected record is a good outcome.</a:t>
            </a:r>
          </a:p>
          <a:p>
            <a:r>
              <a:t>Cut: 4's repeats.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Invoices, resumes, support emails, contracts, legacy records.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boss. Row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Medium. If asked about cost: days to a working pipeline; the real work is schema design and spot-checking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the Cascade 65 backpack has 300 reviews. Are people happy, and what are they mad about? Star ratings lie: "4 stars, but the hip belt broke on day two." The user here is the product team, not the hiker; track the signal weekly and a defect surfaces months before returns spike.</a:t>
            </a:r>
          </a:p>
          <a:p>
            <a:r>
              <a:t>No concept slide: this is classification, and the demo IS the lesson: the day's model-selection experiment. phi3 free and local vs gpt-4.1 on Azure, same prompt, and you measure instead of assume.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sentiment analysis identifies the emotional polarity of a piece of text. The stars lie; the words mostly don't.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~10 min · </a:t>
            </a:r>
            <a:r>
              <a:rPr>
                <a:latin typeface="Consolas"/>
              </a:rPr>
              <a:t>cd modules/M1-understanding/F03-sentiment/dotnet</a:t>
            </a:r>
          </a:p>
          <a:p>
            <a:r>
              <a:t>Files: </a:t>
            </a:r>
            <a:r>
              <a:rPr>
                <a:latin typeface="Consolas"/>
              </a:rPr>
              <a:t>easy.jsonl</a:t>
            </a:r>
            <a:r>
              <a:t> = 10 plain reviews · </a:t>
            </a:r>
            <a:r>
              <a:rPr>
                <a:latin typeface="Consolas"/>
              </a:rPr>
              <a:t>hard.jsonl</a:t>
            </a:r>
            <a:r>
              <a:t> = 10 sarcastic or split reviews · </a:t>
            </a:r>
            <a:r>
              <a:rPr>
                <a:latin typeface="Consolas"/>
              </a:rPr>
              <a:t>reference-labels.json</a:t>
            </a:r>
            <a:r>
              <a:t> = the hand labels</a:t>
            </a:r>
          </a:p>
          <a:p>
            <a:r>
              <a:t>Flags: </a:t>
            </a:r>
            <a:r>
              <a:rPr>
                <a:latin typeface="Consolas"/>
              </a:rPr>
              <a:t>--easy</a:t>
            </a:r>
            <a:r>
              <a:t> / </a:t>
            </a:r>
            <a:r>
              <a:rPr>
                <a:latin typeface="Consolas"/>
              </a:rPr>
              <a:t>--hard</a:t>
            </a:r>
            <a:r>
              <a:t> = one set; none = both · starter takes a review id (default gr-0007, the sarcastic one)</a:t>
            </a:r>
          </a:p>
          <a:p>
            <a:r>
              <a:t>1. Open </a:t>
            </a:r>
            <a:r>
              <a:rPr>
                <a:latin typeface="Consolas"/>
              </a:rPr>
              <a:t>data/hard.jsonl</a:t>
            </a:r>
            <a:r>
              <a:t>. Find a two-star review with glowing text. Stars lie.</a:t>
            </a:r>
          </a:p>
          <a:p>
            <a:r>
              <a:t>2. Before: </a:t>
            </a:r>
            <a:r>
              <a:rPr>
                <a:latin typeface="Consolas"/>
              </a:rPr>
              <a:t>cd starter &amp;&amp; dotnet run</a:t>
            </a:r>
            <a:r>
              <a:t>. One method, one label, gr-0007. Show the DI line: the swap is one line.</a:t>
            </a:r>
          </a:p>
          <a:p>
            <a:r>
              <a:t>3. After: </a:t>
            </a:r>
            <a:r>
              <a:rPr>
                <a:latin typeface="Consolas"/>
              </a:rPr>
              <a:t>cd ../complete &amp;&amp; dotnet run -- --easy</a:t>
            </a:r>
            <a:r>
              <a:t>. phi3 9/10, gpt-4.1 10/10. Paid for one review.</a:t>
            </a:r>
          </a:p>
          <a:p>
            <a:r>
              <a:t>4. </a:t>
            </a:r>
            <a:r>
              <a:rPr>
                <a:latin typeface="Consolas"/>
              </a:rPr>
              <a:t>dotnet run -- --hard</a:t>
            </a:r>
            <a:r>
              <a:t>: phi3 7/10, gpt-4.1 10/10. Diff on screen. Every miss goes the frontier model's way.</a:t>
            </a:r>
          </a:p>
          <a:p>
            <a:r>
              <a:t>5. The recipe: labeled sample, run both, count disagreements, price the errors.</a:t>
            </a:r>
          </a:p>
          <a:p>
            <a:r>
              <a:t>Cut: 3, go straight to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Reviews, NPS verbatims, tickets, mentions, survey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boss, and today you measured it. Row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Easy. If asked about cost: days; the classifier is trivial, the diligence is a labeled sample and an error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Start with 01 regardless of experience: one endpoint, one prompt, two reports; everything else today assumes you've made one model call and seen what comes back. New to this? Budget the full time and do the stretch goal.</a:t>
            </a:r>
          </a:p>
          <a:p>
            <a:r>
              <a:t>Pick 03 if your question at work is "which model should we pay for"; its Azure half needs the room key. 02's done-check: the sparse report comes back with nulls and the validator says PASS/REJECT honestly.</a:t>
            </a:r>
          </a:p>
          <a:p>
            <a:r>
              <a:t>Finished everything? Help someone near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two people what surprised them.</a:t>
            </a:r>
          </a:p>
          <a:p>
            <a:r>
              <a:t>Prompts if quiet: what surfaced the buried bridge, and what invented one? Rows 1-3 of the framework are done. Break, then Module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9/17/26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9/17/26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/>
              <a:t>Building Pragmatic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Module 1: Understanding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  <p:pic>
        <p:nvPicPr>
          <p:cNvPr id="5" name="Picture 4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44"/>
            <a:ext cx="12188952" cy="3182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3657600"/>
            <a:ext cx="2167128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93" y="3010989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7513" y="4016829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F01 Summarize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B8EF1-FC1F-1E51-E85E-096AC0AEE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9DFF-E376-1691-BA78-321906B6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AAA59011-9D41-74E6-C483-CB29DE356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93" y="3010989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22ACB7-99F8-5F21-120A-8F3C4E96283C}"/>
              </a:ext>
            </a:extLst>
          </p:cNvPr>
          <p:cNvSpPr txBox="1"/>
          <p:nvPr/>
        </p:nvSpPr>
        <p:spPr>
          <a:xfrm>
            <a:off x="1327513" y="4016829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F01 Summarize</a:t>
            </a:r>
          </a:p>
        </p:txBody>
      </p:sp>
      <p:pic>
        <p:nvPicPr>
          <p:cNvPr id="5" name="Picture 4" descr="table.png">
            <a:extLst>
              <a:ext uri="{FF2B5EF4-FFF2-40B4-BE49-F238E27FC236}">
                <a16:creationId xmlns:a16="http://schemas.microsoft.com/office/drawing/2014/main" id="{F64D60FA-BDC7-2109-F12F-133236B87F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809" y="299466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E200F-B618-BDA0-30EC-36CFB446252C}"/>
              </a:ext>
            </a:extLst>
          </p:cNvPr>
          <p:cNvSpPr txBox="1"/>
          <p:nvPr/>
        </p:nvSpPr>
        <p:spPr>
          <a:xfrm>
            <a:off x="5121729" y="4000500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</p:spTree>
    <p:extLst>
      <p:ext uri="{BB962C8B-B14F-4D97-AF65-F5344CB8AC3E}">
        <p14:creationId xmlns:p14="http://schemas.microsoft.com/office/powerpoint/2010/main" val="2827037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260F1-572E-AB23-571E-25A035E3F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70876-B1E3-8599-27BC-0AB31C658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document.png">
            <a:extLst>
              <a:ext uri="{FF2B5EF4-FFF2-40B4-BE49-F238E27FC236}">
                <a16:creationId xmlns:a16="http://schemas.microsoft.com/office/drawing/2014/main" id="{3BAD46C7-C860-D3AD-473E-AB1716295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7593" y="3010989"/>
            <a:ext cx="868680" cy="8686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4FC171-1A1D-238A-DF38-E03AA77AF6C0}"/>
              </a:ext>
            </a:extLst>
          </p:cNvPr>
          <p:cNvSpPr txBox="1"/>
          <p:nvPr/>
        </p:nvSpPr>
        <p:spPr>
          <a:xfrm>
            <a:off x="1327513" y="4016829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dirty="0"/>
              <a:t>F01 Summarize</a:t>
            </a:r>
          </a:p>
        </p:txBody>
      </p:sp>
      <p:pic>
        <p:nvPicPr>
          <p:cNvPr id="5" name="Picture 4" descr="table.png">
            <a:extLst>
              <a:ext uri="{FF2B5EF4-FFF2-40B4-BE49-F238E27FC236}">
                <a16:creationId xmlns:a16="http://schemas.microsoft.com/office/drawing/2014/main" id="{38B55F1C-96F4-49E8-ECD1-B35D48AA08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1809" y="2994660"/>
            <a:ext cx="868680" cy="8686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517CCE9-5077-BE7D-04B0-D9D62C6BE775}"/>
              </a:ext>
            </a:extLst>
          </p:cNvPr>
          <p:cNvSpPr txBox="1"/>
          <p:nvPr/>
        </p:nvSpPr>
        <p:spPr>
          <a:xfrm>
            <a:off x="5121729" y="4000500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>
            <a:extLst>
              <a:ext uri="{FF2B5EF4-FFF2-40B4-BE49-F238E27FC236}">
                <a16:creationId xmlns:a16="http://schemas.microsoft.com/office/drawing/2014/main" id="{4D49CBB8-25DB-DC0D-6E0B-5628A43610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6025" y="2994660"/>
            <a:ext cx="868680" cy="86868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67C42EA-DE8C-E539-F149-32B9C7A2202B}"/>
              </a:ext>
            </a:extLst>
          </p:cNvPr>
          <p:cNvSpPr txBox="1"/>
          <p:nvPr/>
        </p:nvSpPr>
        <p:spPr>
          <a:xfrm>
            <a:off x="8915945" y="4000500"/>
            <a:ext cx="21488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image.png">
            <a:extLst>
              <a:ext uri="{FF2B5EF4-FFF2-40B4-BE49-F238E27FC236}">
                <a16:creationId xmlns:a16="http://schemas.microsoft.com/office/drawing/2014/main" id="{85D44ABB-D58D-A62F-8586-591740F10B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87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F01 · Summarization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Turn a long document into the </a:t>
            </a:r>
            <a:br>
              <a:rPr lang="en-US" sz="4000" dirty="0"/>
            </a:br>
            <a:r>
              <a:rPr sz="4000" b="1" dirty="0">
                <a:solidFill>
                  <a:srgbClr val="017AB4"/>
                </a:solidFill>
              </a:rPr>
              <a:t>short version</a:t>
            </a:r>
            <a:r>
              <a:rPr sz="4000" dirty="0"/>
              <a:t> its reader needs.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F01 Summarization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Summarization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 dirty="0"/>
              <a:t>The raw report first</a:t>
            </a:r>
          </a:p>
          <a:p>
            <a:r>
              <a:rPr sz="2800" dirty="0"/>
              <a:t>❌ Naive prompt: faithful, generic, useless</a:t>
            </a:r>
          </a:p>
          <a:p>
            <a:r>
              <a:rPr sz="2800" dirty="0"/>
              <a:t>✅ Purpose-built prompt: the bridge surfaces</a:t>
            </a:r>
          </a:p>
          <a:p>
            <a:r>
              <a:rPr sz="2800" dirty="0"/>
              <a:t>Grounding lines: without them, ~half of runs invent a closure</a:t>
            </a:r>
          </a:p>
          <a:p>
            <a:r>
              <a:rPr sz="2800" dirty="0"/>
              <a:t>Same call, new shape: a one-line trail status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Summarization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Too much content for people to read, easy-to-miss detail buried in avalanche of text.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Summarization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Too much content for people to read, easy-to-miss detail buried in avalanche of text.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"Our users are drowning in text we already have. A few hours of work turns it into automatic answers."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4CDB7-CDC5-8161-1D68-1BCE57C5D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5BD6-CF58-50B1-1C59-69EB2C3D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F01 · Summarization · Leadership Card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A7B6A-70F0-B6ED-7F8B-CFDD9B0C5D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 dirty="0"/>
              <a:t>When:</a:t>
            </a:r>
            <a:r>
              <a:rPr sz="2800" dirty="0"/>
              <a:t> Too much content for people to read, easy-to-miss detail buried in avalanche of text.</a:t>
            </a:r>
          </a:p>
          <a:p>
            <a:pPr>
              <a:spcAft>
                <a:spcPts val="1400"/>
              </a:spcAft>
            </a:pPr>
            <a:r>
              <a:rPr sz="2800" b="1" dirty="0"/>
              <a:t>Think:</a:t>
            </a:r>
            <a:r>
              <a:rPr sz="2800" dirty="0"/>
              <a:t> "Our users are drowning in text we already have. A few hours of work turns it into automatic answers."</a:t>
            </a:r>
            <a:endParaRPr lang="en-US" sz="2800" dirty="0"/>
          </a:p>
          <a:p>
            <a:pPr>
              <a:spcAft>
                <a:spcPts val="1400"/>
              </a:spcAft>
            </a:pPr>
            <a:endParaRPr lang="en-US" sz="2800" dirty="0"/>
          </a:p>
          <a:p>
            <a:pPr>
              <a:spcAft>
                <a:spcPts val="1400"/>
              </a:spcAft>
            </a:pPr>
            <a:r>
              <a:rPr lang="en-US" sz="2800" b="1" dirty="0"/>
              <a:t>Difficulty:</a:t>
            </a:r>
            <a:endParaRPr sz="2800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1E8BDC2-EDF4-3F70-F39F-5D43BC13C20A}"/>
              </a:ext>
            </a:extLst>
          </p:cNvPr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AF20ED4-4633-3742-5916-E3B2624E2928}"/>
              </a:ext>
            </a:extLst>
          </p:cNvPr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1D0D4B1B-DE8A-C911-7CFB-36A2E19A9B00}"/>
              </a:ext>
            </a:extLst>
          </p:cNvPr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A60149-5DC8-C3A6-7EF7-64310D95CDE3}"/>
              </a:ext>
            </a:extLst>
          </p:cNvPr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Easy</a:t>
            </a:r>
          </a:p>
        </p:txBody>
      </p:sp>
    </p:spTree>
    <p:extLst>
      <p:ext uri="{BB962C8B-B14F-4D97-AF65-F5344CB8AC3E}">
        <p14:creationId xmlns:p14="http://schemas.microsoft.com/office/powerpoint/2010/main" val="41554279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F02 · Extraction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Pull facts out of free-form text </a:t>
            </a:r>
            <a:endParaRPr lang="en-US" sz="4000" dirty="0"/>
          </a:p>
          <a:p>
            <a:pPr algn="ctr"/>
            <a:r>
              <a:rPr sz="4000" dirty="0"/>
              <a:t>into </a:t>
            </a:r>
            <a:r>
              <a:rPr sz="4000" b="1" dirty="0">
                <a:solidFill>
                  <a:srgbClr val="017AB4"/>
                </a:solidFill>
              </a:rPr>
              <a:t>fields your code can query</a:t>
            </a:r>
            <a:r>
              <a:rPr sz="4000" dirty="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Parse and validate against the schema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Parse and validate against the schema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Store, or reject and log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>
            <a:normAutofit/>
          </a:bodyPr>
          <a:lstStyle/>
          <a:p>
            <a:r>
              <a:rPr sz="2800" dirty="0"/>
              <a:t>The model writes JSON; your code decides whether to believe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Parse and validate against the schema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Store, or reject and log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>
            <a:normAutofit/>
          </a:bodyPr>
          <a:lstStyle/>
          <a:p>
            <a:r>
              <a:rPr sz="2800" dirty="0"/>
              <a:t>The model writes JSON; your code decides whether to believe it</a:t>
            </a:r>
          </a:p>
          <a:p>
            <a:r>
              <a:rPr sz="2800" dirty="0"/>
              <a:t>The </a:t>
            </a:r>
            <a:r>
              <a:rPr sz="2800" dirty="0">
                <a:latin typeface="Consolas"/>
              </a:rPr>
              <a:t>null</a:t>
            </a:r>
            <a:r>
              <a:rPr sz="2800" dirty="0"/>
              <a:t> rule and the validator are the feature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Parse and validate against the schema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Store, or reject and log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>
            <a:normAutofit/>
          </a:bodyPr>
          <a:lstStyle/>
          <a:p>
            <a:r>
              <a:rPr sz="2800" dirty="0"/>
              <a:t>The model writes JSON; your code decides whether to believe it</a:t>
            </a:r>
          </a:p>
          <a:p>
            <a:r>
              <a:rPr sz="2800" dirty="0"/>
              <a:t>The </a:t>
            </a:r>
            <a:r>
              <a:rPr sz="2800" dirty="0">
                <a:latin typeface="Consolas"/>
              </a:rPr>
              <a:t>null</a:t>
            </a:r>
            <a:r>
              <a:rPr sz="2800" dirty="0"/>
              <a:t> rule and the validator are the feature</a:t>
            </a:r>
          </a:p>
          <a:p>
            <a:r>
              <a:rPr sz="2800" dirty="0"/>
              <a:t>A rejected record is a good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Trip report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Prompt: fields, types, examples, "null when absent"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llama3.2 in JSON mode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Parse and validate against the schema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Store, or reject and log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F02 Extraction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Extraction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 dirty="0"/>
              <a:t>A C# record (</a:t>
            </a:r>
            <a:r>
              <a:rPr sz="2800" dirty="0" err="1">
                <a:latin typeface="Consolas"/>
              </a:rPr>
              <a:t>TripFacts</a:t>
            </a:r>
            <a:r>
              <a:rPr sz="2800" dirty="0"/>
              <a:t>) · typed response · no parsing</a:t>
            </a:r>
          </a:p>
          <a:p>
            <a:r>
              <a:rPr sz="2800" dirty="0"/>
              <a:t>❌ No distance in the report → </a:t>
            </a:r>
            <a:r>
              <a:rPr sz="2800" dirty="0" err="1">
                <a:latin typeface="Consolas"/>
              </a:rPr>
              <a:t>distance_mi</a:t>
            </a:r>
            <a:r>
              <a:rPr sz="2800" dirty="0">
                <a:latin typeface="Consolas"/>
              </a:rPr>
              <a:t>: 5.0</a:t>
            </a:r>
          </a:p>
          <a:p>
            <a:r>
              <a:rPr sz="2800" dirty="0"/>
              <a:t>✅ Nullable fields + "null when not stated"</a:t>
            </a:r>
          </a:p>
          <a:p>
            <a:r>
              <a:rPr sz="2800"/>
              <a:t>Run it 3×: better ≠ guaranteed</a:t>
            </a:r>
          </a:p>
          <a:p>
            <a:r>
              <a:rPr sz="2800" dirty="0"/>
              <a:t>The last mile is a validator: ordinary code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Extraction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Valuable data trapped in documents nobody will re-type.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Extraction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Valuable data trapped in documents nobody will re-type.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"We have years of data trapped in documents. This turns it into queryable rows without anyone re-typing it."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F02 · Extraction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 dirty="0"/>
              <a:t>When:</a:t>
            </a:r>
            <a:r>
              <a:rPr sz="2800" dirty="0"/>
              <a:t> Valuable data trapped in documents nobody will re-type.</a:t>
            </a:r>
          </a:p>
          <a:p>
            <a:pPr>
              <a:spcAft>
                <a:spcPts val="1400"/>
              </a:spcAft>
            </a:pPr>
            <a:r>
              <a:rPr sz="2800" b="1" dirty="0"/>
              <a:t>Think:</a:t>
            </a:r>
            <a:r>
              <a:rPr sz="2800" dirty="0"/>
              <a:t> "We have years of data trapped in documents. This turns it into </a:t>
            </a:r>
            <a:r>
              <a:rPr sz="2800" dirty="0" err="1"/>
              <a:t>queryable</a:t>
            </a:r>
            <a:r>
              <a:rPr sz="2800" dirty="0"/>
              <a:t> rows without anyone re-typing it."</a:t>
            </a:r>
          </a:p>
          <a:p>
            <a:pPr>
              <a:spcAft>
                <a:spcPts val="1400"/>
              </a:spcAft>
            </a:pPr>
            <a:endParaRPr lang="en-US" sz="2800" b="1" dirty="0"/>
          </a:p>
          <a:p>
            <a:pPr>
              <a:spcAft>
                <a:spcPts val="1400"/>
              </a:spcAft>
            </a:pPr>
            <a:r>
              <a:rPr sz="2800" b="1" dirty="0"/>
              <a:t>Difficulty:</a:t>
            </a:r>
            <a:r>
              <a:rPr sz="2800" dirty="0"/>
              <a:t> 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A32D348E-9CDE-E27A-8ACA-9AFA1F7E58A9}"/>
              </a:ext>
            </a:extLst>
          </p:cNvPr>
          <p:cNvGrpSpPr/>
          <p:nvPr/>
        </p:nvGrpSpPr>
        <p:grpSpPr>
          <a:xfrm>
            <a:off x="2532888" y="4113492"/>
            <a:ext cx="1499616" cy="1033272"/>
            <a:chOff x="2532888" y="4407408"/>
            <a:chExt cx="1499616" cy="1033272"/>
          </a:xfrm>
        </p:grpSpPr>
        <p:sp>
          <p:nvSpPr>
            <p:cNvPr id="4" name="Rounded Rectangle 3"/>
            <p:cNvSpPr/>
            <p:nvPr/>
          </p:nvSpPr>
          <p:spPr>
            <a:xfrm>
              <a:off x="2807208" y="4809744"/>
              <a:ext cx="256032" cy="256032"/>
            </a:xfrm>
            <a:prstGeom prst="roundRect">
              <a:avLst>
                <a:gd name="adj" fmla="val 25000"/>
              </a:avLst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3154680" y="4608576"/>
              <a:ext cx="256032" cy="457200"/>
            </a:xfrm>
            <a:prstGeom prst="roundRect">
              <a:avLst>
                <a:gd name="adj" fmla="val 25000"/>
              </a:avLst>
            </a:prstGeom>
            <a:solidFill>
              <a:srgbClr val="FFC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3502152" y="4407408"/>
              <a:ext cx="256032" cy="658368"/>
            </a:xfrm>
            <a:prstGeom prst="roundRect">
              <a:avLst>
                <a:gd name="adj" fmla="val 25000"/>
              </a:avLst>
            </a:prstGeom>
            <a:solidFill>
              <a:srgbClr val="D9D9D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532888" y="5120640"/>
              <a:ext cx="1499616" cy="32004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/>
              <a:r>
                <a:rPr sz="1400" b="1"/>
                <a:t>Medium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F03 · Sentiment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/>
              <a:t>Read text and judge </a:t>
            </a:r>
            <a:r>
              <a:rPr sz="4000" b="1">
                <a:solidFill>
                  <a:srgbClr val="017AB4"/>
                </a:solidFill>
              </a:rPr>
              <a:t>the feeling behind it</a:t>
            </a:r>
            <a:r>
              <a:rPr sz="4000"/>
              <a:t>: positive, negative, or mixed.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F03 Sentiment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Sentiment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One method · </a:t>
            </a:r>
            <a:r>
              <a:rPr sz="2800">
                <a:latin typeface="Consolas"/>
              </a:rPr>
              <a:t>positive | negative | mixed</a:t>
            </a:r>
            <a:r>
              <a:rPr sz="2800"/>
              <a:t> · swap = one DI line</a:t>
            </a:r>
          </a:p>
          <a:p>
            <a:r>
              <a:rPr sz="2800"/>
              <a:t>20 easy through </a:t>
            </a:r>
            <a:r>
              <a:rPr sz="2800">
                <a:latin typeface="Consolas"/>
              </a:rPr>
              <a:t>phi3</a:t>
            </a:r>
            <a:r>
              <a:rPr sz="2800"/>
              <a:t>: fast, free, correct</a:t>
            </a:r>
          </a:p>
          <a:p>
            <a:r>
              <a:rPr sz="2800"/>
              <a:t>Same 20 through Azure: 9 of 10 identical</a:t>
            </a:r>
          </a:p>
          <a:p>
            <a:r>
              <a:rPr sz="2800"/>
              <a:t>The hard set through both, diff on screen</a:t>
            </a:r>
          </a:p>
          <a:p>
            <a:r>
              <a:rPr sz="2800"/>
              <a:t>📊 </a:t>
            </a:r>
            <a:r>
              <a:rPr sz="2800">
                <a:latin typeface="Consolas"/>
              </a:rPr>
              <a:t>phi3</a:t>
            </a:r>
            <a:r>
              <a:rPr sz="2800"/>
              <a:t> 9/10 · 7/10 vs </a:t>
            </a:r>
            <a:r>
              <a:rPr sz="2800">
                <a:latin typeface="Consolas"/>
              </a:rPr>
              <a:t>gpt-4.1</a:t>
            </a:r>
            <a:r>
              <a:rPr sz="2800"/>
              <a:t> 10/10 · 10/10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Sentiment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high-volume text stream needing a judgment call.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Sentiment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high-volume text stream needing a judgment call.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"We measured: the free local model matches the expensive one on most of this task, and we know exactly which slice needs the big gun."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F03 · Sentiment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 dirty="0"/>
              <a:t>When:</a:t>
            </a:r>
            <a:r>
              <a:rPr sz="2800" dirty="0"/>
              <a:t> A high-volume text stream needing a judgment call.</a:t>
            </a:r>
          </a:p>
          <a:p>
            <a:pPr>
              <a:spcAft>
                <a:spcPts val="1400"/>
              </a:spcAft>
            </a:pPr>
            <a:r>
              <a:rPr sz="2800" b="1" dirty="0"/>
              <a:t>Think:</a:t>
            </a:r>
            <a:r>
              <a:rPr sz="2800" dirty="0"/>
              <a:t> "We measured: the free local model matches the expensive one on most of this task, and we know exactly which slice needs the big gun."</a:t>
            </a:r>
            <a:endParaRPr lang="en-US" sz="2800" dirty="0"/>
          </a:p>
          <a:p>
            <a:pPr>
              <a:spcAft>
                <a:spcPts val="1400"/>
              </a:spcAft>
            </a:pPr>
            <a:endParaRPr sz="2800" dirty="0"/>
          </a:p>
          <a:p>
            <a:pPr>
              <a:spcAft>
                <a:spcPts val="1400"/>
              </a:spcAft>
            </a:pPr>
            <a:r>
              <a:rPr sz="2800" b="1" dirty="0"/>
              <a:t>Difficulty:</a:t>
            </a:r>
            <a:r>
              <a:rPr sz="2800" dirty="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Easy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Lab 1: ~60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 marL="0" indent="0">
              <a:buNone/>
            </a:pPr>
            <a:r>
              <a:rPr sz="3600" dirty="0"/>
              <a:t>⭐ Recommended: </a:t>
            </a:r>
            <a:endParaRPr lang="en-US" sz="3600" dirty="0"/>
          </a:p>
          <a:p>
            <a:pPr marL="0" indent="0">
              <a:buNone/>
            </a:pPr>
            <a:r>
              <a:rPr sz="3600" b="1" dirty="0"/>
              <a:t>F01 Summarization</a:t>
            </a:r>
            <a:endParaRPr lang="en-US" sz="3600" b="1" dirty="0"/>
          </a:p>
          <a:p>
            <a:pPr marL="0" indent="0">
              <a:buNone/>
            </a:pPr>
            <a:endParaRPr sz="3600" b="1" dirty="0"/>
          </a:p>
          <a:p>
            <a:pPr marL="0" indent="0">
              <a:buNone/>
            </a:pPr>
            <a:r>
              <a:rPr sz="3600" dirty="0"/>
              <a:t>⛰️ Challenge: </a:t>
            </a:r>
            <a:endParaRPr lang="en-US" sz="3600" dirty="0"/>
          </a:p>
          <a:p>
            <a:pPr marL="0" indent="0">
              <a:buNone/>
            </a:pPr>
            <a:r>
              <a:rPr sz="3600" b="1" dirty="0"/>
              <a:t>F02 Extraction</a:t>
            </a:r>
            <a:r>
              <a:rPr sz="3600" dirty="0"/>
              <a:t> · </a:t>
            </a:r>
            <a:r>
              <a:rPr sz="3600" b="1" dirty="0"/>
              <a:t>F03 Sentiment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1: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sz="2800" dirty="0"/>
              <a:t>How'd it go?</a:t>
            </a:r>
            <a:r>
              <a:rPr lang="en-US" sz="2800" dirty="0"/>
              <a:t>				  Observations?			        </a:t>
            </a:r>
            <a:r>
              <a:rPr sz="2800"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98576</TotalTime>
  <Words>2508</Words>
  <Application>Microsoft Macintosh PowerPoint</Application>
  <PresentationFormat>Widescreen</PresentationFormat>
  <Paragraphs>192</Paragraphs>
  <Slides>35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 Light</vt:lpstr>
      <vt:lpstr>Consolas</vt:lpstr>
      <vt:lpstr>Calibri</vt:lpstr>
      <vt:lpstr>Segoe UI</vt:lpstr>
      <vt:lpstr>Metropolitan</vt:lpstr>
      <vt:lpstr>Building Pragmatic AI</vt:lpstr>
      <vt:lpstr>This Module</vt:lpstr>
      <vt:lpstr>This Module</vt:lpstr>
      <vt:lpstr>This Module</vt:lpstr>
      <vt:lpstr>F01 · Summarization</vt:lpstr>
      <vt:lpstr>PowerPoint Presentation</vt:lpstr>
      <vt:lpstr>PowerPoint Presentation</vt:lpstr>
      <vt:lpstr>F01 · Summarization · Demo: What to Watch</vt:lpstr>
      <vt:lpstr>F01 · Summarization · Leadership Card</vt:lpstr>
      <vt:lpstr>F01 · Summarization · Leadership Card</vt:lpstr>
      <vt:lpstr>F01 · Summarization · Leadership Card</vt:lpstr>
      <vt:lpstr>F02 · Extraction</vt:lpstr>
      <vt:lpstr>PowerPoint Presentation</vt:lpstr>
      <vt:lpstr>F02 · How It Works</vt:lpstr>
      <vt:lpstr>F02 · How It Works</vt:lpstr>
      <vt:lpstr>F02 · How It Works</vt:lpstr>
      <vt:lpstr>F02 · How It Works</vt:lpstr>
      <vt:lpstr>F02 · How It Works</vt:lpstr>
      <vt:lpstr>F02 · How It Works</vt:lpstr>
      <vt:lpstr>F02 · How It Works</vt:lpstr>
      <vt:lpstr>F02 · How It Works</vt:lpstr>
      <vt:lpstr>PowerPoint Presentation</vt:lpstr>
      <vt:lpstr>F02 · Extraction · Demo: What to Watch</vt:lpstr>
      <vt:lpstr>F02 · Extraction · Leadership Card</vt:lpstr>
      <vt:lpstr>F02 · Extraction · Leadership Card</vt:lpstr>
      <vt:lpstr>F02 · Extraction · Leadership Card</vt:lpstr>
      <vt:lpstr>F03 · Sentiment</vt:lpstr>
      <vt:lpstr>PowerPoint Presentation</vt:lpstr>
      <vt:lpstr>PowerPoint Presentation</vt:lpstr>
      <vt:lpstr>F03 · Sentiment · Demo: What to Watch</vt:lpstr>
      <vt:lpstr>F03 · Sentiment · Leadership Card</vt:lpstr>
      <vt:lpstr>F03 · Sentiment · Leadership Card</vt:lpstr>
      <vt:lpstr>F03 · Sentiment · Leadership Card</vt:lpstr>
      <vt:lpstr>Lab 1: ~60 Minutes</vt:lpstr>
      <vt:lpstr>Lab 1: Debrief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2026-09-17T11:47:18Z</dcterms:modified>
  <cp:category/>
</cp:coreProperties>
</file>