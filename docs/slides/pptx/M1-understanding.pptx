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4"/>
  </p:notesMasterIdLst>
  <p:sldIdLst>
    <p:sldId id="576" r:id="rId2"/>
    <p:sldId id="579" r:id="rId3"/>
    <p:sldId id="608" r:id="rId4"/>
    <p:sldId id="609" r:id="rId5"/>
    <p:sldId id="580" r:id="rId6"/>
    <p:sldId id="610" r:id="rId48"/>
    <p:sldId id="581" r:id="rId7"/>
    <p:sldId id="582" r:id="rId8"/>
    <p:sldId id="583" r:id="rId9"/>
    <p:sldId id="584" r:id="rId10"/>
    <p:sldId id="585" r:id="rId11"/>
    <p:sldId id="586" r:id="rId12"/>
    <p:sldId id="611" r:id="rId49"/>
    <p:sldId id="587" r:id="rId13"/>
    <p:sldId id="588" r:id="rId14"/>
    <p:sldId id="589" r:id="rId15"/>
    <p:sldId id="590" r:id="rId16"/>
    <p:sldId id="591" r:id="rId17"/>
    <p:sldId id="592" r:id="rId18"/>
    <p:sldId id="593" r:id="rId19"/>
    <p:sldId id="594" r:id="rId20"/>
    <p:sldId id="595" r:id="rId21"/>
    <p:sldId id="596" r:id="rId22"/>
    <p:sldId id="597" r:id="rId23"/>
    <p:sldId id="598" r:id="rId24"/>
    <p:sldId id="599" r:id="rId25"/>
    <p:sldId id="600" r:id="rId26"/>
    <p:sldId id="612" r:id="rId50"/>
    <p:sldId id="601" r:id="rId27"/>
    <p:sldId id="602" r:id="rId28"/>
    <p:sldId id="603" r:id="rId29"/>
    <p:sldId id="604" r:id="rId30"/>
    <p:sldId id="605" r:id="rId31"/>
    <p:sldId id="606" r:id="rId32"/>
    <p:sldId id="607" r:id="rId33"/>
  </p:sldIdLst>
  <p:sldSz cx="12192000" cy="6858000"/>
  <p:notesSz cx="6858000" cy="9144000"/>
  <p:embeddedFontLst>
    <p:embeddedFont>
      <p:font typeface="Consolas" panose="020B0609020204030204" pitchFamily="49" charset="0"/>
      <p:regular r:id="rId35"/>
      <p:bold r:id="rId36"/>
      <p:italic r:id="rId37"/>
      <p:boldItalic r:id="rId38"/>
    </p:embeddedFont>
    <p:embeddedFont>
      <p:font typeface="Segoe UI" panose="020B0502040204020203" pitchFamily="34" charset="0"/>
      <p:regular r:id="rId39"/>
      <p:bold r:id="rId40"/>
      <p:italic r:id="rId41"/>
      <p:boldItalic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61" autoAdjust="0"/>
    <p:restoredTop sz="66849" autoAdjust="0"/>
  </p:normalViewPr>
  <p:slideViewPr>
    <p:cSldViewPr snapToGrid="0">
      <p:cViewPr varScale="1">
        <p:scale>
          <a:sx n="78" d="100"/>
          <a:sy n="78" d="100"/>
        </p:scale>
        <p:origin x="2048" y="176"/>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01T19:27:00.215" v="1077" actId="20577"/>
      <pc:docMkLst>
        <pc:docMk/>
      </pc:docMkLst>
      <pc:sldChg chg="del">
        <pc:chgData name="J. Tower" userId="9d06de10716639e5" providerId="LiveId" clId="{F8931099-75CA-5660-A155-55881DF68D84}" dt="2026-09-01T19:23:51.287" v="998" actId="2696"/>
        <pc:sldMkLst>
          <pc:docMk/>
          <pc:sldMk cId="0" sldId="577"/>
        </pc:sldMkLst>
      </pc:sldChg>
      <pc:sldChg chg="del">
        <pc:chgData name="J. Tower" userId="9d06de10716639e5" providerId="LiveId" clId="{F8931099-75CA-5660-A155-55881DF68D84}" dt="2026-09-01T19:23:51.294" v="999" actId="2696"/>
        <pc:sldMkLst>
          <pc:docMk/>
          <pc:sldMk cId="0" sldId="578"/>
        </pc:sldMkLst>
      </pc:sldChg>
      <pc:sldChg chg="delSp modSp mod">
        <pc:chgData name="J. Tower" userId="9d06de10716639e5" providerId="LiveId" clId="{F8931099-75CA-5660-A155-55881DF68D84}" dt="2026-09-01T19:23:57.043" v="1004" actId="478"/>
        <pc:sldMkLst>
          <pc:docMk/>
          <pc:sldMk cId="0" sldId="579"/>
        </pc:sldMkLst>
        <pc:spChg chg="mod">
          <ac:chgData name="J. Tower" userId="9d06de10716639e5" providerId="LiveId" clId="{F8931099-75CA-5660-A155-55881DF68D84}" dt="2026-09-01T19:23:55.310" v="1003" actId="1076"/>
          <ac:spMkLst>
            <pc:docMk/>
            <pc:sldMk cId="0" sldId="579"/>
            <ac:spMk id="2" creationId="{00000000-0000-0000-0000-000000000000}"/>
          </ac:spMkLst>
        </pc:spChg>
        <pc:spChg chg="mod">
          <ac:chgData name="J. Tower" userId="9d06de10716639e5" providerId="LiveId" clId="{F8931099-75CA-5660-A155-55881DF68D84}" dt="2026-09-01T19:23:40.416" v="994" actId="1076"/>
          <ac:spMkLst>
            <pc:docMk/>
            <pc:sldMk cId="0" sldId="579"/>
            <ac:spMk id="4" creationId="{00000000-0000-0000-0000-000000000000}"/>
          </ac:spMkLst>
        </pc:spChg>
        <pc:spChg chg="del mod">
          <ac:chgData name="J. Tower" userId="9d06de10716639e5" providerId="LiveId" clId="{F8931099-75CA-5660-A155-55881DF68D84}" dt="2026-09-01T19:23:57.043" v="1004" actId="478"/>
          <ac:spMkLst>
            <pc:docMk/>
            <pc:sldMk cId="0" sldId="579"/>
            <ac:spMk id="6" creationId="{00000000-0000-0000-0000-000000000000}"/>
          </ac:spMkLst>
        </pc:spChg>
        <pc:spChg chg="del mod">
          <ac:chgData name="J. Tower" userId="9d06de10716639e5" providerId="LiveId" clId="{F8931099-75CA-5660-A155-55881DF68D84}" dt="2026-09-01T19:23:57.043" v="1004" actId="478"/>
          <ac:spMkLst>
            <pc:docMk/>
            <pc:sldMk cId="0" sldId="579"/>
            <ac:spMk id="8" creationId="{00000000-0000-0000-0000-000000000000}"/>
          </ac:spMkLst>
        </pc:spChg>
        <pc:picChg chg="mod">
          <ac:chgData name="J. Tower" userId="9d06de10716639e5" providerId="LiveId" clId="{F8931099-75CA-5660-A155-55881DF68D84}" dt="2026-09-01T19:23:40.416" v="994" actId="1076"/>
          <ac:picMkLst>
            <pc:docMk/>
            <pc:sldMk cId="0" sldId="579"/>
            <ac:picMk id="3" creationId="{00000000-0000-0000-0000-000000000000}"/>
          </ac:picMkLst>
        </pc:picChg>
        <pc:picChg chg="del mod">
          <ac:chgData name="J. Tower" userId="9d06de10716639e5" providerId="LiveId" clId="{F8931099-75CA-5660-A155-55881DF68D84}" dt="2026-09-01T19:23:57.043" v="1004" actId="478"/>
          <ac:picMkLst>
            <pc:docMk/>
            <pc:sldMk cId="0" sldId="579"/>
            <ac:picMk id="5" creationId="{00000000-0000-0000-0000-000000000000}"/>
          </ac:picMkLst>
        </pc:picChg>
        <pc:picChg chg="del mod">
          <ac:chgData name="J. Tower" userId="9d06de10716639e5" providerId="LiveId" clId="{F8931099-75CA-5660-A155-55881DF68D84}" dt="2026-09-01T19:23:57.043" v="1004" actId="478"/>
          <ac:picMkLst>
            <pc:docMk/>
            <pc:sldMk cId="0" sldId="579"/>
            <ac:picMk id="7" creationId="{00000000-0000-0000-0000-000000000000}"/>
          </ac:picMkLst>
        </pc:picChg>
        <pc:picChg chg="del">
          <ac:chgData name="J. Tower" userId="9d06de10716639e5" providerId="LiveId" clId="{F8931099-75CA-5660-A155-55881DF68D84}" dt="2026-09-01T19:23:57.043" v="1004" actId="478"/>
          <ac:picMkLst>
            <pc:docMk/>
            <pc:sldMk cId="0" sldId="579"/>
            <ac:picMk id="9" creationId="{00000000-0000-0000-0000-000000000000}"/>
          </ac:picMkLst>
        </pc:picChg>
      </pc:sldChg>
      <pc:sldChg chg="modSp mod">
        <pc:chgData name="J. Tower" userId="9d06de10716639e5" providerId="LiveId" clId="{F8931099-75CA-5660-A155-55881DF68D84}" dt="2026-09-01T19:24:24.221" v="1007" actId="20577"/>
        <pc:sldMkLst>
          <pc:docMk/>
          <pc:sldMk cId="0" sldId="585"/>
        </pc:sldMkLst>
        <pc:spChg chg="mod">
          <ac:chgData name="J. Tower" userId="9d06de10716639e5" providerId="LiveId" clId="{F8931099-75CA-5660-A155-55881DF68D84}" dt="2026-09-01T19:24:24.221" v="1007" actId="20577"/>
          <ac:spMkLst>
            <pc:docMk/>
            <pc:sldMk cId="0" sldId="585"/>
            <ac:spMk id="3" creationId="{00000000-0000-0000-0000-000000000000}"/>
          </ac:spMkLst>
        </pc:spChg>
      </pc:sldChg>
      <pc:sldChg chg="modSp mod">
        <pc:chgData name="J. Tower" userId="9d06de10716639e5" providerId="LiveId" clId="{F8931099-75CA-5660-A155-55881DF68D84}" dt="2026-09-01T19:24:59.344" v="1018" actId="403"/>
        <pc:sldMkLst>
          <pc:docMk/>
          <pc:sldMk cId="0" sldId="592"/>
        </pc:sldMkLst>
        <pc:spChg chg="mod">
          <ac:chgData name="J. Tower" userId="9d06de10716639e5" providerId="LiveId" clId="{F8931099-75CA-5660-A155-55881DF68D84}" dt="2026-09-01T19:24:59.344" v="1018" actId="403"/>
          <ac:spMkLst>
            <pc:docMk/>
            <pc:sldMk cId="0" sldId="592"/>
            <ac:spMk id="3" creationId="{00000000-0000-0000-0000-000000000000}"/>
          </ac:spMkLst>
        </pc:spChg>
      </pc:sldChg>
      <pc:sldChg chg="modSp mod">
        <pc:chgData name="J. Tower" userId="9d06de10716639e5" providerId="LiveId" clId="{F8931099-75CA-5660-A155-55881DF68D84}" dt="2026-09-01T19:24:56.945" v="1017" actId="403"/>
        <pc:sldMkLst>
          <pc:docMk/>
          <pc:sldMk cId="0" sldId="593"/>
        </pc:sldMkLst>
        <pc:spChg chg="mod">
          <ac:chgData name="J. Tower" userId="9d06de10716639e5" providerId="LiveId" clId="{F8931099-75CA-5660-A155-55881DF68D84}" dt="2026-09-01T19:24:56.945" v="1017" actId="403"/>
          <ac:spMkLst>
            <pc:docMk/>
            <pc:sldMk cId="0" sldId="593"/>
            <ac:spMk id="3" creationId="{00000000-0000-0000-0000-000000000000}"/>
          </ac:spMkLst>
        </pc:spChg>
      </pc:sldChg>
      <pc:sldChg chg="modSp mod">
        <pc:chgData name="J. Tower" userId="9d06de10716639e5" providerId="LiveId" clId="{F8931099-75CA-5660-A155-55881DF68D84}" dt="2026-09-01T19:24:53.935" v="1016" actId="403"/>
        <pc:sldMkLst>
          <pc:docMk/>
          <pc:sldMk cId="0" sldId="594"/>
        </pc:sldMkLst>
        <pc:spChg chg="mod">
          <ac:chgData name="J. Tower" userId="9d06de10716639e5" providerId="LiveId" clId="{F8931099-75CA-5660-A155-55881DF68D84}" dt="2026-09-01T19:24:53.935" v="1016" actId="403"/>
          <ac:spMkLst>
            <pc:docMk/>
            <pc:sldMk cId="0" sldId="594"/>
            <ac:spMk id="3" creationId="{00000000-0000-0000-0000-000000000000}"/>
          </ac:spMkLst>
        </pc:spChg>
      </pc:sldChg>
      <pc:sldChg chg="addSp modSp mod">
        <pc:chgData name="J. Tower" userId="9d06de10716639e5" providerId="LiveId" clId="{F8931099-75CA-5660-A155-55881DF68D84}" dt="2026-09-01T19:25:25.239" v="1032" actId="207"/>
        <pc:sldMkLst>
          <pc:docMk/>
          <pc:sldMk cId="0" sldId="599"/>
        </pc:sldMkLst>
        <pc:spChg chg="mod">
          <ac:chgData name="J. Tower" userId="9d06de10716639e5" providerId="LiveId" clId="{F8931099-75CA-5660-A155-55881DF68D84}" dt="2026-09-01T19:25:07.599" v="1019" actId="20577"/>
          <ac:spMkLst>
            <pc:docMk/>
            <pc:sldMk cId="0" sldId="599"/>
            <ac:spMk id="3" creationId="{00000000-0000-0000-0000-000000000000}"/>
          </ac:spMkLst>
        </pc:spChg>
        <pc:spChg chg="mod">
          <ac:chgData name="J. Tower" userId="9d06de10716639e5" providerId="LiveId" clId="{F8931099-75CA-5660-A155-55881DF68D84}" dt="2026-09-01T19:25:25.239" v="1032" actId="207"/>
          <ac:spMkLst>
            <pc:docMk/>
            <pc:sldMk cId="0" sldId="599"/>
            <ac:spMk id="4" creationId="{00000000-0000-0000-0000-000000000000}"/>
          </ac:spMkLst>
        </pc:spChg>
        <pc:spChg chg="mod">
          <ac:chgData name="J. Tower" userId="9d06de10716639e5" providerId="LiveId" clId="{F8931099-75CA-5660-A155-55881DF68D84}" dt="2026-09-01T19:25:25.239" v="1032" actId="207"/>
          <ac:spMkLst>
            <pc:docMk/>
            <pc:sldMk cId="0" sldId="599"/>
            <ac:spMk id="5" creationId="{00000000-0000-0000-0000-000000000000}"/>
          </ac:spMkLst>
        </pc:spChg>
        <pc:grpChg chg="add mod">
          <ac:chgData name="J. Tower" userId="9d06de10716639e5" providerId="LiveId" clId="{F8931099-75CA-5660-A155-55881DF68D84}" dt="2026-09-01T19:25:18.862" v="1031" actId="1036"/>
          <ac:grpSpMkLst>
            <pc:docMk/>
            <pc:sldMk cId="0" sldId="599"/>
            <ac:grpSpMk id="8" creationId="{A32D348E-9CDE-E27A-8ACA-9AFA1F7E58A9}"/>
          </ac:grpSpMkLst>
        </pc:grpChg>
      </pc:sldChg>
      <pc:sldChg chg="modSp mod">
        <pc:chgData name="J. Tower" userId="9d06de10716639e5" providerId="LiveId" clId="{F8931099-75CA-5660-A155-55881DF68D84}" dt="2026-09-01T19:25:35.687" v="1033" actId="20577"/>
        <pc:sldMkLst>
          <pc:docMk/>
          <pc:sldMk cId="0" sldId="605"/>
        </pc:sldMkLst>
        <pc:spChg chg="mod">
          <ac:chgData name="J. Tower" userId="9d06de10716639e5" providerId="LiveId" clId="{F8931099-75CA-5660-A155-55881DF68D84}" dt="2026-09-01T19:25:35.687" v="1033" actId="20577"/>
          <ac:spMkLst>
            <pc:docMk/>
            <pc:sldMk cId="0" sldId="605"/>
            <ac:spMk id="3" creationId="{00000000-0000-0000-0000-000000000000}"/>
          </ac:spMkLst>
        </pc:spChg>
      </pc:sldChg>
      <pc:sldChg chg="modSp mod">
        <pc:chgData name="J. Tower" userId="9d06de10716639e5" providerId="LiveId" clId="{F8931099-75CA-5660-A155-55881DF68D84}" dt="2026-09-01T19:25:50.109" v="1038" actId="5793"/>
        <pc:sldMkLst>
          <pc:docMk/>
          <pc:sldMk cId="0" sldId="606"/>
        </pc:sldMkLst>
        <pc:spChg chg="mod">
          <ac:chgData name="J. Tower" userId="9d06de10716639e5" providerId="LiveId" clId="{F8931099-75CA-5660-A155-55881DF68D84}" dt="2026-09-01T19:25:50.109" v="1038" actId="5793"/>
          <ac:spMkLst>
            <pc:docMk/>
            <pc:sldMk cId="0" sldId="606"/>
            <ac:spMk id="3" creationId="{00000000-0000-0000-0000-000000000000}"/>
          </ac:spMkLst>
        </pc:spChg>
      </pc:sldChg>
      <pc:sldChg chg="modSp mod">
        <pc:chgData name="J. Tower" userId="9d06de10716639e5" providerId="LiveId" clId="{F8931099-75CA-5660-A155-55881DF68D84}" dt="2026-09-01T19:27:00.215" v="1077" actId="20577"/>
        <pc:sldMkLst>
          <pc:docMk/>
          <pc:sldMk cId="0" sldId="607"/>
        </pc:sldMkLst>
        <pc:spChg chg="mod">
          <ac:chgData name="J. Tower" userId="9d06de10716639e5" providerId="LiveId" clId="{F8931099-75CA-5660-A155-55881DF68D84}" dt="2026-09-01T19:27:00.215" v="1077" actId="20577"/>
          <ac:spMkLst>
            <pc:docMk/>
            <pc:sldMk cId="0" sldId="607"/>
            <ac:spMk id="3" creationId="{00000000-0000-0000-0000-000000000000}"/>
          </ac:spMkLst>
        </pc:spChg>
      </pc:sldChg>
      <pc:sldChg chg="addSp delSp add mod">
        <pc:chgData name="J. Tower" userId="9d06de10716639e5" providerId="LiveId" clId="{F8931099-75CA-5660-A155-55881DF68D84}" dt="2026-09-01T19:24:37.019" v="1009" actId="478"/>
        <pc:sldMkLst>
          <pc:docMk/>
          <pc:sldMk cId="2827037887" sldId="608"/>
        </pc:sldMkLst>
        <pc:spChg chg="add del">
          <ac:chgData name="J. Tower" userId="9d06de10716639e5" providerId="LiveId" clId="{F8931099-75CA-5660-A155-55881DF68D84}" dt="2026-09-01T19:24:37.019" v="1009" actId="478"/>
          <ac:spMkLst>
            <pc:docMk/>
            <pc:sldMk cId="2827037887" sldId="608"/>
            <ac:spMk id="8" creationId="{98A7B041-8925-5027-3FDF-98C905535506}"/>
          </ac:spMkLst>
        </pc:spChg>
        <pc:picChg chg="add del">
          <ac:chgData name="J. Tower" userId="9d06de10716639e5" providerId="LiveId" clId="{F8931099-75CA-5660-A155-55881DF68D84}" dt="2026-09-01T19:24:37.019" v="1009" actId="478"/>
          <ac:picMkLst>
            <pc:docMk/>
            <pc:sldMk cId="2827037887" sldId="608"/>
            <ac:picMk id="7" creationId="{B5559A96-24DD-C547-2558-2EDE80D64158}"/>
          </ac:picMkLst>
        </pc:picChg>
        <pc:picChg chg="add del">
          <ac:chgData name="J. Tower" userId="9d06de10716639e5" providerId="LiveId" clId="{F8931099-75CA-5660-A155-55881DF68D84}" dt="2026-09-01T19:24:37.019" v="1009" actId="478"/>
          <ac:picMkLst>
            <pc:docMk/>
            <pc:sldMk cId="2827037887" sldId="608"/>
            <ac:picMk id="9" creationId="{48C8BFB8-567E-4173-B470-6A689F056441}"/>
          </ac:picMkLst>
        </pc:picChg>
      </pc:sldChg>
      <pc:sldChg chg="add">
        <pc:chgData name="J. Tower" userId="9d06de10716639e5" providerId="LiveId" clId="{F8931099-75CA-5660-A155-55881DF68D84}" dt="2026-09-01T19:23:52.899" v="1001" actId="2890"/>
        <pc:sldMkLst>
          <pc:docMk/>
          <pc:sldMk cId="640487153" sldId="60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Making sense of messy content, and everything runs on your laptop.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41C57-D4F0-784A-B0D2-BEE50986F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AA896-E5BD-CA2E-185F-689CB20D505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6F9161-2B3E-0ECF-3F54-0A5C84CC1424}"/>
              </a:ext>
            </a:extLst>
          </p:cNvPr>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a:extLst>
              <a:ext uri="{FF2B5EF4-FFF2-40B4-BE49-F238E27FC236}">
                <a16:creationId xmlns:a16="http://schemas.microsoft.com/office/drawing/2014/main" id="{CF920304-6689-AA14-03DB-927190574AD2}"/>
              </a:ext>
            </a:extLst>
          </p:cNvPr>
          <p:cNvSpPr>
            <a:spLocks noGrp="1"/>
          </p:cNvSpPr>
          <p:nvPr>
            <p:ph type="sldNum" sz="quarter" idx="5"/>
          </p:nvPr>
        </p:nvSpPr>
        <p:spPr/>
      </p:sp>
    </p:spTree>
    <p:extLst>
      <p:ext uri="{BB962C8B-B14F-4D97-AF65-F5344CB8AC3E}">
        <p14:creationId xmlns:p14="http://schemas.microsoft.com/office/powerpoint/2010/main" val="805988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7D446-9803-B8AB-5D32-53C6D5B0F0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86179-AE5E-6489-61D9-E8C7063160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50BFE6-59F1-6E21-7E10-1E6342E00396}"/>
              </a:ext>
            </a:extLst>
          </p:cNvPr>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a:extLst>
              <a:ext uri="{FF2B5EF4-FFF2-40B4-BE49-F238E27FC236}">
                <a16:creationId xmlns:a16="http://schemas.microsoft.com/office/drawing/2014/main" id="{D8822126-9133-2E65-D54B-DC8BD8A4FB2B}"/>
              </a:ext>
            </a:extLst>
          </p:cNvPr>
          <p:cNvSpPr>
            <a:spLocks noGrp="1"/>
          </p:cNvSpPr>
          <p:nvPr>
            <p:ph type="sldNum" sz="quarter" idx="5"/>
          </p:nvPr>
        </p:nvSpPr>
        <p:spPr/>
      </p:sp>
    </p:spTree>
    <p:extLst>
      <p:ext uri="{BB962C8B-B14F-4D97-AF65-F5344CB8AC3E}">
        <p14:creationId xmlns:p14="http://schemas.microsoft.com/office/powerpoint/2010/main" val="1894902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over this slide, 60 seconds: forty trip reports for Avalanche Lake Trail, 1,200 words each. Somewhere in there: is the bridge out, and are the mosquitoes bad? Nobody reads forty essays; they skim three and miss the warning in the fourth. The hiker at mile two from the opening story is this feature's user.</a:t>
            </a:r>
          </a:p>
          <a:p>
            <a:r>
              <a:t>The concept needs no slide: one chat call, a document, an instruction. "Summarize this" produces a book report; a real product asks for a summary with a purpose and a shape. The demo shows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required "hazards" slot with nothing honest to put in it is an invitation to make something up. The invented bear-related closure happens on the clean report; numbers are in </a:t>
            </a:r>
            <a:r>
              <a:rPr>
                <a:latin typeface="Consolas"/>
              </a:rPr>
              <a:t>expected-output.md</a:t>
            </a:r>
            <a:r>
              <a:t>. Point at the Ollama endpoint at the end: there was no API key, and no data left the room.</a:t>
            </a:r>
          </a:p>
          <a:p>
            <a:r>
              <a:t>Demo script (~8 min; the reshape in step 6 is the first cut):</a:t>
            </a:r>
          </a:p>
          <a:p>
            <a:r>
              <a:t>1. Open a raw trip report from </a:t>
            </a:r>
            <a:r>
              <a:rPr>
                <a:latin typeface="Consolas"/>
              </a:rPr>
              <a:t>data/trip-reports/</a:t>
            </a:r>
            <a:r>
              <a:t> on screen and scroll through it slowly, so the room feels the problem before seeing the fix.</a:t>
            </a:r>
          </a:p>
          <a:p>
            <a:r>
              <a:t>2. Starter project: </a:t>
            </a:r>
            <a:r>
              <a:rPr>
                <a:latin typeface="Consolas"/>
              </a:rPr>
              <a:t>IChatClient</a:t>
            </a:r>
            <a:r>
              <a:t> wired to Ollama via Microsoft.Extensions.AI. One method, one prompt: "Summarize this trip report."</a:t>
            </a:r>
          </a:p>
          <a:p>
            <a:r>
              <a:t>3. Run it and get a faithful, generic, useless book report, then name the failure out loud: right model, wrong instruction.</a:t>
            </a:r>
          </a:p>
          <a:p>
            <a:r>
              <a:t>4. Iterate the prompt live into the hiker-focused version (conditions, hazards, crowding, ignore everything else). Run again. This is the payoff: three bullets, and the bridge warning surfaces.</a:t>
            </a:r>
          </a:p>
          <a:p>
            <a:r>
              <a:t>5. Point at the last two lines of that prompt, the grounding lines. Without them, this exact prompt run against the clean report invented a bear-related trail closure in roughly half of runs, because a required "hazards" slot with nothing honest to put in it is an invitation to make something up. The numbers and the failing outputs are in </a:t>
            </a:r>
            <a:r>
              <a:rPr>
                <a:latin typeface="Consolas"/>
              </a:rPr>
              <a:t>expected-output.md</a:t>
            </a:r>
            <a:r>
              <a:t>.</a:t>
            </a:r>
          </a:p>
          <a:p>
            <a:r>
              <a:t>6. Change the shape: same call, but output a one-line "trail status" headline for a card UI. Same feature, different product surface.</a:t>
            </a:r>
          </a:p>
          <a:p>
            <a:r>
              <a:t>7. Point at the Ollama endpoint in the code. This ran entirely on the laptop, with no API key and no data leaving the room.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Trailhead wants a "trail stats" panel — which trails, when, how far, what wildlife, what condition. All of it exists as prose across the forty reports, and today a human would re-read and re-type it. So the panel doesn't exist.</a:t>
            </a:r>
          </a:p>
          <a:p>
            <a:r>
              <a:t>This one gets the module's one concept slide, because the pipeline — and where it lies to you — is the lesson.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the schema fix, something else usually still slips: </a:t>
            </a:r>
            <a:r>
              <a:rPr>
                <a:latin typeface="Consolas"/>
              </a:rPr>
              <a:t>elevation_gain_ft: 0</a:t>
            </a:r>
            <a:r>
              <a:t> where the honest answer is </a:t>
            </a:r>
            <a:r>
              <a:rPr>
                <a:latin typeface="Consolas"/>
              </a:rPr>
              <a:t>null</a:t>
            </a:r>
            <a:r>
              <a:t>, or "early last month" as a date. Zero is the dangerous miss: it is a value, and a pipeline will store it without complaint. Ship the schema plus a rejection rule.</a:t>
            </a:r>
          </a:p>
          <a:p>
            <a:r>
              <a:t>Demo script (~10 min; the break-it beat in step 4 is the first cut):</a:t>
            </a:r>
          </a:p>
          <a:p>
            <a:r>
              <a:t>1. Show the same messy trip report from feature 01. This time the goal isn't a summary, it's a database row.</a:t>
            </a:r>
          </a:p>
          <a:p>
            <a:r>
              <a:t>2. Define a C# record (</a:t>
            </a:r>
            <a:r>
              <a:rPr>
                <a:latin typeface="Consolas"/>
              </a:rPr>
              <a:t>TripFacts</a:t>
            </a:r>
            <a:r>
              <a:t>: trail, park, date, distance, wildlife, conditions) and use Microsoft.Extensions.AI's typed-response support to request it directly. The schema is code.</a:t>
            </a:r>
          </a:p>
          <a:p>
            <a:r>
              <a:t>3. Run it: prose in, populated .NET object out, with no parsing step. This is the payoff moment.</a:t>
            </a:r>
          </a:p>
          <a:p>
            <a:r>
              <a:t>4. Break it on purpose: run a report that never mentions distance, and watch the model invent </a:t>
            </a:r>
            <a:r>
              <a:rPr>
                <a:latin typeface="Consolas"/>
              </a:rPr>
              <a:t>distance_mi: 5.0</a:t>
            </a:r>
            <a:r>
              <a:t>.</a:t>
            </a:r>
          </a:p>
          <a:p>
            <a:r>
              <a:t>5. Fix it in the schema with nullable fields and "null when not stated" descriptions. Re-run: the invented distance usually goes away, and something else usually doesn't. Run it two or three times live so the room sees the variance rather than one lucky result. Then say the quiet part: this is better, and it is not a guarantee. The last mile is a validator that rejects a date like "early last month" and a </a:t>
            </a:r>
            <a:r>
              <a:rPr>
                <a:latin typeface="Consolas"/>
              </a:rPr>
              <a:t>0</a:t>
            </a:r>
            <a:r>
              <a:t> that should have been </a:t>
            </a:r>
            <a:r>
              <a:rPr>
                <a:latin typeface="Consolas"/>
              </a:rPr>
              <a:t>null</a:t>
            </a:r>
            <a:r>
              <a:t>, which is ordinary code your team already knows how to write.</a:t>
            </a:r>
          </a:p>
          <a:p>
            <a:r>
              <a:t>6. Zoom out: loop over ten reports and print rows. That's an ingestion pipeline in thirty lines, and the "trail stats" panel is now just a query.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the Cascade 65 backpack has 300 reviews. Are people happy, and what are they mad about? Star ratings lie — "4 stars, but the hip belt broke on day two." The user here is the product team, not the hiker; track the signal weekly and a defect surfaces months before returns spike.</a:t>
            </a:r>
          </a:p>
          <a:p>
            <a:r>
              <a:t>No concept slide: this is classification, and the demo IS the lesson — the day's model-selection experiment. phi3 free and local vs gpt-4.1 on Azure, same prompt, and you measure instead of assume.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halves of the argument hold: ordinary reviews barely need the big model, and the sarcastic slice does, 7/10 vs 10/10, with every disagreement going the frontier model's way. The local stand-in (</a:t>
            </a:r>
            <a:r>
              <a:rPr>
                <a:latin typeface="Consolas"/>
              </a:rPr>
              <a:t>llama3.2</a:t>
            </a:r>
            <a:r>
              <a:t>) tied phi3, so a comparison against the wrong big model would have said the gap does not exist. Side finding worth 20 seconds: reflowing the identical prompt onto one line dropped phi3 to 7/10 and 4/10. Small models are sensitive to formatting.</a:t>
            </a:r>
          </a:p>
          <a:p>
            <a:r>
              <a:t>Close with the decision recipe: labeled sample, run both, count disagreements, price the errors. That recipe generalizes to every feature today.</a:t>
            </a:r>
          </a:p>
          <a:p>
            <a:r>
              <a:t>Demo script (~10 min; the hard-set diff in step 5 is the heart — cut step 4's Azure easy-run first if behind):</a:t>
            </a:r>
          </a:p>
          <a:p>
            <a:r>
              <a:t>1. Show the Cascade 65's reviews and point at a 4-star review with furious text, which is the whole case for reading the text rather than the stars.</a:t>
            </a:r>
          </a:p>
          <a:p>
            <a:r>
              <a:t>2. Starter project: one classify method whose prompt returns exactly </a:t>
            </a:r>
            <a:r>
              <a:rPr>
                <a:latin typeface="Consolas"/>
              </a:rPr>
              <a:t>positive | negative | mixed</a:t>
            </a:r>
            <a:r>
              <a:t>. Because of Microsoft.Extensions.AI, the same code runs against both providers, and the swap is one line in DI registration. Say that out loud, since it's the provider-flexibility slide made real.</a:t>
            </a:r>
          </a:p>
          <a:p>
            <a:r>
              <a:t>3. Run 20 easy reviews through </a:t>
            </a:r>
            <a:r>
              <a:rPr>
                <a:latin typeface="Consolas"/>
              </a:rPr>
              <a:t>phi3</a:t>
            </a:r>
            <a:r>
              <a:t> locally, where it is fast, free, and correct, and let the small model win the first round.</a:t>
            </a:r>
          </a:p>
          <a:p>
            <a:r>
              <a:t>4. Run the same 20 through </a:t>
            </a:r>
            <a:r>
              <a:rPr>
                <a:latin typeface="Consolas"/>
              </a:rPr>
              <a:t>gpt-4.1</a:t>
            </a:r>
            <a:r>
              <a:t> on Foundry and get the same labels on nine of ten (the frontier model also gets the deadpan four-star rave that </a:t>
            </a:r>
            <a:r>
              <a:rPr>
                <a:latin typeface="Consolas"/>
              </a:rPr>
              <a:t>phi3</a:t>
            </a:r>
            <a:r>
              <a:t> calls mixed), which is the first payoff: on ordinary reviews you'd have paid for very little.</a:t>
            </a:r>
          </a:p>
          <a:p>
            <a:r>
              <a:t>5. Now the hard set, sarcasm and mixed reviews. Run both and diff the labels on screen. Second payoff: </a:t>
            </a:r>
            <a:r>
              <a:rPr>
                <a:latin typeface="Consolas"/>
              </a:rPr>
              <a:t>phi3</a:t>
            </a:r>
            <a:r>
              <a:t> drops to 7/10 and </a:t>
            </a:r>
            <a:r>
              <a:rPr>
                <a:latin typeface="Consolas"/>
              </a:rPr>
              <a:t>gpt-4.1</a:t>
            </a:r>
            <a:r>
              <a:t> holds at 10/10, and every disagreement is one the frontier model gets right. This is the slice that earns its price, and you know that because you measured it rather than assumed it. Check </a:t>
            </a:r>
            <a:r>
              <a:rPr>
                <a:latin typeface="Consolas"/>
              </a:rPr>
              <a:t>expected-output.md</a:t>
            </a:r>
            <a:r>
              <a:t> for what happened when this was built, and be ready for the room's answer to differ from yours.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01 regardless of experience: one endpoint, one prompt, two reports; everything else today assumes you've made one model call and seen what comes back. New to this? Budget the full time and do the stretch goal.</a:t>
            </a:r>
          </a:p>
          <a:p>
            <a:r>
              <a:t>Pick 03 if your question at work is "which model should we pay for" — its Azure half needs the room key. 02's done-check: the sparse report comes back with nulls and the validator says PASS/REJECT honestly.</a:t>
            </a:r>
          </a:p>
          <a:p>
            <a:r>
              <a:t>Finished everything? Help someone near you.</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what surfaced the buried bridge, and what invented one? Rows 1–3 of the framework are done. Break, then Module 2.</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automatic summarization produces a shorter text that keeps the key information of the source. Read the slide, let it sit a beat, then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information extraction turns unstructured text into structured data. JSON mode guarantees the shape; it does not guarantee the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sentiment analysis identifies the emotional polarity of a piece of text. The stars lie; the words mostly don't.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1: Understanding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document.png"/>
          <p:cNvPicPr>
            <a:picLocks noChangeAspect="1"/>
          </p:cNvPicPr>
          <p:nvPr/>
        </p:nvPicPr>
        <p:blipFill>
          <a:blip r:embed="rId3"/>
          <a:stretch>
            <a:fillRect/>
          </a:stretch>
        </p:blipFill>
        <p:spPr>
          <a:xfrm>
            <a:off x="1967593" y="3010989"/>
            <a:ext cx="868680" cy="868680"/>
          </a:xfrm>
          <a:prstGeom prst="rect">
            <a:avLst/>
          </a:prstGeom>
        </p:spPr>
      </p:pic>
      <p:sp>
        <p:nvSpPr>
          <p:cNvPr id="4" name="TextBox 3"/>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B8EF1-FC1F-1E51-E85E-096AC0AEE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49DFF-E376-1691-BA78-321906B63D45}"/>
              </a:ext>
            </a:extLst>
          </p:cNvPr>
          <p:cNvSpPr>
            <a:spLocks noGrp="1"/>
          </p:cNvSpPr>
          <p:nvPr>
            <p:ph type="title"/>
          </p:nvPr>
        </p:nvSpPr>
        <p:spPr/>
        <p:txBody>
          <a:bodyPr wrap="square"/>
          <a:lstStyle/>
          <a:p>
            <a:r>
              <a:t>This Module</a:t>
            </a:r>
          </a:p>
        </p:txBody>
      </p:sp>
      <p:pic>
        <p:nvPicPr>
          <p:cNvPr id="3" name="Picture 2" descr="document.png">
            <a:extLst>
              <a:ext uri="{FF2B5EF4-FFF2-40B4-BE49-F238E27FC236}">
                <a16:creationId xmlns:a16="http://schemas.microsoft.com/office/drawing/2014/main" id="{AAA59011-9D41-74E6-C483-CB29DE356B34}"/>
              </a:ext>
            </a:extLst>
          </p:cNvPr>
          <p:cNvPicPr>
            <a:picLocks noChangeAspect="1"/>
          </p:cNvPicPr>
          <p:nvPr/>
        </p:nvPicPr>
        <p:blipFill>
          <a:blip r:embed="rId3"/>
          <a:stretch>
            <a:fillRect/>
          </a:stretch>
        </p:blipFill>
        <p:spPr>
          <a:xfrm>
            <a:off x="1967593" y="3010989"/>
            <a:ext cx="868680" cy="868680"/>
          </a:xfrm>
          <a:prstGeom prst="rect">
            <a:avLst/>
          </a:prstGeom>
        </p:spPr>
      </p:pic>
      <p:sp>
        <p:nvSpPr>
          <p:cNvPr id="4" name="TextBox 3">
            <a:extLst>
              <a:ext uri="{FF2B5EF4-FFF2-40B4-BE49-F238E27FC236}">
                <a16:creationId xmlns:a16="http://schemas.microsoft.com/office/drawing/2014/main" id="{2522ACB7-99F8-5F21-120A-8F3C4E96283C}"/>
              </a:ext>
            </a:extLst>
          </p:cNvPr>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pic>
        <p:nvPicPr>
          <p:cNvPr id="5" name="Picture 4" descr="table.png">
            <a:extLst>
              <a:ext uri="{FF2B5EF4-FFF2-40B4-BE49-F238E27FC236}">
                <a16:creationId xmlns:a16="http://schemas.microsoft.com/office/drawing/2014/main" id="{F64D60FA-BDC7-2109-F12F-133236B87FB9}"/>
              </a:ext>
            </a:extLst>
          </p:cNvPr>
          <p:cNvPicPr>
            <a:picLocks noChangeAspect="1"/>
          </p:cNvPicPr>
          <p:nvPr/>
        </p:nvPicPr>
        <p:blipFill>
          <a:blip r:embed="rId4"/>
          <a:stretch>
            <a:fillRect/>
          </a:stretch>
        </p:blipFill>
        <p:spPr>
          <a:xfrm>
            <a:off x="5761809" y="2994660"/>
            <a:ext cx="868680" cy="868680"/>
          </a:xfrm>
          <a:prstGeom prst="rect">
            <a:avLst/>
          </a:prstGeom>
        </p:spPr>
      </p:pic>
      <p:sp>
        <p:nvSpPr>
          <p:cNvPr id="6" name="TextBox 5">
            <a:extLst>
              <a:ext uri="{FF2B5EF4-FFF2-40B4-BE49-F238E27FC236}">
                <a16:creationId xmlns:a16="http://schemas.microsoft.com/office/drawing/2014/main" id="{E28E200F-B618-BDA0-30EC-36CFB446252C}"/>
              </a:ext>
            </a:extLst>
          </p:cNvPr>
          <p:cNvSpPr txBox="1"/>
          <p:nvPr/>
        </p:nvSpPr>
        <p:spPr>
          <a:xfrm>
            <a:off x="5121729" y="4000500"/>
            <a:ext cx="2148840" cy="461665"/>
          </a:xfrm>
          <a:prstGeom prst="rect">
            <a:avLst/>
          </a:prstGeom>
          <a:noFill/>
        </p:spPr>
        <p:txBody>
          <a:bodyPr wrap="square">
            <a:spAutoFit/>
          </a:bodyPr>
          <a:lstStyle/>
          <a:p>
            <a:pPr algn="ctr"/>
            <a:r>
              <a:rPr sz="2400" b="1"/>
              <a:t>F02 Extract</a:t>
            </a:r>
          </a:p>
        </p:txBody>
      </p:sp>
    </p:spTree>
    <p:extLst>
      <p:ext uri="{BB962C8B-B14F-4D97-AF65-F5344CB8AC3E}">
        <p14:creationId xmlns:p14="http://schemas.microsoft.com/office/powerpoint/2010/main" val="2827037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60F1-572E-AB23-571E-25A035E3FA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970876-B1E3-8599-27BC-0AB31C658130}"/>
              </a:ext>
            </a:extLst>
          </p:cNvPr>
          <p:cNvSpPr>
            <a:spLocks noGrp="1"/>
          </p:cNvSpPr>
          <p:nvPr>
            <p:ph type="title"/>
          </p:nvPr>
        </p:nvSpPr>
        <p:spPr/>
        <p:txBody>
          <a:bodyPr wrap="square"/>
          <a:lstStyle/>
          <a:p>
            <a:r>
              <a:t>This Module</a:t>
            </a:r>
          </a:p>
        </p:txBody>
      </p:sp>
      <p:pic>
        <p:nvPicPr>
          <p:cNvPr id="3" name="Picture 2" descr="document.png">
            <a:extLst>
              <a:ext uri="{FF2B5EF4-FFF2-40B4-BE49-F238E27FC236}">
                <a16:creationId xmlns:a16="http://schemas.microsoft.com/office/drawing/2014/main" id="{3BAD46C7-C860-D3AD-473E-AB1716295999}"/>
              </a:ext>
            </a:extLst>
          </p:cNvPr>
          <p:cNvPicPr>
            <a:picLocks noChangeAspect="1"/>
          </p:cNvPicPr>
          <p:nvPr/>
        </p:nvPicPr>
        <p:blipFill>
          <a:blip r:embed="rId3"/>
          <a:stretch>
            <a:fillRect/>
          </a:stretch>
        </p:blipFill>
        <p:spPr>
          <a:xfrm>
            <a:off x="1967593" y="3010989"/>
            <a:ext cx="868680" cy="868680"/>
          </a:xfrm>
          <a:prstGeom prst="rect">
            <a:avLst/>
          </a:prstGeom>
        </p:spPr>
      </p:pic>
      <p:sp>
        <p:nvSpPr>
          <p:cNvPr id="4" name="TextBox 3">
            <a:extLst>
              <a:ext uri="{FF2B5EF4-FFF2-40B4-BE49-F238E27FC236}">
                <a16:creationId xmlns:a16="http://schemas.microsoft.com/office/drawing/2014/main" id="{7C4FC171-1A1D-238A-DF38-E03AA77AF6C0}"/>
              </a:ext>
            </a:extLst>
          </p:cNvPr>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pic>
        <p:nvPicPr>
          <p:cNvPr id="5" name="Picture 4" descr="table.png">
            <a:extLst>
              <a:ext uri="{FF2B5EF4-FFF2-40B4-BE49-F238E27FC236}">
                <a16:creationId xmlns:a16="http://schemas.microsoft.com/office/drawing/2014/main" id="{38B55F1C-96F4-49E8-ECD1-B35D48AA089B}"/>
              </a:ext>
            </a:extLst>
          </p:cNvPr>
          <p:cNvPicPr>
            <a:picLocks noChangeAspect="1"/>
          </p:cNvPicPr>
          <p:nvPr/>
        </p:nvPicPr>
        <p:blipFill>
          <a:blip r:embed="rId4"/>
          <a:stretch>
            <a:fillRect/>
          </a:stretch>
        </p:blipFill>
        <p:spPr>
          <a:xfrm>
            <a:off x="5761809" y="2994660"/>
            <a:ext cx="868680" cy="868680"/>
          </a:xfrm>
          <a:prstGeom prst="rect">
            <a:avLst/>
          </a:prstGeom>
        </p:spPr>
      </p:pic>
      <p:sp>
        <p:nvSpPr>
          <p:cNvPr id="6" name="TextBox 5">
            <a:extLst>
              <a:ext uri="{FF2B5EF4-FFF2-40B4-BE49-F238E27FC236}">
                <a16:creationId xmlns:a16="http://schemas.microsoft.com/office/drawing/2014/main" id="{C517CCE9-5077-BE7D-04B0-D9D62C6BE775}"/>
              </a:ext>
            </a:extLst>
          </p:cNvPr>
          <p:cNvSpPr txBox="1"/>
          <p:nvPr/>
        </p:nvSpPr>
        <p:spPr>
          <a:xfrm>
            <a:off x="5121729" y="4000500"/>
            <a:ext cx="2148840" cy="461665"/>
          </a:xfrm>
          <a:prstGeom prst="rect">
            <a:avLst/>
          </a:prstGeom>
          <a:noFill/>
        </p:spPr>
        <p:txBody>
          <a:bodyPr wrap="square">
            <a:spAutoFit/>
          </a:bodyPr>
          <a:lstStyle/>
          <a:p>
            <a:pPr algn="ctr"/>
            <a:r>
              <a:rPr sz="2400" b="1"/>
              <a:t>F02 Extract</a:t>
            </a:r>
          </a:p>
        </p:txBody>
      </p:sp>
      <p:pic>
        <p:nvPicPr>
          <p:cNvPr id="7" name="Picture 6" descr="gauge.png">
            <a:extLst>
              <a:ext uri="{FF2B5EF4-FFF2-40B4-BE49-F238E27FC236}">
                <a16:creationId xmlns:a16="http://schemas.microsoft.com/office/drawing/2014/main" id="{4D49CBB8-25DB-DC0D-6E0B-5628A436102F}"/>
              </a:ext>
            </a:extLst>
          </p:cNvPr>
          <p:cNvPicPr>
            <a:picLocks noChangeAspect="1"/>
          </p:cNvPicPr>
          <p:nvPr/>
        </p:nvPicPr>
        <p:blipFill>
          <a:blip r:embed="rId5"/>
          <a:stretch>
            <a:fillRect/>
          </a:stretch>
        </p:blipFill>
        <p:spPr>
          <a:xfrm>
            <a:off x="9556025" y="2994660"/>
            <a:ext cx="868680" cy="868680"/>
          </a:xfrm>
          <a:prstGeom prst="rect">
            <a:avLst/>
          </a:prstGeom>
        </p:spPr>
      </p:pic>
      <p:sp>
        <p:nvSpPr>
          <p:cNvPr id="8" name="TextBox 7">
            <a:extLst>
              <a:ext uri="{FF2B5EF4-FFF2-40B4-BE49-F238E27FC236}">
                <a16:creationId xmlns:a16="http://schemas.microsoft.com/office/drawing/2014/main" id="{D67C42EA-DE8C-E539-F149-32B9C7A2202B}"/>
              </a:ext>
            </a:extLst>
          </p:cNvPr>
          <p:cNvSpPr txBox="1"/>
          <p:nvPr/>
        </p:nvSpPr>
        <p:spPr>
          <a:xfrm>
            <a:off x="8915945" y="4000500"/>
            <a:ext cx="2148840" cy="461665"/>
          </a:xfrm>
          <a:prstGeom prst="rect">
            <a:avLst/>
          </a:prstGeom>
          <a:noFill/>
        </p:spPr>
        <p:txBody>
          <a:bodyPr wrap="square">
            <a:spAutoFit/>
          </a:bodyPr>
          <a:lstStyle/>
          <a:p>
            <a:pPr algn="ctr"/>
            <a:r>
              <a:rPr sz="2400" b="1"/>
              <a:t>F03 Sentiment</a:t>
            </a:r>
          </a:p>
        </p:txBody>
      </p:sp>
      <p:pic>
        <p:nvPicPr>
          <p:cNvPr id="9" name="Picture 8" descr="image.png">
            <a:extLst>
              <a:ext uri="{FF2B5EF4-FFF2-40B4-BE49-F238E27FC236}">
                <a16:creationId xmlns:a16="http://schemas.microsoft.com/office/drawing/2014/main" id="{85D44ABB-D58D-A62F-8586-591740F10BA9}"/>
              </a:ext>
            </a:extLst>
          </p:cNvPr>
          <p:cNvPicPr>
            <a:picLocks noChangeAspect="1"/>
          </p:cNvPicPr>
          <p:nvPr/>
        </p:nvPicPr>
        <p:blipFill>
          <a:blip r:embed="rId6"/>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640487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F01 · Summarization</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F01 Summarization</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The raw report first</a:t>
            </a:r>
          </a:p>
          <a:p>
            <a:r>
              <a:rPr sz="2800"/>
              <a:t>❌ Naive prompt: faithful, generic, useless</a:t>
            </a:r>
          </a:p>
          <a:p>
            <a:r>
              <a:rPr sz="2800"/>
              <a:t>✅ Purpose-built prompt: the bridge surfaces</a:t>
            </a:r>
          </a:p>
          <a:p>
            <a:r>
              <a:rPr sz="2800"/>
              <a:t>Grounding lines — without them, ~half of runs invent a closure</a:t>
            </a:r>
          </a:p>
          <a:p>
            <a:r>
              <a:rPr sz="2800"/>
              <a:t>Same call, new shape: a one-line trail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Too much content for people to read, easy-to-miss detail buried in avalanche of text.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Too much content for people to read, easy-to-miss detail buried in avalanche of text.</a:t>
            </a:r>
          </a:p>
          <a:p>
            <a:pPr>
              <a:spcAft>
                <a:spcPts val="1400"/>
              </a:spcAft>
            </a:pPr>
            <a:r>
              <a:rPr sz="2800" b="1"/>
              <a:t>Think:</a:t>
            </a:r>
            <a:r>
              <a:rPr sz="2800"/>
              <a:t> "Our users are drowning in text we already have. A few hours of work turns it into automatic answers."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Too much content for people to read, easy-to-miss detail buried in avalanche of text.</a:t>
            </a:r>
          </a:p>
          <a:p>
            <a:pPr>
              <a:spcAft>
                <a:spcPts val="1400"/>
              </a:spcAft>
            </a:pPr>
            <a:r>
              <a:rPr sz="2800" b="1" dirty="0"/>
              <a:t>Think:</a:t>
            </a:r>
            <a:r>
              <a:rPr sz="2800" dirty="0"/>
              <a:t> "Our users are drowning in text we already have. A few hours of work turns it into automatic answers."</a:t>
            </a:r>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F02 · Extraction</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a:p>
            <a:r>
              <a:rPr sz="2800" dirty="0"/>
              <a:t>The </a:t>
            </a:r>
            <a:r>
              <a:rPr sz="2800" dirty="0">
                <a:latin typeface="Consolas"/>
              </a:rPr>
              <a:t>null</a:t>
            </a:r>
            <a:r>
              <a:rPr sz="2800" dirty="0"/>
              <a:t> rule and the validator are the feature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a:p>
            <a:r>
              <a:rPr sz="2800" dirty="0"/>
              <a:t>The </a:t>
            </a:r>
            <a:r>
              <a:rPr sz="2800" dirty="0">
                <a:latin typeface="Consolas"/>
              </a:rPr>
              <a:t>null</a:t>
            </a:r>
            <a:r>
              <a:rPr sz="2800" dirty="0"/>
              <a:t> rule and the validator are the feature</a:t>
            </a:r>
          </a:p>
          <a:p>
            <a:r>
              <a:rPr sz="2800" dirty="0"/>
              <a:t>A rejected record is a good outcome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F02 Extraction</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A C# record (</a:t>
            </a:r>
            <a:r>
              <a:rPr sz="2800">
                <a:latin typeface="Consolas"/>
              </a:rPr>
              <a:t>TripFacts</a:t>
            </a:r>
            <a:r>
              <a:rPr sz="2800"/>
              <a:t>) · typed response · no parsing</a:t>
            </a:r>
          </a:p>
          <a:p>
            <a:r>
              <a:rPr sz="2800"/>
              <a:t>❌ No distance in the report → </a:t>
            </a:r>
            <a:r>
              <a:rPr sz="2800">
                <a:latin typeface="Consolas"/>
              </a:rPr>
              <a:t>distance_mi: 5.0</a:t>
            </a:r>
          </a:p>
          <a:p>
            <a:r>
              <a:rPr sz="2800"/>
              <a:t>✅ Nullable fields + "null when not stated"</a:t>
            </a:r>
          </a:p>
          <a:p>
            <a:r>
              <a:rPr sz="2800"/>
              <a:t>Run it 3×: better ≠ guaranteed</a:t>
            </a:r>
          </a:p>
          <a:p>
            <a:r>
              <a:rPr sz="2800"/>
              <a:t>The last mile is a validator — ordinary code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Valuable data trapped in documents nobody will re-type.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Valuable data trapped in documents nobody will re-type.</a:t>
            </a:r>
          </a:p>
          <a:p>
            <a:pPr>
              <a:spcAft>
                <a:spcPts val="1400"/>
              </a:spcAft>
            </a:pPr>
            <a:r>
              <a:rPr sz="2800" b="1"/>
              <a:t>Think:</a:t>
            </a:r>
            <a:r>
              <a:rPr sz="2800"/>
              <a:t> "We have years of data trapped in documents. This turns it into queryable rows without anyone re-typing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Valuable data trapped in documents nobody will re-type.</a:t>
            </a:r>
          </a:p>
          <a:p>
            <a:pPr>
              <a:spcAft>
                <a:spcPts val="1400"/>
              </a:spcAft>
            </a:pPr>
            <a:r>
              <a:rPr sz="2800" b="1" dirty="0"/>
              <a:t>Think:</a:t>
            </a:r>
            <a:r>
              <a:rPr sz="2800" dirty="0"/>
              <a:t> "We have years of data trapped in documents. This turns it into </a:t>
            </a:r>
            <a:r>
              <a:rPr sz="2800" dirty="0" err="1"/>
              <a:t>queryable</a:t>
            </a:r>
            <a:r>
              <a:rPr sz="2800" dirty="0"/>
              <a:t> rows without anyone re-typing it."</a:t>
            </a:r>
          </a:p>
          <a:p>
            <a:pPr>
              <a:spcAft>
                <a:spcPts val="1400"/>
              </a:spcAft>
            </a:pPr>
            <a:endParaRPr lang="en-US" sz="2800" b="1" dirty="0"/>
          </a:p>
          <a:p>
            <a:pPr>
              <a:spcAft>
                <a:spcPts val="1400"/>
              </a:spcAft>
            </a:pPr>
            <a:r>
              <a:rPr sz="2800" b="1" dirty="0"/>
              <a:t>Difficulty:</a:t>
            </a:r>
            <a:r>
              <a:rPr sz="2800" dirty="0"/>
              <a:t> </a:t>
            </a:r>
          </a:p>
        </p:txBody>
      </p:sp>
      <p:grpSp>
        <p:nvGrpSpPr>
          <p:cNvPr id="8" name="Group 7">
            <a:extLst>
              <a:ext uri="{FF2B5EF4-FFF2-40B4-BE49-F238E27FC236}">
                <a16:creationId xmlns:a16="http://schemas.microsoft.com/office/drawing/2014/main" id="{A32D348E-9CDE-E27A-8ACA-9AFA1F7E58A9}"/>
              </a:ext>
            </a:extLst>
          </p:cNvPr>
          <p:cNvGrpSpPr/>
          <p:nvPr/>
        </p:nvGrpSpPr>
        <p:grpSpPr>
          <a:xfrm>
            <a:off x="2532888" y="4113492"/>
            <a:ext cx="1499616" cy="1033272"/>
            <a:chOff x="2532888" y="4407408"/>
            <a:chExt cx="1499616" cy="1033272"/>
          </a:xfrm>
        </p:grpSpPr>
        <p:sp>
          <p:nvSpPr>
            <p:cNvPr id="4" name="Rounded Rectangle 3"/>
            <p:cNvSpPr/>
            <p:nvPr/>
          </p:nvSpPr>
          <p:spPr>
            <a:xfrm>
              <a:off x="2807208" y="4809744"/>
              <a:ext cx="256032" cy="256032"/>
            </a:xfrm>
            <a:prstGeom prst="roundRect">
              <a:avLst>
                <a:gd name="adj" fmla="val 2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Medium</a:t>
              </a: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F03 · Sentiment</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F03 Sentiment</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One method · </a:t>
            </a:r>
            <a:r>
              <a:rPr sz="2800">
                <a:latin typeface="Consolas"/>
              </a:rPr>
              <a:t>positive | negative | mixed</a:t>
            </a:r>
            <a:r>
              <a:rPr sz="2800"/>
              <a:t> · swap = one DI line</a:t>
            </a:r>
          </a:p>
          <a:p>
            <a:r>
              <a:rPr sz="2800"/>
              <a:t>20 easy through </a:t>
            </a:r>
            <a:r>
              <a:rPr sz="2800">
                <a:latin typeface="Consolas"/>
              </a:rPr>
              <a:t>phi3</a:t>
            </a:r>
            <a:r>
              <a:rPr sz="2800"/>
              <a:t>: fast, free, correct</a:t>
            </a:r>
          </a:p>
          <a:p>
            <a:r>
              <a:rPr sz="2800"/>
              <a:t>Same 20 through Azure: 9 of 10 identical</a:t>
            </a:r>
          </a:p>
          <a:p>
            <a:r>
              <a:rPr sz="2800"/>
              <a:t>The hard set through both — diff on screen</a:t>
            </a:r>
          </a:p>
          <a:p>
            <a:r>
              <a:rPr sz="2800"/>
              <a:t>📊 </a:t>
            </a:r>
            <a:r>
              <a:rPr sz="2800">
                <a:latin typeface="Consolas"/>
              </a:rPr>
              <a:t>phi3</a:t>
            </a:r>
            <a:r>
              <a:rPr sz="2800"/>
              <a:t> 9/10 · 7/10 — </a:t>
            </a:r>
            <a:r>
              <a:rPr sz="2800">
                <a:latin typeface="Consolas"/>
              </a:rPr>
              <a:t>gpt-4.1</a:t>
            </a:r>
            <a:r>
              <a:rPr sz="2800"/>
              <a:t> 10/10 · 10/10</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high-volume text stream needing a judgment call.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high-volume text stream needing a judgment call.</a:t>
            </a:r>
          </a:p>
          <a:p>
            <a:pPr>
              <a:spcAft>
                <a:spcPts val="1400"/>
              </a:spcAft>
            </a:pPr>
            <a:r>
              <a:rPr sz="2800" b="1"/>
              <a:t>Think:</a:t>
            </a:r>
            <a:r>
              <a:rPr sz="2800"/>
              <a:t> "We measured: the free local model matches the expensive one on most of this task, and we know exactly which slice needs the big gun."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high-volume text stream needing a judgment call.</a:t>
            </a:r>
          </a:p>
          <a:p>
            <a:pPr>
              <a:spcAft>
                <a:spcPts val="1400"/>
              </a:spcAft>
            </a:pPr>
            <a:r>
              <a:rPr sz="2800" b="1" dirty="0"/>
              <a:t>Think:</a:t>
            </a:r>
            <a:r>
              <a:rPr sz="2800" dirty="0"/>
              <a:t> "We measured: the free local model matches the expensive one on most of this task, and we know exactly which slice needs the big gun."</a:t>
            </a:r>
            <a:endParaRPr lang="en-US" sz="2800" dirty="0"/>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1: ~60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r>
              <a:rPr sz="3600" b="1" dirty="0"/>
              <a:t>F01 Summarization</a:t>
            </a:r>
          </a:p>
          <a:p>
            <a:pPr marL="0" indent="0">
              <a:buNone/>
            </a:pPr>
            <a:r>
              <a:rPr sz="3600" dirty="0"/>
              <a:t>⛰️ Challenge: </a:t>
            </a:r>
            <a:r>
              <a:rPr sz="3600" b="1" dirty="0"/>
              <a:t>F02 Extraction</a:t>
            </a:r>
            <a:r>
              <a:rPr sz="3600" dirty="0"/>
              <a:t> · </a:t>
            </a:r>
            <a:r>
              <a:rPr sz="3600" b="1" dirty="0"/>
              <a:t>F03 Sentiment</a:t>
            </a:r>
          </a:p>
          <a:p>
            <a:r>
              <a:rPr sz="2800" dirty="0">
                <a:latin typeface="Consolas"/>
              </a:rPr>
              <a:t>FNN-</a:t>
            </a:r>
            <a:r>
              <a:rPr sz="2800" dirty="0" err="1">
                <a:latin typeface="Consolas"/>
              </a:rPr>
              <a:t>lab.md</a:t>
            </a:r>
            <a:r>
              <a:rPr sz="2800" dirty="0"/>
              <a:t> · </a:t>
            </a:r>
            <a:r>
              <a:rPr sz="2800" dirty="0">
                <a:latin typeface="Consolas"/>
              </a:rPr>
              <a:t>http/</a:t>
            </a:r>
            <a:r>
              <a:rPr sz="2800" dirty="0" err="1">
                <a:latin typeface="Consolas"/>
              </a:rPr>
              <a:t>ollama.http</a:t>
            </a:r>
            <a:r>
              <a:rPr sz="2800" dirty="0"/>
              <a:t> · </a:t>
            </a:r>
            <a:r>
              <a:rPr sz="2800" dirty="0">
                <a:latin typeface="Consolas"/>
              </a:rPr>
              <a:t>expected-</a:t>
            </a:r>
            <a:r>
              <a:rPr sz="2800" dirty="0" err="1">
                <a:latin typeface="Consolas"/>
              </a:rPr>
              <a:t>output.md</a:t>
            </a:r>
            <a:r>
              <a:rPr sz="2800" dirty="0"/>
              <a:t> · </a:t>
            </a:r>
            <a:r>
              <a:rPr sz="2800" dirty="0">
                <a:latin typeface="Consolas"/>
              </a:rPr>
              <a:t>data/</a:t>
            </a:r>
          </a:p>
          <a:p>
            <a:pPr marL="0" indent="0">
              <a:buNone/>
            </a:pPr>
            <a:endParaRPr lang="en-US" sz="3200" dirty="0"/>
          </a:p>
          <a:p>
            <a:pPr marL="0" indent="0">
              <a:buNone/>
            </a:pPr>
            <a:endParaRPr lang="en-US" sz="3200" dirty="0"/>
          </a:p>
          <a:p>
            <a:pPr marL="0" indent="0">
              <a:buNone/>
            </a:pPr>
            <a:r>
              <a:rPr sz="3200" dirty="0"/>
              <a:t>✅ Done = your output similar to </a:t>
            </a:r>
            <a:r>
              <a:rPr sz="3200" dirty="0">
                <a:latin typeface="Consolas"/>
              </a:rPr>
              <a:t>expected-</a:t>
            </a:r>
            <a:r>
              <a:rPr sz="3200" dirty="0" err="1">
                <a:latin typeface="Consolas"/>
              </a:rPr>
              <a:t>output.md</a:t>
            </a:r>
            <a:endParaRPr sz="3200" dirty="0">
              <a:latin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1: Debrief</a:t>
            </a:r>
          </a:p>
        </p:txBody>
      </p:sp>
      <p:sp>
        <p:nvSpPr>
          <p:cNvPr id="3" name="Content Placeholder 2"/>
          <p:cNvSpPr>
            <a:spLocks noGrp="1"/>
          </p:cNvSpPr>
          <p:nvPr>
            <p:ph idx="1"/>
          </p:nvPr>
        </p:nvSpPr>
        <p:spPr>
          <a:xfrm>
            <a:off x="612648" y="1920240"/>
            <a:ext cx="10966704" cy="4617720"/>
          </a:xfrm>
        </p:spPr>
        <p:txBody>
          <a:bodyPr wrap="square"/>
          <a:lstStyle/>
          <a:p>
            <a:pPr marL="0" indent="0">
              <a:buNone/>
            </a:pPr>
            <a:endParaRPr lang="en-US" sz="2800" dirty="0"/>
          </a:p>
          <a:p>
            <a:pPr marL="0" indent="0">
              <a:buNone/>
            </a:pPr>
            <a:r>
              <a:rPr sz="2800" dirty="0"/>
              <a:t>How'd it go?</a:t>
            </a:r>
            <a:r>
              <a:rPr lang="en-US" sz="2800" dirty="0"/>
              <a:t>				  Observations?			        </a:t>
            </a:r>
            <a:r>
              <a:rPr sz="2800" dirty="0"/>
              <a:t>Questions?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Turn a long document into the </a:t>
            </a:r>
            <a:r>
              <a:rPr b="1" sz="4000">
                <a:solidFill>
                  <a:srgbClr val="017AB4"/>
                </a:solidFill>
              </a:rPr>
              <a:t>short version</a:t>
            </a:r>
            <a:r>
              <a:rPr sz="4000"/>
              <a:t> its reader needs.</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Pull facts out of free-form text into </a:t>
            </a:r>
            <a:r>
              <a:rPr b="1" sz="4000">
                <a:solidFill>
                  <a:srgbClr val="017AB4"/>
                </a:solidFill>
              </a:rPr>
              <a:t>fields your code can query</a:t>
            </a:r>
            <a:r>
              <a:rPr sz="4000"/>
              <a:t>.</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Read text and judge </a:t>
            </a:r>
            <a:r>
              <a:rPr b="1" sz="4000">
                <a:solidFill>
                  <a:srgbClr val="017AB4"/>
                </a:solidFill>
              </a:rPr>
              <a:t>the feeling behind it</a:t>
            </a:r>
            <a:r>
              <a:rPr sz="4000"/>
              <a:t>: positive, negative, or mixed.</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98559</TotalTime>
  <Words>3486</Words>
  <Application>Microsoft Macintosh PowerPoint</Application>
  <PresentationFormat>Widescreen</PresentationFormat>
  <Paragraphs>204</Paragraphs>
  <Slides>32</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 Light</vt:lpstr>
      <vt:lpstr>Consolas</vt:lpstr>
      <vt:lpstr>Calibri</vt:lpstr>
      <vt:lpstr>Segoe UI</vt:lpstr>
      <vt:lpstr>Metropolitan</vt:lpstr>
      <vt:lpstr>Building Pragmatic AI</vt:lpstr>
      <vt:lpstr>This Module</vt:lpstr>
      <vt:lpstr>This Module</vt:lpstr>
      <vt:lpstr>This Module</vt:lpstr>
      <vt:lpstr>F01 · Summarization</vt:lpstr>
      <vt:lpstr>PowerPoint Presentation</vt:lpstr>
      <vt:lpstr>F01 · Summarization · Demo: What to Watch</vt:lpstr>
      <vt:lpstr>F01 · Summarization · Leadership Card</vt:lpstr>
      <vt:lpstr>F01 · Summarization · Leadership Card</vt:lpstr>
      <vt:lpstr>F01 · Summarization · Leadership Card</vt:lpstr>
      <vt:lpstr>F02 · Extraction</vt:lpstr>
      <vt:lpstr>F02 · How It Works</vt:lpstr>
      <vt:lpstr>F02 · How It Works</vt:lpstr>
      <vt:lpstr>F02 · How It Works</vt:lpstr>
      <vt:lpstr>F02 · How It Works</vt:lpstr>
      <vt:lpstr>F02 · How It Works</vt:lpstr>
      <vt:lpstr>F02 · How It Works</vt:lpstr>
      <vt:lpstr>F02 · How It Works</vt:lpstr>
      <vt:lpstr>F02 · How It Works</vt:lpstr>
      <vt:lpstr>PowerPoint Presentation</vt:lpstr>
      <vt:lpstr>F02 · Extraction · Demo: What to Watch</vt:lpstr>
      <vt:lpstr>F02 · Extraction · Leadership Card</vt:lpstr>
      <vt:lpstr>F02 · Extraction · Leadership Card</vt:lpstr>
      <vt:lpstr>F02 · Extraction · Leadership Card</vt:lpstr>
      <vt:lpstr>F03 · Sentiment</vt:lpstr>
      <vt:lpstr>PowerPoint Presentation</vt:lpstr>
      <vt:lpstr>F03 · Sentiment · Demo: What to Watch</vt:lpstr>
      <vt:lpstr>F03 · Sentiment · Leadership Card</vt:lpstr>
      <vt:lpstr>F03 · Sentiment · Leadership Card</vt:lpstr>
      <vt:lpstr>F03 · Sentiment · Leadership Card</vt:lpstr>
      <vt:lpstr>Lab 1: ~60 Minutes</vt:lpstr>
      <vt:lpstr>Lab 1: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2026-09-01T19:27:08Z</dcterms:modified>
  <cp:category/>
</cp:coreProperties>
</file>