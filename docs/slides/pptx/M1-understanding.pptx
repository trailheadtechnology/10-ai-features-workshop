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581" r:id="rId8"/>
    <p:sldId id="582" r:id="rId9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6" r:id="rId24"/>
    <p:sldId id="597" r:id="rId25"/>
    <p:sldId id="598" r:id="rId26"/>
    <p:sldId id="599" r:id="rId27"/>
    <p:sldId id="600" r:id="rId28"/>
    <p:sldId id="612" r:id="rId29"/>
    <p:sldId id="601" r:id="rId30"/>
    <p:sldId id="602" r:id="rId31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45" autoAdjust="0"/>
  </p:normalViewPr>
  <p:slideViewPr>
    <p:cSldViewPr snapToGrid="0">
      <p:cViewPr varScale="1">
        <p:scale>
          <a:sx n="136" d="100"/>
          <a:sy n="136" d="100"/>
        </p:scale>
        <p:origin x="248" y="2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font" Target="fonts/font7.fntdata"/><Relationship Id="rId45" Type="http://schemas.openxmlformats.org/officeDocument/2006/relationships/font" Target="fonts/font8.fntdata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03T19:14:50.590" v="1091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delSp modSp del mod">
        <pc:chgData name="J. Tower" userId="9d06de10716639e5" providerId="LiveId" clId="{F8931099-75CA-5660-A155-55881DF68D84}" dt="2026-09-03T19:09:00.344" v="1090" actId="269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03T19:08:49.628" v="1080" actId="21"/>
          <ac:spMkLst>
            <pc:docMk/>
            <pc:sldMk cId="0" sldId="585"/>
            <ac:spMk id="3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4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5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6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7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50.109" v="1038" actId="5793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01T19:25:50.109" v="1038" actId="5793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~8 min · </a:t>
            </a:r>
            <a:r>
              <a:rPr>
                <a:latin typeface="Consolas"/>
              </a:rPr>
              <a:t>cd modules/M1-understanding/F01-summarization/dotnet</a:t>
            </a:r>
          </a:p>
          <a:p>
            <a:r>
              <a:t>Files: </a:t>
            </a:r>
            <a:r>
              <a:rPr>
                <a:latin typeface="Consolas"/>
              </a:rPr>
              <a:t>tr-0004.md</a:t>
            </a:r>
            <a:r>
              <a:t> = the story's report, bridge buried mid-text · </a:t>
            </a:r>
            <a:r>
              <a:rPr>
                <a:latin typeface="Consolas"/>
              </a:rPr>
              <a:t>tr-0001.md</a:t>
            </a:r>
            <a:r>
              <a:t> = clean report, nothing closed (hallucination bait)</a:t>
            </a:r>
          </a:p>
          <a:p>
            <a:r>
              <a:t>Flags: none = naive "Summarize this" · </a:t>
            </a:r>
            <a:r>
              <a:rPr>
                <a:latin typeface="Consolas"/>
              </a:rPr>
              <a:t>--briefing</a:t>
            </a:r>
            <a:r>
              <a:t> = 3 hiker bullets · </a:t>
            </a:r>
            <a:r>
              <a:rPr>
                <a:latin typeface="Consolas"/>
              </a:rPr>
              <a:t>--headline</a:t>
            </a:r>
            <a:r>
              <a:t> = one-line trail card · </a:t>
            </a:r>
            <a:r>
              <a:rPr>
                <a:latin typeface="Consolas"/>
              </a:rPr>
              <a:t>--audience ranger</a:t>
            </a:r>
            <a:r>
              <a:t> = same report, different reader</a:t>
            </a:r>
          </a:p>
          <a:p>
            <a:r>
              <a:t>1. Open </a:t>
            </a:r>
            <a:r>
              <a:rPr>
                <a:latin typeface="Consolas"/>
              </a:rPr>
              <a:t>data/tr-0004.md</a:t>
            </a:r>
            <a:r>
              <a:t>, scroll. The bridge is one sentence, mid-report.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../../data/tr-0004.md</a:t>
            </a:r>
            <a:r>
              <a:t>. Book report. Right model, wrong instruction.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--briefing</a:t>
            </a:r>
            <a:r>
              <a:t>. Same report, three bullets, washout leads. Show the prompt.</a:t>
            </a:r>
          </a:p>
          <a:p>
            <a:r>
              <a:t>4. </a:t>
            </a:r>
            <a:r>
              <a:rPr>
                <a:latin typeface="Consolas"/>
              </a:rPr>
              <a:t>dotnet run -- --briefing ../../data/tr-0001.md</a:t>
            </a:r>
            <a:r>
              <a:t>: the clean report, nothing closed. Last two prompt lines: 11 of 24 became 1 of 24.</a:t>
            </a:r>
          </a:p>
          <a:p>
            <a:r>
              <a:t>5. </a:t>
            </a:r>
            <a:r>
              <a:rPr>
                <a:latin typeface="Consolas"/>
              </a:rPr>
              <a:t>dotnet run -- --headline</a:t>
            </a:r>
            <a:r>
              <a:t>: one line for a card.</a:t>
            </a:r>
          </a:p>
          <a:p>
            <a:r>
              <a:t>6. Line 11: </a:t>
            </a:r>
            <a:r>
              <a:rPr>
                <a:latin typeface="Consolas"/>
              </a:rPr>
              <a:t>localhost:11434</a:t>
            </a:r>
            <a:r>
              <a:t>. No key, nothing left the room.</a:t>
            </a:r>
          </a:p>
          <a:p>
            <a:r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 —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 — and where it lies to you —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input is prose: the same trip report from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prompt is the schema in words: fields, types, examples, and "null when absent."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llama3.2 in JSON mode. 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Parse and validate against the schema. 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Store, or reject and log. A silently stored zero is the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writes JSON; your code decides whether to believe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null rule and the validator are the feature. Say plainly that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rejected record is a good outcome; it is the pipeline telling you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~10 min · </a:t>
            </a:r>
            <a:r>
              <a:rPr>
                <a:latin typeface="Consolas"/>
              </a:rPr>
              <a:t>cd modules/M1-understanding/F02-extraction/dotnet</a:t>
            </a:r>
          </a:p>
          <a:p>
            <a:r>
              <a:t>Files: </a:t>
            </a:r>
            <a:r>
              <a:rPr>
                <a:latin typeface="Consolas"/>
              </a:rPr>
              <a:t>tr-0007.md</a:t>
            </a:r>
            <a:r>
              <a:t> = full report, every field present · </a:t>
            </a:r>
            <a:r>
              <a:rPr>
                <a:latin typeface="Consolas"/>
              </a:rPr>
              <a:t>tr-0011.md</a:t>
            </a:r>
            <a:r>
              <a:t> = sparse report, no distance stated (the null test)</a:t>
            </a:r>
          </a:p>
          <a:p>
            <a:r>
              <a:t>Args: a report path; complete with no args runs both</a:t>
            </a:r>
          </a:p>
          <a:p>
            <a:r>
              <a:t>1. Same kind of report as 01. This time the goal is a database row.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../../data/tr-0007.md</a:t>
            </a:r>
            <a:r>
              <a:t>. JSON asked for in the prompt. Fences, preamble, drifting field names.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../../data/tr-0007.md</a:t>
            </a:r>
            <a:r>
              <a:t>. </a:t>
            </a:r>
            <a:r>
              <a:rPr>
                <a:latin typeface="Consolas"/>
              </a:rPr>
              <a:t>TripFacts</a:t>
            </a:r>
            <a:r>
              <a:t> record, typed response, no parsing.</a:t>
            </a:r>
          </a:p>
          <a:p>
            <a:r>
              <a:t>4. </a:t>
            </a:r>
            <a:r>
              <a:rPr>
                <a:latin typeface="Consolas"/>
              </a:rPr>
              <a:t>dotnet run -- ../../data/tr-0011.md</a:t>
            </a:r>
            <a:r>
              <a:t>, three times. Nulls where there is nothing, and watch what still slips.</a:t>
            </a:r>
          </a:p>
          <a:p>
            <a:r>
              <a:t>5. Point at the validator: PASS or REJECT. A rejected record is a good outcome.</a:t>
            </a:r>
          </a:p>
          <a:p>
            <a:r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 —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 —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~10 min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 —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1–3 of the framework are done. Break, then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The raw report first</a:t>
            </a:r>
          </a:p>
          <a:p>
            <a:r>
              <a:rPr sz="2800" dirty="0"/>
              <a:t>❌ Naive prompt: faithful, generic, useless</a:t>
            </a:r>
          </a:p>
          <a:p>
            <a:r>
              <a:rPr sz="2800" dirty="0"/>
              <a:t>✅ Purpose-built prompt: the bridge surfaces</a:t>
            </a:r>
          </a:p>
          <a:p>
            <a:r>
              <a:rPr sz="2800" dirty="0"/>
              <a:t>Grounding lines — without them, ~half of runs invent a closure</a:t>
            </a:r>
          </a:p>
          <a:p>
            <a:r>
              <a:rPr sz="2800" dirty="0"/>
              <a:t>Same call, new shape: a one-line trail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  <a:p>
            <a:r>
              <a:rPr sz="2800" dirty="0"/>
              <a:t>The </a:t>
            </a:r>
            <a:r>
              <a:rPr sz="2800" dirty="0">
                <a:latin typeface="Consolas"/>
              </a:rPr>
              <a:t>null</a:t>
            </a:r>
            <a:r>
              <a:rPr sz="2800" dirty="0"/>
              <a:t> rule and the validator are the feature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  <a:p>
            <a:r>
              <a:rPr sz="2800" dirty="0"/>
              <a:t>The </a:t>
            </a:r>
            <a:r>
              <a:rPr sz="2800" dirty="0">
                <a:latin typeface="Consolas"/>
              </a:rPr>
              <a:t>null</a:t>
            </a:r>
            <a:r>
              <a:rPr sz="2800" dirty="0"/>
              <a:t> rule and the validator are the feature</a:t>
            </a:r>
          </a:p>
          <a:p>
            <a:r>
              <a:rPr sz="2800" dirty="0"/>
              <a:t>A rejected record is a good outcome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A C# record (</a:t>
            </a:r>
            <a:r>
              <a:rPr sz="2800" dirty="0" err="1">
                <a:latin typeface="Consolas"/>
              </a:rPr>
              <a:t>TripFacts</a:t>
            </a:r>
            <a:r>
              <a:rPr sz="2800" dirty="0"/>
              <a:t>) · typed response · no parsing</a:t>
            </a:r>
          </a:p>
          <a:p>
            <a:r>
              <a:rPr sz="2800" dirty="0"/>
              <a:t>❌ No distance in the report → </a:t>
            </a:r>
            <a:r>
              <a:rPr sz="2800" dirty="0" err="1">
                <a:latin typeface="Consolas"/>
              </a:rPr>
              <a:t>distance_mi</a:t>
            </a:r>
            <a:r>
              <a:rPr sz="2800" dirty="0">
                <a:latin typeface="Consolas"/>
              </a:rPr>
              <a:t>: 5.0</a:t>
            </a:r>
          </a:p>
          <a:p>
            <a:r>
              <a:rPr sz="2800" dirty="0"/>
              <a:t>✅ Nullable fields + "null when not stated"</a:t>
            </a:r>
          </a:p>
          <a:p>
            <a:r>
              <a:rPr sz="2800"/>
              <a:t>Run it 3×: better ≠ guaranteed</a:t>
            </a:r>
          </a:p>
          <a:p>
            <a:r>
              <a:rPr sz="2800" dirty="0"/>
              <a:t>The last mile is a validator — ordinary 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One method · </a:t>
            </a:r>
            <a:r>
              <a:rPr sz="2800">
                <a:latin typeface="Consolas"/>
              </a:rPr>
              <a:t>positive | negative | mixed</a:t>
            </a:r>
            <a:r>
              <a:rPr sz="2800"/>
              <a:t> · swap = one DI line</a:t>
            </a:r>
          </a:p>
          <a:p>
            <a:r>
              <a:rPr sz="2800"/>
              <a:t>20 easy through </a:t>
            </a:r>
            <a:r>
              <a:rPr sz="2800">
                <a:latin typeface="Consolas"/>
              </a:rPr>
              <a:t>phi3</a:t>
            </a:r>
            <a:r>
              <a:rPr sz="2800"/>
              <a:t>: fast, free, correct</a:t>
            </a:r>
          </a:p>
          <a:p>
            <a:r>
              <a:rPr sz="2800"/>
              <a:t>Same 20 through Azure: 9 of 10 identical</a:t>
            </a:r>
          </a:p>
          <a:p>
            <a:r>
              <a:rPr sz="2800"/>
              <a:t>The hard set through both — diff on screen</a:t>
            </a:r>
          </a:p>
          <a:p>
            <a:r>
              <a:rPr sz="2800"/>
              <a:t>📊 </a:t>
            </a:r>
            <a:r>
              <a:rPr sz="2800">
                <a:latin typeface="Consolas"/>
              </a:rPr>
              <a:t>phi3</a:t>
            </a:r>
            <a:r>
              <a:rPr sz="2800"/>
              <a:t> 9/10 · 7/10 — </a:t>
            </a:r>
            <a:r>
              <a:rPr sz="2800">
                <a:latin typeface="Consolas"/>
              </a:rPr>
              <a:t>gpt-4.1</a:t>
            </a:r>
            <a:r>
              <a:rPr sz="2800"/>
              <a:t> 10/10 · 10/10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1: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r>
              <a:rPr sz="3600" b="1" dirty="0"/>
              <a:t>F01 Summarization</a:t>
            </a:r>
          </a:p>
          <a:p>
            <a:pPr marL="0" indent="0">
              <a:buNone/>
            </a:pPr>
            <a:r>
              <a:rPr sz="3600" dirty="0"/>
              <a:t>⛰️ Challenge: </a:t>
            </a: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  <a:p>
            <a:r>
              <a:rPr sz="2800" dirty="0">
                <a:latin typeface="Consolas"/>
              </a:rPr>
              <a:t>FNN-</a:t>
            </a:r>
            <a:r>
              <a:rPr sz="2800" dirty="0" err="1">
                <a:latin typeface="Consolas"/>
              </a:rPr>
              <a:t>lab.md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http/</a:t>
            </a:r>
            <a:r>
              <a:rPr sz="2800" dirty="0" err="1">
                <a:latin typeface="Consolas"/>
              </a:rPr>
              <a:t>ollama.http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expected-</a:t>
            </a:r>
            <a:r>
              <a:rPr sz="2800" dirty="0" err="1">
                <a:latin typeface="Consolas"/>
              </a:rPr>
              <a:t>output.md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data/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sz="3200" dirty="0"/>
              <a:t>✅ Done = your output similar to </a:t>
            </a:r>
            <a:r>
              <a:rPr sz="3200" dirty="0">
                <a:latin typeface="Consolas"/>
              </a:rPr>
              <a:t>expected-</a:t>
            </a:r>
            <a:r>
              <a:rPr sz="3200" dirty="0" err="1">
                <a:latin typeface="Consolas"/>
              </a:rPr>
              <a:t>output.md</a:t>
            </a:r>
            <a:endParaRPr sz="3200" dirty="0">
              <a:latin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1: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How'd it go?</a:t>
            </a:r>
            <a:r>
              <a:rPr lang="en-US" sz="2800" dirty="0"/>
              <a:t>				  Observations?			        </a:t>
            </a:r>
            <a:r>
              <a:rPr sz="2800" dirty="0"/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2547</Words>
  <Application>Microsoft Macintosh PowerPoint</Application>
  <PresentationFormat>Widescreen</PresentationFormat>
  <Paragraphs>193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Calibri Light</vt:lpstr>
      <vt:lpstr>Consolas</vt:lpstr>
      <vt:lpstr>Calibri</vt:lpstr>
      <vt:lpstr>Segoe UI</vt:lpstr>
      <vt:lpstr>Arial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2026-09-03T19:21:06Z</dcterms:modified>
  <cp:category/>
</cp:coreProperties>
</file>