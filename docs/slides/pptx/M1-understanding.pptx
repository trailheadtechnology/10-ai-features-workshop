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wording of the instruction does more work than the choice of model. If they remember one thing from this module, that is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 this now; every feature in the module pays it off, and it saves them in the afternoon.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The point is that "understanding" is one HTTP call three ways, and the module thread (a wrong-shaped answer is a bug in the instruction) applies to all three.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local model handles all of this. This feature never touches the cloud.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prompt aloud once. Everything they build in the lab is a change to the middle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required "hazards" slot with nothing honest to put in it is an invitation to make something up. Numbers are in expected-output.md. Point at the Ollama endpoint at the end: there was no API key, and no data left the room.</a:t>
            </a:r>
          </a:p>
          <a:p>
            <a:r>
              <a:t>Demo script (the demo outline that used to live in the spec, sized for the 30-minute block: skip the break-it-on-purpose beats first if you are running long):</a:t>
            </a:r>
          </a:p>
          <a:p>
            <a:r>
              <a:t>1. Open a raw trip report from data/trip-reports/ on screen and scroll through it slowly, so the room feels the problem before seeing the fix.</a:t>
            </a:r>
          </a:p>
          <a:p>
            <a:r>
              <a:t>2. Starter project: IChatClient wired to Ollama via Microsoft.Extensions.AI. One method, one prompt: "Summarize this trip report."</a:t>
            </a:r>
          </a:p>
          <a:p>
            <a:r>
              <a:t>3. Run it and get a faithful, generic, useless book report, then name the failure out loud: right model, wrong instruction.</a:t>
            </a:r>
          </a:p>
          <a:p>
            <a:r>
              <a:t>4. Iterate the prompt live into the hiker-focused version (conditions, hazards, crowding, ignore everything else). Run again. This is the payoff: three bullets, and the bridge warning surfaces.</a:t>
            </a:r>
          </a:p>
          <a:p>
            <a:r>
              <a:t>5. Point at the last two lines of that prompt, the grounding lines. Without them, this exact prompt run against the clean report invented a bear-related trail closure in roughly half of runs, because a required "hazards" slot with nothing honest to put in it is an invitation to make something up. The numbers and the failing outputs are in expected-output.md.</a:t>
            </a:r>
          </a:p>
          <a:p>
            <a:r>
              <a:t>6. Change the shape: same call, but output a one-line "trail status" headline for a card UI. Same feature, different product surface.</a:t>
            </a:r>
          </a:p>
          <a:p>
            <a:r>
              <a:t>7. Point at the Ollama endpoint in the code. This ran entirely on the laptop, with no API key and no data leaving the room.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the LLM stops being a chat feature and becomes a data-pipeline component. Extraction runs on private data at volume, so free and on-prem matters here more than anywhere.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box is the one people skip. Say plainly that extraction without validation is a data-corruption feature.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 is the dangerous miss: it is a value, and a pipeline will store it without complaint. Ship the schema plus a rejection rule.</a:t>
            </a:r>
          </a:p>
          <a:p>
            <a:r>
              <a:t>Demo script (the demo outline that used to live in the spec, sized for the 30-minute block: skip the break-it-on-purpose beats first if you are running long):</a:t>
            </a:r>
          </a:p>
          <a:p>
            <a:r>
              <a:t>1. Show the same messy trip report from feature 01. This time the goal isn't a summary, it's a database row.</a:t>
            </a:r>
          </a:p>
          <a:p>
            <a:r>
              <a:t>2. Define a C# record (TripFacts: trail, park, date, distance, wildlife, conditions) and use Microsoft.Extensions.AI's typed-response support to request it directly. The schema is code.</a:t>
            </a:r>
          </a:p>
          <a:p>
            <a:r>
              <a:t>3. Run it: prose in, populated .NET object out, with no parsing step. This is the payoff moment.</a:t>
            </a:r>
          </a:p>
          <a:p>
            <a:r>
              <a:t>4. Break it on purpose: run a report that never mentions distance, and watch the model invent distance_mi: 5.0.</a:t>
            </a:r>
          </a:p>
          <a:p>
            <a:r>
              <a:t>5. Fix it in the schema with nullable fields and "null when not stated" descriptions. Re-run: the invented distance usually goes away, and something else usually doesn't. Run it two or three times live so the room sees the variance rather than one lucky result. Then say the quiet part: this is better, and it is not a guarantee. The last mile is a validator that rejects a date like "early last month" and a 0 that should have been null, which is ordinary code your team already knows how to write.</a:t>
            </a:r>
          </a:p>
          <a:p>
            <a:r>
              <a:t>6. Zoom out: loop over ten reports and print rows. That's an ingestion pipeline in thirty lines, and the "trail stats" panel is now just a query.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Track the happy/unhappy signal weekly and a defect surfaces months before returns spike. One product in the corpus has that problem buried in its reviews.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teams never run that experiment. The room runs it before lunch.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sets up the "which model" argument the demo measures.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halves of the argument hold: ordinary reviews barely need the big model, and the sarcastic slice does, 7/10 vs 10/10, with every disagreement going the frontier model's way. Also worth 20 seconds: the local stand-in tied phi3, so a comparison against the wrong big model would have said the gap does not exist. Side finding worth 20 seconds: reflowing the identical prompt onto one line dropped phi3 to 7/10 and 4/10. Small models are sensitive to formatting.</a:t>
            </a:r>
          </a:p>
          <a:p>
            <a:r>
              <a:t>Demo script (the demo outline that used to live in the spec, sized for the 30-minute block: skip the break-it-on-purpose beats first if you are running long):</a:t>
            </a:r>
          </a:p>
          <a:p>
            <a:r>
              <a:t>1. Show the Cascade 65's reviews and point at a 4-star review with furious text, which is the whole case for reading the text rather than the stars.</a:t>
            </a:r>
          </a:p>
          <a:p>
            <a:r>
              <a:t>2. Starter project: one classify method whose prompt returns exactly positive | negative | mixed. Because of Microsoft.Extensions.AI, the same code runs against both providers, and the swap is one line in DI registration. Say that out loud, since it's the provider-flexibility slide made real.</a:t>
            </a:r>
          </a:p>
          <a:p>
            <a:r>
              <a:t>3. Run 20 easy reviews through phi3 locally, where it is fast, free, and correct, and let the small model win the first round.</a:t>
            </a:r>
          </a:p>
          <a:p>
            <a:r>
              <a:t>4. Run the same 20 through gpt-4.1 on Foundry and get the same labels on nine of ten (the frontier model also gets the deadpan four-star rave that phi3 calls mixed), which is the first payoff: on ordinary reviews you'd have paid for very little.</a:t>
            </a:r>
          </a:p>
          <a:p>
            <a:r>
              <a:t>5. Now the hard set, sarcasm and mixed reviews. Run both and diff the labels on screen. Second payoff: phi3 drops to 7/10 and gpt-4.1 holds at 10/10, and every disagreement is one the frontier model gets right. This is the slice that earns its price, and you know that because you measured it rather than assumed it. Check expected-output.md for what happened when this was built, and be ready for the room's answer to differ from yours.</a:t>
            </a:r>
          </a:p>
          <a:p>
            <a:r>
              <a:t>6. Close with the decision recipe: labeled sample, run both, count disagreements, price the errors. That recipe generalizes to every feature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01 regardless of experience. Everything else today assumes you've made one model call and seen what comes back. Finished everything? Help someone near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12648" y="2011680"/>
            <a:ext cx="10966399" cy="1371600"/>
          </a:xfrm>
        </p:spPr>
        <p:txBody>
          <a:bodyPr/>
          <a:lstStyle/>
          <a:p>
            <a:r>
              <a:t>Module 1: Understanding</a:t>
            </a:r>
          </a:p>
        </p:txBody>
      </p:sp>
      <p:sp>
        <p:nvSpPr>
          <p:cNvPr id="3" name="Subtitle 2"/>
          <p:cNvSpPr>
            <a:spLocks noGrp="1"/>
          </p:cNvSpPr>
          <p:nvPr>
            <p:ph type="subTitle" idx="1"/>
          </p:nvPr>
        </p:nvSpPr>
        <p:spPr>
          <a:xfrm>
            <a:off x="612648" y="3566160"/>
            <a:ext cx="10966399" cy="1828800"/>
          </a:xfrm>
        </p:spPr>
        <p:txBody>
          <a:bodyPr/>
          <a:lstStyle/>
          <a:p>
            <a:r>
              <a:t>Making sense of messy content</a:t>
            </a:r>
          </a:p>
          <a:p>
            <a:r>
              <a:t>01 Summarization (Recommended) · 02 Extraction · 03 Sentiment</a:t>
            </a:r>
          </a:p>
          <a:p>
            <a:r>
              <a:t>All three run on your laptop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The Thread to Watch</a:t>
            </a:r>
          </a:p>
        </p:txBody>
      </p:sp>
      <p:sp>
        <p:nvSpPr>
          <p:cNvPr id="3" name="Content Placeholder 2"/>
          <p:cNvSpPr>
            <a:spLocks noGrp="1"/>
          </p:cNvSpPr>
          <p:nvPr>
            <p:ph idx="1"/>
          </p:nvPr>
        </p:nvSpPr>
        <p:spPr>
          <a:xfrm>
            <a:off x="612648" y="1600200"/>
            <a:ext cx="10966399" cy="4892040"/>
          </a:xfrm>
        </p:spPr>
        <p:txBody>
          <a:bodyPr wrap="square"/>
          <a:lstStyle/>
          <a:p>
            <a:pPr/>
            <a:r>
              <a:rPr sz="2000"/>
              <a:t>Asked for something it cannot find, a language model supplies something plausible rather than nothing</a:t>
            </a:r>
          </a:p>
          <a:p>
            <a:pPr/>
            <a:r>
              <a:rPr sz="2000"/>
              <a:t>01 invents a trail closure from a bear sighting</a:t>
            </a:r>
          </a:p>
          <a:p>
            <a:pPr/>
            <a:r>
              <a:rPr sz="2000"/>
              <a:t>02 reports a distance the report never gives</a:t>
            </a:r>
          </a:p>
          <a:p>
            <a:pPr/>
            <a:r>
              <a:rPr sz="2000"/>
              <a:t>03 reads a sarcastic five-star review at face value</a:t>
            </a:r>
          </a:p>
          <a:p>
            <a:pPr/>
            <a:r>
              <a:rPr sz="2000"/>
              <a:t>A better model does not fix this. A more specific instruction, a schema that permits null, and code that checks the output 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Three Features, One Call</a:t>
            </a:r>
          </a:p>
        </p:txBody>
      </p:sp>
      <p:sp>
        <p:nvSpPr>
          <p:cNvPr id="3" name="Content Placeholder 2"/>
          <p:cNvSpPr>
            <a:spLocks noGrp="1"/>
          </p:cNvSpPr>
          <p:nvPr>
            <p:ph idx="1"/>
          </p:nvPr>
        </p:nvSpPr>
        <p:spPr>
          <a:xfrm>
            <a:off x="612648" y="5504687"/>
            <a:ext cx="10966399" cy="987553"/>
          </a:xfrm>
        </p:spPr>
        <p:txBody>
          <a:bodyPr wrap="square"/>
          <a:lstStyle/>
          <a:p>
            <a:pPr/>
            <a:r>
              <a:rPr sz="1400"/>
              <a:t>The pipeline is identical. Only the instruction and the output shape change.</a:t>
            </a:r>
          </a:p>
          <a:p>
            <a:pPr/>
            <a:r>
              <a:rPr sz="1400"/>
              <a:t>Which is why the labs feel similar and why you should pick by what you would ship, not by difficulty</a:t>
            </a:r>
          </a:p>
        </p:txBody>
      </p:sp>
      <p:sp>
        <p:nvSpPr>
          <p:cNvPr id="4" name="TextBox 3"/>
          <p:cNvSpPr txBox="1"/>
          <p:nvPr/>
        </p:nvSpPr>
        <p:spPr>
          <a:xfrm>
            <a:off x="612648" y="1554480"/>
            <a:ext cx="1371600" cy="1271016"/>
          </a:xfrm>
          <a:prstGeom prst="rect">
            <a:avLst/>
          </a:prstGeom>
          <a:noFill/>
        </p:spPr>
        <p:txBody>
          <a:bodyPr wrap="square" anchor="ctr">
            <a:spAutoFit/>
          </a:bodyPr>
          <a:lstStyle/>
          <a:p>
            <a:r>
              <a:rPr sz="1400" i="1"/>
              <a:t>01 Summarize</a:t>
            </a:r>
          </a:p>
        </p:txBody>
      </p:sp>
      <p:sp>
        <p:nvSpPr>
          <p:cNvPr id="5" name="Rounded Rectangle 4"/>
          <p:cNvSpPr/>
          <p:nvPr/>
        </p:nvSpPr>
        <p:spPr>
          <a:xfrm>
            <a:off x="2075688" y="1554480"/>
            <a:ext cx="2067229" cy="127101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Trip report</a:t>
            </a:r>
          </a:p>
        </p:txBody>
      </p:sp>
      <p:sp>
        <p:nvSpPr>
          <p:cNvPr id="6" name="Right Arrow 5"/>
          <p:cNvSpPr/>
          <p:nvPr/>
        </p:nvSpPr>
        <p:spPr>
          <a:xfrm>
            <a:off x="4197781" y="204368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397" y="1554480"/>
            <a:ext cx="2067229" cy="127101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"In 3 bullets, for a hiker: conditions, hazards, crowding"</a:t>
            </a:r>
          </a:p>
        </p:txBody>
      </p:sp>
      <p:sp>
        <p:nvSpPr>
          <p:cNvPr id="8" name="Right Arrow 7"/>
          <p:cNvSpPr/>
          <p:nvPr/>
        </p:nvSpPr>
        <p:spPr>
          <a:xfrm>
            <a:off x="6676491" y="204368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107" y="1554480"/>
            <a:ext cx="2067229" cy="127101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llama3.2</a:t>
            </a:r>
          </a:p>
        </p:txBody>
      </p:sp>
      <p:sp>
        <p:nvSpPr>
          <p:cNvPr id="10" name="Right Arrow 9"/>
          <p:cNvSpPr/>
          <p:nvPr/>
        </p:nvSpPr>
        <p:spPr>
          <a:xfrm>
            <a:off x="9155201" y="204368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1817" y="1554480"/>
            <a:ext cx="2067229" cy="127101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Prose or bullets</a:t>
            </a:r>
          </a:p>
        </p:txBody>
      </p:sp>
      <p:sp>
        <p:nvSpPr>
          <p:cNvPr id="12" name="TextBox 11"/>
          <p:cNvSpPr txBox="1"/>
          <p:nvPr/>
        </p:nvSpPr>
        <p:spPr>
          <a:xfrm>
            <a:off x="612648" y="3099816"/>
            <a:ext cx="1371600" cy="1033271"/>
          </a:xfrm>
          <a:prstGeom prst="rect">
            <a:avLst/>
          </a:prstGeom>
          <a:noFill/>
        </p:spPr>
        <p:txBody>
          <a:bodyPr wrap="square" anchor="ctr">
            <a:spAutoFit/>
          </a:bodyPr>
          <a:lstStyle/>
          <a:p>
            <a:r>
              <a:rPr sz="1400" i="1"/>
              <a:t>02 Extract</a:t>
            </a:r>
          </a:p>
        </p:txBody>
      </p:sp>
      <p:sp>
        <p:nvSpPr>
          <p:cNvPr id="13" name="Rounded Rectangle 12"/>
          <p:cNvSpPr/>
          <p:nvPr/>
        </p:nvSpPr>
        <p:spPr>
          <a:xfrm>
            <a:off x="2075688" y="3099816"/>
            <a:ext cx="2067229"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Trip report</a:t>
            </a:r>
          </a:p>
        </p:txBody>
      </p:sp>
      <p:sp>
        <p:nvSpPr>
          <p:cNvPr id="14" name="Right Arrow 13"/>
          <p:cNvSpPr/>
          <p:nvPr/>
        </p:nvSpPr>
        <p:spPr>
          <a:xfrm>
            <a:off x="4197781" y="3470147"/>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554397" y="3099816"/>
            <a:ext cx="2067229"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Prompt + JSON schema, nulls allowed</a:t>
            </a:r>
          </a:p>
        </p:txBody>
      </p:sp>
      <p:sp>
        <p:nvSpPr>
          <p:cNvPr id="16" name="Right Arrow 15"/>
          <p:cNvSpPr/>
          <p:nvPr/>
        </p:nvSpPr>
        <p:spPr>
          <a:xfrm>
            <a:off x="6676491" y="3470147"/>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033107" y="3099816"/>
            <a:ext cx="2067229"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llama3.2, JSON mode</a:t>
            </a:r>
          </a:p>
        </p:txBody>
      </p:sp>
      <p:sp>
        <p:nvSpPr>
          <p:cNvPr id="18" name="Right Arrow 17"/>
          <p:cNvSpPr/>
          <p:nvPr/>
        </p:nvSpPr>
        <p:spPr>
          <a:xfrm>
            <a:off x="9155201" y="3470147"/>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11817" y="3099816"/>
            <a:ext cx="2067229"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Validated JSON</a:t>
            </a:r>
          </a:p>
        </p:txBody>
      </p:sp>
      <p:sp>
        <p:nvSpPr>
          <p:cNvPr id="20" name="TextBox 19"/>
          <p:cNvSpPr txBox="1"/>
          <p:nvPr/>
        </p:nvSpPr>
        <p:spPr>
          <a:xfrm>
            <a:off x="612648" y="4407407"/>
            <a:ext cx="1371600" cy="822960"/>
          </a:xfrm>
          <a:prstGeom prst="rect">
            <a:avLst/>
          </a:prstGeom>
          <a:noFill/>
        </p:spPr>
        <p:txBody>
          <a:bodyPr wrap="square" anchor="ctr">
            <a:spAutoFit/>
          </a:bodyPr>
          <a:lstStyle/>
          <a:p>
            <a:r>
              <a:rPr sz="1400" i="1"/>
              <a:t>03 Classify</a:t>
            </a:r>
          </a:p>
        </p:txBody>
      </p:sp>
      <p:sp>
        <p:nvSpPr>
          <p:cNvPr id="21" name="Rounded Rectangle 20"/>
          <p:cNvSpPr/>
          <p:nvPr/>
        </p:nvSpPr>
        <p:spPr>
          <a:xfrm>
            <a:off x="2075688" y="4407407"/>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Gear review</a:t>
            </a:r>
          </a:p>
        </p:txBody>
      </p:sp>
      <p:sp>
        <p:nvSpPr>
          <p:cNvPr id="22" name="Right Arrow 21"/>
          <p:cNvSpPr/>
          <p:nvPr/>
        </p:nvSpPr>
        <p:spPr>
          <a:xfrm>
            <a:off x="4197781" y="4672583"/>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54397" y="4407407"/>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Prompt: the label set + examples</a:t>
            </a:r>
          </a:p>
        </p:txBody>
      </p:sp>
      <p:sp>
        <p:nvSpPr>
          <p:cNvPr id="24" name="Right Arrow 23"/>
          <p:cNvSpPr/>
          <p:nvPr/>
        </p:nvSpPr>
        <p:spPr>
          <a:xfrm>
            <a:off x="6676491" y="4672583"/>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033107" y="4407407"/>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phi3 or gpt-4.1</a:t>
            </a:r>
          </a:p>
        </p:txBody>
      </p:sp>
      <p:sp>
        <p:nvSpPr>
          <p:cNvPr id="26" name="Right Arrow 25"/>
          <p:cNvSpPr/>
          <p:nvPr/>
        </p:nvSpPr>
        <p:spPr>
          <a:xfrm>
            <a:off x="9155201" y="4672583"/>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511817" y="4407407"/>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One label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01 · Summarization: The User Problem</a:t>
            </a:r>
          </a:p>
        </p:txBody>
      </p:sp>
      <p:sp>
        <p:nvSpPr>
          <p:cNvPr id="3" name="Content Placeholder 2"/>
          <p:cNvSpPr>
            <a:spLocks noGrp="1"/>
          </p:cNvSpPr>
          <p:nvPr>
            <p:ph idx="1"/>
          </p:nvPr>
        </p:nvSpPr>
        <p:spPr>
          <a:xfrm>
            <a:off x="612648" y="1600200"/>
            <a:ext cx="10966399" cy="4892040"/>
          </a:xfrm>
        </p:spPr>
        <p:txBody>
          <a:bodyPr wrap="square"/>
          <a:lstStyle/>
          <a:p>
            <a:pPr/>
            <a:r>
              <a:rPr sz="2000"/>
              <a:t>Forty trip reports for Avalanche Lake Trail, 1,200 words each</a:t>
            </a:r>
          </a:p>
          <a:p>
            <a:pPr/>
            <a:r>
              <a:rPr sz="2000"/>
              <a:t>Somewhere in there: is the bridge out, and are the mosquitoes bad?</a:t>
            </a:r>
          </a:p>
          <a:p>
            <a:pPr/>
            <a:r>
              <a:rPr sz="2000"/>
              <a:t>Nobody reads forty essays. They skim three, miss the warning in the fourth, and have a bad Saturday.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01 · The Concept</a:t>
            </a:r>
          </a:p>
        </p:txBody>
      </p:sp>
      <p:sp>
        <p:nvSpPr>
          <p:cNvPr id="3" name="Content Placeholder 2"/>
          <p:cNvSpPr>
            <a:spLocks noGrp="1"/>
          </p:cNvSpPr>
          <p:nvPr>
            <p:ph idx="1"/>
          </p:nvPr>
        </p:nvSpPr>
        <p:spPr>
          <a:xfrm>
            <a:off x="612648" y="1600200"/>
            <a:ext cx="10966399" cy="4892040"/>
          </a:xfrm>
        </p:spPr>
        <p:txBody>
          <a:bodyPr wrap="square"/>
          <a:lstStyle/>
          <a:p>
            <a:pPr/>
            <a:r>
              <a:rPr sz="2000"/>
              <a:t>The simplest LLM feature: one chat call, a document, an instruction</a:t>
            </a:r>
          </a:p>
          <a:p>
            <a:pPr/>
            <a:r>
              <a:rPr sz="2000"/>
              <a:t>"Summarize this" produces a book report</a:t>
            </a:r>
          </a:p>
          <a:p>
            <a:pPr/>
            <a:r>
              <a:rPr sz="2000"/>
              <a:t>Real products ask for a summary with a purpose: "In 3 bullets, for a hiker planning a trip this week: conditions, hazards, crowding. Ignore gear talk."</a:t>
            </a:r>
          </a:p>
          <a:p>
            <a:pPr/>
            <a:r>
              <a:rPr sz="2000"/>
              <a:t>Shape it to the UI slot: prose, bullets, template, a single headline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01 · How It Works</a:t>
            </a:r>
          </a:p>
        </p:txBody>
      </p:sp>
      <p:sp>
        <p:nvSpPr>
          <p:cNvPr id="3" name="Content Placeholder 2"/>
          <p:cNvSpPr>
            <a:spLocks noGrp="1"/>
          </p:cNvSpPr>
          <p:nvPr>
            <p:ph idx="1"/>
          </p:nvPr>
        </p:nvSpPr>
        <p:spPr>
          <a:xfrm>
            <a:off x="612648" y="2862071"/>
            <a:ext cx="10966399" cy="3630169"/>
          </a:xfrm>
        </p:spPr>
        <p:txBody>
          <a:bodyPr wrap="square"/>
          <a:lstStyle/>
          <a:p>
            <a:pPr/>
            <a:r>
              <a:rPr sz="1600"/>
              <a:t>One request, one response. There is no pipeline to build.</a:t>
            </a:r>
          </a:p>
          <a:p>
            <a:pPr/>
            <a:r>
              <a:rPr sz="1600"/>
              <a:t>The instruction carries the feature: who it is for, what to keep, what to drop, and "only from the text"</a:t>
            </a:r>
          </a:p>
          <a:p>
            <a:pPr/>
            <a:r>
              <a:rPr sz="1600"/>
              <a:t>The output shape is a product decision: bullets for a card, a headline for a list, prose for an email</a:t>
            </a:r>
          </a:p>
        </p:txBody>
      </p:sp>
      <p:sp>
        <p:nvSpPr>
          <p:cNvPr id="4" name="Rounded Rectangle 3"/>
          <p:cNvSpPr/>
          <p:nvPr/>
        </p:nvSpPr>
        <p:spPr>
          <a:xfrm>
            <a:off x="612648" y="1554480"/>
            <a:ext cx="2432989"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1,200-word trip report</a:t>
            </a:r>
          </a:p>
        </p:txBody>
      </p:sp>
      <p:sp>
        <p:nvSpPr>
          <p:cNvPr id="5" name="Right Arrow 4"/>
          <p:cNvSpPr/>
          <p:nvPr/>
        </p:nvSpPr>
        <p:spPr>
          <a:xfrm>
            <a:off x="3100501" y="1924811"/>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57117" y="1554480"/>
            <a:ext cx="2432989"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Prompt: purpose, output shape, and two grounding lines</a:t>
            </a:r>
          </a:p>
        </p:txBody>
      </p:sp>
      <p:sp>
        <p:nvSpPr>
          <p:cNvPr id="7" name="Right Arrow 6"/>
          <p:cNvSpPr/>
          <p:nvPr/>
        </p:nvSpPr>
        <p:spPr>
          <a:xfrm>
            <a:off x="5944971" y="1924811"/>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01587" y="1554480"/>
            <a:ext cx="2432989"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llama3.2 (local, no key)</a:t>
            </a:r>
          </a:p>
        </p:txBody>
      </p:sp>
      <p:sp>
        <p:nvSpPr>
          <p:cNvPr id="9" name="Right Arrow 8"/>
          <p:cNvSpPr/>
          <p:nvPr/>
        </p:nvSpPr>
        <p:spPr>
          <a:xfrm>
            <a:off x="8789441" y="1924811"/>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6057" y="1554480"/>
            <a:ext cx="2432989"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Three bullets a hiker can act 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01 · Demo: What to Watch</a:t>
            </a:r>
          </a:p>
        </p:txBody>
      </p:sp>
      <p:sp>
        <p:nvSpPr>
          <p:cNvPr id="3" name="Content Placeholder 2"/>
          <p:cNvSpPr>
            <a:spLocks noGrp="1"/>
          </p:cNvSpPr>
          <p:nvPr>
            <p:ph idx="1"/>
          </p:nvPr>
        </p:nvSpPr>
        <p:spPr>
          <a:xfrm>
            <a:off x="612648" y="1600200"/>
            <a:ext cx="10966399" cy="4892040"/>
          </a:xfrm>
        </p:spPr>
        <p:txBody>
          <a:bodyPr wrap="square"/>
          <a:lstStyle/>
          <a:p>
            <a:pPr/>
            <a:r>
              <a:rPr sz="2000"/>
              <a:t>Raw report on screen first, so the room feels the problem</a:t>
            </a:r>
          </a:p>
          <a:p>
            <a:pPr/>
            <a:r>
              <a:rPr sz="2000"/>
              <a:t>Naive prompt: faithful, generic, useless</a:t>
            </a:r>
          </a:p>
          <a:p>
            <a:pPr/>
            <a:r>
              <a:rPr sz="2000"/>
              <a:t>Purpose-built prompt: three bullets, and the bridge warning surfaces</a:t>
            </a:r>
          </a:p>
          <a:p>
            <a:pPr/>
            <a:r>
              <a:rPr sz="2000"/>
              <a:t>The last two lines of the prompt are grounding lines: without them, roughly half of runs invented a bear-related closure on the clean report</a:t>
            </a:r>
          </a:p>
          <a:p>
            <a:pPr/>
            <a:r>
              <a:rPr sz="2000"/>
              <a:t>Same call, different shape: a one-line trail-status headline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01 · Leadership Card</a:t>
            </a:r>
          </a:p>
        </p:txBody>
      </p:sp>
      <p:sp>
        <p:nvSpPr>
          <p:cNvPr id="3" name="Content Placeholder 2"/>
          <p:cNvSpPr>
            <a:spLocks noGrp="1"/>
          </p:cNvSpPr>
          <p:nvPr>
            <p:ph idx="1"/>
          </p:nvPr>
        </p:nvSpPr>
        <p:spPr>
          <a:xfrm>
            <a:off x="612648" y="1600200"/>
            <a:ext cx="10966399" cy="4892040"/>
          </a:xfrm>
        </p:spPr>
        <p:txBody>
          <a:bodyPr wrap="square"/>
          <a:lstStyle/>
          <a:p>
            <a:pPr/>
            <a:r>
              <a:rPr sz="2000"/>
              <a:t>When: anywhere users face long content they don't want to read. Reviews, tickets, reports, meeting notes, threads.</a:t>
            </a:r>
          </a:p>
          <a:p>
            <a:pPr/>
            <a:r>
              <a:rPr sz="2000"/>
              <a:t>Cost: days. One call per document, free local models, no new infrastructure.</a:t>
            </a:r>
          </a:p>
          <a:p>
            <a:pPr/>
            <a:r>
              <a:rPr sz="2000"/>
              <a:t>"Our users are drowning in text we already have. A weekend of prompt work turns it into answers."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02 · Extraction: The User Problem</a:t>
            </a:r>
          </a:p>
        </p:txBody>
      </p:sp>
      <p:sp>
        <p:nvSpPr>
          <p:cNvPr id="3" name="Content Placeholder 2"/>
          <p:cNvSpPr>
            <a:spLocks noGrp="1"/>
          </p:cNvSpPr>
          <p:nvPr>
            <p:ph idx="1"/>
          </p:nvPr>
        </p:nvSpPr>
        <p:spPr>
          <a:xfrm>
            <a:off x="612648" y="1600200"/>
            <a:ext cx="10966399" cy="4892040"/>
          </a:xfrm>
        </p:spPr>
        <p:txBody>
          <a:bodyPr wrap="square"/>
          <a:lstStyle/>
          <a:p>
            <a:pPr/>
            <a:r>
              <a:rPr sz="2000"/>
              <a:t>Trailhead wants a "trail stats" panel: which trails, when, how far, what wildlife, what shape the trail was in</a:t>
            </a:r>
          </a:p>
          <a:p>
            <a:pPr/>
            <a:r>
              <a:rPr sz="2000"/>
              <a:t>All of it exists, scattered through forty reports as prose</a:t>
            </a:r>
          </a:p>
          <a:p>
            <a:pPr/>
            <a:r>
              <a:rPr sz="2000"/>
              <a:t>Today a human would re-read every report and re-type the facts. So the panel doesn't exist.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02 · The Concept</a:t>
            </a:r>
          </a:p>
        </p:txBody>
      </p:sp>
      <p:sp>
        <p:nvSpPr>
          <p:cNvPr id="3" name="Content Placeholder 2"/>
          <p:cNvSpPr>
            <a:spLocks noGrp="1"/>
          </p:cNvSpPr>
          <p:nvPr>
            <p:ph idx="1"/>
          </p:nvPr>
        </p:nvSpPr>
        <p:spPr>
          <a:xfrm>
            <a:off x="612648" y="1600200"/>
            <a:ext cx="10966399" cy="4892040"/>
          </a:xfrm>
        </p:spPr>
        <p:txBody>
          <a:bodyPr wrap="square"/>
          <a:lstStyle/>
          <a:p>
            <a:pPr/>
            <a:r>
              <a:rPr sz="2000"/>
              <a:t>Summarization's sibling: the output is data your code consumes, not text a person reads</a:t>
            </a:r>
          </a:p>
          <a:p>
            <a:pPr/>
            <a:r>
              <a:rPr sz="2000"/>
              <a:t>JSON mode: the model is constrained to emit valid JSON matching your schema</a:t>
            </a:r>
          </a:p>
          <a:p>
            <a:pPr/>
            <a:r>
              <a:rPr sz="2000"/>
              <a:t>The schema does most of the prompting: field names, descriptions, "use null when the report doesn't say"</a:t>
            </a:r>
          </a:p>
          <a:p>
            <a:pPr/>
            <a:r>
              <a:rPr sz="2000"/>
              <a:t>Structured shape guarantees the JSON parses. It does not guarantee the JSON is true.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02 · How It Works</a:t>
            </a:r>
          </a:p>
        </p:txBody>
      </p:sp>
      <p:sp>
        <p:nvSpPr>
          <p:cNvPr id="3" name="Content Placeholder 2"/>
          <p:cNvSpPr>
            <a:spLocks noGrp="1"/>
          </p:cNvSpPr>
          <p:nvPr>
            <p:ph idx="1"/>
          </p:nvPr>
        </p:nvSpPr>
        <p:spPr>
          <a:xfrm>
            <a:off x="612648" y="3099816"/>
            <a:ext cx="10966399" cy="3392424"/>
          </a:xfrm>
        </p:spPr>
        <p:txBody>
          <a:bodyPr wrap="square"/>
          <a:lstStyle/>
          <a:p>
            <a:pPr/>
            <a:r>
              <a:rPr sz="1600"/>
              <a:t>The model writes JSON; your code decides whether to believe it</a:t>
            </a:r>
          </a:p>
          <a:p>
            <a:pPr/>
            <a:r>
              <a:rPr sz="1600"/>
              <a:t>JSON mode guarantees syntax, not truth. The schema check and the null rule are the feature.</a:t>
            </a:r>
          </a:p>
          <a:p>
            <a:pPr/>
            <a:r>
              <a:rPr sz="1600"/>
              <a:t>A rejected record is a good outcome. A silently stored zero is the bug.</a:t>
            </a:r>
          </a:p>
        </p:txBody>
      </p:sp>
      <p:sp>
        <p:nvSpPr>
          <p:cNvPr id="4" name="Rounded Rectangle 3"/>
          <p:cNvSpPr/>
          <p:nvPr/>
        </p:nvSpPr>
        <p:spPr>
          <a:xfrm>
            <a:off x="612648" y="1554480"/>
            <a:ext cx="1864095" cy="127101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report</a:t>
            </a:r>
          </a:p>
        </p:txBody>
      </p:sp>
      <p:sp>
        <p:nvSpPr>
          <p:cNvPr id="5" name="Right Arrow 4"/>
          <p:cNvSpPr/>
          <p:nvPr/>
        </p:nvSpPr>
        <p:spPr>
          <a:xfrm>
            <a:off x="2531607" y="204368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888223" y="1554480"/>
            <a:ext cx="1864095" cy="127101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Prompt: fields, types, examples, "null when absent"</a:t>
            </a:r>
          </a:p>
        </p:txBody>
      </p:sp>
      <p:sp>
        <p:nvSpPr>
          <p:cNvPr id="7" name="Right Arrow 6"/>
          <p:cNvSpPr/>
          <p:nvPr/>
        </p:nvSpPr>
        <p:spPr>
          <a:xfrm>
            <a:off x="4807183" y="204368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163799" y="1554480"/>
            <a:ext cx="1864095" cy="127101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llama3.2 in JSON mode</a:t>
            </a:r>
          </a:p>
        </p:txBody>
      </p:sp>
      <p:sp>
        <p:nvSpPr>
          <p:cNvPr id="9" name="Right Arrow 8"/>
          <p:cNvSpPr/>
          <p:nvPr/>
        </p:nvSpPr>
        <p:spPr>
          <a:xfrm>
            <a:off x="7082759" y="204368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439375" y="1554480"/>
            <a:ext cx="1864095" cy="127101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Parse and validate against the schema</a:t>
            </a:r>
          </a:p>
        </p:txBody>
      </p:sp>
      <p:sp>
        <p:nvSpPr>
          <p:cNvPr id="11" name="Right Arrow 10"/>
          <p:cNvSpPr/>
          <p:nvPr/>
        </p:nvSpPr>
        <p:spPr>
          <a:xfrm>
            <a:off x="9358335" y="204368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14951" y="1554480"/>
            <a:ext cx="1864095" cy="127101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Store, or reject and log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02 · Demo: What to Watch</a:t>
            </a:r>
          </a:p>
        </p:txBody>
      </p:sp>
      <p:sp>
        <p:nvSpPr>
          <p:cNvPr id="3" name="Content Placeholder 2"/>
          <p:cNvSpPr>
            <a:spLocks noGrp="1"/>
          </p:cNvSpPr>
          <p:nvPr>
            <p:ph idx="1"/>
          </p:nvPr>
        </p:nvSpPr>
        <p:spPr>
          <a:xfrm>
            <a:off x="612648" y="1600200"/>
            <a:ext cx="10966399" cy="4892040"/>
          </a:xfrm>
        </p:spPr>
        <p:txBody>
          <a:bodyPr wrap="square"/>
          <a:lstStyle/>
          <a:p>
            <a:pPr/>
            <a:r>
              <a:rPr sz="2000"/>
              <a:t>Define a C# record (TripFacts); typed response, no parsing step</a:t>
            </a:r>
          </a:p>
          <a:p>
            <a:pPr/>
            <a:r>
              <a:rPr sz="2000"/>
              <a:t>Break it: a report that never mentions distance comes back with distance_mi: 5.0</a:t>
            </a:r>
          </a:p>
          <a:p>
            <a:pPr/>
            <a:r>
              <a:rPr sz="2000"/>
              <a:t>Fix in the schema: nullable fields, "null when not stated"</a:t>
            </a:r>
          </a:p>
          <a:p>
            <a:pPr/>
            <a:r>
              <a:rPr sz="2000"/>
              <a:t>Run it two or three times: it gets better, and it is not a guarantee. elevation_gain_ft: 0 where the honest answer is null; "early last month" as a date.</a:t>
            </a:r>
          </a:p>
          <a:p>
            <a:pPr/>
            <a:r>
              <a:rPr sz="2000"/>
              <a:t>The last mile is a validator, which is ordinary code your team already knows how to write.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02 · Leadership Card</a:t>
            </a:r>
          </a:p>
        </p:txBody>
      </p:sp>
      <p:sp>
        <p:nvSpPr>
          <p:cNvPr id="3" name="Content Placeholder 2"/>
          <p:cNvSpPr>
            <a:spLocks noGrp="1"/>
          </p:cNvSpPr>
          <p:nvPr>
            <p:ph idx="1"/>
          </p:nvPr>
        </p:nvSpPr>
        <p:spPr>
          <a:xfrm>
            <a:off x="612648" y="1600200"/>
            <a:ext cx="10966399" cy="4892040"/>
          </a:xfrm>
        </p:spPr>
        <p:txBody>
          <a:bodyPr wrap="square"/>
          <a:lstStyle/>
          <a:p>
            <a:pPr/>
            <a:r>
              <a:rPr sz="2000"/>
              <a:t>When: valuable data trapped in documents. Invoices, resumes, support emails, contracts, legacy records.</a:t>
            </a:r>
          </a:p>
          <a:p>
            <a:pPr/>
            <a:r>
              <a:rPr sz="2000"/>
              <a:t>Cost: days to a working pipeline. The real work is schema design and spot-checking accuracy.</a:t>
            </a:r>
          </a:p>
          <a:p>
            <a:pPr/>
            <a:r>
              <a:rPr sz="2000"/>
              <a:t>"We have years of data trapped in documents. This turns it into queryable rows without anyone re-typing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03 · Sentiment: The User Problem</a:t>
            </a:r>
          </a:p>
        </p:txBody>
      </p:sp>
      <p:sp>
        <p:nvSpPr>
          <p:cNvPr id="3" name="Content Placeholder 2"/>
          <p:cNvSpPr>
            <a:spLocks noGrp="1"/>
          </p:cNvSpPr>
          <p:nvPr>
            <p:ph idx="1"/>
          </p:nvPr>
        </p:nvSpPr>
        <p:spPr>
          <a:xfrm>
            <a:off x="612648" y="1600200"/>
            <a:ext cx="10966399" cy="4892040"/>
          </a:xfrm>
        </p:spPr>
        <p:txBody>
          <a:bodyPr wrap="square"/>
          <a:lstStyle/>
          <a:p>
            <a:pPr/>
            <a:r>
              <a:rPr sz="2000"/>
              <a:t>The Cascade 65 backpack has 300 reviews. Are people happy, and what are they mad about?</a:t>
            </a:r>
          </a:p>
          <a:p>
            <a:pPr/>
            <a:r>
              <a:rPr sz="2000"/>
              <a:t>Star ratings lie: "4 stars, but the hip belt broke on day two"</a:t>
            </a:r>
          </a:p>
          <a:p>
            <a:pPr/>
            <a:r>
              <a:rPr sz="2000"/>
              <a:t>The user here is the product team, not the hiker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03 · The Concept</a:t>
            </a:r>
          </a:p>
        </p:txBody>
      </p:sp>
      <p:sp>
        <p:nvSpPr>
          <p:cNvPr id="3" name="Content Placeholder 2"/>
          <p:cNvSpPr>
            <a:spLocks noGrp="1"/>
          </p:cNvSpPr>
          <p:nvPr>
            <p:ph idx="1"/>
          </p:nvPr>
        </p:nvSpPr>
        <p:spPr>
          <a:xfrm>
            <a:off x="612648" y="1600200"/>
            <a:ext cx="10966399" cy="4892040"/>
          </a:xfrm>
        </p:spPr>
        <p:txBody>
          <a:bodyPr wrap="square"/>
          <a:lstStyle/>
          <a:p>
            <a:pPr/>
            <a:r>
              <a:rPr sz="2000"/>
              <a:t>Classification applied to text, and the day's model-selection lesson: you don't always need the big model</a:t>
            </a:r>
          </a:p>
          <a:p>
            <a:pPr/>
            <a:r>
              <a:rPr sz="2000"/>
              <a:t>phi3 (2 GB, free, private) vs Azure OpenAI, same prompt</a:t>
            </a:r>
          </a:p>
          <a:p>
            <a:pPr/>
            <a:r>
              <a:rPr sz="2000"/>
              <a:t>Easy reviews: expect a tie. Hard reviews (sarcasm, mixed, rating contradicts text): measure the gap.</a:t>
            </a:r>
          </a:p>
          <a:p>
            <a:pPr/>
            <a:r>
              <a:rPr sz="2000"/>
              <a:t>The decision is measurable: labeled sample, run both, count disagreements, price the errors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03 · How It Works</a:t>
            </a:r>
          </a:p>
        </p:txBody>
      </p:sp>
      <p:sp>
        <p:nvSpPr>
          <p:cNvPr id="3" name="Content Placeholder 2"/>
          <p:cNvSpPr>
            <a:spLocks noGrp="1"/>
          </p:cNvSpPr>
          <p:nvPr>
            <p:ph idx="1"/>
          </p:nvPr>
        </p:nvSpPr>
        <p:spPr>
          <a:xfrm>
            <a:off x="612648" y="3099816"/>
            <a:ext cx="10966399" cy="3392424"/>
          </a:xfrm>
        </p:spPr>
        <p:txBody>
          <a:bodyPr wrap="square"/>
          <a:lstStyle/>
          <a:p>
            <a:pPr/>
            <a:r>
              <a:rPr sz="1600"/>
              <a:t>Same shape as extraction with a one-word output, which makes it the cleanest place to compare models</a:t>
            </a:r>
          </a:p>
          <a:p>
            <a:pPr/>
            <a:r>
              <a:rPr sz="1600"/>
              <a:t>Everything else held equal: same prompt, same reviews, same gold labels. Swap the model box and count.</a:t>
            </a:r>
          </a:p>
          <a:p>
            <a:pPr/>
            <a:r>
              <a:rPr sz="1600"/>
              <a:t>Small model for the easy pile, big model for the sarcastic slice: the number tells you where the money goes</a:t>
            </a:r>
          </a:p>
        </p:txBody>
      </p:sp>
      <p:sp>
        <p:nvSpPr>
          <p:cNvPr id="4" name="Rounded Rectangle 3"/>
          <p:cNvSpPr/>
          <p:nvPr/>
        </p:nvSpPr>
        <p:spPr>
          <a:xfrm>
            <a:off x="612648" y="1554480"/>
            <a:ext cx="1864095" cy="127101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Gear review</a:t>
            </a:r>
          </a:p>
        </p:txBody>
      </p:sp>
      <p:sp>
        <p:nvSpPr>
          <p:cNvPr id="5" name="Right Arrow 4"/>
          <p:cNvSpPr/>
          <p:nvPr/>
        </p:nvSpPr>
        <p:spPr>
          <a:xfrm>
            <a:off x="2531607" y="204368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888223" y="1554480"/>
            <a:ext cx="1864095" cy="127101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Prompt: the three labels, what each means, two examples</a:t>
            </a:r>
          </a:p>
        </p:txBody>
      </p:sp>
      <p:sp>
        <p:nvSpPr>
          <p:cNvPr id="7" name="Right Arrow 6"/>
          <p:cNvSpPr/>
          <p:nvPr/>
        </p:nvSpPr>
        <p:spPr>
          <a:xfrm>
            <a:off x="4807183" y="204368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163799" y="1554480"/>
            <a:ext cx="1864095" cy="127101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(phi3 local, or gpt-4.1 on Foundry)</a:t>
            </a:r>
          </a:p>
        </p:txBody>
      </p:sp>
      <p:sp>
        <p:nvSpPr>
          <p:cNvPr id="9" name="Right Arrow 8"/>
          <p:cNvSpPr/>
          <p:nvPr/>
        </p:nvSpPr>
        <p:spPr>
          <a:xfrm>
            <a:off x="7082759" y="204368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439375" y="1554480"/>
            <a:ext cx="1864095" cy="127101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One word</a:t>
            </a:r>
          </a:p>
        </p:txBody>
      </p:sp>
      <p:sp>
        <p:nvSpPr>
          <p:cNvPr id="11" name="Right Arrow 10"/>
          <p:cNvSpPr/>
          <p:nvPr/>
        </p:nvSpPr>
        <p:spPr>
          <a:xfrm>
            <a:off x="9358335" y="204368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14951" y="1554480"/>
            <a:ext cx="1864095" cy="127101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Compare with the gold label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03 · Demo: What to Watch</a:t>
            </a:r>
          </a:p>
        </p:txBody>
      </p:sp>
      <p:sp>
        <p:nvSpPr>
          <p:cNvPr id="3" name="Content Placeholder 2"/>
          <p:cNvSpPr>
            <a:spLocks noGrp="1"/>
          </p:cNvSpPr>
          <p:nvPr>
            <p:ph idx="1"/>
          </p:nvPr>
        </p:nvSpPr>
        <p:spPr>
          <a:xfrm>
            <a:off x="612648" y="1600200"/>
            <a:ext cx="10966399" cy="4892040"/>
          </a:xfrm>
        </p:spPr>
        <p:txBody>
          <a:bodyPr wrap="square"/>
          <a:lstStyle/>
          <a:p>
            <a:pPr/>
            <a:r>
              <a:rPr sz="2000"/>
              <a:t>One classify method, positive | negative | mixed; the provider swap is one DI line</a:t>
            </a:r>
          </a:p>
          <a:p>
            <a:pPr/>
            <a:r>
              <a:rPr sz="2000"/>
              <a:t>20 easy reviews through phi3: fast, free, and correct</a:t>
            </a:r>
          </a:p>
          <a:p>
            <a:pPr/>
            <a:r>
              <a:rPr sz="2000"/>
              <a:t>Same 20 through Azure: nine of ten identical, and the tenth goes to the frontier model</a:t>
            </a:r>
          </a:p>
          <a:p>
            <a:pPr/>
            <a:r>
              <a:rPr sz="2000"/>
              <a:t>The hard set through both; diff the labels on screen. The disagreements are where the arguments live.</a:t>
            </a:r>
          </a:p>
          <a:p>
            <a:pPr/>
            <a:r>
              <a:rPr sz="2000"/>
              <a:t>Measured: phi3 9/10 easy, 7/10 hard. gpt-4.1 on Azure: 10/10 and 10/10. The local stand-in (llama3.2): identical to phi3.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03 · Leadership Card</a:t>
            </a:r>
          </a:p>
        </p:txBody>
      </p:sp>
      <p:sp>
        <p:nvSpPr>
          <p:cNvPr id="3" name="Content Placeholder 2"/>
          <p:cNvSpPr>
            <a:spLocks noGrp="1"/>
          </p:cNvSpPr>
          <p:nvPr>
            <p:ph idx="1"/>
          </p:nvPr>
        </p:nvSpPr>
        <p:spPr>
          <a:xfrm>
            <a:off x="612648" y="1600200"/>
            <a:ext cx="10966399" cy="4892040"/>
          </a:xfrm>
        </p:spPr>
        <p:txBody>
          <a:bodyPr wrap="square"/>
          <a:lstStyle/>
          <a:p>
            <a:pPr/>
            <a:r>
              <a:rPr sz="2000"/>
              <a:t>When: any high-volume text stream needing a judgment call. Reviews, NPS verbatims, tickets, mentions, survey answers.</a:t>
            </a:r>
          </a:p>
          <a:p>
            <a:pPr/>
            <a:r>
              <a:rPr sz="2000"/>
              <a:t>Cost: days. The classifier is trivial; the diligence is a labeled sample and an error count.</a:t>
            </a:r>
          </a:p>
          <a:p>
            <a:pPr/>
            <a:r>
              <a:rPr sz="2000"/>
              <a:t>"We measured: the free local model matches the expensive one on most of this task, and we know exactly which slice needs the big gun."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Hands-On: 60 Minutes</a:t>
            </a:r>
          </a:p>
        </p:txBody>
      </p:sp>
      <p:sp>
        <p:nvSpPr>
          <p:cNvPr id="3" name="Content Placeholder 2"/>
          <p:cNvSpPr>
            <a:spLocks noGrp="1"/>
          </p:cNvSpPr>
          <p:nvPr>
            <p:ph idx="1"/>
          </p:nvPr>
        </p:nvSpPr>
        <p:spPr>
          <a:xfrm>
            <a:off x="612648" y="1600200"/>
            <a:ext cx="10966399" cy="4892040"/>
          </a:xfrm>
        </p:spPr>
        <p:txBody>
          <a:bodyPr wrap="square"/>
          <a:lstStyle/>
          <a:p>
            <a:pPr/>
            <a:r>
              <a:rPr sz="2000"/>
              <a:t>Start with 01 Summarization (Recommended). One endpoint, one prompt, two reports. New to this? Budget the full time and do the stretch goal.</a:t>
            </a:r>
          </a:p>
          <a:p>
            <a:pPr/>
            <a:r>
              <a:rPr sz="2000"/>
              <a:t>Then, if you have time: 02 Extraction (more code, most reusable at work) or 03 Sentiment (least code, most measurement; pick this if your question is "which model should we pay for")</a:t>
            </a:r>
          </a:p>
          <a:p>
            <a:pPr/>
            <a:r>
              <a:rPr sz="2000"/>
              <a:t>Every feature folder: FNN-lab.md, http/ollama.http, expected-output.md, and data/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Debrief</a:t>
            </a:r>
          </a:p>
        </p:txBody>
      </p:sp>
      <p:sp>
        <p:nvSpPr>
          <p:cNvPr id="3" name="Content Placeholder 2"/>
          <p:cNvSpPr>
            <a:spLocks noGrp="1"/>
          </p:cNvSpPr>
          <p:nvPr>
            <p:ph idx="1"/>
          </p:nvPr>
        </p:nvSpPr>
        <p:spPr>
          <a:xfrm>
            <a:off x="612648" y="1600200"/>
            <a:ext cx="10966399" cy="4892040"/>
          </a:xfrm>
        </p:spPr>
        <p:txBody>
          <a:bodyPr wrap="square"/>
          <a:lstStyle/>
          <a:p>
            <a:pPr/>
            <a:r>
              <a:rPr sz="2000"/>
              <a:t>What surfaced the buried bridge, and what invented one?</a:t>
            </a:r>
          </a:p>
          <a:p>
            <a:pPr/>
            <a:r>
              <a:rPr sz="2000"/>
              <a:t>Rows 1 to 3 of the decision framework are done</a:t>
            </a:r>
          </a:p>
          <a:p>
            <a:pPr/>
            <a:r>
              <a:rPr sz="2000"/>
              <a:t>Break, then Module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