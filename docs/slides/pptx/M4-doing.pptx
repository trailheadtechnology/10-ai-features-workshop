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3"/>
    <p:sldId id="262" r:id="rId14"/>
    <p:sldId id="263" r:id="rId15"/>
    <p:sldId id="264" r:id="rId16"/>
    <p:sldId id="265" r:id="rId17"/>
    <p:sldId id="266" r:id="rId18"/>
    <p:sldId id="267" r:id="rId19"/>
    <p:sldId id="268" r:id="rId20"/>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notesMaster" Target="notesMasters/notesMaster1.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 precise: the demo prints the trace, it does not persist one. Shipping this means writing that trace to durable storage next to the approval record from 09. That pair is what you show your security team.</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Trace one iteration with your finger: model, tool, result back in, model. Then say the loop runs seven or eight times for this request.</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"why not just RAG" slide. The trip request needs weather before it can pick a trail and conditions before it can book, and nobody knows that order up front. That is the whole case for the loop.</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most of the 10-minute instructor block, so let the tool loop scroll and narrate the calls as they land. Run it once against gpt-5.5 on Foundry; the measured behavior (7 to 8 calls, zero nudges) is in dotnet/F10-dotnet.md.</a:t>
            </a:r>
          </a:p>
          <a:p>
            <a:r>
              <a:t>Demo script (the demo outline that used to live in the spec, sized for the 10-minute block: step 4 is the first thing to skip if you are running long):</a:t>
            </a:r>
          </a:p>
          <a:p>
            <a:r>
              <a:t>1. Type the trip request into a plain chat completion first. You get a lovely generic itinerary that ignores the washed-out bridge and books nothing, which is the reason this feature exists.</a:t>
            </a:r>
          </a:p>
          <a:p>
            <a:r>
              <a:t>2. Show the five tools as ordinary C# methods over the mock APIs in data/mock-apis/ and the corpus: search_trails, get_weather, check_campsites, request_permit, and get_trail_conditions. Register them with Microsoft.Extensions.AI's function-calling support; the descriptions you write are the model's only manual. get_trail_conditions reads the same condition reports feature 08 mined, which is how the agent can find out a bridge is gone.</a:t>
            </a:r>
          </a:p>
          <a:p>
            <a:r>
              <a:t>3. Run the agent and narrate the loop live as each call scrolls past: weather first, then trail search, then a conditions check that discovers the feature 08 bridge washout and routes around it. The payoff is watching the model sequence tools nobody ordered it to sequence.</a:t>
            </a:r>
          </a:p>
          <a:p>
            <a:r>
              <a:t>4. Show the full trace, then break something on purpose: mark the campsites full and re-run. The agent adapts and proposes different dates.</a:t>
            </a:r>
          </a:p>
          <a:p>
            <a:r>
              <a:t>5. The permit step hits the feature 09 gate: the agent pauses, presents the summary, and waits for a human yes before filing. Show the step budget in the loop while you're there.</a:t>
            </a:r>
          </a:p>
          <a:p>
            <a:r>
              <a:t>6. Close on the trace as an artifact: every tool call, its arguments, and its result printed as the loop runs, so every decision is inspectable rather than mysterious. Be precise about what this demo does and doesn't do: it prints the trace, and it does not persist one. Shipping this means writing that trace to durable storage alongside the approval record from feature 09, and that pair is what you show your security team when they ask whether this thing is safe.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counts are in dotnet/F10-dotnet.md as measured fact. They are the honest answer to "should we ship an agent?" Yes: with a step budget, validated arguments, tools that return errors, a persisted trace, and a human approving anything irreversible. Which is to say, with feature 09.</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Measured against the workshop's Microsoft Foundry deployment (gpt-4.1): every run sequenced weather, search, conditions on every candidate, campsites, then the permit only when needed, with zero nudges, in all three languages; the closed-trail request checked trail-0117 first and planned around the closure. Say that plainly; the contrast with the local counts on the previous slide is the argument.</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Row 10, and the one your board has already asked about.</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If you get an itinerary instead of a tool call on step 1, the model never saw your tools. Three failure modes on step 3, in ascending order of embarrassment: never calls conditions; calls it, reads "bridge is OUT", schedules anyway; drops the trail but invents a reason without calling. The third guessed right, which is worse.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ctrTitle"/>
          </p:nvPr>
        </p:nvSpPr>
        <p:spPr>
          <a:xfrm>
            <a:off x="612648" y="2011680"/>
            <a:ext cx="10966399" cy="1371600"/>
          </a:xfrm>
        </p:spPr>
        <p:txBody>
          <a:bodyPr/>
          <a:lstStyle/>
          <a:p>
            <a:r>
              <a:t>Module 4: Doing</a:t>
            </a:r>
          </a:p>
        </p:txBody>
      </p:sp>
      <p:sp>
        <p:nvSpPr>
          <p:cNvPr id="3" name="Subtitle 2"/>
          <p:cNvSpPr>
            <a:spLocks noGrp="1"/>
          </p:cNvSpPr>
          <p:nvPr>
            <p:ph type="subTitle" idx="1"/>
          </p:nvPr>
        </p:nvSpPr>
        <p:spPr>
          <a:xfrm>
            <a:off x="612648" y="3566160"/>
            <a:ext cx="10966399" cy="1828800"/>
          </a:xfrm>
        </p:spPr>
        <p:txBody>
          <a:bodyPr/>
          <a:lstStyle/>
          <a:p>
            <a:r>
              <a:t>The capstone</a:t>
            </a:r>
          </a:p>
          <a:p>
            <a:r>
              <a:t>10 Agentic Workflows: "Plan me a 3-day trip in Glacier" becomes real tool calls</a:t>
            </a:r>
          </a:p>
          <a:p>
            <a:r>
              <a:t>Everyone attempts this one; there is no menu</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612648" y="365760"/>
            <a:ext cx="10966399" cy="1097280"/>
          </a:xfrm>
        </p:spPr>
        <p:txBody>
          <a:bodyPr/>
          <a:lstStyle/>
          <a:p>
            <a:r>
              <a:t>10 · The User Problem</a:t>
            </a:r>
          </a:p>
        </p:txBody>
      </p:sp>
      <p:sp>
        <p:nvSpPr>
          <p:cNvPr id="3" name="Content Placeholder 2"/>
          <p:cNvSpPr>
            <a:spLocks noGrp="1"/>
          </p:cNvSpPr>
          <p:nvPr>
            <p:ph idx="1"/>
          </p:nvPr>
        </p:nvSpPr>
        <p:spPr>
          <a:xfrm>
            <a:off x="612648" y="1600200"/>
            <a:ext cx="10966399" cy="4892040"/>
          </a:xfrm>
        </p:spPr>
        <p:txBody>
          <a:bodyPr wrap="square"/>
          <a:lstStyle/>
          <a:p>
            <a:pPr/>
            <a:r>
              <a:rPr sz="2000"/>
              <a:t>"Plan me a 3-day trip in Glacier for mid-September"</a:t>
            </a:r>
          </a:p>
          <a:p>
            <a:pPr/>
            <a:r>
              <a:rPr sz="2000"/>
              <a:t>Today the user does it all: check the forecast, search trails, cross-reference conditions, check campsites, file a permit in a separate system</a:t>
            </a:r>
          </a:p>
          <a:p>
            <a:pPr/>
            <a:r>
              <a:rPr sz="2000"/>
              <a:t>Five tools, one afternoon, and the app helped with exactly one step</a:t>
            </a:r>
          </a:p>
          <a:p>
            <a:pPr/>
            <a:r>
              <a:rPr sz="2000"/>
              <a:t>They didn't want search results; they wanted the trip planned</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612648" y="365760"/>
            <a:ext cx="10966399" cy="1097280"/>
          </a:xfrm>
        </p:spPr>
        <p:txBody>
          <a:bodyPr/>
          <a:lstStyle/>
          <a:p>
            <a:r>
              <a:t>10 · The Concept</a:t>
            </a:r>
          </a:p>
        </p:txBody>
      </p:sp>
      <p:sp>
        <p:nvSpPr>
          <p:cNvPr id="3" name="Content Placeholder 2"/>
          <p:cNvSpPr>
            <a:spLocks noGrp="1"/>
          </p:cNvSpPr>
          <p:nvPr>
            <p:ph idx="1"/>
          </p:nvPr>
        </p:nvSpPr>
        <p:spPr>
          <a:xfrm>
            <a:off x="612648" y="1600200"/>
            <a:ext cx="10966399" cy="4892040"/>
          </a:xfrm>
        </p:spPr>
        <p:txBody>
          <a:bodyPr wrap="square"/>
          <a:lstStyle/>
          <a:p>
            <a:pPr/>
            <a:r>
              <a:rPr sz="2000"/>
              <a:t>An agent is a model given tools and a goal, running in a loop</a:t>
            </a:r>
          </a:p>
          <a:p>
            <a:pPr/>
            <a:r>
              <a:rPr sz="2000"/>
              <a:t>The model decides which tool to call; your code executes it; the result goes back; repeat until the goal is met</a:t>
            </a:r>
          </a:p>
          <a:p>
            <a:pPr/>
            <a:r>
              <a:rPr sz="2000"/>
              <a:t>Tool calling underneath: describe your functions, and the model answers "call check_weather with park=Glacier" instead of prose</a:t>
            </a:r>
          </a:p>
          <a:p>
            <a:pPr/>
            <a:r>
              <a:rPr sz="2000"/>
              <a:t>Your code stays in charge of doing anything; the model only ever chooses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612648" y="365760"/>
            <a:ext cx="10966399" cy="1097280"/>
          </a:xfrm>
        </p:spPr>
        <p:txBody>
          <a:bodyPr/>
          <a:lstStyle/>
          <a:p>
            <a:r>
              <a:t>10 · Why This Is the Capstone</a:t>
            </a:r>
          </a:p>
        </p:txBody>
      </p:sp>
      <p:sp>
        <p:nvSpPr>
          <p:cNvPr id="3" name="Content Placeholder 2"/>
          <p:cNvSpPr>
            <a:spLocks noGrp="1"/>
          </p:cNvSpPr>
          <p:nvPr>
            <p:ph idx="1"/>
          </p:nvPr>
        </p:nvSpPr>
        <p:spPr>
          <a:xfrm>
            <a:off x="612648" y="1600200"/>
            <a:ext cx="10966399" cy="4892040"/>
          </a:xfrm>
        </p:spPr>
        <p:txBody>
          <a:bodyPr wrap="square"/>
          <a:lstStyle/>
          <a:p>
            <a:pPr/>
            <a:r>
              <a:rPr sz="2000"/>
              <a:t>Searches trails semantically (04)</a:t>
            </a:r>
          </a:p>
          <a:p>
            <a:pPr/>
            <a:r>
              <a:rPr sz="2000"/>
              <a:t>Grounds itself in condition reports (08's data)</a:t>
            </a:r>
          </a:p>
          <a:p>
            <a:pPr/>
            <a:r>
              <a:rPr sz="2000"/>
              <a:t>Works with structured tool results (02 in reverse)</a:t>
            </a:r>
          </a:p>
          <a:p>
            <a:pPr/>
            <a:r>
              <a:rPr sz="2000"/>
              <a:t>Pauses for human confirmation before filing the permit (09's policy, applied)</a:t>
            </a:r>
          </a:p>
          <a:p>
            <a:pPr/>
            <a:r>
              <a:rPr sz="2000"/>
              <a:t>And it fails in every way the first nine fail, at once, with the failures compounding</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612648" y="365760"/>
            <a:ext cx="10966399" cy="1097280"/>
          </a:xfrm>
        </p:spPr>
        <p:txBody>
          <a:bodyPr/>
          <a:lstStyle/>
          <a:p>
            <a:r>
              <a:t>10 · Guardrails Are Part of the Design</a:t>
            </a:r>
          </a:p>
        </p:txBody>
      </p:sp>
      <p:sp>
        <p:nvSpPr>
          <p:cNvPr id="3" name="Content Placeholder 2"/>
          <p:cNvSpPr>
            <a:spLocks noGrp="1"/>
          </p:cNvSpPr>
          <p:nvPr>
            <p:ph idx="1"/>
          </p:nvPr>
        </p:nvSpPr>
        <p:spPr>
          <a:xfrm>
            <a:off x="612648" y="1600200"/>
            <a:ext cx="10966399" cy="4892040"/>
          </a:xfrm>
        </p:spPr>
        <p:txBody>
          <a:bodyPr wrap="square"/>
          <a:lstStyle/>
          <a:p>
            <a:pPr/>
            <a:r>
              <a:rPr sz="2000"/>
              <a:t>A step budget so it cannot loop forever (12 iterations in the demo)</a:t>
            </a:r>
          </a:p>
          <a:p>
            <a:pPr/>
            <a:r>
              <a:rPr sz="2000"/>
              <a:t>A confirmation gate before anything irreversible (request_permit waits for a human yes)</a:t>
            </a:r>
          </a:p>
          <a:p>
            <a:pPr/>
            <a:r>
              <a:rPr sz="2000"/>
              <a:t>Tools that return errors instead of throwing, so a malformed call cannot kill the run</a:t>
            </a:r>
          </a:p>
          <a:p>
            <a:pPr/>
            <a:r>
              <a:rPr sz="2000"/>
              <a:t>Every tool call, its arguments, and its result printed as the loop runs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612648" y="365760"/>
            <a:ext cx="10966399" cy="1097280"/>
          </a:xfrm>
        </p:spPr>
        <p:txBody>
          <a:bodyPr/>
          <a:lstStyle/>
          <a:p>
            <a:r>
              <a:t>10 · How the Loop Works</a:t>
            </a:r>
          </a:p>
        </p:txBody>
      </p:sp>
      <p:sp>
        <p:nvSpPr>
          <p:cNvPr id="3" name="Content Placeholder 2"/>
          <p:cNvSpPr>
            <a:spLocks noGrp="1"/>
          </p:cNvSpPr>
          <p:nvPr>
            <p:ph idx="1"/>
          </p:nvPr>
        </p:nvSpPr>
        <p:spPr>
          <a:xfrm>
            <a:off x="612648" y="3337560"/>
            <a:ext cx="10966399" cy="3154680"/>
          </a:xfrm>
        </p:spPr>
        <p:txBody>
          <a:bodyPr wrap="square"/>
          <a:lstStyle/>
          <a:p>
            <a:pPr/>
            <a:r>
              <a:rPr sz="1600"/>
              <a:t>The loop is in your code. The model only ever returns "call this with these arguments" or a final answer.</a:t>
            </a:r>
          </a:p>
          <a:p>
            <a:pPr/>
            <a:r>
              <a:rPr sz="1600"/>
              <a:t>Tools are ordinary methods; their descriptions are the model's manual</a:t>
            </a:r>
          </a:p>
          <a:p>
            <a:pPr/>
            <a:r>
              <a:rPr sz="1600"/>
              <a:t>Guardrails are boxes on this line: a step budget on the loop, an approval gate before request_permit</a:t>
            </a:r>
          </a:p>
        </p:txBody>
      </p:sp>
      <p:sp>
        <p:nvSpPr>
          <p:cNvPr id="4" name="Rounded Rectangle 3"/>
          <p:cNvSpPr/>
          <p:nvPr/>
        </p:nvSpPr>
        <p:spPr>
          <a:xfrm>
            <a:off x="612648" y="1554480"/>
            <a:ext cx="1484833" cy="1508760"/>
          </a:xfrm>
          <a:prstGeom prst="roundRect">
            <a:avLst/>
          </a:prstGeom>
          <a:noFill/>
          <a:ln w="1905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300">
                <a:solidFill>
                  <a:srgbClr val="000000"/>
                </a:solidFill>
              </a:rPr>
              <a:t>Trip request + tool descriptions</a:t>
            </a:r>
          </a:p>
        </p:txBody>
      </p:sp>
      <p:sp>
        <p:nvSpPr>
          <p:cNvPr id="5" name="Right Arrow 4"/>
          <p:cNvSpPr/>
          <p:nvPr/>
        </p:nvSpPr>
        <p:spPr>
          <a:xfrm>
            <a:off x="2152345" y="2162556"/>
            <a:ext cx="301752" cy="292608"/>
          </a:xfrm>
          <a:prstGeom prst="rightArrow">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2508961" y="1554480"/>
            <a:ext cx="1484833" cy="1508760"/>
          </a:xfrm>
          <a:prstGeom prst="roundRect">
            <a:avLst/>
          </a:prstGeom>
          <a:noFill/>
          <a:ln w="1905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300">
                <a:solidFill>
                  <a:srgbClr val="000000"/>
                </a:solidFill>
              </a:rPr>
              <a:t>Model: call a tool, or answer</a:t>
            </a:r>
          </a:p>
        </p:txBody>
      </p:sp>
      <p:sp>
        <p:nvSpPr>
          <p:cNvPr id="7" name="Right Arrow 6"/>
          <p:cNvSpPr/>
          <p:nvPr/>
        </p:nvSpPr>
        <p:spPr>
          <a:xfrm>
            <a:off x="4048658" y="2162556"/>
            <a:ext cx="301752" cy="292608"/>
          </a:xfrm>
          <a:prstGeom prst="rightArrow">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4405274" y="1554480"/>
            <a:ext cx="1484833" cy="1508760"/>
          </a:xfrm>
          <a:prstGeom prst="roundRect">
            <a:avLst/>
          </a:prstGeom>
          <a:noFill/>
          <a:ln w="1905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300">
                <a:solidFill>
                  <a:srgbClr val="000000"/>
                </a:solidFill>
              </a:rPr>
              <a:t>Your code runs the tool (weather, trails, conditions, campsites)</a:t>
            </a:r>
          </a:p>
        </p:txBody>
      </p:sp>
      <p:sp>
        <p:nvSpPr>
          <p:cNvPr id="9" name="Right Arrow 8"/>
          <p:cNvSpPr/>
          <p:nvPr/>
        </p:nvSpPr>
        <p:spPr>
          <a:xfrm>
            <a:off x="5944971" y="2162556"/>
            <a:ext cx="301752" cy="292608"/>
          </a:xfrm>
          <a:prstGeom prst="rightArrow">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6301587" y="1554480"/>
            <a:ext cx="1484833" cy="1508760"/>
          </a:xfrm>
          <a:prstGeom prst="roundRect">
            <a:avLst/>
          </a:prstGeom>
          <a:noFill/>
          <a:ln w="1905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300">
                <a:solidFill>
                  <a:srgbClr val="000000"/>
                </a:solidFill>
              </a:rPr>
              <a:t>Result appended to the conversation</a:t>
            </a:r>
          </a:p>
        </p:txBody>
      </p:sp>
      <p:sp>
        <p:nvSpPr>
          <p:cNvPr id="11" name="Right Arrow 10"/>
          <p:cNvSpPr/>
          <p:nvPr/>
        </p:nvSpPr>
        <p:spPr>
          <a:xfrm>
            <a:off x="7841284" y="2162556"/>
            <a:ext cx="301752" cy="292608"/>
          </a:xfrm>
          <a:prstGeom prst="rightArrow">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8197900" y="1554480"/>
            <a:ext cx="1484833" cy="1508760"/>
          </a:xfrm>
          <a:prstGeom prst="roundRect">
            <a:avLst/>
          </a:prstGeom>
          <a:noFill/>
          <a:ln w="1905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300">
                <a:solidFill>
                  <a:srgbClr val="000000"/>
                </a:solidFill>
              </a:rPr>
              <a:t>Model again, until it answers or hits the step budget</a:t>
            </a:r>
          </a:p>
        </p:txBody>
      </p:sp>
      <p:sp>
        <p:nvSpPr>
          <p:cNvPr id="13" name="Right Arrow 12"/>
          <p:cNvSpPr/>
          <p:nvPr/>
        </p:nvSpPr>
        <p:spPr>
          <a:xfrm>
            <a:off x="9737597" y="2162556"/>
            <a:ext cx="301752" cy="292608"/>
          </a:xfrm>
          <a:prstGeom prst="rightArrow">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10094213" y="1554480"/>
            <a:ext cx="1484833" cy="1508760"/>
          </a:xfrm>
          <a:prstGeom prst="roundRect">
            <a:avLst/>
          </a:prstGeom>
          <a:noFill/>
          <a:ln w="1905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300">
                <a:solidFill>
                  <a:srgbClr val="000000"/>
                </a:solidFill>
              </a:rPr>
              <a:t>Itinerary + a full trace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612648" y="365760"/>
            <a:ext cx="10966399" cy="1097280"/>
          </a:xfrm>
        </p:spPr>
        <p:txBody>
          <a:bodyPr/>
          <a:lstStyle/>
          <a:p>
            <a:r>
              <a:t>RAG Fetches Before, an Agent Asks During</a:t>
            </a:r>
          </a:p>
        </p:txBody>
      </p:sp>
      <p:sp>
        <p:nvSpPr>
          <p:cNvPr id="3" name="Content Placeholder 2"/>
          <p:cNvSpPr>
            <a:spLocks noGrp="1"/>
          </p:cNvSpPr>
          <p:nvPr>
            <p:ph idx="1"/>
          </p:nvPr>
        </p:nvSpPr>
        <p:spPr>
          <a:xfrm>
            <a:off x="612648" y="3749040"/>
            <a:ext cx="10966399" cy="2743200"/>
          </a:xfrm>
        </p:spPr>
        <p:txBody>
          <a:bodyPr wrap="square"/>
          <a:lstStyle/>
          <a:p>
            <a:pPr/>
            <a:r>
              <a:rPr sz="1600"/>
              <a:t>RAG: you decide what the model reads, once, up front. Cheap, predictable, one call.</a:t>
            </a:r>
          </a:p>
          <a:p>
            <a:pPr/>
            <a:r>
              <a:rPr sz="1600"/>
              <a:t>Agent: the model decides what to fetch, in what order, and when to stop. Flexible, and N times the cost.</a:t>
            </a:r>
          </a:p>
          <a:p>
            <a:pPr/>
            <a:r>
              <a:rPr sz="1600"/>
              <a:t>Pick the left row whenever you can name the context in advance. Pick the right row when you can't.</a:t>
            </a:r>
          </a:p>
        </p:txBody>
      </p:sp>
      <p:sp>
        <p:nvSpPr>
          <p:cNvPr id="4" name="TextBox 3"/>
          <p:cNvSpPr txBox="1"/>
          <p:nvPr/>
        </p:nvSpPr>
        <p:spPr>
          <a:xfrm>
            <a:off x="612648" y="1554480"/>
            <a:ext cx="1371600" cy="822960"/>
          </a:xfrm>
          <a:prstGeom prst="rect">
            <a:avLst/>
          </a:prstGeom>
          <a:noFill/>
        </p:spPr>
        <p:txBody>
          <a:bodyPr wrap="square" anchor="ctr">
            <a:spAutoFit/>
          </a:bodyPr>
          <a:lstStyle/>
          <a:p>
            <a:r>
              <a:rPr sz="1400" i="1"/>
              <a:t>05 RAG</a:t>
            </a:r>
          </a:p>
        </p:txBody>
      </p:sp>
      <p:sp>
        <p:nvSpPr>
          <p:cNvPr id="5" name="Rounded Rectangle 4"/>
          <p:cNvSpPr/>
          <p:nvPr/>
        </p:nvSpPr>
        <p:spPr>
          <a:xfrm>
            <a:off x="2075688" y="1554480"/>
            <a:ext cx="2067229" cy="822960"/>
          </a:xfrm>
          <a:prstGeom prst="roundRect">
            <a:avLst/>
          </a:prstGeom>
          <a:noFill/>
          <a:ln w="1905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500">
                <a:solidFill>
                  <a:srgbClr val="000000"/>
                </a:solidFill>
              </a:rPr>
              <a:t>Question</a:t>
            </a:r>
          </a:p>
        </p:txBody>
      </p:sp>
      <p:sp>
        <p:nvSpPr>
          <p:cNvPr id="6" name="Right Arrow 5"/>
          <p:cNvSpPr/>
          <p:nvPr/>
        </p:nvSpPr>
        <p:spPr>
          <a:xfrm>
            <a:off x="4197781" y="1819656"/>
            <a:ext cx="301752" cy="292608"/>
          </a:xfrm>
          <a:prstGeom prst="rightArrow">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4554397" y="1554480"/>
            <a:ext cx="2067229" cy="822960"/>
          </a:xfrm>
          <a:prstGeom prst="roundRect">
            <a:avLst/>
          </a:prstGeom>
          <a:noFill/>
          <a:ln w="1905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500">
                <a:solidFill>
                  <a:srgbClr val="000000"/>
                </a:solidFill>
              </a:rPr>
              <a:t>Your code retrieves context</a:t>
            </a:r>
          </a:p>
        </p:txBody>
      </p:sp>
      <p:sp>
        <p:nvSpPr>
          <p:cNvPr id="8" name="Right Arrow 7"/>
          <p:cNvSpPr/>
          <p:nvPr/>
        </p:nvSpPr>
        <p:spPr>
          <a:xfrm>
            <a:off x="6676491" y="1819656"/>
            <a:ext cx="301752" cy="292608"/>
          </a:xfrm>
          <a:prstGeom prst="rightArrow">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7033107" y="1554480"/>
            <a:ext cx="2067229" cy="822960"/>
          </a:xfrm>
          <a:prstGeom prst="roundRect">
            <a:avLst/>
          </a:prstGeom>
          <a:noFill/>
          <a:ln w="1905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500">
                <a:solidFill>
                  <a:srgbClr val="000000"/>
                </a:solidFill>
              </a:rPr>
              <a:t>Model answers once</a:t>
            </a:r>
          </a:p>
        </p:txBody>
      </p:sp>
      <p:sp>
        <p:nvSpPr>
          <p:cNvPr id="10" name="Right Arrow 9"/>
          <p:cNvSpPr/>
          <p:nvPr/>
        </p:nvSpPr>
        <p:spPr>
          <a:xfrm>
            <a:off x="9155201" y="1819656"/>
            <a:ext cx="301752" cy="292608"/>
          </a:xfrm>
          <a:prstGeom prst="rightArrow">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9511817" y="1554480"/>
            <a:ext cx="2067229" cy="822960"/>
          </a:xfrm>
          <a:prstGeom prst="roundRect">
            <a:avLst/>
          </a:prstGeom>
          <a:noFill/>
          <a:ln w="1905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500">
                <a:solidFill>
                  <a:srgbClr val="000000"/>
                </a:solidFill>
              </a:rPr>
              <a:t>Done</a:t>
            </a:r>
          </a:p>
        </p:txBody>
      </p:sp>
      <p:sp>
        <p:nvSpPr>
          <p:cNvPr id="12" name="TextBox 11"/>
          <p:cNvSpPr txBox="1"/>
          <p:nvPr/>
        </p:nvSpPr>
        <p:spPr>
          <a:xfrm>
            <a:off x="612648" y="2651760"/>
            <a:ext cx="1371600" cy="822960"/>
          </a:xfrm>
          <a:prstGeom prst="rect">
            <a:avLst/>
          </a:prstGeom>
          <a:noFill/>
        </p:spPr>
        <p:txBody>
          <a:bodyPr wrap="square" anchor="ctr">
            <a:spAutoFit/>
          </a:bodyPr>
          <a:lstStyle/>
          <a:p>
            <a:r>
              <a:rPr sz="1400" i="1"/>
              <a:t>10 Agent</a:t>
            </a:r>
          </a:p>
        </p:txBody>
      </p:sp>
      <p:sp>
        <p:nvSpPr>
          <p:cNvPr id="13" name="Rounded Rectangle 12"/>
          <p:cNvSpPr/>
          <p:nvPr/>
        </p:nvSpPr>
        <p:spPr>
          <a:xfrm>
            <a:off x="2075688" y="2651760"/>
            <a:ext cx="1571487" cy="822960"/>
          </a:xfrm>
          <a:prstGeom prst="roundRect">
            <a:avLst/>
          </a:prstGeom>
          <a:noFill/>
          <a:ln w="1905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300">
                <a:solidFill>
                  <a:srgbClr val="000000"/>
                </a:solidFill>
              </a:rPr>
              <a:t>Request</a:t>
            </a:r>
          </a:p>
        </p:txBody>
      </p:sp>
      <p:sp>
        <p:nvSpPr>
          <p:cNvPr id="14" name="Right Arrow 13"/>
          <p:cNvSpPr/>
          <p:nvPr/>
        </p:nvSpPr>
        <p:spPr>
          <a:xfrm>
            <a:off x="3702039" y="2916936"/>
            <a:ext cx="301752" cy="292608"/>
          </a:xfrm>
          <a:prstGeom prst="rightArrow">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4058655" y="2651760"/>
            <a:ext cx="1571487" cy="822960"/>
          </a:xfrm>
          <a:prstGeom prst="roundRect">
            <a:avLst/>
          </a:prstGeom>
          <a:noFill/>
          <a:ln w="1905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300">
                <a:solidFill>
                  <a:srgbClr val="000000"/>
                </a:solidFill>
              </a:rPr>
              <a:t>Model asks for what it needs</a:t>
            </a:r>
          </a:p>
        </p:txBody>
      </p:sp>
      <p:sp>
        <p:nvSpPr>
          <p:cNvPr id="16" name="Right Arrow 15"/>
          <p:cNvSpPr/>
          <p:nvPr/>
        </p:nvSpPr>
        <p:spPr>
          <a:xfrm>
            <a:off x="5685007" y="2916936"/>
            <a:ext cx="301752" cy="292608"/>
          </a:xfrm>
          <a:prstGeom prst="rightArrow">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6041623" y="2651760"/>
            <a:ext cx="1571487" cy="822960"/>
          </a:xfrm>
          <a:prstGeom prst="roundRect">
            <a:avLst/>
          </a:prstGeom>
          <a:noFill/>
          <a:ln w="1905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300">
                <a:solidFill>
                  <a:srgbClr val="000000"/>
                </a:solidFill>
              </a:rPr>
              <a:t>Your code fetches it</a:t>
            </a:r>
          </a:p>
        </p:txBody>
      </p:sp>
      <p:sp>
        <p:nvSpPr>
          <p:cNvPr id="18" name="Right Arrow 17"/>
          <p:cNvSpPr/>
          <p:nvPr/>
        </p:nvSpPr>
        <p:spPr>
          <a:xfrm>
            <a:off x="7667975" y="2916936"/>
            <a:ext cx="301752" cy="292608"/>
          </a:xfrm>
          <a:prstGeom prst="rightArrow">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8024591" y="2651760"/>
            <a:ext cx="1571487" cy="822960"/>
          </a:xfrm>
          <a:prstGeom prst="roundRect">
            <a:avLst/>
          </a:prstGeom>
          <a:noFill/>
          <a:ln w="1905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300">
                <a:solidFill>
                  <a:srgbClr val="000000"/>
                </a:solidFill>
              </a:rPr>
              <a:t>Model asks again, or answers</a:t>
            </a:r>
          </a:p>
        </p:txBody>
      </p:sp>
      <p:sp>
        <p:nvSpPr>
          <p:cNvPr id="20" name="Right Arrow 19"/>
          <p:cNvSpPr/>
          <p:nvPr/>
        </p:nvSpPr>
        <p:spPr>
          <a:xfrm>
            <a:off x="9650943" y="2916936"/>
            <a:ext cx="301752" cy="292608"/>
          </a:xfrm>
          <a:prstGeom prst="rightArrow">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10007559" y="2651760"/>
            <a:ext cx="1571487" cy="822960"/>
          </a:xfrm>
          <a:prstGeom prst="roundRect">
            <a:avLst/>
          </a:prstGeom>
          <a:noFill/>
          <a:ln w="1905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300">
                <a:solidFill>
                  <a:srgbClr val="000000"/>
                </a:solidFill>
              </a:rPr>
              <a:t>Done, after N turns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612648" y="365760"/>
            <a:ext cx="10966399" cy="1097280"/>
          </a:xfrm>
        </p:spPr>
        <p:txBody>
          <a:bodyPr/>
          <a:lstStyle/>
          <a:p>
            <a:r>
              <a:t>10 · Demo: What to Watch</a:t>
            </a:r>
          </a:p>
        </p:txBody>
      </p:sp>
      <p:sp>
        <p:nvSpPr>
          <p:cNvPr id="3" name="Content Placeholder 2"/>
          <p:cNvSpPr>
            <a:spLocks noGrp="1"/>
          </p:cNvSpPr>
          <p:nvPr>
            <p:ph idx="1"/>
          </p:nvPr>
        </p:nvSpPr>
        <p:spPr>
          <a:xfrm>
            <a:off x="612648" y="1600200"/>
            <a:ext cx="10966399" cy="4892040"/>
          </a:xfrm>
        </p:spPr>
        <p:txBody>
          <a:bodyPr wrap="square"/>
          <a:lstStyle/>
          <a:p>
            <a:pPr/>
            <a:r>
              <a:rPr sz="2000"/>
              <a:t>Plain chat completion first: a lovely generic itinerary that ignores the bridge and books nothing</a:t>
            </a:r>
          </a:p>
          <a:p>
            <a:pPr/>
            <a:r>
              <a:rPr sz="2000"/>
              <a:t>The five tools as ordinary C# methods over the mock APIs: search_trails, get_weather, get_trail_conditions, check_campsites, request_permit. The descriptions are the model's only manual.</a:t>
            </a:r>
          </a:p>
          <a:p>
            <a:pPr/>
            <a:r>
              <a:rPr sz="2000"/>
              <a:t>Run the agent and narrate the loop: weather, then trails, then a conditions check that discovers the washout and routes around it</a:t>
            </a:r>
          </a:p>
          <a:p>
            <a:pPr/>
            <a:r>
              <a:rPr sz="2000"/>
              <a:t>Two facts the agent has to discover, not be told: September 16 is the rain day (49/33, 70% precip, 18 mph); Avalanche Lake's bridge is out, and only get_trail_conditions says so</a:t>
            </a:r>
          </a:p>
          <a:p>
            <a:pPr/>
            <a:r>
              <a:rPr sz="2000"/>
              <a:t>Break something: mark the campsites full, re-run, watch it adapt</a:t>
            </a:r>
          </a:p>
          <a:p>
            <a:pPr/>
            <a:r>
              <a:rPr sz="2000"/>
              <a:t>The permit hits the 09 gate: summary on screen, wait for a yes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612648" y="365760"/>
            <a:ext cx="10966399" cy="1097280"/>
          </a:xfrm>
        </p:spPr>
        <p:txBody>
          <a:bodyPr/>
          <a:lstStyle/>
          <a:p>
            <a:r>
              <a:t>10 · Reliability Is the Whole Engineering Problem</a:t>
            </a:r>
          </a:p>
        </p:txBody>
      </p:sp>
      <p:sp>
        <p:nvSpPr>
          <p:cNvPr id="3" name="Content Placeholder 2"/>
          <p:cNvSpPr>
            <a:spLocks noGrp="1"/>
          </p:cNvSpPr>
          <p:nvPr>
            <p:ph idx="1"/>
          </p:nvPr>
        </p:nvSpPr>
        <p:spPr>
          <a:xfrm>
            <a:off x="612648" y="1600200"/>
            <a:ext cx="10966399" cy="4892040"/>
          </a:xfrm>
        </p:spPr>
        <p:txBody>
          <a:bodyPr wrap="square"/>
          <a:lstStyle/>
          <a:p>
            <a:pPr/>
            <a:r>
              <a:rPr sz="2000"/>
              <a:t>Across roughly two dozen local runs while building this, llama3.2:</a:t>
            </a:r>
          </a:p>
          <a:p>
            <a:pPr lvl="1"/>
            <a:r>
              <a:rPr sz="1800"/>
              <a:t>called a tool with the literal argument [insert trail IDs here]</a:t>
            </a:r>
          </a:p>
          <a:p>
            <a:pPr lvl="1"/>
            <a:r>
              <a:rPr sz="1800"/>
              <a:t>announced it had called every tool, then wrote nothing</a:t>
            </a:r>
          </a:p>
          <a:p>
            <a:pPr lvl="1"/>
            <a:r>
              <a:rPr sz="1800"/>
              <a:t>emitted tool calls as plain text, so none executed</a:t>
            </a:r>
          </a:p>
          <a:p>
            <a:pPr lvl="1"/>
            <a:r>
              <a:rPr sz="1800"/>
              <a:t>read the reports saying the bridge was out and scheduled the trail anyway</a:t>
            </a:r>
          </a:p>
          <a:p>
            <a:pPr/>
            <a:r>
              <a:rPr sz="2000"/>
              <a:t>Before scaffolding: fewer than one run in five reached all four planning tools</a:t>
            </a:r>
          </a:p>
          <a:p>
            <a:pPr/>
            <a:r>
              <a:rPr sz="2000"/>
              <a:t>A dropped or malformed tool call doesn't degrade the answer; it breaks the loop</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612648" y="365760"/>
            <a:ext cx="10966399" cy="1097280"/>
          </a:xfrm>
        </p:spPr>
        <p:txBody>
          <a:bodyPr/>
          <a:lstStyle/>
          <a:p>
            <a:r>
              <a:t>10 · Why This One Pays for a Frontier Model</a:t>
            </a:r>
          </a:p>
        </p:txBody>
      </p:sp>
      <p:sp>
        <p:nvSpPr>
          <p:cNvPr id="3" name="Content Placeholder 2"/>
          <p:cNvSpPr>
            <a:spLocks noGrp="1"/>
          </p:cNvSpPr>
          <p:nvPr>
            <p:ph idx="1"/>
          </p:nvPr>
        </p:nvSpPr>
        <p:spPr>
          <a:xfrm>
            <a:off x="612648" y="1600200"/>
            <a:ext cx="10966399" cy="4892040"/>
          </a:xfrm>
        </p:spPr>
        <p:txBody>
          <a:bodyPr wrap="square"/>
          <a:lstStyle/>
          <a:p>
            <a:pPr/>
            <a:r>
              <a:rPr sz="2000"/>
              <a:t>The only feature today where the workshop pays for a cloud model rather than running local</a:t>
            </a:r>
          </a:p>
          <a:p>
            <a:pPr/>
            <a:r>
              <a:rPr sz="2000"/>
              <a:t>The reason is the numbers on the previous slide</a:t>
            </a:r>
          </a:p>
          <a:p>
            <a:pPr/>
            <a:r>
              <a:rPr sz="2000"/>
              <a:t>On Azure the loop should sequence all five tools from a single request, with no nudges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612648" y="365760"/>
            <a:ext cx="10966399" cy="1097280"/>
          </a:xfrm>
        </p:spPr>
        <p:txBody>
          <a:bodyPr/>
          <a:lstStyle/>
          <a:p>
            <a:r>
              <a:t>10 · Leadership Card</a:t>
            </a:r>
          </a:p>
        </p:txBody>
      </p:sp>
      <p:sp>
        <p:nvSpPr>
          <p:cNvPr id="3" name="Content Placeholder 2"/>
          <p:cNvSpPr>
            <a:spLocks noGrp="1"/>
          </p:cNvSpPr>
          <p:nvPr>
            <p:ph idx="1"/>
          </p:nvPr>
        </p:nvSpPr>
        <p:spPr>
          <a:xfrm>
            <a:off x="612648" y="1600200"/>
            <a:ext cx="10966399" cy="4892040"/>
          </a:xfrm>
        </p:spPr>
        <p:txBody>
          <a:bodyPr wrap="square"/>
          <a:lstStyle/>
          <a:p>
            <a:pPr/>
            <a:r>
              <a:rPr sz="2000"/>
              <a:t>When: multi-step workflows spanning systems where users state a goal and then do the clicking themselves. Trip planning, onboarding, procurement, incident response, report assembly.</a:t>
            </a:r>
          </a:p>
          <a:p>
            <a:pPr/>
            <a:r>
              <a:rPr sz="2000"/>
              <a:t>Cost: the highest of the ten. Weeks to months, frontier-model API costs, real design work on guardrails, confirmation gates, observability. Do one of 01 to 09 first.</a:t>
            </a:r>
          </a:p>
          <a:p>
            <a:pPr/>
            <a:r>
              <a:rPr sz="2000"/>
              <a:t>"Users state the goal in one sentence, the software does the clicking, and a human still signs off on anything that matters."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612648" y="365760"/>
            <a:ext cx="10966399" cy="1097280"/>
          </a:xfrm>
        </p:spPr>
        <p:txBody>
          <a:bodyPr/>
          <a:lstStyle/>
          <a:p>
            <a:r>
              <a:t>Hands-On: 50 Minutes</a:t>
            </a:r>
          </a:p>
        </p:txBody>
      </p:sp>
      <p:sp>
        <p:nvSpPr>
          <p:cNvPr id="3" name="Content Placeholder 2"/>
          <p:cNvSpPr>
            <a:spLocks noGrp="1"/>
          </p:cNvSpPr>
          <p:nvPr>
            <p:ph idx="1"/>
          </p:nvPr>
        </p:nvSpPr>
        <p:spPr>
          <a:xfrm>
            <a:off x="612648" y="1600200"/>
            <a:ext cx="10966399" cy="4892040"/>
          </a:xfrm>
        </p:spPr>
        <p:txBody>
          <a:bodyPr wrap="square"/>
          <a:lstStyle/>
          <a:p>
            <a:pPr/>
            <a:r>
              <a:rPr sz="2000"/>
              <a:t>http/azure.http: you are the loop. Send the request with the tools array, read the tool call out of the response, send the follow-up with the tool result.</a:t>
            </a:r>
          </a:p>
          <a:p>
            <a:pPr/>
            <a:r>
              <a:rPr sz="2000"/>
              <a:t>Step 1: the two-tool round-trip (search_trails, check_campsites) is written out for you</a:t>
            </a:r>
          </a:p>
          <a:p>
            <a:pPr/>
            <a:r>
              <a:rPr sz="2000"/>
              <a:t>Step 2: write the get_weather definition yourself; the itinerary should do something about the 16th</a:t>
            </a:r>
          </a:p>
          <a:p>
            <a:pPr/>
            <a:r>
              <a:rPr sz="2000"/>
              <a:t>Step 3: ask for a trip on trail-0117; the itinerary should drop or flag it, for a reason that came from the tool</a:t>
            </a:r>
          </a:p>
          <a:p>
            <a:pPr/>
            <a:r>
              <a:rPr sz="2000"/>
              <a:t>Stretch: the human gate before request_permit</a:t>
            </a:r>
          </a:p>
          <a:p>
            <a:pPr/>
            <a:r>
              <a:rPr sz="2000"/>
              <a:t>reference-transcript.md is a complete known-good run to compare against when yours goes sideways. It will.</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612648" y="365760"/>
            <a:ext cx="10966399" cy="1097280"/>
          </a:xfrm>
        </p:spPr>
        <p:txBody>
          <a:bodyPr/>
          <a:lstStyle/>
          <a:p>
            <a:r>
              <a:t>Debrief</a:t>
            </a:r>
          </a:p>
        </p:txBody>
      </p:sp>
      <p:sp>
        <p:nvSpPr>
          <p:cNvPr id="3" name="Content Placeholder 2"/>
          <p:cNvSpPr>
            <a:spLocks noGrp="1"/>
          </p:cNvSpPr>
          <p:nvPr>
            <p:ph idx="1"/>
          </p:nvPr>
        </p:nvSpPr>
        <p:spPr>
          <a:xfrm>
            <a:off x="612648" y="1600200"/>
            <a:ext cx="10966399" cy="4892040"/>
          </a:xfrm>
        </p:spPr>
        <p:txBody>
          <a:bodyPr wrap="square"/>
          <a:lstStyle/>
          <a:p>
            <a:pPr/>
            <a:r>
              <a:rPr sz="2000"/>
              <a:t>Whose agent checked the bridge? Whose scheduled it anyway?</a:t>
            </a:r>
          </a:p>
          <a:p>
            <a:pPr/>
            <a:r>
              <a:rPr sz="2000"/>
              <a:t>Row 10 is done. All ten rows are done.</a:t>
            </a:r>
          </a:p>
          <a:p>
            <a:pPr/>
            <a:r>
              <a:rPr sz="2000"/>
              <a:t>Closing next: the decision framework, and how to pitch this.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