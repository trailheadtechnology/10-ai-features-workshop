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  <p:sldId id="600" r:id="rId46"/>
    <p:sldId id="601" r:id="rId47"/>
    <p:sldId id="602" r:id="rId48"/>
    <p:sldId id="603" r:id="rId49"/>
    <p:sldId id="604" r:id="rId50"/>
    <p:sldId id="605" r:id="rId51"/>
    <p:sldId id="606" r:id="rId52"/>
    <p:sldId id="607" r:id="rId53"/>
    <p:sldId id="608" r:id="rId54"/>
    <p:sldId id="609" r:id="rId55"/>
    <p:sldId id="610" r:id="rId56"/>
    <p:sldId id="611" r:id="rId57"/>
    <p:sldId id="612" r:id="rId58"/>
    <p:sldId id="613" r:id="rId59"/>
    <p:sldId id="614" r:id="rId60"/>
    <p:sldId id="615" r:id="rId61"/>
    <p:sldId id="616" r:id="rId62"/>
    <p:sldId id="617" r:id="rId63"/>
    <p:sldId id="618" r:id="rId64"/>
    <p:sldId id="619" r:id="rId65"/>
    <p:sldId id="620" r:id="rId66"/>
    <p:sldId id="621" r:id="rId67"/>
    <p:sldId id="622" r:id="rId68"/>
    <p:sldId id="623" r:id="rId69"/>
    <p:sldId id="624" r:id="rId70"/>
    <p:sldId id="625" r:id="rId71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5" Type="http://schemas.openxmlformats.org/officeDocument/2006/relationships/slide" Target="slides/slide38.xml"/><Relationship Id="rId56" Type="http://schemas.openxmlformats.org/officeDocument/2006/relationships/slide" Target="slides/slide39.xml"/><Relationship Id="rId57" Type="http://schemas.openxmlformats.org/officeDocument/2006/relationships/slide" Target="slides/slide40.xml"/><Relationship Id="rId58" Type="http://schemas.openxmlformats.org/officeDocument/2006/relationships/slide" Target="slides/slide41.xml"/><Relationship Id="rId59" Type="http://schemas.openxmlformats.org/officeDocument/2006/relationships/slide" Target="slides/slide42.xml"/><Relationship Id="rId60" Type="http://schemas.openxmlformats.org/officeDocument/2006/relationships/slide" Target="slides/slide43.xml"/><Relationship Id="rId61" Type="http://schemas.openxmlformats.org/officeDocument/2006/relationships/slide" Target="slides/slide44.xml"/><Relationship Id="rId62" Type="http://schemas.openxmlformats.org/officeDocument/2006/relationships/slide" Target="slides/slide45.xml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65" Type="http://schemas.openxmlformats.org/officeDocument/2006/relationships/slide" Target="slides/slide48.xml"/><Relationship Id="rId66" Type="http://schemas.openxmlformats.org/officeDocument/2006/relationships/slide" Target="slides/slide49.xml"/><Relationship Id="rId67" Type="http://schemas.openxmlformats.org/officeDocument/2006/relationships/slide" Target="slides/slide50.xml"/><Relationship Id="rId68" Type="http://schemas.openxmlformats.org/officeDocument/2006/relationships/slide" Target="slides/slide51.xml"/><Relationship Id="rId69" Type="http://schemas.openxmlformats.org/officeDocument/2006/relationships/slide" Target="slides/slide52.xml"/><Relationship Id="rId70" Type="http://schemas.openxmlformats.org/officeDocument/2006/relationships/slide" Target="slides/slide53.xml"/><Relationship Id="rId71" Type="http://schemas.openxmlformats.org/officeDocument/2006/relationships/slide" Target="slides/slide54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advance. Say which box in each row is the decision.</a:t>
            </a:r>
          </a:p>
          <a:p>
            <a:r>
              <a:t>07 classify: the model picks one label from your list, and the label picks the queue. The decision is the model's.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09: what is the software allowed to send without a human reading it first.</a:t>
            </a:r>
          </a:p>
          <a:p>
            <a:r>
              <a:t>The thread to watch: errors are not symmetric. A misrouted complaint costs somebody a day; a misrouted emergency is a headline. Measure recall on the class that matters, give ambiguity an </a:t>
            </a:r>
            <a:r>
              <a:rPr>
                <a:latin typeface="Consolas"/>
              </a:rPr>
              <a:t>unsure</a:t>
            </a:r>
            <a:r>
              <a:t> lane to a person, and remember: a prompt instruction is a request, a policy lane is a guarantee. Feature 09 makes the sharpest version of that by failing, live, every time. Set it up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two modules produced answers for a user. This one produces decisions for the people running the product — a ranger, an ops lead, a support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is usually a colleague; the rhythm again: three demos, then your lab hour.</a:t>
            </a:r>
          </a:p>
          <a:p>
            <a:r>
              <a:t>07: which queue does this message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08: which of these 500 reports deserves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detect: embed, measure distance from "normal," apply a threshold rule. The decision is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approve: the model drafts, a human approves, edits, or rejects, then send and log. The decision is a person's.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label, a "this is unusual," a signature. Three different kinds of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07 and 09 ask a model to decide anything; 08 asks it only for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wraps the other two: the routing policy says which decisions a model may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every message to Trailhead lands in one inbox — permits, conditions, complaints, lost-and-found, and occasionally an actual emergency. A ranger triages by hand once or twice a day; the permit waits behind the granola questions, and the emergency sits unread for four hours. The user's real problem: their message goes into a hole.</a:t>
            </a:r>
          </a:p>
          <a:p>
            <a:r>
              <a:t>No concept slide: it's classification again (03 was the warm-up), now with consequences. Zero-shot, taxonomy as plain-language descriptions, and the demo shows the whole thing — including fixing a misroute by editing a sentence,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text classification assigns one of a fixed set of categories to a piece of text; routing is what the label triggers. Zero-shot means the categories are described in plain language, with no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~8 min · Terminal 2 · </a:t>
            </a:r>
            <a:r>
              <a:rPr>
                <a:latin typeface="Consolas"/>
              </a:rPr>
              <a:t>cd modules/M3-deciding/F07-classification-routing/dotnet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the full inbox, 100 · </a:t>
            </a:r>
            <a:r>
              <a:rPr>
                <a:latin typeface="Consolas"/>
              </a:rPr>
              <a:t>inquiries-slice.jsonl</a:t>
            </a:r>
            <a:r>
              <a:t> = the 20 the demo scores · </a:t>
            </a:r>
            <a:r>
              <a:rPr>
                <a:latin typeface="Consolas"/>
              </a:rPr>
              <a:t>reference-labels.json</a:t>
            </a:r>
            <a:r>
              <a:t> = hand labels</a:t>
            </a:r>
          </a:p>
          <a:p>
            <a:r>
              <a:t>Args: an inquiry id; starter default inq-0005, complete with none = all 20</a:t>
            </a:r>
          </a:p>
          <a:p>
            <a:r>
              <a:t>1. Open </a:t>
            </a:r>
            <a:r>
              <a:rPr>
                <a:latin typeface="Consolas"/>
              </a:rPr>
              <a:t>data/inquiries.jsonl</a:t>
            </a:r>
            <a:r>
              <a:t>, scroll. Let the room find the emergency.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label, free text. Nothing stops a label that does not exist.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All 20 routed and scored, enum-constrained. The emergency at the top of its own queue.</a:t>
            </a:r>
          </a:p>
          <a:p>
            <a:r>
              <a:t>4. inq-0030 is wrong. Edit its category description in </a:t>
            </a:r>
            <a:r>
              <a:rPr>
                <a:latin typeface="Consolas"/>
              </a:rPr>
              <a:t>Program.cs</a:t>
            </a:r>
            <a:r>
              <a:t>, not the code. </a:t>
            </a:r>
            <a:r>
              <a:rPr>
                <a:latin typeface="Consolas"/>
              </a:rPr>
              <a:t>dotnet run</a:t>
            </a:r>
            <a:r>
              <a:t> again.</a:t>
            </a:r>
          </a:p>
          <a:p>
            <a:r>
              <a:t>5. </a:t>
            </a:r>
            <a:r>
              <a:rPr>
                <a:latin typeface="Consolas"/>
              </a:rPr>
              <a:t>dotnet run -- inq-0035</a:t>
            </a:r>
            <a:r>
              <a:t>: </a:t>
            </a:r>
            <a:r>
              <a:rPr>
                <a:latin typeface="Consolas"/>
              </a:rPr>
              <a:t>unsure</a:t>
            </a:r>
            <a:r>
              <a:t>, correctly. The description forbids anything dangerous landing here.</a:t>
            </a:r>
          </a:p>
          <a:p>
            <a:r>
              <a:t>6. 17/20, 2/2 emergencies. Which number matters.</a:t>
            </a:r>
          </a:p>
          <a:p>
            <a:r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Support, sales leads, HR, incoming documents. Ongoing work is refining the taxonomy as traffic reveals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Easy. If asked about cost: days; no training data to start; local models make per-message cost roughly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about 500 trail-condition reports a season across 200 trails, and almost all of them say "muddy in spots, otherwise fine." Then in one week three hikers report a washed-out bridge on the same trail and a fourth mentions aggressive bear activity two trails over — and nobody notices. The park hears about the bridge from a one-star review a month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anomaly detection identifies items that deviate significantly from the majority of the data. Here the "majority" is a centroid of embedded reports and deviation is cosine distance.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Barely an AI feature: embeddings plus arithmetic. Start with one trail's condition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nomic-embed-text, with the classification: prefix. The prefix is in the model card, and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Average the vectors. That point is the centroid of "normal."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 each new report's distance from it. "Bridge washed out" sits farther from the mud cluster than mud reports sit from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the threshold, and two or more in fourteen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Alert. Every box after the embedding is subtraction and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only makes vectors. It never decides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alert rule is the feature: one flagged report is noise, two in fourteen days is a washout.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04's code plus one task prefix. Say "some AI features are mostly arithmetic wearing an AI badge" while pointing at the last three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 · Terminal 2 · </a:t>
            </a:r>
            <a:r>
              <a:rPr>
                <a:latin typeface="Consolas"/>
              </a:rPr>
              <a:t>cd modules/M3-deciding/F08-anomaly-detection/dotnet</a:t>
            </a:r>
          </a:p>
          <a:p>
            <a:r>
              <a:t>Files: </a:t>
            </a:r>
            <a:r>
              <a:rPr>
                <a:latin typeface="Consolas"/>
              </a:rPr>
              <a:t>reports-0117.jsonl</a:t>
            </a:r>
            <a:r>
              <a:t> = 40 reports, the washout trail · </a:t>
            </a:r>
            <a:r>
              <a:rPr>
                <a:latin typeface="Consolas"/>
              </a:rPr>
              <a:t>reports-0042.jsonl</a:t>
            </a:r>
            <a:r>
              <a:t> = 25 reports, the bear trail · </a:t>
            </a:r>
            <a:r>
              <a:rPr>
                <a:latin typeface="Consolas"/>
              </a:rPr>
              <a:t>embeddings-0117.json</a:t>
            </a:r>
            <a:r>
              <a:t> = precomputed vectors, the starter runs offline on them</a:t>
            </a:r>
          </a:p>
          <a:p>
            <a:r>
              <a:t>Flags: </a:t>
            </a:r>
            <a:r>
              <a:rPr>
                <a:latin typeface="Consolas"/>
              </a:rPr>
              <a:t>--raw</a:t>
            </a:r>
            <a:r>
              <a:t> = no task prefix · </a:t>
            </a:r>
            <a:r>
              <a:rPr>
                <a:latin typeface="Consolas"/>
              </a:rPr>
              <a:t>--trail 0042</a:t>
            </a:r>
            <a:r>
              <a:t> = the other trail · </a:t>
            </a:r>
            <a:r>
              <a:rPr>
                <a:latin typeface="Consolas"/>
              </a:rPr>
              <a:t>--sigma</a:t>
            </a:r>
            <a:r>
              <a:t> = threshold (default mean + 1 sd) · </a:t>
            </a:r>
            <a:r>
              <a:rPr>
                <a:latin typeface="Consolas"/>
              </a:rPr>
              <a:t>--window</a:t>
            </a:r>
            <a:r>
              <a:t> = days (default 14)</a:t>
            </a:r>
          </a:p>
          <a:p>
            <a:r>
              <a:t>1. Open </a:t>
            </a:r>
            <a:r>
              <a:rPr>
                <a:latin typeface="Consolas"/>
              </a:rPr>
              <a:t>data/reports-0117.jsonl</a:t>
            </a:r>
            <a:r>
              <a:t>, scroll. Boring on purpose. Find the problem. Nobody can.</a:t>
            </a:r>
          </a:p>
          <a:p>
            <a:r>
              <a:t>2. Centroid: average the vectors, the center of normal.</a:t>
            </a:r>
          </a:p>
          <a:p>
            <a:r>
              <a:t>3. Before: </a:t>
            </a:r>
            <a:r>
              <a:rPr>
                <a:latin typeface="Consolas"/>
              </a:rPr>
              <a:t>cd complete &amp;&amp; dotnet run -- --raw</a:t>
            </a:r>
            <a:r>
              <a:t>. Washouts lost mid-list.</a:t>
            </a:r>
          </a:p>
          <a:p>
            <a:r>
              <a:t>4. After: </a:t>
            </a:r>
            <a:r>
              <a:rPr>
                <a:latin typeface="Consolas"/>
              </a:rPr>
              <a:t>dotnet run</a:t>
            </a:r>
            <a:r>
              <a:t>. </a:t>
            </a:r>
            <a:r>
              <a:rPr>
                <a:latin typeface="Consolas"/>
              </a:rPr>
              <a:t>classification:</a:t>
            </a:r>
            <a:r>
              <a:t> prefix. A washout jumps to rank 2. Read the model card.</a:t>
            </a:r>
          </a:p>
          <a:p>
            <a:r>
              <a:t>5. Same output, the alert block: 1 alert, 3 real reports, 0 false.</a:t>
            </a:r>
          </a:p>
          <a:p>
            <a:r>
              <a:t>6. </a:t>
            </a:r>
            <a:r>
              <a:rPr>
                <a:latin typeface="Consolas"/>
              </a:rPr>
              <a:t>dotnet run -- --trail 0042</a:t>
            </a:r>
            <a:r>
              <a:t>: the bear spike, cleaner still.</a:t>
            </a:r>
          </a:p>
          <a:p>
            <a:r>
              <a:t>7. Model calls: embeddings only. The rest was subtraction.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Tickets, logs, safety reports, transaction notes, review streams. Pairs with 07: classification handles the categories you knew to define; anomaly detection catches the things you didn't.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Medium. If asked about cost: days to build, cheap to run forever; embeddings are the only model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07 routed the inbox, and now the ranger has forty messages that need replies, most of them boilerplate typed a hundred times. The obvious move is to let the AI answer; the obvious disaster is the AI telling a visitor campfires are fine during a burn ban, on official letterhead. The ranger's problem is drudgery; the park's problem is that fully automating outbound communication is how you end up apologizing publicly.</a:t>
            </a:r>
          </a:p>
          <a:p>
            <a:r>
              <a:t>The demo opens with the failure that makes the point: asked to draft a reply to a woman whose husband is four hours overdue, the model writes a warm, reassuring, useless note — every run, even with the escalation instruction moved to the top, where it announces ESCALATE and then writes the note anyway. More prompt engineering is not the lesson; the policy lives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(IBM): a human actively participates in the operation, supervision, or decision-making of an automated system. The machine gets the efficiency; the human keeps the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product pattern, not a model feature: the difference between AI features that ship and ones killed in legal review. It starts with a routed inquiry from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Retrieve the park docs, the way 05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drafts a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human approves, edits, or rejects. This box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Send, and log the draft, the decision, and the final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types, a person decides, the log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table sits in front of this line. Three lanes by error cost and reversibility: auto-send, draft-for-approval, human-only. The emergency row skips the whole diagram; that is the design, not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Today's edits are tomorrow's prompt. The human is the feedback signal as much as the safety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~9 min · Terminal 2 · </a:t>
            </a:r>
            <a:r>
              <a:rPr>
                <a:latin typeface="Consolas"/>
              </a:rPr>
              <a:t>cd modules/M3-deciding/F09-human-in-the-loop/dotnet</a:t>
            </a:r>
          </a:p>
          <a:p>
            <a:r>
              <a:t>Files: </a:t>
            </a:r>
            <a:r>
              <a:rPr>
                <a:latin typeface="Consolas"/>
              </a:rPr>
              <a:t>inquiries.jsonl</a:t>
            </a:r>
            <a:r>
              <a:t> = a queue of 6, one is the overdue-husband emergency · </a:t>
            </a:r>
            <a:r>
              <a:rPr>
                <a:latin typeface="Consolas"/>
              </a:rPr>
              <a:t>outbox/</a:t>
            </a:r>
            <a:r>
              <a:t> = what got sent · </a:t>
            </a:r>
            <a:r>
              <a:rPr>
                <a:latin typeface="Consolas"/>
              </a:rPr>
              <a:t>decisions.jsonl</a:t>
            </a:r>
            <a:r>
              <a:t> = the audit log</a:t>
            </a:r>
          </a:p>
          <a:p>
            <a:r>
              <a:t>Flags: </a:t>
            </a:r>
            <a:r>
              <a:rPr>
                <a:latin typeface="Consolas"/>
              </a:rPr>
              <a:t>--policy</a:t>
            </a:r>
            <a:r>
              <a:t> = print the routing table and exit · </a:t>
            </a:r>
            <a:r>
              <a:rPr>
                <a:latin typeface="Consolas"/>
              </a:rPr>
              <a:t>--auto-approve-dry-run</a:t>
            </a:r>
            <a:r>
              <a:t> = non-interactive, testing only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Six drafts, all sent, none reviewed. The emergency gets a warm, useless note. Every time.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dotnet run</a:t>
            </a:r>
            <a:r>
              <a:t>. The queue, one at a time. Approve one. Edit one. Reject one and write it.</a:t>
            </a:r>
          </a:p>
          <a:p>
            <a:r>
              <a:t>3. Open </a:t>
            </a:r>
            <a:r>
              <a:rPr>
                <a:latin typeface="Consolas"/>
              </a:rPr>
              <a:t>decisions.jsonl</a:t>
            </a:r>
            <a:r>
              <a:t>: draft, decision, final text, edit distance.</a:t>
            </a:r>
          </a:p>
          <a:p>
            <a:r>
              <a:t>4. </a:t>
            </a:r>
            <a:r>
              <a:rPr>
                <a:latin typeface="Consolas"/>
              </a:rPr>
              <a:t>dotnet run -- --policy</a:t>
            </a:r>
            <a:r>
              <a:t>: the table. Point at the emergency row. No AI, by policy.</a:t>
            </a:r>
          </a:p>
          <a:p>
            <a:r>
              <a:t>5. The edits are tomorrow's prompt.</a:t>
            </a:r>
          </a:p>
          <a:p>
            <a:r>
              <a:t>Cut: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 replies, quotes, claims decisions. Often what makes the other nine shippable.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Medium. If asked about cost: drafting is trivial; the approval UI, audit trail, and policy design are ordinary product engineering, measured in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is structured output with an enum plus an honest scoring pass; the number that matters is emergency recall, not overall accuracy.</a:t>
            </a:r>
          </a:p>
          <a:p>
            <a:r>
              <a:t>Then choose by energy as much as by interest: 08 lets you go straight to the math; 09 is mostly a decision about what your software may do unsupervised — running out of gas? Take this. It is also the one most likely to matter back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whose classifier caught both emergencies? Whose model wrote the reassuring note? Rows 7–9 of the framework are done. Break, then Module 4 — everyone does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3: Deciding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7" name="Picture 6" descr="shield-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886200"/>
            <a:ext cx="10966704" cy="265176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  <a:p>
            <a:pPr/>
            <a:r>
              <a:rPr sz="2800"/>
              <a:t>08 never asks the model to decide — only for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Three Ways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 label · a "this is unusual" · a signature</a:t>
            </a:r>
          </a:p>
          <a:p>
            <a:pPr/>
            <a:r>
              <a:rPr sz="2800"/>
              <a:t>08 never asks the model to decide — only for numbers</a:t>
            </a:r>
          </a:p>
          <a:p>
            <a:pPr/>
            <a:r>
              <a:rPr sz="2800"/>
              <a:t>09 wraps the other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07 Classify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picks one label from your list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08 Detect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Reports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02100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58716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85129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41745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from "normal"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68158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4774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Threshold rule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51187" y="309981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07803" y="2834640"/>
            <a:ext cx="157154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93192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09 Approve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75688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Inquiry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197858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54474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676644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33260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Human approves, edits, or rejects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55430" y="430225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2046" y="393192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Send +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F07 · Classification &amp; 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Give each message a </a:t>
            </a:r>
            <a:r>
              <a:rPr b="1" sz="4000">
                <a:solidFill>
                  <a:srgbClr val="017AB4"/>
                </a:solidFill>
              </a:rPr>
              <a:t>label</a:t>
            </a:r>
            <a:r>
              <a:rPr sz="4000"/>
              <a:t>, and let the label pick the </a:t>
            </a:r>
            <a:r>
              <a:rPr b="1" sz="4000">
                <a:solidFill>
                  <a:srgbClr val="017AB4"/>
                </a:solidFill>
              </a:rPr>
              <a:t>queue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F07 Classification &amp; Routing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The room finds the emergency in the raw inbox</a:t>
            </a:r>
          </a:p>
          <a:p>
            <a:pPr/>
            <a:r>
              <a:rPr sz="2800"/>
              <a:t>One method · plain-language taxonomy · one label</a:t>
            </a:r>
          </a:p>
          <a:p>
            <a:pPr/>
            <a:r>
              <a:rPr sz="2800"/>
              <a:t>The pile → tidy queues, in seconds</a:t>
            </a:r>
          </a:p>
          <a:p>
            <a:pPr/>
            <a:r>
              <a:rPr sz="2800">
                <a:latin typeface="Consolas"/>
              </a:rPr>
              <a:t>inq-0030</a:t>
            </a:r>
            <a:r>
              <a:rPr sz="2800"/>
              <a:t>: fixed by editing a sentence</a:t>
            </a:r>
          </a:p>
          <a:p>
            <a:pPr/>
            <a:r>
              <a:rPr sz="2800">
                <a:latin typeface="Consolas"/>
              </a:rPr>
              <a:t>inq-0035</a:t>
            </a:r>
            <a:r>
              <a:rPr sz="2800"/>
              <a:t> → </a:t>
            </a:r>
            <a:r>
              <a:rPr sz="2800">
                <a:latin typeface="Consolas"/>
              </a:rPr>
              <a:t>unsure</a:t>
            </a:r>
            <a:r>
              <a:rPr sz="2800"/>
              <a:t>, correctly</a:t>
            </a:r>
          </a:p>
          <a:p>
            <a:pPr/>
            <a:r>
              <a:rPr sz="2800"/>
              <a:t>📊 17/20 · 2/2 emergencies · every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F07 · Classification &amp; Routing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shared inbox or queue where a human sorts before anyone acts.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"Every message reaches the right person in seconds, and the urgent ones stop waiting in line."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F08 · 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Spot the item in a stream that </a:t>
            </a:r>
            <a:r>
              <a:rPr b="1" sz="4000">
                <a:solidFill>
                  <a:srgbClr val="017AB4"/>
                </a:solidFill>
              </a:rPr>
              <a:t>doesn't look like the rest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  <a:p>
            <a:pPr/>
            <a:r>
              <a:rPr sz="2800"/>
              <a:t>The alert rule is the feature: 1 is noise · 2 in 14 days is a washout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pPr/>
            <a:r>
              <a:rPr sz="2800"/>
              <a:t>The model only makes vectors</a:t>
            </a:r>
          </a:p>
          <a:p>
            <a:pPr/>
            <a:r>
              <a:rPr sz="2800"/>
              <a:t>The alert rule is the feature: 1 is noise · 2 in 14 days is a washout</a:t>
            </a:r>
          </a:p>
          <a:p>
            <a:pPr/>
            <a:r>
              <a:rPr sz="2800"/>
              <a:t>04's code + one task prefix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 trail's condition reports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52396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09012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nomic-embed-text, with the classification: prefix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48760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5376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Average the vectors: the centroid of "normal"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45124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740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Distance of each new report from 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48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8104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Beyond threshold, and 2 or more in 14 days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3785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94468" y="1737360"/>
            <a:ext cx="1484884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Alert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F08 Anomaly Detection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/>
              <a:t>The stream is boring on purpose</a:t>
            </a:r>
          </a:p>
          <a:p>
            <a:pPr/>
            <a:r>
              <a:rPr sz="2400"/>
              <a:t>The centroid: the center of normal</a:t>
            </a:r>
          </a:p>
          <a:p>
            <a:pPr/>
            <a:r>
              <a:rPr sz="2400"/>
              <a:t>❌ </a:t>
            </a:r>
            <a:r>
              <a:rPr sz="2400">
                <a:latin typeface="Consolas"/>
              </a:rPr>
              <a:t>--raw</a:t>
            </a:r>
            <a:r>
              <a:rPr sz="2400"/>
              <a:t>: washouts lost mid-list</a:t>
            </a:r>
          </a:p>
          <a:p>
            <a:pPr/>
            <a:r>
              <a:rPr sz="2400"/>
              <a:t>✅ </a:t>
            </a:r>
            <a:r>
              <a:rPr sz="2400">
                <a:latin typeface="Consolas"/>
              </a:rPr>
              <a:t>classification:</a:t>
            </a:r>
            <a:r>
              <a:rPr sz="2400"/>
              <a:t> prefix: rank 11 → 2</a:t>
            </a:r>
          </a:p>
          <a:p>
            <a:pPr/>
            <a:r>
              <a:rPr sz="2400"/>
              <a:t>Alert rule: 1 alert · 3 real reports · 0 false</a:t>
            </a:r>
          </a:p>
          <a:p>
            <a:pPr/>
            <a:r>
              <a:rPr sz="2400"/>
              <a:t>The bear trail: cleaner still</a:t>
            </a:r>
          </a:p>
          <a:p>
            <a:pPr/>
            <a:r>
              <a:rPr sz="2400"/>
              <a:t>Model calls: embeddings only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F08 · Anomaly Detection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stream of routine text where the rare exception is expensive to miss.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hear about the washed-out bridge from the first three reports, not from a one-star review a month later."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F09 · Human-in-the-Loop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The AI drafts; a </a:t>
            </a:r>
            <a:r>
              <a:rPr b="1" sz="4000">
                <a:solidFill>
                  <a:srgbClr val="017AB4"/>
                </a:solidFill>
              </a:rPr>
              <a:t>person approves</a:t>
            </a:r>
            <a:r>
              <a:rPr sz="4000"/>
              <a:t> before anything goes out.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  <a:p>
            <a:pPr/>
            <a:r>
              <a:rPr sz="2800"/>
              <a:t>A policy table sits in front of this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999231"/>
            <a:ext cx="10966704" cy="3538729"/>
          </a:xfrm>
        </p:spPr>
        <p:txBody>
          <a:bodyPr wrap="square"/>
          <a:lstStyle/>
          <a:p>
            <a:pPr/>
            <a:r>
              <a:rPr sz="2800"/>
              <a:t>The model types · a person decides · the log proves it</a:t>
            </a:r>
          </a:p>
          <a:p>
            <a:pPr/>
            <a:r>
              <a:rPr sz="2800"/>
              <a:t>A policy table sits in front of this line</a:t>
            </a:r>
          </a:p>
          <a:p>
            <a:pPr/>
            <a:r>
              <a:rPr sz="2800"/>
              <a:t>Today's edits → tomorrow's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Routed inquiry (from 07)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park docs (05)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drafts a reply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Human: approve, edit, or reject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10769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Send, and log draft + decision + final text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F09 Human-in-the-Loop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The escalation failure, live: </a:t>
            </a:r>
            <a:r>
              <a:rPr sz="2800">
                <a:latin typeface="Consolas"/>
              </a:rPr>
              <a:t>ESCALATE</a:t>
            </a:r>
            <a:r>
              <a:rPr sz="2800"/>
              <a:t>… then the note anyway</a:t>
            </a:r>
          </a:p>
          <a:p>
            <a:pPr/>
            <a:r>
              <a:rPr sz="2800"/>
              <a:t>A routed queue awaiting replies</a:t>
            </a:r>
          </a:p>
          <a:p>
            <a:pPr/>
            <a:r>
              <a:rPr sz="2800"/>
              <a:t>One grounded draft: good, not perfect</a:t>
            </a:r>
          </a:p>
          <a:p>
            <a:pPr/>
            <a:r>
              <a:rPr sz="2800"/>
              <a:t>Approve · edit · reject-and-rewrite</a:t>
            </a:r>
          </a:p>
          <a:p>
            <a:pPr/>
            <a:r>
              <a:rPr sz="2800"/>
              <a:t>The audit log, with edit distance</a:t>
            </a:r>
          </a:p>
          <a:p>
            <a:pPr/>
            <a:r>
              <a:rPr sz="2800"/>
              <a:t>The policy table — point at the emergency row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F09 · Human-in-the-Loop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Anything AI-written that goes out under your name.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AI does the typing, our people keep the judgment, and nothing goes out without a human OK until the data says it can."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Medium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3600"/>
              <a:t>⭐ Recommended: </a:t>
            </a:r>
            <a:r>
              <a:rPr sz="3600" b="1"/>
              <a:t>F07 Classification &amp; Routing</a:t>
            </a:r>
          </a:p>
          <a:p>
            <a:pPr/>
            <a:r>
              <a:rPr sz="3600"/>
              <a:t>⛰️ Challenge: </a:t>
            </a:r>
            <a:r>
              <a:rPr sz="3600" b="1"/>
              <a:t>F08 Anomaly Detection</a:t>
            </a:r>
            <a:r>
              <a:rPr sz="3600"/>
              <a:t> · </a:t>
            </a:r>
            <a:r>
              <a:rPr sz="3600" b="1"/>
              <a:t>F09 Human-in-the-Loop</a:t>
            </a:r>
          </a:p>
          <a:p>
            <a:pPr/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http/ollama.http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pPr/>
          </a:p>
          <a:p/>
          <a:p>
            <a:r>
              <a:rPr sz="3200"/>
              <a:t>✅ Done = 2/2 emergencies caught — 19/20 with a miss is a fail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3: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