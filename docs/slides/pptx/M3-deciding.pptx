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Which queue does this go in, which of these 500 reports deserves attention, what is the software allowed to send without a human reading it first.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Feature 09 makes the sharpest version of this by failing, live, every time. Set it up now.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Close on asymmetric cost: what this system is tuned never to miss, and what noise level that tolerance buys.</a:t>
            </a:r>
          </a:p>
          <a:p>
            <a:r>
              <a:t>Demo script (the demo outline that used to live in the spec, sized for the 30-minute block: skip the break-it-on-purpose beats first if you are running long):</a:t>
            </a:r>
          </a:p>
          <a:p>
            <a:r>
              <a:t>1. Scroll the raw inbox, data/inquiries.jsonl, mixed and unlabeled, and let the room spot the emergency buried in it.</a:t>
            </a:r>
          </a:p>
          <a:p>
            <a:r>
              <a:t>2. Starter: one classify method with the taxonomy written as plain-language category descriptions in the prompt, returning exactly one label.</a:t>
            </a:r>
          </a:p>
          <a:p>
            <a:r>
              <a:t>3. Run the inbox through it and print each message under its routed queue. The payoff is that the pile becomes a set of tidy queues in seconds, with the emergency at the top of its own.</a:t>
            </a:r>
          </a:p>
          <a:p>
            <a:r>
              <a:t>4. Show a misclassification (inq-0030 is planted). Fix it by editing the category description, not the code, and re-run to show the fix landing.</a:t>
            </a:r>
          </a:p>
          <a:p>
            <a:r>
              <a:t>5. Walk the "unsure" route in the taxonomy: it is deliberately narrow, for messages that two queues must both act on. Show inq-0035 landing there, which is correct behavior, and point out that the description forbids sending anything dangerous to it.</a:t>
            </a:r>
          </a:p>
          <a:p>
            <a:r>
              <a:t>6. Close on asymmetric error costs: what this system is tuned never to miss, and what noise level that tolerance buys.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"Most" is doing real work in that sentence, and the demo is honest about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Embedding models have usage contracts; reading the model card is engineering work. When 8 of 40 reports describe the same washout they drag the centroid toward themselves; that is why the alert rule beats the ranking, and why the stretch goal builds the centroid from reports before the window. Accuracy here is a property of your corpus, not your code.</a:t>
            </a:r>
          </a:p>
          <a:p>
            <a:r>
              <a:t>Demo script (the demo outline that used to live in the spec, sized for the 30-minute block: skip the break-it-on-purpose beats first if you are running long):</a:t>
            </a:r>
          </a:p>
          <a:p>
            <a:r>
              <a:t>1. Scroll the condition-report stream, which is boring on purpose, and ask the room to find the problem. Nobody can, and that is the situation the park is in.</a:t>
            </a:r>
          </a:p>
          <a:p>
            <a:r>
              <a:t>2. Embed one trail's reports with the feature 04 embedding code, average the vectors into a centroid, and put the idea on one slide: the center of normal.</a:t>
            </a:r>
          </a:p>
          <a:p>
            <a:r>
              <a:t>3. Run it with --raw first and print every report's distance, sorted. It underwhelms, because the washout reports scatter through the middle of the list, and it is worth sitting in that for a second, since this is what the technique actually does out of the box.</a:t>
            </a:r>
          </a:p>
          <a:p>
            <a:r>
              <a:t>4. Add the model's task prefix (classification:) and re-run. A washout report jumps to rank 2 and the mud reports settle at the bottom. The lesson: embedding models have usage contracts, and reading the model card is engineering work, not homework.</a:t>
            </a:r>
          </a:p>
          <a:p>
            <a:r>
              <a:t>5. Now the alert rule, which is where the feature actually lives: distance beyond threshold, plus two or more flagged reports within a two-week window. One alert fires on this trail, three genuine washout reports in it, nothing false. Show it also catching the bear-activity spike on the other trail, where the signal is even cleaner because that trail's routine chatter is more uniform. Accuracy here is a property of your corpus, not your code.</a:t>
            </a:r>
          </a:p>
          <a:p>
            <a:r>
              <a:t>6. Count the model calls: embeddings only, and everything after them was subtraction. Some AI features are mostly arithmetic wearing an AI badge.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Pairs with 07: classification handles the categories you knew to define; anomaly detection catches the things you didn't.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sharpest slide in the module. Show the raw prompt fail live if time allows; the reference runs are in expected-output.md, 3/3 both ways.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Keep the emergency row on screen for a beat: no AI touches it, and that is a design decision, not a limitation.</a:t>
            </a:r>
          </a:p>
          <a:p>
            <a:r>
              <a:t>Demo script (the demo outline that used to live in the spec, sized for the 30-minute block: skip the break-it-on-purpose beats first if you are running long):</a:t>
            </a:r>
          </a:p>
          <a:p>
            <a:r>
              <a:t>1. Pick up where feature 07 left off: a routed queue of condition questions awaiting replies.</a:t>
            </a:r>
          </a:p>
          <a:p>
            <a:r>
              <a:t>2. Generate a draft reply for one inquiry, grounded in the park docs the same way feature 05 grounded answers. Show the draft on screen; it is good without being perfect.</a:t>
            </a:r>
          </a:p>
          <a:p>
            <a:r>
              <a:t>3. Run the approval flow in a small console UI: approve one draft untouched, edit a second before sending, reject a third and write it by hand. Three inquiries handled in the time one used to take.</a:t>
            </a:r>
          </a:p>
          <a:p>
            <a:r>
              <a:t>4. Show the audit log the flow just produced: draft, decision, final text, edit distance per reply.</a:t>
            </a:r>
          </a:p>
          <a:p>
            <a:r>
              <a:t>5. Put the routing policy on screen as a table: which categories auto-send, which get drafts, which stay human-only. Point at the emergency row: no AI draft, ever, by policy.</a:t>
            </a:r>
          </a:p>
          <a:p>
            <a:r>
              <a:t>6. Close the loop: the edits collected in step 3 are tomorrow's prompt improvements. The human is the feedback signal as much as the safety check.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12648" y="2011680"/>
            <a:ext cx="10966399" cy="1371600"/>
          </a:xfrm>
        </p:spPr>
        <p:txBody>
          <a:bodyPr/>
          <a:lstStyle/>
          <a:p>
            <a:r>
              <a:t>Module 3: Deciding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612648" y="3566160"/>
            <a:ext cx="10966399" cy="1828800"/>
          </a:xfrm>
        </p:spPr>
        <p:txBody>
          <a:bodyPr/>
          <a:lstStyle/>
          <a:p>
            <a:r>
              <a:t>Triage and judgment</a:t>
            </a:r>
          </a:p>
          <a:p>
            <a:r>
              <a:t>07 Classification &amp; Routing (Recommended) · 08 Anomaly Detection · 09 Human-in-the-Loop</a:t>
            </a:r>
          </a:p>
          <a:p>
            <a:r>
              <a:t>The user here is usually a colleague: a ranger, an ops lead, a support manager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12648" y="365760"/>
            <a:ext cx="10966399" cy="1097280"/>
          </a:xfrm>
        </p:spPr>
        <p:txBody>
          <a:bodyPr/>
          <a:lstStyle/>
          <a:p>
            <a:r>
              <a:t>The Thread to Watch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1600200"/>
            <a:ext cx="10966399" cy="4800600"/>
          </a:xfrm>
        </p:spPr>
        <p:txBody>
          <a:bodyPr wrap="square"/>
          <a:lstStyle/>
          <a:p>
            <a:pPr/>
            <a:r>
              <a:rPr sz="2000"/>
              <a:t>Errors here are not symmetric</a:t>
            </a:r>
          </a:p>
          <a:p>
            <a:pPr/>
            <a:r>
              <a:rPr sz="2000"/>
              <a:t>Misrouting a complaint costs somebody a day. Misrouting the overdue-hiker message is a headline.</a:t>
            </a:r>
          </a:p>
          <a:p>
            <a:pPr/>
            <a:r>
              <a:rPr sz="2000"/>
              <a:t>Measure recall on the class that matters, not overall accuracy</a:t>
            </a:r>
          </a:p>
          <a:p>
            <a:pPr/>
            <a:r>
              <a:rPr sz="2000"/>
              <a:t>Add an unsure route so an ambiguous message goes to a person instead of confidently into the wrong queue</a:t>
            </a:r>
          </a:p>
          <a:p>
            <a:pPr/>
            <a:r>
              <a:rPr sz="2000"/>
              <a:t>A prompt instruction is a request. A policy lane is a guarantee.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12648" y="365760"/>
            <a:ext cx="10966399" cy="1097280"/>
          </a:xfrm>
        </p:spPr>
        <p:txBody>
          <a:bodyPr/>
          <a:lstStyle/>
          <a:p>
            <a:r>
              <a:t>07 · Classification &amp; Routing: The User Problem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1600200"/>
            <a:ext cx="10966399" cy="4800600"/>
          </a:xfrm>
        </p:spPr>
        <p:txBody>
          <a:bodyPr wrap="square"/>
          <a:lstStyle/>
          <a:p>
            <a:pPr/>
            <a:r>
              <a:rPr sz="2000"/>
              <a:t>Every message to Trailhead lands in one inbox: permits, conditions, complaints, lost-and-found, and occasionally an actual emergency</a:t>
            </a:r>
          </a:p>
          <a:p>
            <a:pPr/>
            <a:r>
              <a:rPr sz="2000"/>
              <a:t>A ranger triages by hand once or twice a day</a:t>
            </a:r>
          </a:p>
          <a:p>
            <a:pPr/>
            <a:r>
              <a:rPr sz="2000"/>
              <a:t>The permit waits behind the granola questions; the emergency sits unread for four hours</a:t>
            </a:r>
          </a:p>
          <a:p>
            <a:pPr/>
            <a:r>
              <a:rPr sz="2000"/>
              <a:t>The user's real problem: their message goes into a hole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12648" y="365760"/>
            <a:ext cx="10966399" cy="1097280"/>
          </a:xfrm>
        </p:spPr>
        <p:txBody>
          <a:bodyPr/>
          <a:lstStyle/>
          <a:p>
            <a:r>
              <a:t>07 · The Concept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1600200"/>
            <a:ext cx="10966399" cy="4800600"/>
          </a:xfrm>
        </p:spPr>
        <p:txBody>
          <a:bodyPr wrap="square"/>
          <a:lstStyle/>
          <a:p>
            <a:pPr/>
            <a:r>
              <a:rPr sz="2000"/>
              <a:t>Classification again (03 was the warm-up), but now the label has consequences</a:t>
            </a:r>
          </a:p>
          <a:p>
            <a:pPr/>
            <a:r>
              <a:rPr sz="2000"/>
              <a:t>Zero-shot: describe the categories in plain language, no training data, which is where every team is on day one</a:t>
            </a:r>
          </a:p>
          <a:p>
            <a:pPr/>
            <a:r>
              <a:rPr sz="2000"/>
              <a:t>The taxonomy is the product. When the model misfiles something, fix the description, not the model.</a:t>
            </a:r>
          </a:p>
          <a:p>
            <a:pPr/>
            <a:r>
              <a:rPr sz="2000"/>
              <a:t>Tune so the expensive class never slips through, even at the cost of extra false alarms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12648" y="365760"/>
            <a:ext cx="10966399" cy="1097280"/>
          </a:xfrm>
        </p:spPr>
        <p:txBody>
          <a:bodyPr/>
          <a:lstStyle/>
          <a:p>
            <a:r>
              <a:t>07 · Demo: What to Watch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1600200"/>
            <a:ext cx="10966399" cy="4800600"/>
          </a:xfrm>
        </p:spPr>
        <p:txBody>
          <a:bodyPr wrap="square"/>
          <a:lstStyle/>
          <a:p>
            <a:pPr/>
            <a:r>
              <a:rPr sz="2000"/>
              <a:t>Scroll the raw inbox; let the room find the emergency</a:t>
            </a:r>
          </a:p>
          <a:p>
            <a:pPr/>
            <a:r>
              <a:rPr sz="2000"/>
              <a:t>One classify method, taxonomy as plain-language descriptions, exactly one label</a:t>
            </a:r>
          </a:p>
          <a:p>
            <a:pPr/>
            <a:r>
              <a:rPr sz="2000"/>
              <a:t>The pile becomes tidy queues in seconds; the emergency is at the top of its own</a:t>
            </a:r>
          </a:p>
          <a:p>
            <a:pPr/>
            <a:r>
              <a:rPr sz="2000"/>
              <a:t>Planted misclassification (inq-0030): fix it by editing the category description, re-run</a:t>
            </a:r>
          </a:p>
          <a:p>
            <a:pPr/>
            <a:r>
              <a:rPr sz="2000"/>
              <a:t>The unsure route is deliberately narrow, for messages two queues must both act on. inq-0035 lands there, correctly, and the description forbids sending anything dangerous to it.</a:t>
            </a:r>
          </a:p>
          <a:p>
            <a:pPr/>
            <a:r>
              <a:rPr sz="2000"/>
              <a:t>Measured: 17/20 overall, 2/2 emergencies, every run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12648" y="365760"/>
            <a:ext cx="10966399" cy="1097280"/>
          </a:xfrm>
        </p:spPr>
        <p:txBody>
          <a:bodyPr/>
          <a:lstStyle/>
          <a:p>
            <a:r>
              <a:t>07 · Leadership Card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1600200"/>
            <a:ext cx="10966399" cy="4800600"/>
          </a:xfrm>
        </p:spPr>
        <p:txBody>
          <a:bodyPr wrap="square"/>
          <a:lstStyle/>
          <a:p>
            <a:pPr/>
            <a:r>
              <a:rPr sz="2000"/>
              <a:t>When: any shared inbox, ticket queue, or intake form where a human sorts before anyone acts. Support, sales leads, HR, incoming documents.</a:t>
            </a:r>
          </a:p>
          <a:p>
            <a:pPr/>
            <a:r>
              <a:rPr sz="2000"/>
              <a:t>Cost: days. No training data to start; ongoing work is refining the taxonomy as traffic reveals edge cases. Local models make per-message cost roughly zero.</a:t>
            </a:r>
          </a:p>
          <a:p>
            <a:pPr/>
            <a:r>
              <a:rPr sz="2000"/>
              <a:t>"Every message reaches the right person in seconds, and the urgent ones stop waiting in line."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12648" y="365760"/>
            <a:ext cx="10966399" cy="1097280"/>
          </a:xfrm>
        </p:spPr>
        <p:txBody>
          <a:bodyPr/>
          <a:lstStyle/>
          <a:p>
            <a:r>
              <a:t>08 · Anomaly Detection: The User Problem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1600200"/>
            <a:ext cx="10966399" cy="4800600"/>
          </a:xfrm>
        </p:spPr>
        <p:txBody>
          <a:bodyPr wrap="square"/>
          <a:lstStyle/>
          <a:p>
            <a:pPr/>
            <a:r>
              <a:rPr sz="2000"/>
              <a:t>~500 trail-condition reports a season across 200 trails. Almost all say "muddy in spots, otherwise fine."</a:t>
            </a:r>
          </a:p>
          <a:p>
            <a:pPr/>
            <a:r>
              <a:rPr sz="2000"/>
              <a:t>Then in one week three hikers report a washed-out bridge on the same trail, and a fourth mentions aggressive bear activity two trails over</a:t>
            </a:r>
          </a:p>
          <a:p>
            <a:pPr/>
            <a:r>
              <a:rPr sz="2000"/>
              <a:t>Nobody notices. The park hears about the bridge from a one-star review a month later.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12648" y="365760"/>
            <a:ext cx="10966399" cy="1097280"/>
          </a:xfrm>
        </p:spPr>
        <p:txBody>
          <a:bodyPr/>
          <a:lstStyle/>
          <a:p>
            <a:r>
              <a:t>08 · The Concept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1600200"/>
            <a:ext cx="10966399" cy="4800600"/>
          </a:xfrm>
        </p:spPr>
        <p:txBody>
          <a:bodyPr wrap="square"/>
          <a:lstStyle/>
          <a:p>
            <a:pPr/>
            <a:r>
              <a:rPr sz="2000"/>
              <a:t>Barely an AI feature: embeddings plus arithmetic</a:t>
            </a:r>
          </a:p>
          <a:p>
            <a:pPr/>
            <a:r>
              <a:rPr sz="2000"/>
              <a:t>Embed a trail's reports; the routine ones cluster. Average them: a centroid, the center of "normal."</a:t>
            </a:r>
          </a:p>
          <a:p>
            <a:pPr/>
            <a:r>
              <a:rPr sz="2000"/>
              <a:t>A report's distance from the centroid is its anomaly score. "Bridge washed out" sits farther from the mud cluster than mud reports sit from each other.</a:t>
            </a:r>
          </a:p>
          <a:p>
            <a:pPr/>
            <a:r>
              <a:rPr sz="2000"/>
              <a:t>Cosine distance and a threshold do most of the job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12648" y="365760"/>
            <a:ext cx="10966399" cy="1097280"/>
          </a:xfrm>
        </p:spPr>
        <p:txBody>
          <a:bodyPr/>
          <a:lstStyle/>
          <a:p>
            <a:r>
              <a:t>08 · Demo: What to Watch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1600200"/>
            <a:ext cx="10966399" cy="4800600"/>
          </a:xfrm>
        </p:spPr>
        <p:txBody>
          <a:bodyPr wrap="square"/>
          <a:lstStyle/>
          <a:p>
            <a:pPr/>
            <a:r>
              <a:rPr sz="2000"/>
              <a:t>Scroll the report stream, which is boring on purpose. Nobody can find the problem.</a:t>
            </a:r>
          </a:p>
          <a:p>
            <a:pPr/>
            <a:r>
              <a:rPr sz="2000"/>
              <a:t>Centroid on one slide: the center of normal</a:t>
            </a:r>
          </a:p>
          <a:p>
            <a:pPr/>
            <a:r>
              <a:rPr sz="2000"/>
              <a:t>--raw first: the washout reports scatter through the middle of the list. Let that sit for a second.</a:t>
            </a:r>
          </a:p>
          <a:p>
            <a:pPr/>
            <a:r>
              <a:rPr sz="2000"/>
              <a:t>Add the model's task prefix (classification:): a washout report jumps from rank 11 to rank 2, and the mud reports settle to the bottom</a:t>
            </a:r>
          </a:p>
          <a:p>
            <a:pPr/>
            <a:r>
              <a:rPr sz="2000"/>
              <a:t>The alert rule: distance beyond threshold, plus two flagged reports within 14 days. One alert fires, with three genuine washout reports in it and no false positives.</a:t>
            </a:r>
          </a:p>
          <a:p>
            <a:pPr/>
            <a:r>
              <a:rPr sz="2000"/>
              <a:t>Second trail: the bear spike, cleaner because that trail's routine chatter is more uniform</a:t>
            </a:r>
          </a:p>
          <a:p>
            <a:pPr/>
            <a:r>
              <a:rPr sz="2000"/>
              <a:t>Count the model calls: embeddings only. Everything else was subtraction.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12648" y="365760"/>
            <a:ext cx="10966399" cy="1097280"/>
          </a:xfrm>
        </p:spPr>
        <p:txBody>
          <a:bodyPr/>
          <a:lstStyle/>
          <a:p>
            <a:r>
              <a:t>08 · Leadership Card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1600200"/>
            <a:ext cx="10966399" cy="4800600"/>
          </a:xfrm>
        </p:spPr>
        <p:txBody>
          <a:bodyPr wrap="square"/>
          <a:lstStyle/>
          <a:p>
            <a:pPr/>
            <a:r>
              <a:rPr sz="2000"/>
              <a:t>When: any stream of routine text where the rare exception is expensive to miss. Tickets, logs, safety reports, transaction notes, review streams.</a:t>
            </a:r>
          </a:p>
          <a:p>
            <a:pPr/>
            <a:r>
              <a:rPr sz="2000"/>
              <a:t>Cost: days, and cheap to run forever. Embeddings are the only model cost.</a:t>
            </a:r>
          </a:p>
          <a:p>
            <a:pPr/>
            <a:r>
              <a:rPr sz="2000"/>
              <a:t>"We hear about the washed-out bridge from the first three reports, not from a one-star review a month later."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12648" y="365760"/>
            <a:ext cx="10966399" cy="1097280"/>
          </a:xfrm>
        </p:spPr>
        <p:txBody>
          <a:bodyPr/>
          <a:lstStyle/>
          <a:p>
            <a:r>
              <a:t>09 · Human-in-the-Loop: The User Problem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1600200"/>
            <a:ext cx="10966399" cy="4800600"/>
          </a:xfrm>
        </p:spPr>
        <p:txBody>
          <a:bodyPr wrap="square"/>
          <a:lstStyle/>
          <a:p>
            <a:pPr/>
            <a:r>
              <a:rPr sz="2000"/>
              <a:t>07 routed the inbox; now the ranger has forty messages that need replies. Most are boilerplate typed a hundred times.</a:t>
            </a:r>
          </a:p>
          <a:p>
            <a:pPr/>
            <a:r>
              <a:rPr sz="2000"/>
              <a:t>The obvious move: let the AI answer</a:t>
            </a:r>
          </a:p>
          <a:p>
            <a:pPr/>
            <a:r>
              <a:rPr sz="2000"/>
              <a:t>The obvious disaster: the AI tells a visitor campfires are fine during a burn ban, on official letterhead</a:t>
            </a:r>
          </a:p>
          <a:p>
            <a:pPr/>
            <a:r>
              <a:rPr sz="2000"/>
              <a:t>The ranger's problem is drudgery. The park's problem is that fully automating outbound communication is how you end up apologizing publicly.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12648" y="365760"/>
            <a:ext cx="10966399" cy="1097280"/>
          </a:xfrm>
        </p:spPr>
        <p:txBody>
          <a:bodyPr/>
          <a:lstStyle/>
          <a:p>
            <a:r>
              <a:t>09 · The Concept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1600200"/>
            <a:ext cx="10966399" cy="4800600"/>
          </a:xfrm>
        </p:spPr>
        <p:txBody>
          <a:bodyPr wrap="square"/>
          <a:lstStyle/>
          <a:p>
            <a:pPr/>
            <a:r>
              <a:rPr sz="2000"/>
              <a:t>A product pattern, not a model feature. The difference between AI features that ship and ones killed in legal review.</a:t>
            </a:r>
          </a:p>
          <a:p>
            <a:pPr/>
            <a:r>
              <a:rPr sz="2000"/>
              <a:t>AI drafts; a human approves, edits, or rejects; the system remembers what happened</a:t>
            </a:r>
          </a:p>
          <a:p>
            <a:pPr/>
            <a:r>
              <a:rPr sz="2000"/>
              <a:t>Three lanes by error cost and reversibility: auto-send · draft-for-approval · human-only</a:t>
            </a:r>
          </a:p>
          <a:p>
            <a:pPr/>
            <a:r>
              <a:rPr sz="2000"/>
              <a:t>Emergencies never get an AI draft at all</a:t>
            </a:r>
          </a:p>
          <a:p>
            <a:pPr/>
            <a:r>
              <a:rPr sz="2000"/>
              <a:t>Audit trail, and measure the draft-to-final gap: how much people edit tells you whether trust in each lane is earned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12648" y="365760"/>
            <a:ext cx="10966399" cy="1097280"/>
          </a:xfrm>
        </p:spPr>
        <p:txBody>
          <a:bodyPr/>
          <a:lstStyle/>
          <a:p>
            <a:r>
              <a:t>09 · The Failure That Makes the Point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1600200"/>
            <a:ext cx="10966399" cy="4800600"/>
          </a:xfrm>
        </p:spPr>
        <p:txBody>
          <a:bodyPr wrap="square"/>
          <a:lstStyle/>
          <a:p>
            <a:pPr/>
            <a:r>
              <a:rPr sz="2000"/>
              <a:t>Asked to draft a reply to a woman whose husband is four hours overdue, the model ignores its escalation instruction and writes a warm, reassuring, useless note. Every run.</a:t>
            </a:r>
          </a:p>
          <a:p>
            <a:pPr/>
            <a:r>
              <a:rPr sz="2000"/>
              <a:t>Move the instruction to the top: it announces ESCALATE, then writes the note anyway. Every run.</a:t>
            </a:r>
          </a:p>
          <a:p>
            <a:pPr/>
            <a:r>
              <a:rPr sz="2000"/>
              <a:t>More prompt engineering is not the lesson</a:t>
            </a:r>
          </a:p>
          <a:p>
            <a:pPr/>
            <a:r>
              <a:rPr sz="2000"/>
              <a:t>The finished demo refuses to send emergencies to the model at all. The policy lives in code instead of in the prompt.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12648" y="365760"/>
            <a:ext cx="10966399" cy="1097280"/>
          </a:xfrm>
        </p:spPr>
        <p:txBody>
          <a:bodyPr/>
          <a:lstStyle/>
          <a:p>
            <a:r>
              <a:t>09 · Demo: What to Watch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1600200"/>
            <a:ext cx="10966399" cy="4800600"/>
          </a:xfrm>
        </p:spPr>
        <p:txBody>
          <a:bodyPr wrap="square"/>
          <a:lstStyle/>
          <a:p>
            <a:pPr/>
            <a:r>
              <a:rPr sz="2000"/>
              <a:t>A routed queue of condition questions awaiting replies</a:t>
            </a:r>
          </a:p>
          <a:p>
            <a:pPr/>
            <a:r>
              <a:rPr sz="2000"/>
              <a:t>Draft one reply, grounded in park docs the way 05 grounded answers. It is good without being perfect.</a:t>
            </a:r>
          </a:p>
          <a:p>
            <a:pPr/>
            <a:r>
              <a:rPr sz="2000"/>
              <a:t>Approve one untouched, edit a second, reject a third and write it by hand</a:t>
            </a:r>
          </a:p>
          <a:p>
            <a:pPr/>
            <a:r>
              <a:rPr sz="2000"/>
              <a:t>The audit log: draft, decision, final text, edit distance per reply</a:t>
            </a:r>
          </a:p>
          <a:p>
            <a:pPr/>
            <a:r>
              <a:rPr sz="2000"/>
              <a:t>The policy table on screen; point at the emergency row</a:t>
            </a:r>
          </a:p>
          <a:p>
            <a:pPr/>
            <a:r>
              <a:rPr sz="2000"/>
              <a:t>The edits from step 3 are tomorrow's prompt improvements. The human is the feedback signal as much as the safety check.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12648" y="365760"/>
            <a:ext cx="10966399" cy="1097280"/>
          </a:xfrm>
        </p:spPr>
        <p:txBody>
          <a:bodyPr/>
          <a:lstStyle/>
          <a:p>
            <a:r>
              <a:t>09 · Leadership Card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1600200"/>
            <a:ext cx="10966399" cy="4800600"/>
          </a:xfrm>
        </p:spPr>
        <p:txBody>
          <a:bodyPr wrap="square"/>
          <a:lstStyle/>
          <a:p>
            <a:pPr/>
            <a:r>
              <a:rPr sz="2000"/>
              <a:t>When: any customer-facing or high-stakes generation. Support replies, quotes, claims decisions, anything sent under your name.</a:t>
            </a:r>
          </a:p>
          <a:p>
            <a:pPr/>
            <a:r>
              <a:rPr sz="2000"/>
              <a:t>Cost: drafting is trivial; the approval UI, audit trail, and policy design are ordinary product engineering, measured in weeks. Often what makes the other nine shippable.</a:t>
            </a:r>
          </a:p>
          <a:p>
            <a:pPr/>
            <a:r>
              <a:rPr sz="2000"/>
              <a:t>"The AI does the typing, our people keep the judgment, and nothing goes out without a human OK until the data says it can."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12648" y="365760"/>
            <a:ext cx="10966399" cy="1097280"/>
          </a:xfrm>
        </p:spPr>
        <p:txBody>
          <a:bodyPr/>
          <a:lstStyle/>
          <a:p>
            <a:r>
              <a:t>Hands-On: 60 Minutes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1600200"/>
            <a:ext cx="10966399" cy="4800600"/>
          </a:xfrm>
        </p:spPr>
        <p:txBody>
          <a:bodyPr wrap="square"/>
          <a:lstStyle/>
          <a:p>
            <a:pPr/>
            <a:r>
              <a:rPr sz="2000"/>
              <a:t>Start with 07 Classification (Recommended): structured output with an enum plus an honest scoring pass. The number that matters is whether both emergencies were caught. Missing one fails the lab at 19/20.</a:t>
            </a:r>
          </a:p>
          <a:p>
            <a:pPr/>
            <a:r>
              <a:rPr sz="2000"/>
              <a:t>Then choose by energy as much as by interest:</a:t>
            </a:r>
          </a:p>
          <a:p>
            <a:pPr lvl="1"/>
            <a:r>
              <a:rPr sz="1800"/>
              <a:t>08 Anomaly Detection: the most code. Ships precomputed vectors so you can go straight to the math.</a:t>
            </a:r>
          </a:p>
          <a:p>
            <a:pPr lvl="1"/>
            <a:r>
              <a:rPr sz="1800"/>
              <a:t>09 Human-in-the-Loop: the least code; mostly a policy worksheet and a decision about what your software may do unsupervised. Running out of gas? Take this. It is also the one most likely to matter back at work.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12648" y="365760"/>
            <a:ext cx="10966399" cy="1097280"/>
          </a:xfrm>
        </p:spPr>
        <p:txBody>
          <a:bodyPr/>
          <a:lstStyle/>
          <a:p>
            <a:r>
              <a:t>Debrief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1600200"/>
            <a:ext cx="10966399" cy="4800600"/>
          </a:xfrm>
        </p:spPr>
        <p:txBody>
          <a:bodyPr wrap="square"/>
          <a:lstStyle/>
          <a:p>
            <a:pPr/>
            <a:r>
              <a:rPr sz="2000"/>
              <a:t>Whose classifier caught both emergencies? Whose model wrote the reassuring note?</a:t>
            </a:r>
          </a:p>
          <a:p>
            <a:pPr/>
            <a:r>
              <a:rPr sz="2000"/>
              <a:t>Rows 7 to 9 of the decision framework are done</a:t>
            </a:r>
          </a:p>
          <a:p>
            <a:pPr/>
            <a:r>
              <a:rPr sz="2000"/>
              <a:t>Break, then Module 4, and everyone does it.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