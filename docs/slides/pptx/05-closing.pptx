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read it. Let it sit on screen while you explain how to use it (next slide). It's dense on purpose; it's a reference, and they have it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credibility slide. "We ran it and here is what happened" is a stronger pitch than "the vendor says."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shape of the conversation the framework enables. A small, measurable, de-risked ask. Reference feature 03's recipe: labeled sample, run both, count disagreements, price the errors. It generalizes.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slide; cut if short on time. It heads off the "but shouldn't we be using X"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the framework slide up again during Q&amp;A if it's more useful than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648" y="2011680"/>
            <a:ext cx="10966399" cy="1371600"/>
          </a:xfrm>
        </p:spPr>
        <p:txBody>
          <a:bodyPr/>
          <a:lstStyle/>
          <a:p>
            <a:r>
              <a:t>Closing: The Thing You Take Back to 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2648" y="3566160"/>
            <a:ext cx="10966399" cy="1828800"/>
          </a:xfrm>
        </p:spPr>
        <p:txBody>
          <a:bodyPr/>
          <a:lstStyle/>
          <a:p>
            <a:r>
              <a:t>Ten features, ten cards, one table</a:t>
            </a:r>
          </a:p>
          <a:p>
            <a:r>
              <a:t>docs/decision-framework.md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Back to the First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The wrong question: "Where can we add AI?"</a:t>
            </a:r>
          </a:p>
          <a:p>
            <a:pPr/>
            <a:r>
              <a:rPr sz="2000"/>
              <a:t>The better one: "What problems can AI best solve for our users?"</a:t>
            </a:r>
          </a:p>
          <a:p>
            <a:pPr/>
            <a:r>
              <a:rPr sz="2000"/>
              <a:t>Every feature today started with a stuck user, and the AI showed up as the answer rather than the premise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The Framework, All Ten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(one slide, the table from decision-framework.md: # · Feature · When to reach for this · Cost &amp; effort · The one-liner)</a:t>
            </a:r>
          </a:p>
          <a:p>
            <a:pPr/>
            <a:r>
              <a:rPr sz="2000"/>
              <a:t>1 Summarization · 2 Extraction · 3 Sentiment</a:t>
            </a:r>
          </a:p>
          <a:p>
            <a:pPr/>
            <a:r>
              <a:rPr sz="2000"/>
              <a:t>4 Semantic search · 5 RAG · 6 Recommendations</a:t>
            </a:r>
          </a:p>
          <a:p>
            <a:pPr/>
            <a:r>
              <a:rPr sz="2000"/>
              <a:t>7 Classification &amp; routing · 8 Anomaly detection · 9 Human-in-the-loop</a:t>
            </a:r>
          </a:p>
          <a:p>
            <a:pPr/>
            <a:r>
              <a:rPr sz="2000"/>
              <a:t>10 Agentic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How to Use It Monday Morning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Go down the "when to reach for this" column. Mark every row that describes a problem your users actually have.</a:t>
            </a:r>
          </a:p>
          <a:p>
            <a:pPr/>
            <a:r>
              <a:rPr sz="2000"/>
              <a:t>Sort your marks by the cost column, cheapest first.</a:t>
            </a:r>
          </a:p>
          <a:p>
            <a:pPr/>
            <a:r>
              <a:rPr sz="2000"/>
              <a:t>The top of that list is your first AI feature.</a:t>
            </a:r>
          </a:p>
          <a:p>
            <a:pPr/>
            <a:r>
              <a:rPr sz="2000"/>
              <a:t>The one-liner column is how you pitch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Two Lessons That Belong in Every Pitch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Rows 1 through 8 mostly run on free local models. The cost conversation is smaller than leadership expects.</a:t>
            </a:r>
          </a:p>
          <a:p>
            <a:pPr/>
            <a:r>
              <a:rPr sz="2000"/>
              <a:t>Row 9 is the trust pattern that de-risks everything else. Leading with the human-in-the-loop design is usually what gets the other rows approved.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What the Day Measured, Not Assumed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On sentiment, a free local model matched the frontier model on ordinary reviews and lost to it 7/10 vs 10/10 on the sarcastic ones</a:t>
            </a:r>
          </a:p>
          <a:p>
            <a:pPr/>
            <a:r>
              <a:rPr sz="2000"/>
              <a:t>Chunking moved RAG's flagship question from 75% to 97% correct; a model ten times the size bought the last three points</a:t>
            </a:r>
          </a:p>
          <a:p>
            <a:pPr/>
            <a:r>
              <a:rPr sz="2000"/>
              <a:t>The classifier caught both emergencies every run; the drafting model failed the emergency every run</a:t>
            </a:r>
          </a:p>
          <a:p>
            <a:pPr/>
            <a:r>
              <a:rPr sz="2000"/>
              <a:t>The local agent reached all four planning tools in fewer than one run in five</a:t>
            </a:r>
          </a:p>
          <a:p>
            <a:pPr/>
            <a:r>
              <a:rPr sz="2000"/>
              <a:t>Every number is in a expected-output.md, with the runs behind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Pitching an AI Feature to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Lead with the user's problem, in their words, and how often it happens</a:t>
            </a:r>
          </a:p>
          <a:p>
            <a:pPr/>
            <a:r>
              <a:rPr sz="2000"/>
              <a:t>Name the row. Say what it costs in days or weeks, and what it costs to run.</a:t>
            </a:r>
          </a:p>
          <a:p>
            <a:pPr/>
            <a:r>
              <a:rPr sz="2000"/>
              <a:t>Say what runs local and what needs a paid model, and why</a:t>
            </a:r>
          </a:p>
          <a:p>
            <a:pPr/>
            <a:r>
              <a:rPr sz="2000"/>
              <a:t>Say where the human sits (row 9), and what gets logged</a:t>
            </a:r>
          </a:p>
          <a:p>
            <a:pPr/>
            <a:r>
              <a:rPr sz="2000"/>
              <a:t>Say how you'll measure it: the labeled sample, the error you're tuning never to make</a:t>
            </a:r>
          </a:p>
          <a:p>
            <a:pPr/>
            <a:r>
              <a:rPr sz="2000"/>
              <a:t>Ask for one feature rather than a strategy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What We Didn't Do Today, on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No fine-tuning. Nothing today needed it.</a:t>
            </a:r>
          </a:p>
          <a:p>
            <a:pPr/>
            <a:r>
              <a:rPr sz="2000"/>
              <a:t>No vector database product. Cosine similarity in a loop carried three features.</a:t>
            </a:r>
          </a:p>
          <a:p>
            <a:pPr/>
            <a:r>
              <a:rPr sz="2000"/>
              <a:t>No agent framework. The loop was on screen.</a:t>
            </a:r>
          </a:p>
          <a:p>
            <a:pPr/>
            <a:r>
              <a:rPr sz="2000"/>
              <a:t>Reach for those when a measured problem calls for them, not before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Everything Is in the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github.com/trailheadtechnology/10-ai-features-workshop</a:t>
            </a:r>
          </a:p>
          <a:p>
            <a:pPr/>
            <a:r>
              <a:rPr sz="2000"/>
              <a:t>Every lab, every .http file, every expected output, and every starter and complete project in .NET, Python, and TypeScript</a:t>
            </a:r>
          </a:p>
          <a:p>
            <a:pPr/>
            <a:r>
              <a:rPr sz="2000"/>
              <a:t>The corpus is yours to reuse</a:t>
            </a:r>
          </a:p>
          <a:p>
            <a:pPr/>
            <a:r>
              <a:rPr sz="2000"/>
              <a:t>SETUP.md still works after today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[contact details / how to reach J. Tower]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