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the repo URL on screen and leave it there while people settle. Ask who did the SETUP.md pre-work. Anyone who didn't should say so now, not in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SETUP.md on one slide. Most people did it; this is for the ones who didn't and for confirming what "done" means. JetBrains users can skip REST Client, since the built-in HTTP client opens the same .http files. Ask for hands: who has all three models pulled? Anyone without them starts copying from the USB drives now, during the framing, rather than in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before the framing, about ten minutes in, because the most expensive twenty minutes of a hands-on workshop is the twenty minutes in the first lab when a third of the room finds out their setup doesn't work. Walk the room while people run it. Curl versions are in the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thesis. Say it plainly and come back to it in every module. The technology is the last thing we talk about in each feature, not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Stakeholders are users too. "Nobody has time to read all of this" is a real user problem; it just belongs to a user on your payroll.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four out loud; these are the promises the day is measured against, and they come back one at a time in each module's debrief. If someone in the room has shipped all of this already, they are a helper for the day; say so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Breaks between modules and an hour for lunch after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hard here. Finishing one lab properly is the intended outcome for most people. Ten labs in a day is not the goal, and nobody is behind. Helping the person next to you is a good use of leftover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Java, Go, Rust, anything with an HTTP client is welcome. The .NET projects are the demo; the Python and TypeScript ports produce the same output, so pick whichever you read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artifact you take back to work. Point at docs/decision-framework.md in the repo now so people know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1 through 8 of the framework mostly run on free local models. That is a finding your leadership will care about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this up before the HTTP slide and leave the picture in people's heads for the day. Every module opens with a version of this diagram with more boxes; point back to this one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 request to each on screen: the smoke test's local chat and its cloud chat, side by side. Point at the URL and the header. This is why "any language" is true and why local-to-cloud is a config change, which the next slide makes concrete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"framework" slide of the day. Show the two registration lines side by side, and then move on; that is all the framework talk the day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minutes, not a tour; each lab doc describes its own data when people get there. Open one trip report on screen and scroll it slowly; that is the problem feature 01 is about to solve. Mention two planted facts people will meet repeatedly: the washed-out footbridge on Avalanche Lake Trail (trail-0117), and a bear-activity spike two trails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question is the cheapest AI work your team will ever do, and it happens in a meeting room, not a codebase. Then break straight into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8" y="2011680"/>
            <a:ext cx="10966399" cy="1371600"/>
          </a:xfrm>
        </p:spPr>
        <p:txBody>
          <a:bodyPr/>
          <a:lstStyle/>
          <a:p>
            <a:r>
              <a:t>Building Pragmatic AI: 10 AI Features Your Users Actually Want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648" y="3566160"/>
            <a:ext cx="10966399" cy="1828800"/>
          </a:xfrm>
        </p:spPr>
        <p:txBody>
          <a:bodyPr/>
          <a:lstStyle/>
          <a:p>
            <a:r>
              <a:t>WeAreDevelopers World Congress North America · September 23, 2026</a:t>
            </a:r>
          </a:p>
          <a:p>
            <a:r>
              <a:t>J. Tower · Trailhead Technology Partners</a:t>
            </a:r>
          </a:p>
          <a:p>
            <a:r>
              <a:t>github.com/trailheadtechnology/10-ai-features-workshop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Install and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Ollama, from ollama.com/download, with three models pulled: llama3.2, phi3, nomic-embed-text (about 5 GB, no GPU)</a:t>
            </a:r>
          </a:p>
          <a:p>
            <a:pPr/>
            <a:r>
              <a:rPr sz="2000"/>
              <a:t>VS Code with the REST Client extension (humao.rest-client): every lab's .http file runs from it with one click</a:t>
            </a:r>
          </a:p>
          <a:p>
            <a:pPr/>
            <a:r>
              <a:rPr sz="2000"/>
              <a:t>A language extension for whatever you'll code in: C# Dev Kit, Python, or the built-in TypeScript support</a:t>
            </a:r>
          </a:p>
          <a:p>
            <a:pPr/>
            <a:r>
              <a:rPr sz="2000"/>
              <a:t>The runtime to match: .NET 10 SDK, Python 3, or Node</a:t>
            </a:r>
          </a:p>
          <a:p>
            <a:pPr/>
            <a:r>
              <a:rPr sz="2000"/>
              <a:t>A clone of the repo: github.com/trailheadtechnology/10-ai-features-workshop</a:t>
            </a:r>
          </a:p>
          <a:p>
            <a:pPr/>
            <a:r>
              <a:rPr sz="2000"/>
              <a:t>Azure OpenAI: nothing to install; the endpoint and deployment names are already in the lab files, and the key is handed out in the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First, Prove Your Machine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Open modules/M0-opening/F00-setup-and-framing/http/smoke-test.http</a:t>
            </a:r>
          </a:p>
          <a:p>
            <a:pPr/>
            <a:r>
              <a:rPr sz="2000"/>
              <a:t>Three requests: local chat (llama3.2), local embeddings (nomic-embed-text), Azure chat (paste the room key over &lt;KEY FROM INSTRUCTOR&gt;)</a:t>
            </a:r>
          </a:p>
          <a:p>
            <a:pPr/>
            <a:r>
              <a:rPr sz="2000"/>
              <a:t>Three JSON responses, no red text = cleared for the day</a:t>
            </a:r>
          </a:p>
          <a:p>
            <a:pPr/>
            <a:r>
              <a:rPr sz="2000"/>
              <a:t>Broken? Raise a hand now. Fallbacks exist for exactly this moment.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Every company right now: "Where can we add AI?"</a:t>
            </a:r>
          </a:p>
          <a:p>
            <a:pPr/>
            <a:r>
              <a:rPr sz="2000"/>
              <a:t>Today: "What problems can AI best solve for our users?"</a:t>
            </a:r>
          </a:p>
          <a:p>
            <a:pPr/>
            <a:r>
              <a:rPr sz="2000"/>
              <a:t>Every feature today opens with a user who is stuck, and the AI only shows up as the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The hiker planning Saturday</a:t>
            </a:r>
          </a:p>
          <a:p>
            <a:pPr/>
            <a:r>
              <a:rPr sz="2000"/>
              <a:t>The product manager who can't read 300 reviews</a:t>
            </a:r>
          </a:p>
          <a:p>
            <a:pPr/>
            <a:r>
              <a:rPr sz="2000"/>
              <a:t>The ranger staring at a full inbox</a:t>
            </a:r>
          </a:p>
          <a:p>
            <a:pPr/>
            <a:r>
              <a:rPr sz="2000"/>
              <a:t>Three of today's ten features (03, 07, 08) serve the people running the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Who This Is For, and What You Leave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You write software for a living, you can make an HTTP request, and you haven't shipped an LLM feature yet (or you've shipped one and want the other nine)</a:t>
            </a:r>
          </a:p>
          <a:p>
            <a:pPr/>
            <a:r>
              <a:rPr sz="2000"/>
              <a:t>By the end of the day you will be able to:</a:t>
            </a:r>
          </a:p>
          <a:p>
            <a:pPr lvl="1"/>
            <a:r>
              <a:rPr sz="1800"/>
              <a:t>Turn a document into a purpose-shaped summary and a validated record with a local model</a:t>
            </a:r>
          </a:p>
          <a:p>
            <a:pPr lvl="1"/>
            <a:r>
              <a:rPr sz="1800"/>
              <a:t>Build embedding search over your own catalog and ground answers in your own documents, with verified citations</a:t>
            </a:r>
          </a:p>
          <a:p>
            <a:pPr lvl="1"/>
            <a:r>
              <a:rPr sz="1800"/>
              <a:t>Route an inbox so the expensive class is never missed, and gate anything irreversible behind a human with an audit trail</a:t>
            </a:r>
          </a:p>
          <a:p>
            <a:pPr lvl="1"/>
            <a:r>
              <a:rPr sz="1800"/>
              <a:t>Wire tools into a bounded agent loop and read its trace</a:t>
            </a:r>
          </a:p>
          <a:p>
            <a:pPr/>
            <a:r>
              <a:rPr sz="2000"/>
              <a:t>One outcome per module. You see all ten features; you build four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Module 1: Understanding (90 min): summarization, extraction, sentiment</a:t>
            </a:r>
          </a:p>
          <a:p>
            <a:pPr/>
            <a:r>
              <a:rPr sz="2000"/>
              <a:t>Module 2: Finding (90 min): semantic search, RAG, recommendations</a:t>
            </a:r>
          </a:p>
          <a:p>
            <a:pPr/>
            <a:r>
              <a:rPr sz="2000"/>
              <a:t>Module 3: Deciding (90 min): classification &amp; routing, anomaly detection, human-in-the-loop</a:t>
            </a:r>
          </a:p>
          <a:p>
            <a:pPr/>
            <a:r>
              <a:rPr sz="2000"/>
              <a:t>Module 4: Doing (60 min): agentic workflows (the capstone)</a:t>
            </a:r>
          </a:p>
          <a:p>
            <a:pPr/>
            <a:r>
              <a:rPr sz="2000"/>
              <a:t>Closing (30 min): the decision framework and pitching this to leadership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How Each Module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The first 30 minutes are mine: the module's theme, then all three features demoed live in .NET</a:t>
            </a:r>
          </a:p>
          <a:p>
            <a:pPr/>
            <a:r>
              <a:rPr sz="2000"/>
              <a:t>The next 60 minutes are yours to build (the capstone is 10 and 50)</a:t>
            </a:r>
          </a:p>
          <a:p>
            <a:pPr/>
            <a:r>
              <a:rPr sz="2000"/>
              <a:t>One feature per module is Recommended: start there unless you have a reason not to</a:t>
            </a:r>
          </a:p>
          <a:p>
            <a:pPr/>
            <a:r>
              <a:rPr sz="2000"/>
              <a:t>The other two are Challenge: for anyone with time left</a:t>
            </a:r>
          </a:p>
          <a:p>
            <a:pPr/>
            <a:r>
              <a:rPr sz="2000"/>
              <a:t>The capstone is the one lab everyone does</a:t>
            </a:r>
          </a:p>
          <a:p>
            <a:pPr/>
            <a:r>
              <a:rPr sz="2000"/>
              <a:t>Every lab has a stretch goal beyond that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Any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Every lab ships as raw .http files (VS Code REST Client, JetBrains) against Ollama and Azure OpenAI</a:t>
            </a:r>
          </a:p>
          <a:p>
            <a:pPr/>
            <a:r>
              <a:rPr sz="2000"/>
              <a:t>If your language can make an HTTP request, you're equipped</a:t>
            </a:r>
          </a:p>
          <a:p>
            <a:pPr/>
            <a:r>
              <a:rPr sz="2000"/>
              <a:t>Following along in code? Each feature has dotnet/, python/, and typescript/, each with a starter/ and a complete/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Every Feature Ends with the Same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When to reach for this</a:t>
            </a:r>
          </a:p>
          <a:p>
            <a:pPr/>
            <a:r>
              <a:rPr sz="2000"/>
              <a:t>Rough cost &amp; effort</a:t>
            </a:r>
          </a:p>
          <a:p>
            <a:pPr/>
            <a:r>
              <a:rPr sz="2000"/>
              <a:t>The one-liner for your CTO</a:t>
            </a:r>
          </a:p>
          <a:p>
            <a:pPr/>
            <a:r>
              <a:rPr sz="2000"/>
              <a:t>Those ten cards become the decision framework we assemble in the closing 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Local First, Cloud Where It Earns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Ollama on your laptop: llama3.2, phi3, nomic-embed-text (~5 GB total, no GPU)</a:t>
            </a:r>
          </a:p>
          <a:p>
            <a:pPr/>
            <a:r>
              <a:rPr sz="2000"/>
              <a:t>Frontier models on Microsoft Foundry only where quality genuinely matters: the sentiment comparison, RAG generation, the capstone</a:t>
            </a:r>
          </a:p>
          <a:p>
            <a:pPr/>
            <a:r>
              <a:rPr sz="2000"/>
              <a:t>Two payoffs: you learn where free/private/small is enough, and most of the day survives conference wifi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099816"/>
            <a:ext cx="10966399" cy="3392424"/>
          </a:xfrm>
        </p:spPr>
        <p:txBody>
          <a:bodyPr wrap="square"/>
          <a:lstStyle/>
          <a:p>
            <a:pPr/>
            <a:r>
              <a:rPr sz="1600"/>
              <a:t>Ten features, one shape. What changes is the data going in, the instruction, and what your code does with what comes back</a:t>
            </a:r>
          </a:p>
          <a:p>
            <a:pPr/>
            <a:r>
              <a:rPr sz="1600"/>
              <a:t>The model is one box in the middle. Everything around it is ordinary software you already know how to write</a:t>
            </a:r>
          </a:p>
          <a:p>
            <a:pPr/>
            <a:r>
              <a:rPr sz="1600"/>
              <a:t>Modules 2 to 4 add boxes to this line (a vector store, a retrieval step, a tool loop) and never replace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554480"/>
            <a:ext cx="1864095" cy="1271016"/>
          </a:xfrm>
          <a:prstGeom prst="round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07" y="2043684"/>
            <a:ext cx="301752" cy="29260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8223" y="1554480"/>
            <a:ext cx="1864095" cy="1271016"/>
          </a:xfrm>
          <a:prstGeom prst="round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183" y="2043684"/>
            <a:ext cx="301752" cy="29260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3799" y="1554480"/>
            <a:ext cx="1864095" cy="1271016"/>
          </a:xfrm>
          <a:prstGeom prst="round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759" y="2043684"/>
            <a:ext cx="301752" cy="29260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39375" y="1554480"/>
            <a:ext cx="1864095" cy="1271016"/>
          </a:xfrm>
          <a:prstGeom prst="round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Output your code checks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335" y="2043684"/>
            <a:ext cx="301752" cy="29260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14951" y="1554480"/>
            <a:ext cx="1864095" cy="1271016"/>
          </a:xfrm>
          <a:prstGeom prst="round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Ollama is a local server on localhost:11434: native /api/chat and /api/embed, plus an OpenAI-compatible /v1</a:t>
            </a:r>
          </a:p>
          <a:p>
            <a:pPr/>
            <a:r>
              <a:rPr sz="2000"/>
              <a:t>Foundry serves gpt-4.1 and gpt-5.5 at …openai.azure.com/openai/deployments/&lt;name&gt;/chat/completions with an api-key header</a:t>
            </a:r>
          </a:p>
          <a:p>
            <a:pPr/>
            <a:r>
              <a:rPr sz="2000"/>
              <a:t>Same request shape both places, so the SDKs differ by a constructor and the .http files differ by a URL and a key</a:t>
            </a:r>
          </a:p>
          <a:p>
            <a:pPr/>
            <a:r>
              <a:rPr sz="2000"/>
              <a:t>The http/ track is the real thing with the SDK removed; Microsoft.Extensions.AI and the openai package are wrappers over these POSTs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One Line of Code, Any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Every .NET demo uses Microsoft.Extensions.AI: IChatClient, IEmbeddingGenerator</a:t>
            </a:r>
          </a:p>
          <a:p>
            <a:pPr/>
            <a:r>
              <a:rPr sz="2000"/>
              <a:t>Ollama today, Azure OpenAI tomorrow, is a change in DI registration, not in the feature</a:t>
            </a:r>
          </a:p>
          <a:p>
            <a:pPr/>
            <a:r>
              <a:rPr sz="2000"/>
              <a:t>Feature 03 does the swap live; feature 05 does it again for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A fictional national-park trip-planning app, one deliberately messy corpus, reused all day; each feature's data/ holds what its lab reads</a:t>
            </a:r>
          </a:p>
          <a:p>
            <a:pPr/>
            <a:r>
              <a:rPr sz="2000"/>
              <a:t>40 rambling trip reports · ~300 gear reviews · 200 trails · 25 park regulation docs · a visitor-inquiry inbox · ~500 trail-condition reports · mock weather/campsite/permit APIs</a:t>
            </a:r>
          </a:p>
          <a:p>
            <a:pPr/>
            <a:r>
              <a:rPr sz="2000"/>
              <a:t>Everything is synthetic. Do not plan a real trip from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65760"/>
            <a:ext cx="10966399" cy="1097280"/>
          </a:xfrm>
        </p:spPr>
        <p:txBody>
          <a:bodyPr/>
          <a:lstStyle/>
          <a:p>
            <a:r>
              <a:t>Row 0 of the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600200"/>
            <a:ext cx="10966399" cy="4892040"/>
          </a:xfrm>
        </p:spPr>
        <p:txBody>
          <a:bodyPr wrap="square"/>
          <a:lstStyle/>
          <a:p>
            <a:pPr/>
            <a:r>
              <a:rPr sz="2000"/>
              <a:t>When: before any AI feature at all</a:t>
            </a:r>
          </a:p>
          <a:p>
            <a:pPr/>
            <a:r>
              <a:rPr sz="2000"/>
              <a:t>Cost: one workshop's worth of attention</a:t>
            </a:r>
          </a:p>
          <a:p>
            <a:pPr/>
            <a:r>
              <a:rPr sz="2000"/>
              <a:t>The one-liner: "Before we pick an AI feature, let's list the ten things our users hate doing. The features will pick themselves."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