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5"/>
  </p:notesMasterIdLst>
  <p:sldIdLst>
    <p:sldId id="576" r:id="rId2"/>
    <p:sldId id="577" r:id="rId3"/>
    <p:sldId id="578" r:id="rId4"/>
    <p:sldId id="579" r:id="rId5"/>
    <p:sldId id="580" r:id="rId6"/>
    <p:sldId id="581" r:id="rId7"/>
    <p:sldId id="582" r:id="rId8"/>
    <p:sldId id="583" r:id="rId9"/>
    <p:sldId id="584" r:id="rId10"/>
    <p:sldId id="585" r:id="rId11"/>
    <p:sldId id="586" r:id="rId12"/>
    <p:sldId id="587" r:id="rId13"/>
    <p:sldId id="588" r:id="rId14"/>
    <p:sldId id="589" r:id="rId15"/>
    <p:sldId id="590" r:id="rId16"/>
    <p:sldId id="591" r:id="rId17"/>
    <p:sldId id="592" r:id="rId18"/>
    <p:sldId id="593" r:id="rId19"/>
    <p:sldId id="594" r:id="rId20"/>
    <p:sldId id="595" r:id="rId21"/>
    <p:sldId id="596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07" r:id="rId33"/>
    <p:sldId id="540" r:id="rId34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Segoe UI" panose="020B0502040204020203" pitchFamily="34" charset="0"/>
      <p:regular r:id="rId40"/>
      <p:bold r:id="rId41"/>
      <p:italic r:id="rId42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04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font" Target="fonts/font5.fntdata"/><Relationship Id="rId41" Type="http://schemas.openxmlformats.org/officeDocument/2006/relationships/font" Target="fonts/font6.fntdata"/><Relationship Id="rId42" Type="http://schemas.openxmlformats.org/officeDocument/2006/relationships/font" Target="fonts/font7.fntdata"/><Relationship Id="rId43" Type="http://schemas.openxmlformats.org/officeDocument/2006/relationships/font" Target="fonts/font8.fntdata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01T20:39:03.942" v="990" actId="20577"/>
      <pc:docMkLst>
        <pc:docMk/>
      </pc:docMkLst>
      <pc:sldChg chg="modSp mod">
        <pc:chgData name="J. Tower" userId="9d06de10716639e5" providerId="LiveId" clId="{F8931099-75CA-5660-A155-55881DF68D84}" dt="2026-09-01T20:37:28.584" v="981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1T20:37:28.584" v="981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28.511" v="97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1T20:37:28.511" v="979"/>
          <ac:spMkLst>
            <pc:docMk/>
            <pc:sldMk cId="0" sldId="586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0.362" v="982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9-01T20:37:30.362" v="982"/>
          <ac:spMkLst>
            <pc:docMk/>
            <pc:sldMk cId="0" sldId="587"/>
            <ac:spMk id="2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01T20:37:32.717" v="983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9-01T20:37:32.717" v="983"/>
          <ac:spMkLst>
            <pc:docMk/>
            <pc:sldMk cId="0" sldId="588"/>
            <ac:spMk id="2" creationId="{00000000-0000-0000-0000-000000000000}"/>
          </ac:spMkLst>
        </pc:spChg>
      </pc:sldChg>
      <pc:sldChg chg="modNotesTx">
        <pc:chgData name="J. Tower" userId="9d06de10716639e5" providerId="LiveId" clId="{F8931099-75CA-5660-A155-55881DF68D84}" dt="2026-09-01T20:38:24.992" v="986" actId="20577"/>
        <pc:sldMkLst>
          <pc:docMk/>
          <pc:sldMk cId="0" sldId="590"/>
        </pc:sldMkLst>
      </pc:sldChg>
      <pc:sldChg chg="modNotesTx">
        <pc:chgData name="J. Tower" userId="9d06de10716639e5" providerId="LiveId" clId="{F8931099-75CA-5660-A155-55881DF68D84}" dt="2026-09-01T20:38:46.932" v="988" actId="20577"/>
        <pc:sldMkLst>
          <pc:docMk/>
          <pc:sldMk cId="0" sldId="591"/>
        </pc:sldMkLst>
      </pc:sldChg>
      <pc:sldChg chg="modNotesTx">
        <pc:chgData name="J. Tower" userId="9d06de10716639e5" providerId="LiveId" clId="{F8931099-75CA-5660-A155-55881DF68D84}" dt="2026-09-01T20:39:03.942" v="990" actId="20577"/>
        <pc:sldMkLst>
          <pc:docMk/>
          <pc:sldMk cId="0" sldId="592"/>
        </pc:sldMkLst>
      </pc:sldChg>
      <pc:sldChg chg="modSp mod">
        <pc:chgData name="J. Tower" userId="9d06de10716639e5" providerId="LiveId" clId="{F8931099-75CA-5660-A155-55881DF68D84}" dt="2026-09-01T20:37:28.571" v="980" actId="27636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01T20:37:28.571" v="980" actId="27636"/>
          <ac:spMkLst>
            <pc:docMk/>
            <pc:sldMk cId="0" sldId="595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features, ten cards, one table: docs/decision-framework.md.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feature today started with a stuck user, and the AI showed up as the answer rather than the premise.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cell per advance: name each feature as it lands, a few seconds apiece — the day, replayed in ten beats.</a:t>
            </a:r>
          </a:p>
          <a:p>
            <a:r>
              <a:t>The full table lives in decision-framework.md: # · Feature · When · Think · Difficulty, the same three fields as every card today. (Paste the real table over this slide, or demo it from the repo.)</a:t>
            </a:r>
          </a:p>
          <a:p>
            <a:r>
              <a:t>Don't read it. Let it sit on screen while you explain how to use it, which is the next section. It's dense on purpose; it's a reference, and they have it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free local model matched the frontier model on ordinary reviews and lost only on the sarcastic ones.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Better chunking, not a bigger model, moved RAG's flagship question.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classifier caught both emergencies every run; the drafting model failed the emergency every run.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runs are checked in behind every </a:t>
            </a:r>
            <a:r>
              <a:t>number.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free local model matched the frontier model on ordinary reviews and lost only on the sarcastic ones. Better chunking, not a bigger model, moved RAG's flagship question. The classifier caught both emergencies every run; the drafting model failed the emergency every run. The runs are checked in behind every number.</a:t>
            </a:r>
          </a:p>
          <a:p>
            <a:r>
              <a:t>This is the credibility slide. "We ran it and here is what happened" is a stronger pitch than "the vendor says."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Nothing today needed fine-tuning. Cosine similarity in a loop carried three features. The agent loop fit on screen.</a:t>
            </a:r>
          </a:p>
          <a:p>
            <a:r>
              <a:t>Optional slide; cut if short on time. It heads off the "but shouldn't we be using X"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recap is actions, not topics. Four moves, each one slide, each something they can do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 down the column and mark every row that describes a problem your users actually have. The Row 0 exercise makes the features pick themselves.</a:t>
            </a:r>
          </a:p>
          <a:p>
            <a:r>
              <a:t>This is the workshop's framing question turned into a Monday-morning exercise. It happens in a meeting room, not a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 your marked rows by the cost column; the top of that list is the first feature, and the one-liner column is how you pitch it.</a:t>
            </a:r>
          </a:p>
          <a:p>
            <a:r>
              <a:t>The local-model finding is worth repeating here; it changes the budget conversation before it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 your marked rows by the cost column; the top of that list is the first feature, and the one-liner column is how you pitch it.</a:t>
            </a:r>
          </a:p>
          <a:p>
            <a:r>
              <a:t>The local-model finding is worth repeating here; it changes the budget conversation before it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Leading with the human-in-the-loop design is usually what gets the other rows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how often the problem happens. Say what it costs in days or weeks and what it costs to run; say what runs local and what needs a paid model, and why; say the labeled sample and the error you're tuning never to make.</a:t>
            </a:r>
          </a:p>
          <a:p>
            <a:r>
              <a:t>This is the shape of the conversation the framework enables: a small, measurable, de-risked ask. Reference feature 03's recipe: labeled sample, run both, count disagreements, price the errors.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the framework slide up again during Q&amp;A if it's more useful than this one. The free offer (tinyurl.com/th-offer) is on this slide; point at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343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.svg"/><Relationship Id="rId4" Type="http://schemas.openxmlformats.org/officeDocument/2006/relationships/image" Target="../media/image15.svg"/><Relationship Id="rId5" Type="http://schemas.openxmlformats.org/officeDocument/2006/relationships/image" Target="../media/image16.svg"/><Relationship Id="rId6" Type="http://schemas.openxmlformats.org/officeDocument/2006/relationships/image" Target="../media/image17.svg"/><Relationship Id="rId7" Type="http://schemas.openxmlformats.org/officeDocument/2006/relationships/image" Target="../media/image18.svg"/><Relationship Id="rId8" Type="http://schemas.openxmlformats.org/officeDocument/2006/relationships/image" Target="../media/image19.svg"/><Relationship Id="rId9" Type="http://schemas.openxmlformats.org/officeDocument/2006/relationships/image" Target="../media/image20.svg"/><Relationship Id="rId10" Type="http://schemas.openxmlformats.org/officeDocument/2006/relationships/image" Target="../media/image21.png"/><Relationship Id="rId11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Closing: The Thing You Take Back to Work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Back to the First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"Where can we add AI?"</a:t>
            </a:r>
          </a:p>
          <a:p>
            <a:r>
              <a:rPr sz="2800"/>
              <a:t>✅ "What problems can AI best solve for our users?"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Framework, All Ten Rows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Framework, All Ten Rows</a:t>
            </a:r>
            <a:endParaRPr dirty="0"/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2880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F01 Summarize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4038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18288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980" y="18288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0090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11" name="Picture 10" descr="ques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40" y="18288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60" y="284378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13" name="Picture 12" descr="rou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0200" y="393192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15" name="Picture 14" descr="bran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0460" y="393192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04038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F07 Route</a:t>
            </a:r>
          </a:p>
        </p:txBody>
      </p:sp>
      <p:pic>
        <p:nvPicPr>
          <p:cNvPr id="17" name="Picture 16" descr="scatt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3931920"/>
            <a:ext cx="868680" cy="8686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12064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F08 Detect</a:t>
            </a:r>
          </a:p>
        </p:txBody>
      </p:sp>
      <p:pic>
        <p:nvPicPr>
          <p:cNvPr id="19" name="Picture 18" descr="shield-chec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0980" y="393192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090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F09 Approve</a:t>
            </a:r>
          </a:p>
        </p:txBody>
      </p:sp>
      <p:pic>
        <p:nvPicPr>
          <p:cNvPr id="21" name="Picture 20" descr="robo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21240" y="3931920"/>
            <a:ext cx="868680" cy="8686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81160" y="4946904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F10 Agent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the Day Measured, Not Assumed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Sentiment: 7/10 vs 10/10 — only on the hard slice</a:t>
            </a:r>
          </a:p>
          <a:p>
            <a:r>
              <a:rPr sz="2800"/>
              <a:t>Chunking: 75% → 97% · a 10× model bought 3 points</a:t>
            </a:r>
          </a:p>
          <a:p>
            <a:r>
              <a:rPr sz="2800"/>
              <a:t>Classifier: 2/2 emergencies · drafter: 0/3</a:t>
            </a:r>
          </a:p>
          <a:p>
            <a:r>
              <a:rPr sz="2800"/>
              <a:t>Local agent: all four tools &lt; 1 run in 5</a:t>
            </a:r>
          </a:p>
          <a:p>
            <a:r>
              <a:rPr sz="2800"/>
              <a:t>Every number: an </a:t>
            </a:r>
            <a:r>
              <a:rPr sz="28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What We Didn't Do Today,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No fine-tuning</a:t>
            </a:r>
          </a:p>
          <a:p>
            <a:r>
              <a:rPr sz="2800"/>
              <a:t>No vector database product</a:t>
            </a:r>
          </a:p>
          <a:p>
            <a:r>
              <a:rPr sz="2800"/>
              <a:t>No agent framework</a:t>
            </a:r>
          </a:p>
          <a:p>
            <a:r>
              <a:rPr sz="2800"/>
              <a:t>Reach for them when a measured problem asks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Your Move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Mark What Your Users Hate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"when to reach for this" column</a:t>
            </a:r>
          </a:p>
          <a:p>
            <a:r>
              <a:rPr sz="2800"/>
              <a:t>Mark the rows your users would recognize</a:t>
            </a:r>
          </a:p>
          <a:p>
            <a:r>
              <a:rPr sz="2800"/>
              <a:t>Row 0: list the ten things they hate doing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Sort by Cost, Cheapest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cheapest marked row = your first AI feature</a:t>
            </a:r>
          </a:p>
          <a:p>
            <a:r>
              <a:rPr sz="2800"/>
              <a:t>Rows 1–8: mostly free local models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Lead with the Human in 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Row 9 de-risks the rest</a:t>
            </a:r>
          </a:p>
          <a:p>
            <a:r>
              <a:rPr sz="2800"/>
              <a:t>Say where the human sits · what gets logged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Pitch One Feature, Not a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The user's problem, in their words</a:t>
            </a:r>
          </a:p>
          <a:p>
            <a:r>
              <a:rPr sz="2800"/>
              <a:t>The row · the cost · local vs paid</a:t>
            </a:r>
          </a:p>
          <a:p>
            <a:r>
              <a:rPr sz="2800"/>
              <a:t>How you'll measure it</a:t>
            </a:r>
          </a:p>
          <a:p>
            <a:r>
              <a:rPr sz="2800"/>
              <a:t>Ask for one feature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Everything Is in the Repo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github.com/trailheadtechnology/10-ai-features-workshop</a:t>
            </a:r>
          </a:p>
          <a:p>
            <a:r>
              <a:rPr sz="2800"/>
              <a:t>Every lab · every </a:t>
            </a:r>
            <a:r>
              <a:rPr sz="2800">
                <a:latin typeface="Consolas"/>
              </a:rPr>
              <a:t>.http</a:t>
            </a:r>
            <a:r>
              <a:rPr sz="2800"/>
              <a:t> · every expected output</a:t>
            </a:r>
          </a:p>
          <a:p>
            <a:r>
              <a:rPr sz="2800">
                <a:latin typeface="Consolas"/>
              </a:rPr>
              <a:t>starter/</a:t>
            </a:r>
            <a:r>
              <a:rPr sz="2800"/>
              <a:t> and </a:t>
            </a:r>
            <a:r>
              <a:rPr sz="2800">
                <a:latin typeface="Consolas"/>
              </a:rPr>
              <a:t>complete/</a:t>
            </a:r>
            <a:r>
              <a:rPr sz="2800"/>
              <a:t> in .NET, Python, TypeScript</a:t>
            </a:r>
          </a:p>
          <a:p>
            <a:r>
              <a:rPr sz="2800"/>
              <a:t>The corpus is yours</a:t>
            </a:r>
          </a:p>
          <a:p>
            <a:r>
              <a:rPr sz="2800">
                <a:latin typeface="Consolas"/>
              </a:rPr>
              <a:t>SETUP.md</a:t>
            </a:r>
            <a:r>
              <a:rPr sz="2800"/>
              <a:t> still works tomorrow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>
                <a:solidFill>
                  <a:srgbClr val="0072C6"/>
                </a:solidFill>
              </a:rPr>
              <a:t>github.com</a:t>
            </a:r>
            <a:r>
              <a:rPr lang="en-US" sz="2400" b="1" u="sng" dirty="0">
                <a:solidFill>
                  <a:srgbClr val="0072C6"/>
                </a:solidFill>
              </a:rPr>
              <a:t>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Thanks! Questions?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C33A5900-4776-DDFB-7F43-C80F8B731FF9}"/>
              </a:ext>
            </a:extLst>
          </p:cNvPr>
          <p:cNvSpPr txBox="1">
            <a:spLocks/>
          </p:cNvSpPr>
          <p:nvPr/>
        </p:nvSpPr>
        <p:spPr>
          <a:xfrm>
            <a:off x="1160202" y="2412944"/>
            <a:ext cx="5145436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CFC013-6D9F-96DA-4013-3CA85BB1D35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74691E19-F180-067C-E9F8-FBA12759E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D03AF1-75DF-5384-C3B1-090D6BC36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D36DF01-2F6B-C32E-C484-34A5F70AA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F68C507-38C2-3C3C-703A-2943D69B85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FAA7FFB1-1225-EE62-541D-9F7F9F6C12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88CE88E4-67C7-9C99-335A-D7809B39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21" name="Graphic 20" descr="Board Of Directors with solid fill">
            <a:extLst>
              <a:ext uri="{FF2B5EF4-FFF2-40B4-BE49-F238E27FC236}">
                <a16:creationId xmlns:a16="http://schemas.microsoft.com/office/drawing/2014/main" id="{52EAAC3E-0AFC-1BA5-0CF0-27F7AEFD1A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2F59F01-13CA-A538-EB00-C420909FADC1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869C9-146B-DC31-A97B-A2F632A01FAF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72D920-5FAD-6C7C-92E5-D7A6CD7728CE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87C4335-ECF3-9DD0-6A79-CCBE00793F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756400-64DF-EB40-AC83-0458252B366C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811BA38-866A-6911-EB15-652F44639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349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98557</TotalTime>
  <Words>2788</Words>
  <Application>Microsoft Macintosh PowerPoint</Application>
  <PresentationFormat>Widescreen</PresentationFormat>
  <Paragraphs>213</Paragraphs>
  <Slides>33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Calibri Light</vt:lpstr>
      <vt:lpstr>Arial</vt:lpstr>
      <vt:lpstr>Consolas</vt:lpstr>
      <vt:lpstr>Calibri</vt:lpstr>
      <vt:lpstr>Segoe UI</vt:lpstr>
      <vt:lpstr>Metropolitan</vt:lpstr>
      <vt:lpstr>Building Pragmatic AI</vt:lpstr>
      <vt:lpstr>Back to the First Slide</vt:lpstr>
      <vt:lpstr>Back to the First Slide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The Framework, All Ten Rows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the Day Measured, Not Assumed</vt:lpstr>
      <vt:lpstr>What We Didn't Do Today, on Purpose</vt:lpstr>
      <vt:lpstr>Your Move</vt:lpstr>
      <vt:lpstr>Mark What Your Users Hate</vt:lpstr>
      <vt:lpstr>Mark What Your Users Hate</vt:lpstr>
      <vt:lpstr>Mark What Your Users Hate</vt:lpstr>
      <vt:lpstr>Sort by Cost, Cheapest First</vt:lpstr>
      <vt:lpstr>Sort by Cost, Cheapest First</vt:lpstr>
      <vt:lpstr>Lead with the Human in the Loop</vt:lpstr>
      <vt:lpstr>Lead with the Human in the Loop</vt:lpstr>
      <vt:lpstr>Pitch One Feature, Not a Strategy</vt:lpstr>
      <vt:lpstr>Pitch One Feature, Not a Strategy</vt:lpstr>
      <vt:lpstr>Pitch One Feature, Not a Strategy</vt:lpstr>
      <vt:lpstr>Pitch One Feature, Not a Strategy</vt:lpstr>
      <vt:lpstr>Everything Is in the Repo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2026-09-01T20:39:05Z</dcterms:modified>
  <cp:category/>
</cp:coreProperties>
</file>