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5"/>
  </p:notesMasterIdLst>
  <p:sldIdLst>
    <p:sldId id="576" r:id="rId2"/>
    <p:sldId id="577" r:id="rId3"/>
    <p:sldId id="578" r:id="rId4"/>
    <p:sldId id="579" r:id="rId5"/>
    <p:sldId id="580" r:id="rId6"/>
    <p:sldId id="581" r:id="rId7"/>
    <p:sldId id="582" r:id="rId8"/>
    <p:sldId id="583" r:id="rId9"/>
    <p:sldId id="584" r:id="rId10"/>
    <p:sldId id="585" r:id="rId11"/>
    <p:sldId id="586" r:id="rId12"/>
    <p:sldId id="587" r:id="rId13"/>
    <p:sldId id="588" r:id="rId14"/>
    <p:sldId id="589" r:id="rId15"/>
    <p:sldId id="590" r:id="rId16"/>
    <p:sldId id="591" r:id="rId17"/>
    <p:sldId id="592" r:id="rId18"/>
    <p:sldId id="593" r:id="rId19"/>
    <p:sldId id="594" r:id="rId20"/>
    <p:sldId id="595" r:id="rId21"/>
    <p:sldId id="596" r:id="rId22"/>
    <p:sldId id="597" r:id="rId23"/>
    <p:sldId id="598" r:id="rId24"/>
    <p:sldId id="599" r:id="rId25"/>
    <p:sldId id="600" r:id="rId26"/>
    <p:sldId id="601" r:id="rId27"/>
    <p:sldId id="602" r:id="rId28"/>
    <p:sldId id="603" r:id="rId29"/>
    <p:sldId id="604" r:id="rId30"/>
    <p:sldId id="605" r:id="rId31"/>
    <p:sldId id="606" r:id="rId32"/>
    <p:sldId id="607" r:id="rId33"/>
    <p:sldId id="540" r:id="rId34"/>
  </p:sldIdLst>
  <p:sldSz cx="12192000" cy="6858000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Segoe UI" panose="020B0502040204020203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66849" autoAdjust="0"/>
  </p:normalViewPr>
  <p:slideViewPr>
    <p:cSldViewPr snapToGrid="0">
      <p:cViewPr varScale="1">
        <p:scale>
          <a:sx n="78" d="100"/>
          <a:sy n="78" d="100"/>
        </p:scale>
        <p:origin x="204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9-01T20:39:03.942" v="990" actId="20577"/>
      <pc:docMkLst>
        <pc:docMk/>
      </pc:docMkLst>
      <pc:sldChg chg="modSp mod">
        <pc:chgData name="J. Tower" userId="9d06de10716639e5" providerId="LiveId" clId="{F8931099-75CA-5660-A155-55881DF68D84}" dt="2026-09-01T20:37:28.584" v="981" actId="27636"/>
        <pc:sldMkLst>
          <pc:docMk/>
          <pc:sldMk cId="0" sldId="576"/>
        </pc:sldMkLst>
        <pc:spChg chg="mod">
          <ac:chgData name="J. Tower" userId="9d06de10716639e5" providerId="LiveId" clId="{F8931099-75CA-5660-A155-55881DF68D84}" dt="2026-09-01T20:37:28.584" v="981" actId="27636"/>
          <ac:spMkLst>
            <pc:docMk/>
            <pc:sldMk cId="0" sldId="576"/>
            <ac:spMk id="3" creationId="{00000000-0000-0000-0000-000000000000}"/>
          </ac:spMkLst>
        </pc:spChg>
      </pc:sldChg>
      <pc:sldChg chg="modSp">
        <pc:chgData name="J. Tower" userId="9d06de10716639e5" providerId="LiveId" clId="{F8931099-75CA-5660-A155-55881DF68D84}" dt="2026-09-01T20:37:28.511" v="979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9-01T20:37:28.511" v="979"/>
          <ac:spMkLst>
            <pc:docMk/>
            <pc:sldMk cId="0" sldId="586"/>
            <ac:spMk id="2" creationId="{00000000-0000-0000-0000-000000000000}"/>
          </ac:spMkLst>
        </pc:spChg>
      </pc:sldChg>
      <pc:sldChg chg="modSp">
        <pc:chgData name="J. Tower" userId="9d06de10716639e5" providerId="LiveId" clId="{F8931099-75CA-5660-A155-55881DF68D84}" dt="2026-09-01T20:37:30.362" v="982"/>
        <pc:sldMkLst>
          <pc:docMk/>
          <pc:sldMk cId="0" sldId="587"/>
        </pc:sldMkLst>
        <pc:spChg chg="mod">
          <ac:chgData name="J. Tower" userId="9d06de10716639e5" providerId="LiveId" clId="{F8931099-75CA-5660-A155-55881DF68D84}" dt="2026-09-01T20:37:30.362" v="982"/>
          <ac:spMkLst>
            <pc:docMk/>
            <pc:sldMk cId="0" sldId="587"/>
            <ac:spMk id="2" creationId="{00000000-0000-0000-0000-000000000000}"/>
          </ac:spMkLst>
        </pc:spChg>
      </pc:sldChg>
      <pc:sldChg chg="modSp">
        <pc:chgData name="J. Tower" userId="9d06de10716639e5" providerId="LiveId" clId="{F8931099-75CA-5660-A155-55881DF68D84}" dt="2026-09-01T20:37:32.717" v="983"/>
        <pc:sldMkLst>
          <pc:docMk/>
          <pc:sldMk cId="0" sldId="588"/>
        </pc:sldMkLst>
        <pc:spChg chg="mod">
          <ac:chgData name="J. Tower" userId="9d06de10716639e5" providerId="LiveId" clId="{F8931099-75CA-5660-A155-55881DF68D84}" dt="2026-09-01T20:37:32.717" v="983"/>
          <ac:spMkLst>
            <pc:docMk/>
            <pc:sldMk cId="0" sldId="588"/>
            <ac:spMk id="2" creationId="{00000000-0000-0000-0000-000000000000}"/>
          </ac:spMkLst>
        </pc:spChg>
      </pc:sldChg>
      <pc:sldChg chg="modNotesTx">
        <pc:chgData name="J. Tower" userId="9d06de10716639e5" providerId="LiveId" clId="{F8931099-75CA-5660-A155-55881DF68D84}" dt="2026-09-01T20:38:24.992" v="986" actId="20577"/>
        <pc:sldMkLst>
          <pc:docMk/>
          <pc:sldMk cId="0" sldId="590"/>
        </pc:sldMkLst>
      </pc:sldChg>
      <pc:sldChg chg="modNotesTx">
        <pc:chgData name="J. Tower" userId="9d06de10716639e5" providerId="LiveId" clId="{F8931099-75CA-5660-A155-55881DF68D84}" dt="2026-09-01T20:38:46.932" v="988" actId="20577"/>
        <pc:sldMkLst>
          <pc:docMk/>
          <pc:sldMk cId="0" sldId="591"/>
        </pc:sldMkLst>
      </pc:sldChg>
      <pc:sldChg chg="modNotesTx">
        <pc:chgData name="J. Tower" userId="9d06de10716639e5" providerId="LiveId" clId="{F8931099-75CA-5660-A155-55881DF68D84}" dt="2026-09-01T20:39:03.942" v="990" actId="20577"/>
        <pc:sldMkLst>
          <pc:docMk/>
          <pc:sldMk cId="0" sldId="592"/>
        </pc:sldMkLst>
      </pc:sldChg>
      <pc:sldChg chg="modSp mod">
        <pc:chgData name="J. Tower" userId="9d06de10716639e5" providerId="LiveId" clId="{F8931099-75CA-5660-A155-55881DF68D84}" dt="2026-09-01T20:37:28.571" v="980" actId="27636"/>
        <pc:sldMkLst>
          <pc:docMk/>
          <pc:sldMk cId="0" sldId="595"/>
        </pc:sldMkLst>
        <pc:spChg chg="mod">
          <ac:chgData name="J. Tower" userId="9d06de10716639e5" providerId="LiveId" clId="{F8931099-75CA-5660-A155-55881DF68D84}" dt="2026-09-01T20:37:28.571" v="980" actId="27636"/>
          <ac:spMkLst>
            <pc:docMk/>
            <pc:sldMk cId="0" sldId="595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features, ten cards, one table: docs/decision-framework.md.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we started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feature today started with a stuck user, and the AI showed up as the answer rather than the 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cell per advance: name each feature as it lands, a few seconds apiece. The day, replayed in ten beats.</a:t>
            </a:r>
          </a:p>
          <a:p>
            <a:r>
              <a:t>Summarize: the bridge surfaced from forty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Extract: a database row your code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Sentiment: measured, and the free model held on everything but sarcasm.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Search: what users mean, not what they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RAG: the campfire answer, cited, and the chunk boundary that nearly broke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Recommend: more like this, and the daypack that taught you about complements.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Route: the emergency at the top of its own queue,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Detect: the washout from three reports, not a one-star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Approve: the model types, a person decides, the log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Agent: the loop that planned the trip and checked the bridge.</a:t>
            </a:r>
          </a:p>
          <a:p>
            <a:r>
              <a:t>The full table lives in decision-framework.md: # · Feature · When · Think · Difficulty, the same three fields as every card today. (Paste the real table over this slide, or demo it from the repo.)</a:t>
            </a:r>
          </a:p>
          <a:p>
            <a:r>
              <a:t>Don't read it. Let it sit on screen while you explain how to use it, which is the next section. It's dense on purpose; it's a reference, and they have it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free local model matched the frontier model on ordinary reviews and lost only on the sarcastic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Better chunking, not a bigger model, moved RAG's flagship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classifier caught both emergencies every run; the drafting model failed the emergency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local agent reached all four planning tools in fewer than one run in five. That is why the capstone runs on a frontier model.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runs are checked in behind every number.</a:t>
            </a:r>
          </a:p>
          <a:p>
            <a:r>
              <a:t>This is the credibility slide. "We ran it and here is what happened" is a stronger pitch than "the vendor says."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Nothing today needed fine-tuning. Cosine similarity in a loop carried three features. The agent loop fit on screen.</a:t>
            </a:r>
          </a:p>
          <a:p>
            <a:r>
              <a:t>Optional slide; cut if short on time. It heads off the "but shouldn't we be using X"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recap is actions, not topics. Four moves, each one slide, each something they can do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 down the "when"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Mark every row that describes a problem your users actually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 0 is the same exercise before any feature: list the ten things they hate doing, and the features pick themselves.</a:t>
            </a:r>
          </a:p>
          <a:p>
            <a:r>
              <a:t>This is the workshop's framing question turned into a Monday-morning exercise. It happens in a meeting room, not a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Sort your marked rows by the difficulty column, easiest first; the top of that list is the first feature, and the Think column is how you pitch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Rows 1 through 8 mostly run on free local models. Worth repeating here; it changes the budget conversation before it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 9 de-risks the rest. Leading with the human-in-the-loop design is usually what gets the other rows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where the human sits and what gets logged, before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user's problem in their words, and how often it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the row. Say what it costs in days or weeks and what it costs to run; say what runs local and what needs a paid model,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how you'll measure it: the labeled sample and the error you're tuning never to make. Reference feature 03's recipe: labeled sample, run both, count disagreements, price the errors. It generalizes.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for one feature. This is the shape of the conversation the framework enables: a small, measurable, de-risked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the framework slide up again during Q&amp;A if it's more useful than this one. The free offer (tinyurl.com/th-offer) is on this slide; point at it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40B87-443D-4E3D-A216-6700B651FC5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343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svg"/><Relationship Id="rId4" Type="http://schemas.openxmlformats.org/officeDocument/2006/relationships/image" Target="../media/image15.svg"/><Relationship Id="rId5" Type="http://schemas.openxmlformats.org/officeDocument/2006/relationships/image" Target="../media/image16.svg"/><Relationship Id="rId6" Type="http://schemas.openxmlformats.org/officeDocument/2006/relationships/image" Target="../media/image17.svg"/><Relationship Id="rId7" Type="http://schemas.openxmlformats.org/officeDocument/2006/relationships/image" Target="../media/image18.svg"/><Relationship Id="rId8" Type="http://schemas.openxmlformats.org/officeDocument/2006/relationships/image" Target="../media/image19.svg"/><Relationship Id="rId9" Type="http://schemas.openxmlformats.org/officeDocument/2006/relationships/image" Target="../media/image20.sv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Closing: The Thing You Take Back to Work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Back to the 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❌ "Where can we add AI?"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Back to the 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❌ "Where can we add AI?"</a:t>
            </a:r>
          </a:p>
          <a:p>
            <a:r>
              <a:rPr sz="2800"/>
              <a:t>✅ "What problems can AI best solve for our users?"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39319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Framework, All Ten Rows</a:t>
            </a:r>
            <a:endParaRPr dirty="0"/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39319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scat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931920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Framework, All Ten Rows</a:t>
            </a:r>
            <a:endParaRPr dirty="0"/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39319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scat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931920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19" name="Picture 18" descr="shield-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980" y="3931920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090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F09 Approve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Framework, All Ten Rows</a:t>
            </a:r>
            <a:endParaRPr dirty="0"/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39319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scat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931920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19" name="Picture 18" descr="shield-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980" y="3931920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090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F09 Approve</a:t>
            </a:r>
          </a:p>
        </p:txBody>
      </p:sp>
      <p:pic>
        <p:nvPicPr>
          <p:cNvPr id="21" name="Picture 20" descr="rob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3931920"/>
            <a:ext cx="868680" cy="868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8116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F10 Agent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  <a:p>
            <a:r>
              <a:rPr sz="2800"/>
              <a:t>Chunking: 75% → 97% · a 10× model bought 3 points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  <a:p>
            <a:r>
              <a:rPr sz="2800"/>
              <a:t>Chunking: 75% → 97% · a 10× model bought 3 points</a:t>
            </a:r>
          </a:p>
          <a:p>
            <a:r>
              <a:rPr sz="2800"/>
              <a:t>Classifier: 2/2 emergencies · drafter: 0/3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  <a:p>
            <a:r>
              <a:rPr sz="2800"/>
              <a:t>Chunking: 75% → 97% · a 10× model bought 3 points</a:t>
            </a:r>
          </a:p>
          <a:p>
            <a:r>
              <a:rPr sz="2800"/>
              <a:t>Classifier: 2/2 emergencies · drafter: 0/3</a:t>
            </a:r>
          </a:p>
          <a:p>
            <a:r>
              <a:rPr sz="2800"/>
              <a:t>Local agent: all four tools &lt; 1 run in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  <a:p>
            <a:r>
              <a:rPr sz="2800"/>
              <a:t>Chunking: 75% → 97% · a 10× model bought 3 points</a:t>
            </a:r>
          </a:p>
          <a:p>
            <a:r>
              <a:rPr sz="2800"/>
              <a:t>Classifier: 2/2 emergencies · drafter: 0/3</a:t>
            </a:r>
          </a:p>
          <a:p>
            <a:r>
              <a:rPr sz="2800"/>
              <a:t>Local agent: all four tools &lt; 1 run in 5</a:t>
            </a:r>
          </a:p>
          <a:p>
            <a:r>
              <a:rPr sz="2800"/>
              <a:t>Every number: an </a:t>
            </a:r>
            <a:r>
              <a:rPr sz="2800">
                <a:latin typeface="Consolas"/>
              </a:rPr>
              <a:t>expected-output.md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We Didn't Do Today, on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No fine-tuning</a:t>
            </a:r>
          </a:p>
          <a:p>
            <a:r>
              <a:rPr sz="2800"/>
              <a:t>No vector database product</a:t>
            </a:r>
          </a:p>
          <a:p>
            <a:r>
              <a:rPr sz="2800"/>
              <a:t>No agent framework</a:t>
            </a:r>
          </a:p>
          <a:p>
            <a:r>
              <a:rPr sz="2800"/>
              <a:t>Reach for them when a measured problem asks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Your Move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Mark What Your Users Hate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"when to reach for this" column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Mark What Your Users Hate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"when to reach for this" column</a:t>
            </a:r>
          </a:p>
          <a:p>
            <a:r>
              <a:rPr sz="2800"/>
              <a:t>Mark the rows your users would recognize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Mark What Your Users Hate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"when to reach for this" column</a:t>
            </a:r>
          </a:p>
          <a:p>
            <a:r>
              <a:rPr sz="2800"/>
              <a:t>Mark the rows your users would recognize</a:t>
            </a:r>
          </a:p>
          <a:p>
            <a:r>
              <a:rPr sz="2800"/>
              <a:t>Row 0: list the ten things they hate doing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Sort by Difficulty, Easiest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easiest marked row = your first AI feature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Sort by Difficulty, Easiest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easiest marked row = your first AI feature</a:t>
            </a:r>
          </a:p>
          <a:p>
            <a:r>
              <a:rPr sz="2800"/>
              <a:t>Rows 1-8: mostly free local models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Lead with the Human in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Row 9 de-risks the rest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Lead with the Human in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Row 9 de-risks the rest</a:t>
            </a:r>
          </a:p>
          <a:p>
            <a:r>
              <a:rPr sz="2800"/>
              <a:t>Say where the human sits · what gets logged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Pitch One Feature, Not 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user's problem, in their words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Pitch One Feature, Not 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user's problem, in their words</a:t>
            </a:r>
          </a:p>
          <a:p>
            <a:r>
              <a:rPr sz="2800"/>
              <a:t>The row · the cost · local vs paid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Pitch One Feature, Not 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user's problem, in their words</a:t>
            </a:r>
          </a:p>
          <a:p>
            <a:r>
              <a:rPr sz="2800"/>
              <a:t>The row · the cost · local vs paid</a:t>
            </a:r>
          </a:p>
          <a:p>
            <a:r>
              <a:rPr sz="2800"/>
              <a:t>How you'll measure 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Pitch One Feature, Not 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user's problem, in their words</a:t>
            </a:r>
          </a:p>
          <a:p>
            <a:r>
              <a:rPr sz="2800"/>
              <a:t>The row · the cost · local vs paid</a:t>
            </a:r>
          </a:p>
          <a:p>
            <a:r>
              <a:rPr sz="2800"/>
              <a:t>How you'll measure it</a:t>
            </a:r>
          </a:p>
          <a:p>
            <a:r>
              <a:rPr sz="2800"/>
              <a:t>Ask for one feature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Everything Is in the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github.com/trailheadtechnology/10-ai-features-workshop</a:t>
            </a:r>
          </a:p>
          <a:p>
            <a:r>
              <a:rPr sz="2800"/>
              <a:t>Every lab</a:t>
            </a:r>
            <a:r>
              <a:rPr sz="2800"/>
              <a:t> · every expected output</a:t>
            </a:r>
          </a:p>
          <a:p>
            <a:r>
              <a:rPr sz="2800">
                <a:latin typeface="Consolas"/>
              </a:rPr>
              <a:t>starter/</a:t>
            </a:r>
            <a:r>
              <a:rPr sz="2800"/>
              <a:t> and </a:t>
            </a:r>
            <a:r>
              <a:rPr sz="2800">
                <a:latin typeface="Consolas"/>
              </a:rPr>
              <a:t>complete/</a:t>
            </a:r>
            <a:r>
              <a:rPr sz="2800"/>
              <a:t> in .NET, Python, TypeScript</a:t>
            </a:r>
          </a:p>
          <a:p>
            <a:r>
              <a:rPr sz="2800"/>
              <a:t>The corpus is yours</a:t>
            </a:r>
          </a:p>
          <a:p>
            <a:r>
              <a:rPr sz="2800">
                <a:latin typeface="Consolas"/>
              </a:rPr>
              <a:t>SETUP.md</a:t>
            </a:r>
            <a:r>
              <a:rPr sz="2800"/>
              <a:t> still works tomorrow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6136234" y="4478455"/>
            <a:ext cx="5293765" cy="134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33363" algn="ctr"/>
                <a:tab pos="457200" algn="l"/>
              </a:tabLst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6C93C-026F-4286-A517-9691B6D5B7AE}"/>
              </a:ext>
            </a:extLst>
          </p:cNvPr>
          <p:cNvSpPr txBox="1"/>
          <p:nvPr/>
        </p:nvSpPr>
        <p:spPr>
          <a:xfrm>
            <a:off x="43543" y="6165686"/>
            <a:ext cx="12148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err="1">
                <a:solidFill>
                  <a:srgbClr val="0072C6"/>
                </a:solidFill>
              </a:rPr>
              <a:t>github.com</a:t>
            </a:r>
            <a:r>
              <a:rPr lang="en-US" sz="2400" b="1" u="sng" dirty="0">
                <a:solidFill>
                  <a:srgbClr val="0072C6"/>
                </a:solidFill>
              </a:rPr>
              <a:t>/</a:t>
            </a:r>
            <a:r>
              <a:rPr lang="en-US" sz="2400" b="1" u="sng" dirty="0" err="1">
                <a:solidFill>
                  <a:srgbClr val="0072C6"/>
                </a:solidFill>
              </a:rPr>
              <a:t>trailheadtechnology</a:t>
            </a:r>
            <a:r>
              <a:rPr lang="en-US" sz="2400" b="1" u="sng" dirty="0">
                <a:solidFill>
                  <a:srgbClr val="0072C6"/>
                </a:solidFill>
              </a:rPr>
              <a:t>/10-ai-features-workshop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9C7D46-B427-B1BB-7A1F-392BCB23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09" y="499533"/>
            <a:ext cx="10772775" cy="1658198"/>
          </a:xfrm>
        </p:spPr>
        <p:txBody>
          <a:bodyPr/>
          <a:lstStyle/>
          <a:p>
            <a:r>
              <a:rPr lang="en-US" sz="4400" dirty="0"/>
              <a:t>Thanks! Questions?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712ED-3129-723F-6D31-0A740072EA88}"/>
              </a:ext>
            </a:extLst>
          </p:cNvPr>
          <p:cNvCxnSpPr>
            <a:cxnSpLocks/>
          </p:cNvCxnSpPr>
          <p:nvPr/>
        </p:nvCxnSpPr>
        <p:spPr>
          <a:xfrm>
            <a:off x="7032517" y="1236032"/>
            <a:ext cx="44229" cy="4495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9">
            <a:extLst>
              <a:ext uri="{FF2B5EF4-FFF2-40B4-BE49-F238E27FC236}">
                <a16:creationId xmlns:a16="http://schemas.microsoft.com/office/drawing/2014/main" id="{C33A5900-4776-DDFB-7F43-C80F8B731FF9}"/>
              </a:ext>
            </a:extLst>
          </p:cNvPr>
          <p:cNvSpPr txBox="1">
            <a:spLocks/>
          </p:cNvSpPr>
          <p:nvPr/>
        </p:nvSpPr>
        <p:spPr>
          <a:xfrm>
            <a:off x="1160202" y="2412944"/>
            <a:ext cx="5145436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</a:rPr>
              <a:t>Jonathan "J." Tower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CFC013-6D9F-96DA-4013-3CA85BB1D357}"/>
              </a:ext>
            </a:extLst>
          </p:cNvPr>
          <p:cNvSpPr txBox="1">
            <a:spLocks/>
          </p:cNvSpPr>
          <p:nvPr/>
        </p:nvSpPr>
        <p:spPr>
          <a:xfrm>
            <a:off x="1505728" y="3621826"/>
            <a:ext cx="3444002" cy="2109323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13x Microsoft MVP in .NET and AI</a:t>
            </a:r>
          </a:p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VP of .NET Foundation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Blue Blazes podcast host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jtower@trailheadtechnology.com</a:t>
            </a:r>
            <a:endParaRPr lang="en-US" sz="15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trailheadtechnology.com</a:t>
            </a: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/blog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jtowermi</a:t>
            </a:r>
            <a:endParaRPr lang="en-US" sz="15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Jonathan “J.” Tower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4691E19-F180-067C-E9F8-FBA12759E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806" y="3631325"/>
            <a:ext cx="229751" cy="20422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CD03AF1-75DF-5384-C3B1-090D6BC361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5718">
            <a:off x="1256708" y="4531226"/>
            <a:ext cx="204223" cy="20422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D36DF01-2F6B-C32E-C484-34A5F70AA5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5718">
            <a:off x="1281096" y="4233775"/>
            <a:ext cx="153168" cy="20422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F68C507-38C2-3C3C-703A-2943D69B85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5718">
            <a:off x="1255569" y="4823574"/>
            <a:ext cx="204223" cy="20422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AA7FFB1-1225-EE62-541D-9F7F9F6C12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5718">
            <a:off x="1276223" y="5417410"/>
            <a:ext cx="178696" cy="20422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8CE88E4-67C7-9C99-335A-D7809B39E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55718">
            <a:off x="1255569" y="5106312"/>
            <a:ext cx="204223" cy="204223"/>
          </a:xfrm>
          <a:prstGeom prst="rect">
            <a:avLst/>
          </a:prstGeom>
        </p:spPr>
      </p:pic>
      <p:pic>
        <p:nvPicPr>
          <p:cNvPr id="21" name="Graphic 20" descr="Board Of Directors with solid fill">
            <a:extLst>
              <a:ext uri="{FF2B5EF4-FFF2-40B4-BE49-F238E27FC236}">
                <a16:creationId xmlns:a16="http://schemas.microsoft.com/office/drawing/2014/main" id="{52EAAC3E-0AFC-1BA5-0CF0-27F7AEFD1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255570" y="3929537"/>
            <a:ext cx="204223" cy="20422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F59F01-13CA-A538-EB00-C420909FADC1}"/>
              </a:ext>
            </a:extLst>
          </p:cNvPr>
          <p:cNvSpPr txBox="1">
            <a:spLocks/>
          </p:cNvSpPr>
          <p:nvPr/>
        </p:nvSpPr>
        <p:spPr>
          <a:xfrm>
            <a:off x="6915610" y="1050252"/>
            <a:ext cx="5293076" cy="2240849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" lvl="1" indent="0" algn="ctr" defTabSz="914217">
              <a:spcBef>
                <a:spcPts val="1300"/>
              </a:spcBef>
              <a:buNone/>
              <a:tabLst>
                <a:tab pos="233316" algn="ctr"/>
                <a:tab pos="457109" algn="l"/>
              </a:tabLst>
            </a:pPr>
            <a:r>
              <a:rPr lang="en-US" sz="7199" dirty="0">
                <a:solidFill>
                  <a:prstClr val="black">
                    <a:lumMod val="85000"/>
                    <a:lumOff val="15000"/>
                  </a:prstClr>
                </a:solidFill>
              </a:rPr>
              <a:t>LET’S</a:t>
            </a:r>
            <a:br>
              <a:rPr lang="en-US" sz="9598" b="1" dirty="0">
                <a:solidFill>
                  <a:prstClr val="black">
                    <a:lumMod val="85000"/>
                    <a:lumOff val="15000"/>
                  </a:prstClr>
                </a:solidFill>
              </a:rPr>
            </a:br>
            <a:r>
              <a:rPr lang="en-US" sz="7199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TALK</a:t>
            </a:r>
            <a:endParaRPr lang="en-US" sz="5399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869C9-146B-DC31-A97B-A2F632A01FAF}"/>
              </a:ext>
            </a:extLst>
          </p:cNvPr>
          <p:cNvSpPr txBox="1"/>
          <p:nvPr/>
        </p:nvSpPr>
        <p:spPr>
          <a:xfrm>
            <a:off x="6526878" y="5438564"/>
            <a:ext cx="61044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err="1">
                <a:solidFill>
                  <a:prstClr val="black"/>
                </a:solidFill>
                <a:latin typeface="Calibri Light" panose="020F0302020204030204"/>
              </a:rPr>
              <a:t>tinyurl.com</a:t>
            </a:r>
            <a:r>
              <a:rPr lang="en-US" sz="2400" b="1" u="sng" dirty="0">
                <a:solidFill>
                  <a:prstClr val="black"/>
                </a:solidFill>
                <a:latin typeface="Calibri Light" panose="020F0302020204030204"/>
              </a:rPr>
              <a:t>/</a:t>
            </a:r>
            <a:r>
              <a:rPr lang="en-US" sz="2400" b="1" u="sng" dirty="0" err="1">
                <a:solidFill>
                  <a:prstClr val="black"/>
                </a:solidFill>
                <a:latin typeface="Calibri Light" panose="020F0302020204030204"/>
              </a:rPr>
              <a:t>th</a:t>
            </a:r>
            <a:r>
              <a:rPr lang="en-US" sz="2400" b="1" u="sng" dirty="0">
                <a:solidFill>
                  <a:prstClr val="black"/>
                </a:solidFill>
                <a:latin typeface="Calibri Light" panose="020F0302020204030204"/>
              </a:rPr>
              <a:t>-offer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72D920-5FAD-6C7C-92E5-D7A6CD7728CE}"/>
              </a:ext>
            </a:extLst>
          </p:cNvPr>
          <p:cNvGrpSpPr/>
          <p:nvPr/>
        </p:nvGrpSpPr>
        <p:grpSpPr>
          <a:xfrm>
            <a:off x="8408341" y="3028385"/>
            <a:ext cx="2341572" cy="2341572"/>
            <a:chOff x="15858348" y="5858285"/>
            <a:chExt cx="4683754" cy="46837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87C4335-ECF3-9DD0-6A79-CCBE00793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858348" y="5858285"/>
              <a:ext cx="4683754" cy="468375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756400-64DF-EB40-AC83-0458252B366C}"/>
                </a:ext>
              </a:extLst>
            </p:cNvPr>
            <p:cNvSpPr/>
            <p:nvPr/>
          </p:nvSpPr>
          <p:spPr>
            <a:xfrm>
              <a:off x="17416130" y="7421526"/>
              <a:ext cx="1658679" cy="1535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811BA38-866A-6911-EB15-652F44639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73380" b="-4670"/>
            <a:stretch>
              <a:fillRect/>
            </a:stretch>
          </p:blipFill>
          <p:spPr>
            <a:xfrm>
              <a:off x="17543720" y="7496969"/>
              <a:ext cx="1360997" cy="1413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494523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98557</TotalTime>
  <Words>2788</Words>
  <Application>Microsoft Macintosh PowerPoint</Application>
  <PresentationFormat>Widescreen</PresentationFormat>
  <Paragraphs>213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Calibri Light</vt:lpstr>
      <vt:lpstr>Arial</vt:lpstr>
      <vt:lpstr>Consolas</vt:lpstr>
      <vt:lpstr>Calibri</vt:lpstr>
      <vt:lpstr>Segoe UI</vt:lpstr>
      <vt:lpstr>Metropolitan</vt:lpstr>
      <vt:lpstr>Building Pragmatic AI</vt:lpstr>
      <vt:lpstr>Back to the First Slide</vt:lpstr>
      <vt:lpstr>Back to the First Slide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What the Day Measured, Not Assumed</vt:lpstr>
      <vt:lpstr>What the Day Measured, Not Assumed</vt:lpstr>
      <vt:lpstr>What the Day Measured, Not Assumed</vt:lpstr>
      <vt:lpstr>What the Day Measured, Not Assumed</vt:lpstr>
      <vt:lpstr>What the Day Measured, Not Assumed</vt:lpstr>
      <vt:lpstr>What We Didn't Do Today, on Purpose</vt:lpstr>
      <vt:lpstr>Your Move</vt:lpstr>
      <vt:lpstr>Mark What Your Users Hate</vt:lpstr>
      <vt:lpstr>Mark What Your Users Hate</vt:lpstr>
      <vt:lpstr>Mark What Your Users Hate</vt:lpstr>
      <vt:lpstr>Sort by Cost, Cheapest First</vt:lpstr>
      <vt:lpstr>Sort by Cost, Cheapest First</vt:lpstr>
      <vt:lpstr>Lead with the Human in the Loop</vt:lpstr>
      <vt:lpstr>Lead with the Human in the Loop</vt:lpstr>
      <vt:lpstr>Pitch One Feature, Not a Strategy</vt:lpstr>
      <vt:lpstr>Pitch One Feature, Not a Strategy</vt:lpstr>
      <vt:lpstr>Pitch One Feature, Not a Strategy</vt:lpstr>
      <vt:lpstr>Pitch One Feature, Not a Strategy</vt:lpstr>
      <vt:lpstr>Everything Is in the Repo</vt:lpstr>
      <vt:lpstr>Thanks!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2026-09-01T20:39:05Z</dcterms:modified>
  <cp:category/>
</cp:coreProperties>
</file>